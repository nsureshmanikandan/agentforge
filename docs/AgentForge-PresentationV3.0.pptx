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F5"/>
                </a:solidFill>
                <a:latin typeface="Segoe UI"/>
              </a:rPr>
              <a:t>ENTERPRISE AI AGENT PLATFORM  · 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DDEE"/>
                </a:solidFill>
                <a:latin typeface="Segoe UI"/>
              </a:rPr>
              <a:t>Build · Orchestrate · Govern · Voice-Enable · Evaluate Production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90B8"/>
                </a:solidFill>
                <a:latin typeface="Segoe UI"/>
              </a:rPr>
              <a:t>Azure-native · Self-hosted · No boilerplate · No vendor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37560"/>
            <a:ext cx="11183112" cy="22860"/>
          </a:xfrm>
          <a:prstGeom prst="rect">
            <a:avLst/>
          </a:prstGeom>
          <a:solidFill>
            <a:srgbClr val="2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3493008"/>
            <a:ext cx="2743200" cy="475488"/>
          </a:xfrm>
          <a:prstGeom prst="rect">
            <a:avLst/>
          </a:prstGeom>
          <a:solidFill>
            <a:srgbClr val="12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5BA3F5"/>
                </a:solidFill>
                <a:latin typeface="Segoe UI"/>
              </a:rPr>
              <a:t>17 Enterprise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3493008"/>
            <a:ext cx="2743200" cy="475488"/>
          </a:xfrm>
          <a:prstGeom prst="rect">
            <a:avLst/>
          </a:prstGeom>
          <a:solidFill>
            <a:srgbClr val="28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56E6E"/>
                </a:solidFill>
                <a:latin typeface="Segoe UI"/>
              </a:rPr>
              <a:t>Safety &amp; Guardrails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91656" y="3493008"/>
            <a:ext cx="2743200" cy="475488"/>
          </a:xfrm>
          <a:prstGeom prst="rect">
            <a:avLst/>
          </a:prstGeom>
          <a:solidFill>
            <a:srgbClr val="140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BFB0FC"/>
                </a:solidFill>
                <a:latin typeface="Segoe UI"/>
              </a:rPr>
              <a:t>Voice Agents (Azure TTS)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0304" y="3493008"/>
            <a:ext cx="2743200" cy="475488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4AE08C"/>
                </a:solidFill>
                <a:latin typeface="Segoe UI"/>
              </a:rPr>
              <a:t>Evaluations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6280"/>
                </a:solidFill>
                <a:latin typeface="Segoe UI"/>
              </a:rPr>
              <a:t>React 18  ·  Vite  ·  TypeScript  ·  ReactFlow  ·  Zustand  ·  TailwindCSS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26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6280"/>
                </a:solidFill>
                <a:latin typeface="Segoe UI"/>
              </a:rPr>
              <a:t>Python 3.12  ·  FastAPI  ·  SQLAlchemy  ·  LangChain  ·  Presidio  ·  PostgreSQL + pgvector  ·  Azure OpenAI  ·  Azure Speech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7315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0E1F3E"/>
                </a:solidFill>
                <a:latin typeface="Segoe UI"/>
              </a:rPr>
              <a:t>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AgentForge — Leadership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AgentForge is an enterprise-grade, self-hosted AI agent platform enabling teams to design, deploy, test, voice-enable, and govern intelligent AI automation — visually, without deep ML expertise, on your Azure subscription.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64008" cy="1005840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E6E"/>
                </a:solidFill>
                <a:latin typeface="Segoe U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915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Building production AI agents today requires months of engineering, deep Python expertise, and custom-built safety guardrails — an expensive, high-risk endeavour with no auditability.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54096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054096"/>
            <a:ext cx="64008" cy="1005840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27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E08C"/>
                </a:solidFill>
                <a:latin typeface="Segoe U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AgentForge delivers drag-drop visual agent building, GPT-4o prompt-to-agent generation, built-in Safety &amp; Guardrails, Evaluation engine, Voice Agents via Azure Speech, and a full observability control plane — out of the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9664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169664"/>
            <a:ext cx="64008" cy="1005840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BB20"/>
                </a:solidFill>
                <a:latin typeface="Segoe UI"/>
              </a:rPr>
              <a:t>BUSINESS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028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10× faster agent creation  ·  Zero compliance exposure via always-on PII/safety rules  ·  Voice-enabled agents via Azure Cognitive Services  ·  Full audit trail for regulated industries  ·  Self-hosted — no SaaS lock-in.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285232"/>
            <a:ext cx="64008" cy="100584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3583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COMPETITIVE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0585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The only platform combining: Visual Canvas + Azure-native + Self-hosted + Safety Rules + Voice Agents + Simulation + Evaluations. Beats Flowise, Langflow, Dify, CrewAI, Lyzr, and MS Copilot Studio on all 7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438"/>
                </a:solidFill>
                <a:latin typeface="Segoe UI"/>
              </a:rPr>
              <a:t>What is AgentForge?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Visual Agent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Drag-drop ReactFlow canvas to compose multi-agent pipelines without writing code. Configure agent name, model, system prompt, tools, and guardrails in a visual sidebar.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7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7" y="1481328"/>
            <a:ext cx="3657600" cy="54864"/>
          </a:xfrm>
          <a:prstGeom prst="rect">
            <a:avLst/>
          </a:prstGeom>
          <a:solidFill>
            <a:srgbClr val="4A3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Prompt-to-Agent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Describe your agent in one English sentence — GPT-4o instantly generates the agent name, system prompt, recommended tools, and guardrail settings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1896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11896" y="1481328"/>
            <a:ext cx="3657600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Manager agents delegate to worker agents. Each worker runs its own guardrail pass. Supports sequential, parallel, and hierarchical pipeline topologies.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68496"/>
            <a:ext cx="3657600" cy="54864"/>
          </a:xfrm>
          <a:prstGeom prst="rect">
            <a:avLst/>
          </a:prstGeom>
          <a:solidFill>
            <a:srgbClr val="8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Safety &amp; Evaluations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8 configurable safety rules (PII, hallucination, toxicity, prompt injection). Evaluation engine runs automated test suites and scores agents before promotion to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7" y="3968496"/>
            <a:ext cx="3657600" cy="54864"/>
          </a:xfrm>
          <a:prstGeom prst="rect">
            <a:avLst/>
          </a:prstGeom>
          <a:solidFill>
            <a:srgbClr val="441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Voice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Azure Cognitive Services Speech SDK integration: text-to-speech synthesis with 8 Neural voices (Jenny, Sonia, Natasha, Neerja and more). Full telephony config per agent.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11896" y="3968496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Enterprise Control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Live stats dashboard, agent versioning, full audit trail, RBAC (Admin/Developer/Viewer), OpenTelemetry tracing to Jaeger/Azure Monitor/GCP/Datadog.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Enterprise AI agents are broken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Code-Heavy Barrier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Most frameworks demand deep Python &amp; ML expertise before a single agent reaches production. Average time-to-first-agent: 8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Zero Compliance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Open-source tools ship with no PII protection, no hallucination checks, and no toxicity filters — a critical compliance risk in regulated industries.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No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No way to observe, version, evaluate, test, or audit what agents actually do after they are deployed. Production incidents are invisible until users complain.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86400"/>
            <a:ext cx="11183112" cy="1005840"/>
          </a:xfrm>
          <a:prstGeom prst="rect">
            <a:avLst/>
          </a:prstGeom>
          <a:solidFill>
            <a:srgbClr val="100628"/>
          </a:solidFill>
          <a:ln w="19050">
            <a:solidFill>
              <a:srgbClr val="6C2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559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AgentForge solves all three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Visual builder  ·  8 Safety rules  ·  Evaluations engine  ·  Voice agents  ·  Full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BUSINESS 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Return on Investment — Why AgentForge Pays for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2743200" cy="1298448"/>
          </a:xfrm>
          <a:prstGeom prst="rect">
            <a:avLst/>
          </a:prstGeom>
          <a:solidFill>
            <a:srgbClr val="16529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A3F5"/>
                </a:solidFill>
                <a:latin typeface="Segoe UI"/>
              </a:rPr>
              <a:t>Faster Agent
Creation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81328"/>
            <a:ext cx="2743200" cy="1298448"/>
          </a:xfrm>
          <a:prstGeom prst="rect">
            <a:avLst/>
          </a:prstGeom>
          <a:solidFill>
            <a:srgbClr val="0C5E48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E08C"/>
                </a:solidFill>
                <a:latin typeface="Segoe UI"/>
              </a:rPr>
              <a:t>Extra Licensing
for Guardrails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81328"/>
            <a:ext cx="2743200" cy="1298448"/>
          </a:xfrm>
          <a:prstGeom prst="rect">
            <a:avLst/>
          </a:prstGeom>
          <a:solidFill>
            <a:srgbClr val="4A30B0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0FC"/>
                </a:solidFill>
                <a:latin typeface="Segoe UI"/>
              </a:rPr>
              <a:t>Audit Coverage
Per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481328"/>
            <a:ext cx="2743200" cy="1298448"/>
          </a:xfrm>
          <a:prstGeom prst="rect">
            <a:avLst/>
          </a:prstGeom>
          <a:solidFill>
            <a:srgbClr val="7A2020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6E6E"/>
                </a:solidFill>
                <a:latin typeface="Segoe UI"/>
              </a:rPr>
              <a:t>Safety Rules
Out of the 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Development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Traditional builds: 6–12 weeks of engineering.
AgentForge: prompt-to-agent in under 60 seconds.
Estimated saving: 3–6 developer-weeks per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7" y="2926080"/>
            <a:ext cx="3657600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Compliance Risk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8 always-on safety rules (PII, hallucination, toxicity,
prompt injection) eliminate GDPR/HIPAA exposure.
Audit logs satisfy regulatory review in minutes.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11896" y="2926080"/>
            <a:ext cx="3657600" cy="54864"/>
          </a:xfrm>
          <a:prstGeom prst="rect">
            <a:avLst/>
          </a:prstGeom>
          <a:solidFill>
            <a:srgbClr val="784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SaaS Cost Avoidance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Lyzr: ~$2,000+/month SaaS. Dify Cloud: per-seat.
AgentForge: self-hosted on your Azure subscription.
Break-even at first agent deployed.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800600"/>
            <a:ext cx="3657600" cy="54864"/>
          </a:xfrm>
          <a:prstGeom prst="rect">
            <a:avLst/>
          </a:prstGeom>
          <a:solidFill>
            <a:srgbClr val="4A3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Voice Agent Capability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Azure Cognitive TTS with 8 Neural voices built-in.
No separate telephony vendor required.
Inbound &amp; outbound call workflows from day 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7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07407" y="4800600"/>
            <a:ext cx="3657600" cy="54864"/>
          </a:xfrm>
          <a:prstGeom prst="rect">
            <a:avLst/>
          </a:prstGeom>
          <a:solidFill>
            <a:srgbClr val="7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Quality 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Evaluation engine scores agents pre-deployment.
Only agents meeting pass-rate threshold promote.
Prevents production incidents from agent drift.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1896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11896" y="4800600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Talent Leverage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Non-ML staff build production agents visually.
Reduces dependency on scarce AI engineers.
Config-driven safety — zero ML knowledge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AgentForge —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14416"/>
            <a:ext cx="9601200" cy="594360"/>
          </a:xfrm>
          <a:prstGeom prst="rect">
            <a:avLst/>
          </a:prstGeom>
          <a:solidFill>
            <a:srgbClr val="041834"/>
          </a:solidFill>
          <a:ln w="15240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6601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529A"/>
                </a:solidFill>
                <a:latin typeface="Segoe UI"/>
              </a:rPr>
              <a:t>AZURE 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9326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Azure OpenAI GPT-4o  ·  Azure OpenAI GPT-4.5  ·  Azure AI Search  ·  Azure Cognitive Services Speech (TTS/STT)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901184"/>
            <a:ext cx="9601200" cy="640080"/>
          </a:xfrm>
          <a:prstGeom prst="rect">
            <a:avLst/>
          </a:prstGeom>
          <a:solidFill>
            <a:srgbClr val="021C14"/>
          </a:solidFill>
          <a:ln w="15240">
            <a:solidFill>
              <a:srgbClr val="0C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9469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5E48"/>
                </a:solidFill>
                <a:latin typeface="Segoe UI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30368"/>
            <a:ext cx="93268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PostgreSQL 16 + pgvector  ·  Alembic Migrations  ·  SQLAlchemy 2.0 Async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12464"/>
            <a:ext cx="9601200" cy="1115568"/>
          </a:xfrm>
          <a:prstGeom prst="rect">
            <a:avLst/>
          </a:prstGeom>
          <a:solidFill>
            <a:srgbClr val="10062C"/>
          </a:solidFill>
          <a:ln w="15240">
            <a:solidFill>
              <a:srgbClr val="4A3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7581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30B0"/>
                </a:solidFill>
                <a:latin typeface="Segoe UI"/>
              </a:rPr>
              <a:t>CORE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41648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AgentOrchestrator (single + multi-agent)  ·  GuardrailsEngine (Presidio PII + Hallucination)  ·  RAGEngine (LangChain)  ·  SimulationRunner  ·  ToolRegistry (7 tools)  ·  PromptToAgent  ·  SafetyRules (8 rules)  ·  EvaluationEngine  ·  VoiceService (Azure Speech)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9601200" cy="969264"/>
          </a:xfrm>
          <a:prstGeom prst="rect">
            <a:avLst/>
          </a:prstGeom>
          <a:solidFill>
            <a:srgbClr val="220E00"/>
          </a:solidFill>
          <a:ln w="15240">
            <a:solidFill>
              <a:srgbClr val="784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7157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4608"/>
                </a:solidFill>
                <a:latin typeface="Segoe UI"/>
              </a:rPr>
              <a:t>API LAYER — FastAPI + JWT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99231"/>
            <a:ext cx="9326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Agents  ·  Auth  ·  RAG  ·  Simulation  ·  Tools  ·  Control Plane  ·  Safety  ·  Evaluations  ·  Voice  ·  Knowledge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645920"/>
            <a:ext cx="9601200" cy="950976"/>
          </a:xfrm>
          <a:prstGeom prst="rect">
            <a:avLst/>
          </a:prstGeom>
          <a:solidFill>
            <a:srgbClr val="061226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1691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FRONTEND — React 18 + Vite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975104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ReactFlow Canvas  ·  Agent Studio (type filters)  ·  Safety &amp; Guardrails  ·  Evaluations  ·  Voice Agents  ·  Dashboard  ·  Zustand  ·  TailwindCSS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1645920"/>
            <a:ext cx="1517904" cy="4572000"/>
          </a:xfrm>
          <a:prstGeom prst="rect">
            <a:avLst/>
          </a:prstGeom>
          <a:solidFill>
            <a:srgbClr val="02140C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14432" y="1700784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2B4"/>
                </a:solidFill>
                <a:latin typeface="Segoe UI"/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2048256"/>
            <a:ext cx="1353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OpenTelemetry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2670048"/>
            <a:ext cx="1353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Jaeger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3291840"/>
            <a:ext cx="1353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Azure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3913632"/>
            <a:ext cx="1353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GCP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4535424"/>
            <a:ext cx="1353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Datadog APM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81344"/>
            <a:ext cx="9601200" cy="292608"/>
          </a:xfrm>
          <a:prstGeom prst="rect">
            <a:avLst/>
          </a:prstGeom>
          <a:solidFill>
            <a:srgbClr val="021008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199632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E2B4"/>
                </a:solidFill>
                <a:latin typeface="Consolas"/>
              </a:rPr>
              <a:t>Docker Compose  —  postgres + pgvector + backend + frontend + jaeger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E6E"/>
                </a:solidFill>
                <a:latin typeface="Segoe UI"/>
              </a:rPr>
              <a:t>NEW 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Safety &amp; Guardrails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16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8 configurable safety rules across 4 categories — every agent run is scanned before output is returned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743200" cy="1097280"/>
          </a:xfrm>
          <a:prstGeom prst="rect">
            <a:avLst/>
          </a:prstGeom>
          <a:solidFill>
            <a:srgbClr val="08204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1,247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A3F5"/>
                </a:solidFill>
                <a:latin typeface="Segoe UI"/>
              </a:rPr>
              <a:t>Total Requests
Monitored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920240"/>
            <a:ext cx="2743200" cy="1097280"/>
          </a:xfrm>
          <a:prstGeom prst="rect">
            <a:avLst/>
          </a:prstGeom>
          <a:solidFill>
            <a:srgbClr val="280808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6E6E"/>
                </a:solidFill>
                <a:latin typeface="Segoe UI"/>
              </a:rPr>
              <a:t>Blocked
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920240"/>
            <a:ext cx="2743200" cy="1097280"/>
          </a:xfrm>
          <a:prstGeom prst="rect">
            <a:avLst/>
          </a:prstGeom>
          <a:solidFill>
            <a:srgbClr val="22103C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0FC"/>
                </a:solidFill>
                <a:latin typeface="Segoe UI"/>
              </a:rPr>
              <a:t>PII
Redactions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920240"/>
            <a:ext cx="2743200" cy="1097280"/>
          </a:xfrm>
          <a:prstGeom prst="rect">
            <a:avLst/>
          </a:prstGeom>
          <a:solidFill>
            <a:srgbClr val="221800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BB20"/>
                </a:solidFill>
                <a:latin typeface="Segoe UI"/>
              </a:rPr>
              <a:t>Hallucination
Flags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PII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Critical · Blocks &amp; redacts SSN, email,
phone, credit card via Microsoft Presidio.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29000" y="3200400"/>
            <a:ext cx="54864" cy="148132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5701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Hallucination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Flags uncertain language patterns
before output reaches the end user.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8309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Toxicity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Screens for harmful, offensive or
degrading content in every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8116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0917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Prompt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Critical · Blocks jailbreak &amp; instruction
override attempts in user inputs.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773168"/>
            <a:ext cx="54864" cy="148132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Data Leakage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Prevents confidential data from
being exposed in agent responses.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29000" y="4773168"/>
            <a:ext cx="54864" cy="148132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5701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Off-Topic Filter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01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Medium · Keeps agents focused on their
configured domain and persona.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4773168"/>
            <a:ext cx="54864" cy="148132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Rate Limit 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Medium · Prevents abuse and runaway
cost from excessive agent calls.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81160" y="4773168"/>
            <a:ext cx="54864" cy="1481328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0917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Output Length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917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Low · Caps responses to avoid token
waste and truncation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NEW FEATURE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Evaluations Engine — Automated Agent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2148839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Define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31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JSON array of {input, expected} pairs targeting your agent's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53511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227831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4495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Run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1071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POST /api/evaluations/runs  →  engine scores each test case pass/fail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32504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12394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Score &amp; Badge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897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≥80% = green (production-ready)  ·  60-79% = yellow  ·  &lt;60% = red (blocked)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11496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385816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20293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Review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5686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Full run history with agent ID, timestamp, passed/total, and per-case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BUSINESS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874519"/>
            <a:ext cx="2724912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2020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Pre-Production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86584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Agents must pass score threshold before
being promoted to production. Prevents
defective agents from reaching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874519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25128" y="1874519"/>
            <a:ext cx="2724912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71432" y="2020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Regression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386584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Re-run eval suite after every agent update.
Catch regressions before users do.
Full pass/fail diff in the history table.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160520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4160520"/>
            <a:ext cx="2724912" cy="54864"/>
          </a:xfrm>
          <a:prstGeom prst="rect">
            <a:avLst/>
          </a:prstGeom>
          <a:solidFill>
            <a:srgbClr val="4A3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2784" y="4306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Compliance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4672583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Each eval run is timestamped and persisted.
Provides auditable evidence that agents
meet quality standards for regulated industries.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4160520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25128" y="4160520"/>
            <a:ext cx="2724912" cy="54864"/>
          </a:xfrm>
          <a:prstGeom prst="rect">
            <a:avLst/>
          </a:prstGeom>
          <a:solidFill>
            <a:srgbClr val="784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71432" y="4306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No Custom Test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672583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JSON test cases. No pytest. No ML pipeline.
Product teams write tests — not engineers.
Zero setup beyond defining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NEW 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Voice Agents — Azure Cognitive Services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167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Real-time TTS synthesis via Azure Neural voices  ·  Per-agent telephony configuration  ·  STT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8 AZURE NEURAL VOICES INCLUDED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Jenny (US)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Guy (US)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A3F5"/>
                </a:solidFill>
                <a:latin typeface="Segoe UI"/>
              </a:rPr>
              <a:t>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Sonia (UK)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Natasha (AU)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Neerja (India)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4248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Elvira (ES)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9584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Denise (FR)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6904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0912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Katja (DE)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PER-AGENT VOICE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525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TTS Engine (Azure / OpenAI)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731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STT Engine (Azure / Whisper)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93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TTS Voice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144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Silence Timeout (ms)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035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Max Call Duration 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HOW IT 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286000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2340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Select 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Choose from 8 Azure Neural voices on the Voice Agents 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163824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Configure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9984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Set TTS/STT engine, silence timeout, max duration, enable voice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041648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9984" y="409651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Test Preview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Type sample text → click Play Sample → Azure Speech SDK synthesises MP3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919472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9984" y="49743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Save Config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5285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PUT /api/voice/configs/{agent_id}  stores settings per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797296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9984" y="58521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9984" y="6163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 answers inbound calls or places outbound calls via Azure telephony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0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 Studio — Visual Builder &amp; Type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111556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47672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Agent Type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0428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Filter tabs: All · Agent · Managerial · Superflow
Each agent has agent_type stored in PostgreSQL.
Counts update live as agents are created.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35808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035808"/>
            <a:ext cx="54864" cy="111556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3154680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Drag-Drop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511296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ReactFlow v12 with animated edges, dark mode,
and dot-grid background. No code required to build
complex multi-agent pipeline topologies.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42816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242816"/>
            <a:ext cx="54864" cy="1115568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4361688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Prompt-to-Agent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4718304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Describe your agent in plain English — GPT-4o
generates name, system prompt, tools &amp; guardrails
in under 60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49824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5449824"/>
            <a:ext cx="54864" cy="111556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5568696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Manager / Worker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5925312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Manager agent delegates tasks to worker agents.
Each worker runs its own guardrail pass before
results are aggregated by the manager.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5715000" cy="4736592"/>
          </a:xfrm>
          <a:prstGeom prst="rect">
            <a:avLst/>
          </a:prstGeom>
          <a:solidFill>
            <a:srgbClr val="041430"/>
          </a:solidFill>
          <a:ln w="1270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19202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88CC"/>
                </a:solidFill>
                <a:latin typeface="Segoe UI"/>
              </a:rPr>
              <a:t>AGENT STUDIO CANVAS LAYOUT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331720"/>
            <a:ext cx="1298448" cy="34747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All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78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Agent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28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94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Managerial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144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510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Superflow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971800"/>
            <a:ext cx="1554480" cy="475488"/>
          </a:xfrm>
          <a:prstGeom prst="rect">
            <a:avLst/>
          </a:prstGeom>
          <a:solidFill>
            <a:srgbClr val="0E224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Input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9872" y="2971800"/>
            <a:ext cx="1554480" cy="475488"/>
          </a:xfrm>
          <a:prstGeom prst="rect">
            <a:avLst/>
          </a:prstGeom>
          <a:solidFill>
            <a:srgbClr val="16529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971800"/>
            <a:ext cx="1554480" cy="475488"/>
          </a:xfrm>
          <a:prstGeom prst="rect">
            <a:avLst/>
          </a:prstGeom>
          <a:solidFill>
            <a:srgbClr val="0E224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931920"/>
            <a:ext cx="1645920" cy="475488"/>
          </a:xfrm>
          <a:prstGeom prst="rect">
            <a:avLst/>
          </a:prstGeom>
          <a:solidFill>
            <a:srgbClr val="0C4428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931920"/>
            <a:ext cx="1645920" cy="475488"/>
          </a:xfrm>
          <a:prstGeom prst="rect">
            <a:avLst/>
          </a:prstGeom>
          <a:solidFill>
            <a:srgbClr val="0C4428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892040"/>
            <a:ext cx="1645920" cy="475488"/>
          </a:xfrm>
          <a:prstGeom prst="rect">
            <a:avLst/>
          </a:prstGeom>
          <a:solidFill>
            <a:srgbClr val="321800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4892040"/>
            <a:ext cx="1645920" cy="475488"/>
          </a:xfrm>
          <a:prstGeom prst="rect">
            <a:avLst/>
          </a:prstGeom>
          <a:solidFill>
            <a:srgbClr val="321800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Tool: Slack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943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0DD"/>
                </a:solidFill>
                <a:latin typeface="Segoe UI"/>
              </a:rPr>
              <a:t>Unlimited nodes per workflow  ·  Single or multi-agent modes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AgentForge vs Lyzr Architect — Feature Parity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518325"/>
              </p:ext>
            </p:extLst>
          </p:nvPr>
        </p:nvGraphicFramePr>
        <p:xfrm>
          <a:off x="502920" y="1444752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AgentForge  ✅</a:t>
                      </a:r>
                    </a:p>
                  </a:txBody>
                  <a:tcPr>
                    <a:solidFill>
                      <a:srgbClr val="1652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Lyzr Architect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Visual drag-drop canvas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</a:t>
                      </a:r>
                      <a:r>
                        <a:rPr sz="1200" b="0" dirty="0" err="1">
                          <a:solidFill>
                            <a:srgbClr val="182438"/>
                          </a:solidFill>
                          <a:latin typeface="Segoe UI"/>
                        </a:rPr>
                        <a:t>ReactFlow</a:t>
                      </a:r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 v12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Prompt-to-agent (NL)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GPT-4o powered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Multi-agent orchestration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Manager/worker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 type filters (Studio)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Agent/</a:t>
                      </a:r>
                      <a:r>
                        <a:rPr sz="1200" b="0" dirty="0" err="1">
                          <a:solidFill>
                            <a:srgbClr val="182438"/>
                          </a:solidFill>
                          <a:latin typeface="Segoe UI"/>
                        </a:rPr>
                        <a:t>Mgr</a:t>
                      </a:r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/</a:t>
                      </a:r>
                      <a:r>
                        <a:rPr sz="1200" b="0" dirty="0" err="1">
                          <a:solidFill>
                            <a:srgbClr val="182438"/>
                          </a:solidFill>
                          <a:latin typeface="Segoe UI"/>
                        </a:rPr>
                        <a:t>Superflow</a:t>
                      </a:r>
                      <a:endParaRPr sz="1200" b="0" dirty="0">
                        <a:solidFill>
                          <a:srgbClr val="182438"/>
                        </a:solidFill>
                        <a:latin typeface="Segoe UI"/>
                      </a:endParaRP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RAG pipeline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LangChain+pgvector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PII redaction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Microsoft Presidio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Safety rules dashboard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8 rules + toggle UI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Evaluations / 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Score + history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Voice agents (TTS/STT)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Azure Speech SDK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Azure-native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GPT-4o + Speech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❌ OpenAI SaaS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Self-hosted / open source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Docker Compose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❌ SaaS only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 versioning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Immutable history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Pre-production simulation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Pass-rate scoring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73952"/>
            <a:ext cx="11183112" cy="329184"/>
          </a:xfrm>
          <a:prstGeom prst="rect">
            <a:avLst/>
          </a:prstGeom>
          <a:solidFill>
            <a:srgbClr val="E0EC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29A"/>
                </a:solidFill>
                <a:latin typeface="Segoe UI"/>
              </a:rPr>
              <a:t>AgentForge adds Evaluations, Voice Agents, and 8-rule Safety dashboard that Lyzr does not offer.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AgentForge vs The Broader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44752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Canvas</a:t>
                      </a:r>
                    </a:p>
                  </a:txBody>
                  <a:tcPr>
                    <a:solidFill>
                      <a:srgbClr val="1652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Evaluations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Voice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Azure-Native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Self-Host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Simulation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AgentForge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Lyzr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Flowise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Langflow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Dify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MS Copilot Studio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46520"/>
            <a:ext cx="11183112" cy="365760"/>
          </a:xfrm>
          <a:prstGeom prst="rect">
            <a:avLst/>
          </a:prstGeom>
          <a:solidFill>
            <a:srgbClr val="E0EC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29A"/>
                </a:solidFill>
                <a:latin typeface="Segoe UI"/>
              </a:rPr>
              <a:t>AgentForge is the only platform with Canvas + Guardrails + Evaluations + Voice + Azure-Native + Self-Host + Simulation — all 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COMPLETE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41605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Segoe UI"/>
              </a:rPr>
              <a:t>17 Enterprise Features Shipped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014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Visual Drag-Drop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36245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ReactFlow canvas, animated edges, dark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960120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960120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014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Prompt-to-Agent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136245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GPT-4o generates full config from one 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960120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960120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014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36245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Manager delegates to workers, sequential/parallel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947672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1947672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200253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Agent Type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235000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 / Managerial / Superflow tabs in Studio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1947672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1947672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3" y="200253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RAG Knowledge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235000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LangChain + pgvector, PDF/TXT ingest, citations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1947672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1947672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200253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PII Redaction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35000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Microsoft Presidio, 5 entity types, always-on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35224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2935224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" y="2990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Safety Rules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33375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8 rules, live toggle, category/severity badges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7" y="2935224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07407" y="2935224"/>
            <a:ext cx="45720" cy="89611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35423" y="2990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Evaluations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3" y="33375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JSON test cases, score, history, pass-rate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1896" y="2935224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11896" y="2935224"/>
            <a:ext cx="45720" cy="89611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9912" y="2990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Voice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33375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Azure Speech SDK, 8 Neural voices, TTS/STT config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22776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3922776"/>
            <a:ext cx="45720" cy="89611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" y="39776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Simulation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" y="43251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Batch test runner, expected output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7" y="3922776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07407" y="3922776"/>
            <a:ext cx="45720" cy="89611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35423" y="39776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Tool Registry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3" y="43251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7 tools: web, calc, email, Slack, GitHub, Jira, Drive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1896" y="3922776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311896" y="3922776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9912" y="39776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Control Plane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43251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Live stats, guardrail triggers, avg latency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910328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4910328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0936" y="49651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Agent Versioning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" y="531266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Immutable snapshots on every save, rollback ready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7" y="4910328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407407" y="4910328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35423" y="49651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Audit Logs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3" y="531266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Full run history: inputs, outputs, guardrail events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11896" y="4910328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11896" y="4910328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9912" y="49651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RBAC + JWT Auth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9912" y="531266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Admin / Developer / Viewer, enforced on all routes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897880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2920" y="5897880"/>
            <a:ext cx="45720" cy="89611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0936" y="595274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OpenTelemetry Tracing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630021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Jaeger, Azure Monitor, GCP, Datadog, console/none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07407" y="5897880"/>
            <a:ext cx="3749039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407407" y="5897880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35423" y="595274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Docker Compose Stack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35423" y="630021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postgres+pgvector + backend + frontend + jaeger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0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DELIVERY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Built to Production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Tests Passing
(32/32)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Core Features
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API Route
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RBAC Roles
Enforced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5577840" cy="3337560"/>
          </a:xfrm>
          <a:prstGeom prst="rect">
            <a:avLst/>
          </a:prstGeom>
          <a:solidFill>
            <a:srgbClr val="020E22"/>
          </a:solidFill>
          <a:ln w="1270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3375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99DD"/>
                </a:solidFill>
                <a:latin typeface="Segoe UI"/>
              </a:rPr>
              <a:t>KEY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/api/agents/generate     →  NL-to-agent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513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/api/agents/{id}/run     →  Execute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53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/api/rag/ingest          →  Upload &amp; chunk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56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/api/simulation/run      →  Batch test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5838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GET  /api/safety/rules        →  List / toggle safety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/api/evaluations/runs    →  Run evaluation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630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POST /api/voice/synthesize    →  Azure TTS audio stream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5486400" cy="3337560"/>
          </a:xfrm>
          <a:prstGeom prst="rect">
            <a:avLst/>
          </a:prstGeom>
          <a:solidFill>
            <a:srgbClr val="020E22"/>
          </a:solidFill>
          <a:ln w="1270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99DD"/>
                </a:solidFill>
                <a:latin typeface="Segoe UI"/>
              </a:rPr>
              <a:t>SECURITY &amp;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No hardcoded secrets — config fails loud at startup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513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Azure API keys git-ignored via .env + start.ps1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53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bcrypt==4.0.1 pinned for passlib compatibility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56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PostgreSQL healthcheck before backend starts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5838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SQLAlchemy 2.0 async end-to-end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Pydantic v2 validation at every API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163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JWT enforced on all 9 router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Where AgentForge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217627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Financial Document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04288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Ingest annual reports via RAG. Agent answers investor questions grounded in source data. PII guardrails block SSN/account number disclosure. Audit log for every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828800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828800"/>
            <a:ext cx="54864" cy="217627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Healthcare Triage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304288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Intake agent → diagnosis agent → scheduling agent pipeline. Presidio removes patient PII before any LLM call. HIPAA-compliant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828798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828798"/>
            <a:ext cx="54864" cy="217627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947670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DevOps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04286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Manager delegates: GitHub reads PRs, Jira creates tickets, Slack posts summaries — one multi-agent workflow replaces three separate automation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33087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33087"/>
            <a:ext cx="54864" cy="217627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251959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Voice-Enabled Customer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608575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Voice agent uses Azure Neural TTS to answer calls in natural language. Per-agent voice selection, silence detection, and max call duration configured in UI.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4133087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4133087"/>
            <a:ext cx="54864" cy="217627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3" y="4251959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Enterprise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4608575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HR, legal, and compliance docs ingested via RAG. Employees ask questions in plain English; agents answer with source citations. Safety rules prevent off-topic or harmful responses.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4133087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4133087"/>
            <a:ext cx="54864" cy="217627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4251959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Pre-Production QA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608575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Evaluation engine scores agents on a regression test suite overnight. Only agents meeting 90%+ pass rate are promoted to production — zero manual QA effort.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What Comes Next — AgentForge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224028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1.  Azure AI Search Vector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04288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Replace in-memory chunks with Azure AI Search for enterprise-scale semantic retrieval with full vector similarity, faceting, and hybrid 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82880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828800"/>
            <a:ext cx="54864" cy="224028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2.  WebSocket Streaming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304288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Real-time token-by-token agent output. Azure client streaming is wired — frontend upgrade only. Sub-second first-token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82880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828800"/>
            <a:ext cx="54864" cy="2240280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3.  Live Tool Credentials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04288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Connect real Slack, GitHub, and email accounts via a settings panel. Move integrations from stubs to fully live without code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0624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54864" cy="224028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32511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4.  Telephony Inbound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681727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Wire Azure Communication Services to Voice Agents for real inbound call handling. IVR flows, call recording, and transcript storage.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420624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4206240"/>
            <a:ext cx="54864" cy="2240280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3" y="432511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5.  Multi-Tenant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4681727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Isolated workspaces per team — separate agents, RAG indexes, audit logs, safety configs, and quotas per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4206240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4206240"/>
            <a:ext cx="54864" cy="2240280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432511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6.  In-Browser Agent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681727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Test any agent in a chat window directly in the builder — no API client needed. Instant feedback loop for prompt engineers.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2B4"/>
                </a:solidFill>
                <a:latin typeface="Segoe UI"/>
              </a:rPr>
              <a:t>DEPLOY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Up and Running in 3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11680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1 —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cp .env.example .env        # add your Azure OpenAI + Speech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18688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2 —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8444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docker-compose up --build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425696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462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3 —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9145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http://localhost:5173              # frontend   |   :8000/docs  →  API explorer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0"/>
            <a:ext cx="11183112" cy="22860"/>
          </a:xfrm>
          <a:prstGeom prst="rect">
            <a:avLst/>
          </a:prstGeom>
          <a:solidFill>
            <a:srgbClr val="18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5EE2B4"/>
                </a:solidFill>
                <a:latin typeface="Segoe UI"/>
              </a:rPr>
              <a:t>Project:  C:\Users\n.sureshmanikandan\Repo1\AgentForge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5EE2B4"/>
                </a:solidFill>
                <a:latin typeface="Segoe UI"/>
              </a:rPr>
              <a:t>Version:  3.0  —  July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4AE08C"/>
                </a:solidFill>
                <a:latin typeface="Segoe UI"/>
              </a:rPr>
              <a:t>Features:  17  ·  Tests:  32/32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2738</Words>
  <Application>Microsoft Office PowerPoint</Application>
  <PresentationFormat>Custom</PresentationFormat>
  <Paragraphs>419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Natarajan, Suresh Manikandan</cp:lastModifiedBy>
  <cp:revision>3</cp:revision>
  <dcterms:created xsi:type="dcterms:W3CDTF">2013-01-27T09:14:16Z</dcterms:created>
  <dcterms:modified xsi:type="dcterms:W3CDTF">2026-07-12T10:29:50Z</dcterms:modified>
  <cp:category/>
</cp:coreProperties>
</file>