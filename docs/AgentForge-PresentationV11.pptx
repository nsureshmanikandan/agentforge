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301" r:id="rId51"/>
    <p:sldId id="283" r:id="rId28"/>
    <p:sldId id="284" r:id="rId29"/>
    <p:sldId id="293" r:id="rId30"/>
    <p:sldId id="294" r:id="rId31"/>
    <p:sldId id="295" r:id="rId32"/>
    <p:sldId id="296" r:id="rId33"/>
    <p:sldId id="297" r:id="rId34"/>
    <p:sldId id="298" r:id="rId35"/>
    <p:sldId id="299" r:id="rId36"/>
    <p:sldId id="300" r:id="rId50"/>
    <p:sldId id="285" r:id="rId37"/>
    <p:sldId id="286" r:id="rId38"/>
    <p:sldId id="287" r:id="rId39"/>
    <p:sldId id="288" r:id="rId40"/>
    <p:sldId id="289" r:id="rId41"/>
    <p:sldId id="290" r:id="rId42"/>
    <p:sldId id="291" r:id="rId43"/>
    <p:sldId id="292" r:id="rId44"/>
    <p:sldId id="281" r:id="rId4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70" d="100"/>
          <a:sy n="70" d="100"/>
        </p:scale>
        <p:origin x="536"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36.xml"/><Relationship Id="rId51"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88952" cy="4114800"/>
          </a:xfrm>
          <a:prstGeom prst="rect">
            <a:avLst/>
          </a:prstGeom>
          <a:solidFill>
            <a:srgbClr val="1A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645920"/>
            <a:ext cx="292608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2926080" cy="502920"/>
          </a:xfrm>
          <a:prstGeom prst="rect">
            <a:avLst/>
          </a:prstGeom>
          <a:noFill/>
        </p:spPr>
        <p:txBody>
          <a:bodyPr wrap="square">
            <a:spAutoFit/>
          </a:bodyPr>
          <a:lstStyle/>
          <a:p>
            <a:pPr algn="ctr"/>
            <a:r>
              <a:rPr sz="1600" b="1">
                <a:solidFill>
                  <a:srgbClr val="FFFFFF"/>
                </a:solidFill>
              </a:rPr>
              <a:t>⚡  AgentForge</a:t>
            </a:r>
          </a:p>
        </p:txBody>
      </p:sp>
      <p:sp>
        <p:nvSpPr>
          <p:cNvPr id="7" name="TextBox 6"/>
          <p:cNvSpPr txBox="1"/>
          <p:nvPr/>
        </p:nvSpPr>
        <p:spPr>
          <a:xfrm>
            <a:off x="365760" y="2377440"/>
            <a:ext cx="8229600" cy="830997"/>
          </a:xfrm>
          <a:prstGeom prst="rect">
            <a:avLst/>
          </a:prstGeom>
          <a:noFill/>
        </p:spPr>
        <p:txBody>
          <a:bodyPr wrap="square">
            <a:spAutoFit/>
          </a:bodyPr>
          <a:lstStyle/>
          <a:p>
            <a:pPr algn="l"/>
            <a:r>
              <a:rPr sz="4800" b="1">
                <a:solidFill>
                  <a:srgbClr val="FFFFFF"/>
                </a:solidFill>
              </a:rPr>
              <a:t>AI </a:t>
            </a:r>
            <a:r>
              <a:rPr sz="4800" b="1" dirty="0">
                <a:solidFill>
                  <a:srgbClr val="FFFFFF"/>
                </a:solidFill>
              </a:rPr>
              <a:t>Agent Platform</a:t>
            </a:r>
          </a:p>
        </p:txBody>
      </p:sp>
      <p:sp>
        <p:nvSpPr>
          <p:cNvPr id="8" name="TextBox 7"/>
          <p:cNvSpPr txBox="1"/>
          <p:nvPr/>
        </p:nvSpPr>
        <p:spPr>
          <a:xfrm>
            <a:off x="365760" y="3749039"/>
            <a:ext cx="9144000" cy="640080"/>
          </a:xfrm>
          <a:prstGeom prst="rect">
            <a:avLst/>
          </a:prstGeom>
          <a:noFill/>
        </p:spPr>
        <p:txBody>
          <a:bodyPr wrap="square">
            <a:spAutoFit/>
          </a:bodyPr>
          <a:lstStyle/>
          <a:p>
            <a:pPr algn="l"/>
            <a:r>
              <a:rPr sz="2200" b="0">
                <a:solidFill>
                  <a:srgbClr val="CBD5E1"/>
                </a:solidFill>
              </a:rPr>
              <a:t>Build · Orchestrate · Deploy · Govern — AI Agents at Scale</a:t>
            </a:r>
          </a:p>
        </p:txBody>
      </p:sp>
      <p:sp>
        <p:nvSpPr>
          <p:cNvPr id="9" name="Rectangle 8"/>
          <p:cNvSpPr/>
          <p:nvPr/>
        </p:nvSpPr>
        <p:spPr>
          <a:xfrm>
            <a:off x="365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4572000"/>
            <a:ext cx="2103120" cy="347472"/>
          </a:xfrm>
          <a:prstGeom prst="rect">
            <a:avLst/>
          </a:prstGeom>
          <a:noFill/>
        </p:spPr>
        <p:txBody>
          <a:bodyPr wrap="square">
            <a:spAutoFit/>
          </a:bodyPr>
          <a:lstStyle/>
          <a:p>
            <a:pPr algn="ctr"/>
            <a:r>
              <a:rPr sz="1200" b="1">
                <a:solidFill>
                  <a:srgbClr val="FFFFFF"/>
                </a:solidFill>
              </a:rPr>
              <a:t>Azure OpenAI</a:t>
            </a:r>
          </a:p>
        </p:txBody>
      </p:sp>
      <p:sp>
        <p:nvSpPr>
          <p:cNvPr id="11" name="Rectangle 10"/>
          <p:cNvSpPr/>
          <p:nvPr/>
        </p:nvSpPr>
        <p:spPr>
          <a:xfrm>
            <a:off x="2651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51760" y="4572000"/>
            <a:ext cx="2103120" cy="347472"/>
          </a:xfrm>
          <a:prstGeom prst="rect">
            <a:avLst/>
          </a:prstGeom>
          <a:noFill/>
        </p:spPr>
        <p:txBody>
          <a:bodyPr wrap="square">
            <a:spAutoFit/>
          </a:bodyPr>
          <a:lstStyle/>
          <a:p>
            <a:pPr algn="ctr"/>
            <a:r>
              <a:rPr sz="1200" b="1" dirty="0">
                <a:solidFill>
                  <a:srgbClr val="FFFFFF"/>
                </a:solidFill>
              </a:rPr>
              <a:t>FastAPI</a:t>
            </a:r>
          </a:p>
        </p:txBody>
      </p:sp>
      <p:sp>
        <p:nvSpPr>
          <p:cNvPr id="13" name="Rectangle 12"/>
          <p:cNvSpPr/>
          <p:nvPr/>
        </p:nvSpPr>
        <p:spPr>
          <a:xfrm>
            <a:off x="4937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60" y="4572000"/>
            <a:ext cx="2103120" cy="347472"/>
          </a:xfrm>
          <a:prstGeom prst="rect">
            <a:avLst/>
          </a:prstGeom>
          <a:noFill/>
        </p:spPr>
        <p:txBody>
          <a:bodyPr wrap="square">
            <a:spAutoFit/>
          </a:bodyPr>
          <a:lstStyle/>
          <a:p>
            <a:pPr algn="ctr"/>
            <a:r>
              <a:rPr sz="1200" b="1">
                <a:solidFill>
                  <a:srgbClr val="FFFFFF"/>
                </a:solidFill>
              </a:rPr>
              <a:t>React 18</a:t>
            </a:r>
          </a:p>
        </p:txBody>
      </p:sp>
      <p:sp>
        <p:nvSpPr>
          <p:cNvPr id="15" name="Rectangle 14"/>
          <p:cNvSpPr/>
          <p:nvPr/>
        </p:nvSpPr>
        <p:spPr>
          <a:xfrm>
            <a:off x="7223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23760" y="4572000"/>
            <a:ext cx="2103120" cy="347472"/>
          </a:xfrm>
          <a:prstGeom prst="rect">
            <a:avLst/>
          </a:prstGeom>
          <a:noFill/>
        </p:spPr>
        <p:txBody>
          <a:bodyPr wrap="square">
            <a:spAutoFit/>
          </a:bodyPr>
          <a:lstStyle/>
          <a:p>
            <a:pPr algn="ctr"/>
            <a:r>
              <a:rPr sz="1200" b="1">
                <a:solidFill>
                  <a:srgbClr val="FFFFFF"/>
                </a:solidFill>
              </a:rPr>
              <a:t>PostgreSQL + pgvector</a:t>
            </a:r>
          </a:p>
        </p:txBody>
      </p:sp>
      <p:sp>
        <p:nvSpPr>
          <p:cNvPr id="17" name="Rectangle 16"/>
          <p:cNvSpPr/>
          <p:nvPr/>
        </p:nvSpPr>
        <p:spPr>
          <a:xfrm>
            <a:off x="9509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4572000"/>
            <a:ext cx="2103120" cy="347472"/>
          </a:xfrm>
          <a:prstGeom prst="rect">
            <a:avLst/>
          </a:prstGeom>
          <a:noFill/>
        </p:spPr>
        <p:txBody>
          <a:bodyPr wrap="square">
            <a:spAutoFit/>
          </a:bodyPr>
          <a:lstStyle/>
          <a:p>
            <a:pPr algn="ctr"/>
            <a:r>
              <a:rPr sz="1200" b="1">
                <a:solidFill>
                  <a:srgbClr val="FFFFFF"/>
                </a:solidFill>
              </a:rPr>
              <a:t>OpenTelemetry</a:t>
            </a:r>
          </a:p>
        </p:txBody>
      </p:sp>
      <p:sp>
        <p:nvSpPr>
          <p:cNvPr id="19" name="TextBox 18"/>
          <p:cNvSpPr txBox="1"/>
          <p:nvPr/>
        </p:nvSpPr>
        <p:spPr>
          <a:xfrm>
            <a:off x="365760" y="5669280"/>
            <a:ext cx="5486400" cy="365760"/>
          </a:xfrm>
          <a:prstGeom prst="rect">
            <a:avLst/>
          </a:prstGeom>
          <a:noFill/>
        </p:spPr>
        <p:txBody>
          <a:bodyPr wrap="square">
            <a:spAutoFit/>
          </a:bodyPr>
          <a:lstStyle/>
          <a:p>
            <a:pPr algn="l"/>
            <a:r>
              <a:rPr sz="1200" b="0">
                <a:solidFill>
                  <a:srgbClr val="CBD5E1"/>
                </a:solidFill>
              </a:rPr>
              <a:t>Version 8.0  |  July 2026  |  Confidential</a:t>
            </a:r>
          </a:p>
        </p:txBody>
      </p:sp>
      <p:sp>
        <p:nvSpPr>
          <p:cNvPr id="20" name="TextBox 1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dirty="0">
                <a:solidFill>
                  <a:srgbClr val="FFFFFF"/>
                </a:solidFill>
              </a:rPr>
              <a:t>Executive Summary</a:t>
            </a:r>
          </a:p>
        </p:txBody>
      </p:sp>
      <p:sp>
        <p:nvSpPr>
          <p:cNvPr id="5" name="TextBox 4"/>
          <p:cNvSpPr txBox="1"/>
          <p:nvPr/>
        </p:nvSpPr>
        <p:spPr>
          <a:xfrm>
            <a:off x="457200" y="1005840"/>
            <a:ext cx="11338560" cy="1384995"/>
          </a:xfrm>
          <a:prstGeom prst="rect">
            <a:avLst/>
          </a:prstGeom>
          <a:noFill/>
        </p:spPr>
        <p:txBody>
          <a:bodyPr wrap="square">
            <a:spAutoFit/>
          </a:bodyPr>
          <a:lstStyle/>
          <a:p>
            <a:pPr algn="l"/>
            <a:r>
              <a:rPr sz="1400" b="0" dirty="0" err="1">
                <a:solidFill>
                  <a:srgbClr val="CBD5E1"/>
                </a:solidFill>
              </a:rPr>
              <a:t>AgentForge</a:t>
            </a:r>
            <a:r>
              <a:rPr sz="1400" b="0" dirty="0">
                <a:solidFill>
                  <a:srgbClr val="CBD5E1"/>
                </a:solidFill>
              </a:rPr>
              <a:t> is an enterprise-grade AI Agent Platform that empowers developers and clients to design, build, simulate, deploy, and govern intelligent AI agents at scale — without deep ML expertise.
Powered by Azure OpenAI GPT-5.4-mini, it delivers a full-stack solution: a conversational Planning Architect (Prompt-to-Agent), a visual Workflow Builder, a built-in RAG pipeline, enterprise guardrails (PII + hallucination detection), multi-agent orchestration, voice agent support, and a real-time Control Plane — all with RBAC, audit logs, and Open</a:t>
            </a:r>
            <a:r>
              <a:rPr lang="en-US" sz="1400" dirty="0">
                <a:solidFill>
                  <a:srgbClr val="CBD5E1"/>
                </a:solidFill>
              </a:rPr>
              <a:t>-</a:t>
            </a:r>
            <a:r>
              <a:rPr sz="1400" b="0" dirty="0">
                <a:solidFill>
                  <a:srgbClr val="CBD5E1"/>
                </a:solidFill>
              </a:rPr>
              <a:t>Telemetry observability baked in.</a:t>
            </a:r>
          </a:p>
        </p:txBody>
      </p:sp>
      <p:sp>
        <p:nvSpPr>
          <p:cNvPr id="6" name="Rectangle 5"/>
          <p:cNvSpPr/>
          <p:nvPr/>
        </p:nvSpPr>
        <p:spPr>
          <a:xfrm>
            <a:off x="365760"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3383280"/>
            <a:ext cx="2011680" cy="594360"/>
          </a:xfrm>
          <a:prstGeom prst="rect">
            <a:avLst/>
          </a:prstGeom>
          <a:noFill/>
        </p:spPr>
        <p:txBody>
          <a:bodyPr wrap="square">
            <a:spAutoFit/>
          </a:bodyPr>
          <a:lstStyle/>
          <a:p>
            <a:pPr algn="ctr"/>
            <a:r>
              <a:rPr sz="1600" b="1">
                <a:solidFill>
                  <a:srgbClr val="606EF5"/>
                </a:solidFill>
              </a:rPr>
              <a:t>16 API Modules</a:t>
            </a:r>
          </a:p>
        </p:txBody>
      </p:sp>
      <p:sp>
        <p:nvSpPr>
          <p:cNvPr id="8" name="TextBox 7"/>
          <p:cNvSpPr txBox="1"/>
          <p:nvPr/>
        </p:nvSpPr>
        <p:spPr>
          <a:xfrm>
            <a:off x="475488" y="3977639"/>
            <a:ext cx="2011680" cy="548640"/>
          </a:xfrm>
          <a:prstGeom prst="rect">
            <a:avLst/>
          </a:prstGeom>
          <a:noFill/>
        </p:spPr>
        <p:txBody>
          <a:bodyPr wrap="square">
            <a:spAutoFit/>
          </a:bodyPr>
          <a:lstStyle/>
          <a:p>
            <a:pPr algn="ctr"/>
            <a:r>
              <a:rPr sz="1200" b="0">
                <a:solidFill>
                  <a:srgbClr val="CBD5E1"/>
                </a:solidFill>
              </a:rPr>
              <a:t>End-to-end coverage</a:t>
            </a:r>
          </a:p>
        </p:txBody>
      </p:sp>
      <p:sp>
        <p:nvSpPr>
          <p:cNvPr id="9" name="Rectangle 8"/>
          <p:cNvSpPr/>
          <p:nvPr/>
        </p:nvSpPr>
        <p:spPr>
          <a:xfrm>
            <a:off x="2724912"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34640" y="3383280"/>
            <a:ext cx="2011680" cy="594360"/>
          </a:xfrm>
          <a:prstGeom prst="rect">
            <a:avLst/>
          </a:prstGeom>
          <a:noFill/>
        </p:spPr>
        <p:txBody>
          <a:bodyPr wrap="square">
            <a:spAutoFit/>
          </a:bodyPr>
          <a:lstStyle/>
          <a:p>
            <a:pPr algn="ctr"/>
            <a:r>
              <a:rPr sz="1600" b="1">
                <a:solidFill>
                  <a:srgbClr val="606EF5"/>
                </a:solidFill>
              </a:rPr>
              <a:t>25 Frontend Pages</a:t>
            </a:r>
          </a:p>
        </p:txBody>
      </p:sp>
      <p:sp>
        <p:nvSpPr>
          <p:cNvPr id="11" name="TextBox 10"/>
          <p:cNvSpPr txBox="1"/>
          <p:nvPr/>
        </p:nvSpPr>
        <p:spPr>
          <a:xfrm>
            <a:off x="2834640" y="3977639"/>
            <a:ext cx="2011680" cy="548640"/>
          </a:xfrm>
          <a:prstGeom prst="rect">
            <a:avLst/>
          </a:prstGeom>
          <a:noFill/>
        </p:spPr>
        <p:txBody>
          <a:bodyPr wrap="square">
            <a:spAutoFit/>
          </a:bodyPr>
          <a:lstStyle/>
          <a:p>
            <a:pPr algn="ctr"/>
            <a:r>
              <a:rPr sz="1200" b="0">
                <a:solidFill>
                  <a:srgbClr val="CBD5E1"/>
                </a:solidFill>
              </a:rPr>
              <a:t>Full SPA experience</a:t>
            </a:r>
          </a:p>
        </p:txBody>
      </p:sp>
      <p:sp>
        <p:nvSpPr>
          <p:cNvPr id="12" name="Rectangle 11"/>
          <p:cNvSpPr/>
          <p:nvPr/>
        </p:nvSpPr>
        <p:spPr>
          <a:xfrm>
            <a:off x="5084064"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93792" y="3383280"/>
            <a:ext cx="2011680" cy="594360"/>
          </a:xfrm>
          <a:prstGeom prst="rect">
            <a:avLst/>
          </a:prstGeom>
          <a:noFill/>
        </p:spPr>
        <p:txBody>
          <a:bodyPr wrap="square">
            <a:spAutoFit/>
          </a:bodyPr>
          <a:lstStyle/>
          <a:p>
            <a:pPr algn="ctr"/>
            <a:r>
              <a:rPr sz="1600" b="1">
                <a:solidFill>
                  <a:srgbClr val="606EF5"/>
                </a:solidFill>
              </a:rPr>
              <a:t>11 DB Tables</a:t>
            </a:r>
          </a:p>
        </p:txBody>
      </p:sp>
      <p:sp>
        <p:nvSpPr>
          <p:cNvPr id="14" name="TextBox 13"/>
          <p:cNvSpPr txBox="1"/>
          <p:nvPr/>
        </p:nvSpPr>
        <p:spPr>
          <a:xfrm>
            <a:off x="5193792" y="3977639"/>
            <a:ext cx="2011680" cy="548640"/>
          </a:xfrm>
          <a:prstGeom prst="rect">
            <a:avLst/>
          </a:prstGeom>
          <a:noFill/>
        </p:spPr>
        <p:txBody>
          <a:bodyPr wrap="square">
            <a:spAutoFit/>
          </a:bodyPr>
          <a:lstStyle/>
          <a:p>
            <a:pPr algn="ctr"/>
            <a:r>
              <a:rPr sz="1200" b="0">
                <a:solidFill>
                  <a:srgbClr val="CBD5E1"/>
                </a:solidFill>
              </a:rPr>
              <a:t>Relational + vector store</a:t>
            </a:r>
          </a:p>
        </p:txBody>
      </p:sp>
      <p:sp>
        <p:nvSpPr>
          <p:cNvPr id="15" name="Rectangle 14"/>
          <p:cNvSpPr/>
          <p:nvPr/>
        </p:nvSpPr>
        <p:spPr>
          <a:xfrm>
            <a:off x="7443216"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52944" y="3383280"/>
            <a:ext cx="2011680" cy="594360"/>
          </a:xfrm>
          <a:prstGeom prst="rect">
            <a:avLst/>
          </a:prstGeom>
          <a:noFill/>
        </p:spPr>
        <p:txBody>
          <a:bodyPr wrap="square">
            <a:spAutoFit/>
          </a:bodyPr>
          <a:lstStyle/>
          <a:p>
            <a:pPr algn="ctr"/>
            <a:r>
              <a:rPr sz="1600" b="1">
                <a:solidFill>
                  <a:srgbClr val="606EF5"/>
                </a:solidFill>
              </a:rPr>
              <a:t>Zero ML Setup</a:t>
            </a:r>
          </a:p>
        </p:txBody>
      </p:sp>
      <p:sp>
        <p:nvSpPr>
          <p:cNvPr id="17" name="TextBox 16"/>
          <p:cNvSpPr txBox="1"/>
          <p:nvPr/>
        </p:nvSpPr>
        <p:spPr>
          <a:xfrm>
            <a:off x="7552944" y="3977639"/>
            <a:ext cx="2011680" cy="548640"/>
          </a:xfrm>
          <a:prstGeom prst="rect">
            <a:avLst/>
          </a:prstGeom>
          <a:noFill/>
        </p:spPr>
        <p:txBody>
          <a:bodyPr wrap="square">
            <a:spAutoFit/>
          </a:bodyPr>
          <a:lstStyle/>
          <a:p>
            <a:pPr algn="ctr"/>
            <a:r>
              <a:rPr sz="1200" b="0">
                <a:solidFill>
                  <a:srgbClr val="CBD5E1"/>
                </a:solidFill>
              </a:rPr>
              <a:t>Prompt-to-agent in &lt;2 min</a:t>
            </a:r>
          </a:p>
        </p:txBody>
      </p:sp>
      <p:sp>
        <p:nvSpPr>
          <p:cNvPr id="18" name="Rectangle 17"/>
          <p:cNvSpPr/>
          <p:nvPr/>
        </p:nvSpPr>
        <p:spPr>
          <a:xfrm>
            <a:off x="9802368"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12096" y="3383280"/>
            <a:ext cx="2011680" cy="594360"/>
          </a:xfrm>
          <a:prstGeom prst="rect">
            <a:avLst/>
          </a:prstGeom>
          <a:noFill/>
        </p:spPr>
        <p:txBody>
          <a:bodyPr wrap="square">
            <a:spAutoFit/>
          </a:bodyPr>
          <a:lstStyle/>
          <a:p>
            <a:pPr algn="ctr"/>
            <a:r>
              <a:rPr sz="1600" b="1">
                <a:solidFill>
                  <a:srgbClr val="606EF5"/>
                </a:solidFill>
              </a:rPr>
              <a:t>Enterprise Ready</a:t>
            </a:r>
          </a:p>
        </p:txBody>
      </p:sp>
      <p:sp>
        <p:nvSpPr>
          <p:cNvPr id="20" name="TextBox 19"/>
          <p:cNvSpPr txBox="1"/>
          <p:nvPr/>
        </p:nvSpPr>
        <p:spPr>
          <a:xfrm>
            <a:off x="9912096" y="3977639"/>
            <a:ext cx="2011680" cy="548640"/>
          </a:xfrm>
          <a:prstGeom prst="rect">
            <a:avLst/>
          </a:prstGeom>
          <a:noFill/>
        </p:spPr>
        <p:txBody>
          <a:bodyPr wrap="square">
            <a:spAutoFit/>
          </a:bodyPr>
          <a:lstStyle/>
          <a:p>
            <a:pPr algn="ctr"/>
            <a:r>
              <a:rPr sz="1200" b="0">
                <a:solidFill>
                  <a:srgbClr val="CBD5E1"/>
                </a:solidFill>
              </a:rPr>
              <a:t>RBAC · Audit · OTEL</a:t>
            </a:r>
          </a:p>
        </p:txBody>
      </p:sp>
      <p:sp>
        <p:nvSpPr>
          <p:cNvPr id="21" name="TextBox 20"/>
          <p:cNvSpPr txBox="1"/>
          <p:nvPr/>
        </p:nvSpPr>
        <p:spPr>
          <a:xfrm>
            <a:off x="457200" y="4937760"/>
            <a:ext cx="10972800" cy="307777"/>
          </a:xfrm>
          <a:prstGeom prst="rect">
            <a:avLst/>
          </a:prstGeom>
          <a:noFill/>
        </p:spPr>
        <p:txBody>
          <a:bodyPr wrap="square">
            <a:spAutoFit/>
          </a:bodyPr>
          <a:lstStyle/>
          <a:p>
            <a:pPr algn="ctr"/>
            <a:r>
              <a:rPr sz="1400" b="1" dirty="0">
                <a:solidFill>
                  <a:srgbClr val="10B981"/>
                </a:solidFill>
              </a:rPr>
              <a:t>Designed | Delivered with Azure | Governed by Design</a:t>
            </a:r>
          </a:p>
        </p:txBody>
      </p:sp>
      <p:sp>
        <p:nvSpPr>
          <p:cNvPr id="22" name="TextBox 21"/>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The Problem We Solve</a:t>
            </a:r>
          </a:p>
        </p:txBody>
      </p:sp>
      <p:sp>
        <p:nvSpPr>
          <p:cNvPr id="5" name="Rectangle 4"/>
          <p:cNvSpPr/>
          <p:nvPr/>
        </p:nvSpPr>
        <p:spPr>
          <a:xfrm>
            <a:off x="365760" y="10058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143000"/>
            <a:ext cx="3383280" cy="457200"/>
          </a:xfrm>
          <a:prstGeom prst="rect">
            <a:avLst/>
          </a:prstGeom>
          <a:noFill/>
        </p:spPr>
        <p:txBody>
          <a:bodyPr wrap="square">
            <a:spAutoFit/>
          </a:bodyPr>
          <a:lstStyle/>
          <a:p>
            <a:pPr algn="l"/>
            <a:r>
              <a:rPr sz="1500" b="1">
                <a:solidFill>
                  <a:srgbClr val="F59E0B"/>
                </a:solidFill>
              </a:rPr>
              <a:t>🧩  Fragmented Tooling</a:t>
            </a:r>
          </a:p>
        </p:txBody>
      </p:sp>
      <p:sp>
        <p:nvSpPr>
          <p:cNvPr id="7" name="TextBox 6"/>
          <p:cNvSpPr txBox="1"/>
          <p:nvPr/>
        </p:nvSpPr>
        <p:spPr>
          <a:xfrm>
            <a:off x="530352" y="1536192"/>
            <a:ext cx="3383280" cy="960120"/>
          </a:xfrm>
          <a:prstGeom prst="rect">
            <a:avLst/>
          </a:prstGeom>
          <a:noFill/>
        </p:spPr>
        <p:txBody>
          <a:bodyPr wrap="square">
            <a:spAutoFit/>
          </a:bodyPr>
          <a:lstStyle/>
          <a:p>
            <a:pPr algn="l"/>
            <a:r>
              <a:rPr sz="1200" b="0">
                <a:solidFill>
                  <a:srgbClr val="CBD5E1"/>
                </a:solidFill>
              </a:rPr>
              <a:t>Teams use disparate tools — LangChain, custom scripts, ad-hoc prompts — with no unified governance or reuse.</a:t>
            </a:r>
          </a:p>
        </p:txBody>
      </p:sp>
      <p:sp>
        <p:nvSpPr>
          <p:cNvPr id="8" name="Rectangle 7"/>
          <p:cNvSpPr/>
          <p:nvPr/>
        </p:nvSpPr>
        <p:spPr>
          <a:xfrm>
            <a:off x="4297680" y="10058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1143000"/>
            <a:ext cx="3383280" cy="457200"/>
          </a:xfrm>
          <a:prstGeom prst="rect">
            <a:avLst/>
          </a:prstGeom>
          <a:noFill/>
        </p:spPr>
        <p:txBody>
          <a:bodyPr wrap="square">
            <a:spAutoFit/>
          </a:bodyPr>
          <a:lstStyle/>
          <a:p>
            <a:pPr algn="l"/>
            <a:r>
              <a:rPr sz="1500" b="1">
                <a:solidFill>
                  <a:srgbClr val="F59E0B"/>
                </a:solidFill>
              </a:rPr>
              <a:t>⏱️  Slow Time-to-Agent</a:t>
            </a:r>
          </a:p>
        </p:txBody>
      </p:sp>
      <p:sp>
        <p:nvSpPr>
          <p:cNvPr id="10" name="TextBox 9"/>
          <p:cNvSpPr txBox="1"/>
          <p:nvPr/>
        </p:nvSpPr>
        <p:spPr>
          <a:xfrm>
            <a:off x="4462272" y="1536192"/>
            <a:ext cx="3383280" cy="960120"/>
          </a:xfrm>
          <a:prstGeom prst="rect">
            <a:avLst/>
          </a:prstGeom>
          <a:noFill/>
        </p:spPr>
        <p:txBody>
          <a:bodyPr wrap="square">
            <a:spAutoFit/>
          </a:bodyPr>
          <a:lstStyle/>
          <a:p>
            <a:pPr algn="l"/>
            <a:r>
              <a:rPr sz="1200" b="0">
                <a:solidFill>
                  <a:srgbClr val="CBD5E1"/>
                </a:solidFill>
              </a:rPr>
              <a:t>Building, testing, and deploying even a simple RAG agent takes days of boilerplate coding and infra setup.</a:t>
            </a:r>
          </a:p>
        </p:txBody>
      </p:sp>
      <p:sp>
        <p:nvSpPr>
          <p:cNvPr id="11" name="Rectangle 10"/>
          <p:cNvSpPr/>
          <p:nvPr/>
        </p:nvSpPr>
        <p:spPr>
          <a:xfrm>
            <a:off x="8229600" y="10058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94192" y="1143000"/>
            <a:ext cx="3383280" cy="457200"/>
          </a:xfrm>
          <a:prstGeom prst="rect">
            <a:avLst/>
          </a:prstGeom>
          <a:noFill/>
        </p:spPr>
        <p:txBody>
          <a:bodyPr wrap="square">
            <a:spAutoFit/>
          </a:bodyPr>
          <a:lstStyle/>
          <a:p>
            <a:pPr algn="l"/>
            <a:r>
              <a:rPr sz="1500" b="1">
                <a:solidFill>
                  <a:srgbClr val="F59E0B"/>
                </a:solidFill>
              </a:rPr>
              <a:t>🔓  No Enterprise Controls</a:t>
            </a:r>
          </a:p>
        </p:txBody>
      </p:sp>
      <p:sp>
        <p:nvSpPr>
          <p:cNvPr id="13" name="TextBox 12"/>
          <p:cNvSpPr txBox="1"/>
          <p:nvPr/>
        </p:nvSpPr>
        <p:spPr>
          <a:xfrm>
            <a:off x="8394192" y="1536192"/>
            <a:ext cx="3383280" cy="960120"/>
          </a:xfrm>
          <a:prstGeom prst="rect">
            <a:avLst/>
          </a:prstGeom>
          <a:noFill/>
        </p:spPr>
        <p:txBody>
          <a:bodyPr wrap="square">
            <a:spAutoFit/>
          </a:bodyPr>
          <a:lstStyle/>
          <a:p>
            <a:pPr algn="l"/>
            <a:r>
              <a:rPr sz="1200" b="0">
                <a:solidFill>
                  <a:srgbClr val="CBD5E1"/>
                </a:solidFill>
              </a:rPr>
              <a:t>No PII redaction, no hallucination checks, no audit trails — violating compliance and data privacy requirements.</a:t>
            </a:r>
          </a:p>
        </p:txBody>
      </p:sp>
      <p:sp>
        <p:nvSpPr>
          <p:cNvPr id="14" name="Rectangle 13"/>
          <p:cNvSpPr/>
          <p:nvPr/>
        </p:nvSpPr>
        <p:spPr>
          <a:xfrm>
            <a:off x="365760" y="28346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2971800"/>
            <a:ext cx="3383280" cy="457200"/>
          </a:xfrm>
          <a:prstGeom prst="rect">
            <a:avLst/>
          </a:prstGeom>
          <a:noFill/>
        </p:spPr>
        <p:txBody>
          <a:bodyPr wrap="square">
            <a:spAutoFit/>
          </a:bodyPr>
          <a:lstStyle/>
          <a:p>
            <a:pPr algn="l"/>
            <a:r>
              <a:rPr sz="1500" b="1">
                <a:solidFill>
                  <a:srgbClr val="F59E0B"/>
                </a:solidFill>
              </a:rPr>
              <a:t>📉  Zero Observability</a:t>
            </a:r>
          </a:p>
        </p:txBody>
      </p:sp>
      <p:sp>
        <p:nvSpPr>
          <p:cNvPr id="16" name="TextBox 15"/>
          <p:cNvSpPr txBox="1"/>
          <p:nvPr/>
        </p:nvSpPr>
        <p:spPr>
          <a:xfrm>
            <a:off x="530352" y="3364992"/>
            <a:ext cx="3383280" cy="960120"/>
          </a:xfrm>
          <a:prstGeom prst="rect">
            <a:avLst/>
          </a:prstGeom>
          <a:noFill/>
        </p:spPr>
        <p:txBody>
          <a:bodyPr wrap="square">
            <a:spAutoFit/>
          </a:bodyPr>
          <a:lstStyle/>
          <a:p>
            <a:pPr algn="l"/>
            <a:r>
              <a:rPr sz="1200" b="0">
                <a:solidFill>
                  <a:srgbClr val="CBD5E1"/>
                </a:solidFill>
              </a:rPr>
              <a:t>Once deployed, agents are black boxes. No tracing, no latency metrics, no ability to tune post-deployment.</a:t>
            </a:r>
          </a:p>
        </p:txBody>
      </p:sp>
      <p:sp>
        <p:nvSpPr>
          <p:cNvPr id="17" name="Rectangle 16"/>
          <p:cNvSpPr/>
          <p:nvPr/>
        </p:nvSpPr>
        <p:spPr>
          <a:xfrm>
            <a:off x="4297680" y="28346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62272" y="2971800"/>
            <a:ext cx="3383280" cy="457200"/>
          </a:xfrm>
          <a:prstGeom prst="rect">
            <a:avLst/>
          </a:prstGeom>
          <a:noFill/>
        </p:spPr>
        <p:txBody>
          <a:bodyPr wrap="square">
            <a:spAutoFit/>
          </a:bodyPr>
          <a:lstStyle/>
          <a:p>
            <a:pPr algn="l"/>
            <a:r>
              <a:rPr sz="1500" b="1">
                <a:solidFill>
                  <a:srgbClr val="F59E0B"/>
                </a:solidFill>
              </a:rPr>
              <a:t>🔁  No Reusability</a:t>
            </a:r>
          </a:p>
        </p:txBody>
      </p:sp>
      <p:sp>
        <p:nvSpPr>
          <p:cNvPr id="19" name="TextBox 18"/>
          <p:cNvSpPr txBox="1"/>
          <p:nvPr/>
        </p:nvSpPr>
        <p:spPr>
          <a:xfrm>
            <a:off x="4462272" y="3364992"/>
            <a:ext cx="3383280" cy="960120"/>
          </a:xfrm>
          <a:prstGeom prst="rect">
            <a:avLst/>
          </a:prstGeom>
          <a:noFill/>
        </p:spPr>
        <p:txBody>
          <a:bodyPr wrap="square">
            <a:spAutoFit/>
          </a:bodyPr>
          <a:lstStyle/>
          <a:p>
            <a:pPr algn="l"/>
            <a:r>
              <a:rPr sz="1200" b="0">
                <a:solidFill>
                  <a:srgbClr val="CBD5E1"/>
                </a:solidFill>
              </a:rPr>
              <a:t>Prompts, tools, and agent configs are siloed per project — no marketplace or shared blueprint library.</a:t>
            </a:r>
          </a:p>
        </p:txBody>
      </p:sp>
      <p:sp>
        <p:nvSpPr>
          <p:cNvPr id="20" name="Rectangle 19"/>
          <p:cNvSpPr/>
          <p:nvPr/>
        </p:nvSpPr>
        <p:spPr>
          <a:xfrm>
            <a:off x="8229600" y="28346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94192" y="2971800"/>
            <a:ext cx="3383280" cy="457200"/>
          </a:xfrm>
          <a:prstGeom prst="rect">
            <a:avLst/>
          </a:prstGeom>
          <a:noFill/>
        </p:spPr>
        <p:txBody>
          <a:bodyPr wrap="square">
            <a:spAutoFit/>
          </a:bodyPr>
          <a:lstStyle/>
          <a:p>
            <a:pPr algn="l"/>
            <a:r>
              <a:rPr sz="1500" b="1">
                <a:solidFill>
                  <a:srgbClr val="F59E0B"/>
                </a:solidFill>
              </a:rPr>
              <a:t>🗣️  No Voice/Multi-modal</a:t>
            </a:r>
          </a:p>
        </p:txBody>
      </p:sp>
      <p:sp>
        <p:nvSpPr>
          <p:cNvPr id="22" name="TextBox 21"/>
          <p:cNvSpPr txBox="1"/>
          <p:nvPr/>
        </p:nvSpPr>
        <p:spPr>
          <a:xfrm>
            <a:off x="8394192" y="3364992"/>
            <a:ext cx="3383280" cy="960120"/>
          </a:xfrm>
          <a:prstGeom prst="rect">
            <a:avLst/>
          </a:prstGeom>
          <a:noFill/>
        </p:spPr>
        <p:txBody>
          <a:bodyPr wrap="square">
            <a:spAutoFit/>
          </a:bodyPr>
          <a:lstStyle/>
          <a:p>
            <a:pPr algn="l"/>
            <a:r>
              <a:rPr sz="1200" b="0">
                <a:solidFill>
                  <a:srgbClr val="CBD5E1"/>
                </a:solidFill>
              </a:rPr>
              <a:t>Enterprises need voice-capable agents and multi-agent pipelines; existing DIY approaches lack this natively.</a:t>
            </a:r>
          </a:p>
        </p:txBody>
      </p:sp>
      <p:sp>
        <p:nvSpPr>
          <p:cNvPr id="23" name="TextBox 2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800" b="1">
                <a:solidFill>
                  <a:srgbClr val="FFFFFF"/>
                </a:solidFill>
              </a:rPr>
              <a:t>Platform Architecture Overview</a:t>
            </a:r>
          </a:p>
        </p:txBody>
      </p:sp>
      <p:sp>
        <p:nvSpPr>
          <p:cNvPr id="5" name="Rectangle 4"/>
          <p:cNvSpPr/>
          <p:nvPr/>
        </p:nvSpPr>
        <p:spPr>
          <a:xfrm>
            <a:off x="365760" y="100584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05840"/>
            <a:ext cx="109728" cy="9144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051560"/>
            <a:ext cx="10972800" cy="384048"/>
          </a:xfrm>
          <a:prstGeom prst="rect">
            <a:avLst/>
          </a:prstGeom>
          <a:noFill/>
        </p:spPr>
        <p:txBody>
          <a:bodyPr wrap="square">
            <a:spAutoFit/>
          </a:bodyPr>
          <a:lstStyle/>
          <a:p>
            <a:pPr algn="l"/>
            <a:r>
              <a:rPr sz="1300" b="1">
                <a:solidFill>
                  <a:srgbClr val="606EF5"/>
                </a:solidFill>
              </a:rPr>
              <a:t>FRONTEND  (React 18 + Vite + TypeScript + TailwindCSS)</a:t>
            </a:r>
          </a:p>
        </p:txBody>
      </p:sp>
      <p:sp>
        <p:nvSpPr>
          <p:cNvPr id="8" name="TextBox 7"/>
          <p:cNvSpPr txBox="1"/>
          <p:nvPr/>
        </p:nvSpPr>
        <p:spPr>
          <a:xfrm>
            <a:off x="594360" y="1417320"/>
            <a:ext cx="10972800" cy="384048"/>
          </a:xfrm>
          <a:prstGeom prst="rect">
            <a:avLst/>
          </a:prstGeom>
          <a:noFill/>
        </p:spPr>
        <p:txBody>
          <a:bodyPr wrap="square">
            <a:spAutoFit/>
          </a:bodyPr>
          <a:lstStyle/>
          <a:p>
            <a:pPr algn="l"/>
            <a:r>
              <a:rPr sz="1100" b="0">
                <a:solidFill>
                  <a:srgbClr val="CBD5E1"/>
                </a:solidFill>
              </a:rPr>
              <a:t>Planning Architect · Agent Studio · Workflow Builder · RAG/KB · Playground · Voice · Safety · Evaluations · Control Plane</a:t>
            </a:r>
          </a:p>
        </p:txBody>
      </p:sp>
      <p:sp>
        <p:nvSpPr>
          <p:cNvPr id="9" name="Rectangle 8"/>
          <p:cNvSpPr/>
          <p:nvPr/>
        </p:nvSpPr>
        <p:spPr>
          <a:xfrm>
            <a:off x="365760" y="205740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2057400"/>
            <a:ext cx="109728"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103120"/>
            <a:ext cx="10972800" cy="384048"/>
          </a:xfrm>
          <a:prstGeom prst="rect">
            <a:avLst/>
          </a:prstGeom>
          <a:noFill/>
        </p:spPr>
        <p:txBody>
          <a:bodyPr wrap="square">
            <a:spAutoFit/>
          </a:bodyPr>
          <a:lstStyle/>
          <a:p>
            <a:pPr algn="l"/>
            <a:r>
              <a:rPr sz="1300" b="1" dirty="0">
                <a:solidFill>
                  <a:srgbClr val="7C3AED"/>
                </a:solidFill>
              </a:rPr>
              <a:t>API GATEWAY  (FastAPI 0.115 · JWT/RBAC · </a:t>
            </a:r>
            <a:r>
              <a:rPr sz="1300" b="1" dirty="0" err="1">
                <a:solidFill>
                  <a:srgbClr val="7C3AED"/>
                </a:solidFill>
              </a:rPr>
              <a:t>OpenTelemetry</a:t>
            </a:r>
            <a:r>
              <a:rPr sz="1300" b="1" dirty="0">
                <a:solidFill>
                  <a:srgbClr val="7C3AED"/>
                </a:solidFill>
              </a:rPr>
              <a:t>)</a:t>
            </a:r>
          </a:p>
        </p:txBody>
      </p:sp>
      <p:sp>
        <p:nvSpPr>
          <p:cNvPr id="12" name="TextBox 11"/>
          <p:cNvSpPr txBox="1"/>
          <p:nvPr/>
        </p:nvSpPr>
        <p:spPr>
          <a:xfrm>
            <a:off x="594360" y="2468880"/>
            <a:ext cx="10972800" cy="384048"/>
          </a:xfrm>
          <a:prstGeom prst="rect">
            <a:avLst/>
          </a:prstGeom>
          <a:noFill/>
        </p:spPr>
        <p:txBody>
          <a:bodyPr wrap="square">
            <a:spAutoFit/>
          </a:bodyPr>
          <a:lstStyle/>
          <a:p>
            <a:pPr algn="l"/>
            <a:r>
              <a:rPr sz="1100" b="0">
                <a:solidFill>
                  <a:srgbClr val="CBD5E1"/>
                </a:solidFill>
              </a:rPr>
              <a:t>Auth · Agents · RAG · Tools · Builder · Simulation · Control Plane · Safety · Evaluations · Voice · Architect · Team · API Keys</a:t>
            </a:r>
          </a:p>
        </p:txBody>
      </p:sp>
      <p:sp>
        <p:nvSpPr>
          <p:cNvPr id="13" name="Rectangle 12"/>
          <p:cNvSpPr/>
          <p:nvPr/>
        </p:nvSpPr>
        <p:spPr>
          <a:xfrm>
            <a:off x="365760" y="310896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3108960"/>
            <a:ext cx="109728" cy="914400"/>
          </a:xfrm>
          <a:prstGeom prst="rect">
            <a:avLst/>
          </a:prstGeom>
          <a:solidFill>
            <a:srgbClr val="0E79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154680"/>
            <a:ext cx="10972800" cy="384048"/>
          </a:xfrm>
          <a:prstGeom prst="rect">
            <a:avLst/>
          </a:prstGeom>
          <a:noFill/>
        </p:spPr>
        <p:txBody>
          <a:bodyPr wrap="square">
            <a:spAutoFit/>
          </a:bodyPr>
          <a:lstStyle/>
          <a:p>
            <a:pPr algn="l"/>
            <a:r>
              <a:rPr sz="1300" b="1">
                <a:solidFill>
                  <a:srgbClr val="0E79B2"/>
                </a:solidFill>
              </a:rPr>
              <a:t>CORE ENGINE  (Python 3.12)</a:t>
            </a:r>
          </a:p>
        </p:txBody>
      </p:sp>
      <p:sp>
        <p:nvSpPr>
          <p:cNvPr id="16" name="TextBox 15"/>
          <p:cNvSpPr txBox="1"/>
          <p:nvPr/>
        </p:nvSpPr>
        <p:spPr>
          <a:xfrm>
            <a:off x="594360" y="3520440"/>
            <a:ext cx="10972800" cy="384048"/>
          </a:xfrm>
          <a:prstGeom prst="rect">
            <a:avLst/>
          </a:prstGeom>
          <a:noFill/>
        </p:spPr>
        <p:txBody>
          <a:bodyPr wrap="square">
            <a:spAutoFit/>
          </a:bodyPr>
          <a:lstStyle/>
          <a:p>
            <a:pPr algn="l"/>
            <a:r>
              <a:rPr sz="1100" b="0">
                <a:solidFill>
                  <a:srgbClr val="CBD5E1"/>
                </a:solidFill>
              </a:rPr>
              <a:t>Prompt-to-Agent · Multi-Agent Orchestrator · RAG Engine (FAISS + pgvector) · Guardrails (Presidio) · Simulation · Tool Registry · Telemetry</a:t>
            </a:r>
          </a:p>
        </p:txBody>
      </p:sp>
      <p:sp>
        <p:nvSpPr>
          <p:cNvPr id="17" name="Rectangle 16"/>
          <p:cNvSpPr/>
          <p:nvPr/>
        </p:nvSpPr>
        <p:spPr>
          <a:xfrm>
            <a:off x="365760" y="416052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4160520"/>
            <a:ext cx="109728" cy="914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206240"/>
            <a:ext cx="10972800" cy="384048"/>
          </a:xfrm>
          <a:prstGeom prst="rect">
            <a:avLst/>
          </a:prstGeom>
          <a:noFill/>
        </p:spPr>
        <p:txBody>
          <a:bodyPr wrap="square">
            <a:spAutoFit/>
          </a:bodyPr>
          <a:lstStyle/>
          <a:p>
            <a:pPr algn="l"/>
            <a:r>
              <a:rPr sz="1300" b="1">
                <a:solidFill>
                  <a:srgbClr val="10B981"/>
                </a:solidFill>
              </a:rPr>
              <a:t>AI SERVICES  (Azure OpenAI)</a:t>
            </a:r>
          </a:p>
        </p:txBody>
      </p:sp>
      <p:sp>
        <p:nvSpPr>
          <p:cNvPr id="20" name="TextBox 19"/>
          <p:cNvSpPr txBox="1"/>
          <p:nvPr/>
        </p:nvSpPr>
        <p:spPr>
          <a:xfrm>
            <a:off x="594360" y="4572000"/>
            <a:ext cx="10972800" cy="384048"/>
          </a:xfrm>
          <a:prstGeom prst="rect">
            <a:avLst/>
          </a:prstGeom>
          <a:noFill/>
        </p:spPr>
        <p:txBody>
          <a:bodyPr wrap="square">
            <a:spAutoFit/>
          </a:bodyPr>
          <a:lstStyle/>
          <a:p>
            <a:pPr algn="l"/>
            <a:r>
              <a:rPr sz="1100" b="0">
                <a:solidFill>
                  <a:srgbClr val="CBD5E1"/>
                </a:solidFill>
              </a:rPr>
              <a:t>GPT-5.4-mini (gpt-5.4-mini) · GPT-5.4-mini (gpt-5.4-mini) · Embeddings · Azure AI Search · Azure Speech (STT/TTS)</a:t>
            </a:r>
          </a:p>
        </p:txBody>
      </p:sp>
      <p:sp>
        <p:nvSpPr>
          <p:cNvPr id="21" name="Rectangle 20"/>
          <p:cNvSpPr/>
          <p:nvPr/>
        </p:nvSpPr>
        <p:spPr>
          <a:xfrm>
            <a:off x="365760" y="5212079"/>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5212079"/>
            <a:ext cx="109728"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5257799"/>
            <a:ext cx="10972800" cy="384048"/>
          </a:xfrm>
          <a:prstGeom prst="rect">
            <a:avLst/>
          </a:prstGeom>
          <a:noFill/>
        </p:spPr>
        <p:txBody>
          <a:bodyPr wrap="square">
            <a:spAutoFit/>
          </a:bodyPr>
          <a:lstStyle/>
          <a:p>
            <a:pPr algn="l"/>
            <a:r>
              <a:rPr sz="1300" b="1">
                <a:solidFill>
                  <a:srgbClr val="DC2626"/>
                </a:solidFill>
              </a:rPr>
              <a:t>DATA LAYER  (PostgreSQL 16 + pgvector + SQLAlchemy 2.0 async)</a:t>
            </a:r>
          </a:p>
        </p:txBody>
      </p:sp>
      <p:sp>
        <p:nvSpPr>
          <p:cNvPr id="24" name="TextBox 23"/>
          <p:cNvSpPr txBox="1"/>
          <p:nvPr/>
        </p:nvSpPr>
        <p:spPr>
          <a:xfrm>
            <a:off x="594360" y="5623559"/>
            <a:ext cx="10972800" cy="384048"/>
          </a:xfrm>
          <a:prstGeom prst="rect">
            <a:avLst/>
          </a:prstGeom>
          <a:noFill/>
        </p:spPr>
        <p:txBody>
          <a:bodyPr wrap="square">
            <a:spAutoFit/>
          </a:bodyPr>
          <a:lstStyle/>
          <a:p>
            <a:pPr algn="l"/>
            <a:r>
              <a:rPr sz="1100" b="0">
                <a:solidFill>
                  <a:srgbClr val="CBD5E1"/>
                </a:solidFill>
              </a:rPr>
              <a:t>users · agents · agent_versions · workflows · workflow_runs · knowledge_bases · documents · audit_logs · api_keys · voice_sessions</a:t>
            </a:r>
          </a:p>
        </p:txBody>
      </p:sp>
      <p:sp>
        <p:nvSpPr>
          <p:cNvPr id="25" name="TextBox 2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Core Feature Set</a:t>
            </a:r>
          </a:p>
        </p:txBody>
      </p:sp>
      <p:sp>
        <p:nvSpPr>
          <p:cNvPr id="5" name="Rectangle 4"/>
          <p:cNvSpPr/>
          <p:nvPr/>
        </p:nvSpPr>
        <p:spPr>
          <a:xfrm>
            <a:off x="292608"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87552"/>
            <a:ext cx="2560320" cy="457200"/>
          </a:xfrm>
          <a:prstGeom prst="rect">
            <a:avLst/>
          </a:prstGeom>
          <a:noFill/>
        </p:spPr>
        <p:txBody>
          <a:bodyPr wrap="square">
            <a:spAutoFit/>
          </a:bodyPr>
          <a:lstStyle/>
          <a:p>
            <a:pPr algn="l"/>
            <a:r>
              <a:rPr sz="1500" b="1" dirty="0">
                <a:solidFill>
                  <a:srgbClr val="606EF5"/>
                </a:solidFill>
              </a:rPr>
              <a:t>🧠  Planning Architect (Prompt-to-Agent)</a:t>
            </a:r>
          </a:p>
        </p:txBody>
      </p:sp>
      <p:sp>
        <p:nvSpPr>
          <p:cNvPr id="7" name="TextBox 6"/>
          <p:cNvSpPr txBox="1"/>
          <p:nvPr/>
        </p:nvSpPr>
        <p:spPr>
          <a:xfrm>
            <a:off x="457200" y="1490472"/>
            <a:ext cx="2560320" cy="1024128"/>
          </a:xfrm>
          <a:prstGeom prst="rect">
            <a:avLst/>
          </a:prstGeom>
          <a:noFill/>
        </p:spPr>
        <p:txBody>
          <a:bodyPr wrap="square">
            <a:spAutoFit/>
          </a:bodyPr>
          <a:lstStyle/>
          <a:p>
            <a:pPr algn="l"/>
            <a:r>
              <a:rPr sz="1200" b="0">
                <a:solidFill>
                  <a:srgbClr val="CBD5E1"/>
                </a:solidFill>
              </a:rPr>
              <a:t>Conversational AI that converts a plain-English description into a complete agent stack — plan, agents, tools, DB schema.</a:t>
            </a:r>
          </a:p>
        </p:txBody>
      </p:sp>
      <p:sp>
        <p:nvSpPr>
          <p:cNvPr id="8" name="Rectangle 7"/>
          <p:cNvSpPr/>
          <p:nvPr/>
        </p:nvSpPr>
        <p:spPr>
          <a:xfrm>
            <a:off x="3273551"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38143" y="1097280"/>
            <a:ext cx="2560320" cy="457200"/>
          </a:xfrm>
          <a:prstGeom prst="rect">
            <a:avLst/>
          </a:prstGeom>
          <a:noFill/>
        </p:spPr>
        <p:txBody>
          <a:bodyPr wrap="square">
            <a:spAutoFit/>
          </a:bodyPr>
          <a:lstStyle/>
          <a:p>
            <a:pPr algn="l"/>
            <a:r>
              <a:rPr sz="1500" b="1">
                <a:solidFill>
                  <a:srgbClr val="606EF5"/>
                </a:solidFill>
              </a:rPr>
              <a:t>🔧  Visual Workflow Builder</a:t>
            </a:r>
          </a:p>
        </p:txBody>
      </p:sp>
      <p:sp>
        <p:nvSpPr>
          <p:cNvPr id="10" name="TextBox 9"/>
          <p:cNvSpPr txBox="1"/>
          <p:nvPr/>
        </p:nvSpPr>
        <p:spPr>
          <a:xfrm>
            <a:off x="3438143" y="1490472"/>
            <a:ext cx="2560320" cy="1024128"/>
          </a:xfrm>
          <a:prstGeom prst="rect">
            <a:avLst/>
          </a:prstGeom>
          <a:noFill/>
        </p:spPr>
        <p:txBody>
          <a:bodyPr wrap="square">
            <a:spAutoFit/>
          </a:bodyPr>
          <a:lstStyle/>
          <a:p>
            <a:pPr algn="l"/>
            <a:r>
              <a:rPr sz="1200" b="0">
                <a:solidFill>
                  <a:srgbClr val="CBD5E1"/>
                </a:solidFill>
              </a:rPr>
              <a:t>Drag-and-drop canvas (React Flow) to wire manager + worker agents, tools, and conditions into pipelines. Full execution trace.</a:t>
            </a:r>
          </a:p>
        </p:txBody>
      </p:sp>
      <p:sp>
        <p:nvSpPr>
          <p:cNvPr id="11" name="Rectangle 10"/>
          <p:cNvSpPr/>
          <p:nvPr/>
        </p:nvSpPr>
        <p:spPr>
          <a:xfrm>
            <a:off x="6254496"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978408"/>
            <a:ext cx="2560320" cy="457200"/>
          </a:xfrm>
          <a:prstGeom prst="rect">
            <a:avLst/>
          </a:prstGeom>
          <a:noFill/>
        </p:spPr>
        <p:txBody>
          <a:bodyPr wrap="square">
            <a:spAutoFit/>
          </a:bodyPr>
          <a:lstStyle/>
          <a:p>
            <a:pPr algn="l"/>
            <a:r>
              <a:rPr sz="1500" b="1" dirty="0">
                <a:solidFill>
                  <a:srgbClr val="606EF5"/>
                </a:solidFill>
              </a:rPr>
              <a:t>📚  RAG Pipeline &amp; Knowledge Base</a:t>
            </a:r>
          </a:p>
        </p:txBody>
      </p:sp>
      <p:sp>
        <p:nvSpPr>
          <p:cNvPr id="13" name="TextBox 12"/>
          <p:cNvSpPr txBox="1"/>
          <p:nvPr/>
        </p:nvSpPr>
        <p:spPr>
          <a:xfrm>
            <a:off x="6419088" y="1490472"/>
            <a:ext cx="2560320" cy="1024128"/>
          </a:xfrm>
          <a:prstGeom prst="rect">
            <a:avLst/>
          </a:prstGeom>
          <a:noFill/>
        </p:spPr>
        <p:txBody>
          <a:bodyPr wrap="square">
            <a:spAutoFit/>
          </a:bodyPr>
          <a:lstStyle/>
          <a:p>
            <a:pPr algn="l"/>
            <a:r>
              <a:rPr sz="1200" b="0">
                <a:solidFill>
                  <a:srgbClr val="CBD5E1"/>
                </a:solidFill>
              </a:rPr>
              <a:t>Upload PDF/DOCX/TXT → chunked → FAISS + pgvector → semantic retrieval. Per-agent KB scoping with Azure AI Search fallback.</a:t>
            </a:r>
          </a:p>
        </p:txBody>
      </p:sp>
      <p:sp>
        <p:nvSpPr>
          <p:cNvPr id="14" name="Rectangle 13"/>
          <p:cNvSpPr/>
          <p:nvPr/>
        </p:nvSpPr>
        <p:spPr>
          <a:xfrm>
            <a:off x="9235440"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00032" y="1097280"/>
            <a:ext cx="2560320" cy="457200"/>
          </a:xfrm>
          <a:prstGeom prst="rect">
            <a:avLst/>
          </a:prstGeom>
          <a:noFill/>
        </p:spPr>
        <p:txBody>
          <a:bodyPr wrap="square">
            <a:spAutoFit/>
          </a:bodyPr>
          <a:lstStyle/>
          <a:p>
            <a:pPr algn="l"/>
            <a:r>
              <a:rPr sz="1500" b="1">
                <a:solidFill>
                  <a:srgbClr val="606EF5"/>
                </a:solidFill>
              </a:rPr>
              <a:t>🛡️  Enterprise Guardrails</a:t>
            </a:r>
          </a:p>
        </p:txBody>
      </p:sp>
      <p:sp>
        <p:nvSpPr>
          <p:cNvPr id="16" name="TextBox 15"/>
          <p:cNvSpPr txBox="1"/>
          <p:nvPr/>
        </p:nvSpPr>
        <p:spPr>
          <a:xfrm>
            <a:off x="9400032" y="1490472"/>
            <a:ext cx="2560320" cy="1024128"/>
          </a:xfrm>
          <a:prstGeom prst="rect">
            <a:avLst/>
          </a:prstGeom>
          <a:noFill/>
        </p:spPr>
        <p:txBody>
          <a:bodyPr wrap="square">
            <a:spAutoFit/>
          </a:bodyPr>
          <a:lstStyle/>
          <a:p>
            <a:pPr algn="l"/>
            <a:r>
              <a:rPr sz="1200" b="0">
                <a:solidFill>
                  <a:srgbClr val="CBD5E1"/>
                </a:solidFill>
              </a:rPr>
              <a:t>PII redaction (Presidio — SSN, email, CC, phone) + hallucination detection on every agent response. Per-agent toggle.</a:t>
            </a:r>
          </a:p>
        </p:txBody>
      </p:sp>
      <p:sp>
        <p:nvSpPr>
          <p:cNvPr id="17" name="Rectangle 16"/>
          <p:cNvSpPr/>
          <p:nvPr/>
        </p:nvSpPr>
        <p:spPr>
          <a:xfrm>
            <a:off x="292608"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2761488"/>
            <a:ext cx="2560320" cy="457200"/>
          </a:xfrm>
          <a:prstGeom prst="rect">
            <a:avLst/>
          </a:prstGeom>
          <a:noFill/>
        </p:spPr>
        <p:txBody>
          <a:bodyPr wrap="square">
            <a:spAutoFit/>
          </a:bodyPr>
          <a:lstStyle/>
          <a:p>
            <a:pPr algn="l"/>
            <a:r>
              <a:rPr sz="1500" b="1" dirty="0">
                <a:solidFill>
                  <a:srgbClr val="606EF5"/>
                </a:solidFill>
              </a:rPr>
              <a:t>🤝  Multi-Agent Orchestration</a:t>
            </a:r>
          </a:p>
        </p:txBody>
      </p:sp>
      <p:sp>
        <p:nvSpPr>
          <p:cNvPr id="19" name="TextBox 18"/>
          <p:cNvSpPr txBox="1"/>
          <p:nvPr/>
        </p:nvSpPr>
        <p:spPr>
          <a:xfrm>
            <a:off x="457200" y="3273552"/>
            <a:ext cx="2560320" cy="1024128"/>
          </a:xfrm>
          <a:prstGeom prst="rect">
            <a:avLst/>
          </a:prstGeom>
          <a:noFill/>
        </p:spPr>
        <p:txBody>
          <a:bodyPr wrap="square">
            <a:spAutoFit/>
          </a:bodyPr>
          <a:lstStyle/>
          <a:p>
            <a:pPr algn="l"/>
            <a:r>
              <a:rPr sz="1200" b="0">
                <a:solidFill>
                  <a:srgbClr val="CBD5E1"/>
                </a:solidFill>
              </a:rPr>
              <a:t>Manager agent dynamically decides which worker agents to invoke and in what order (sequential in v1, real end-to-end wiring shipped this cycle).</a:t>
            </a:r>
          </a:p>
        </p:txBody>
      </p:sp>
      <p:sp>
        <p:nvSpPr>
          <p:cNvPr id="20" name="Rectangle 19"/>
          <p:cNvSpPr/>
          <p:nvPr/>
        </p:nvSpPr>
        <p:spPr>
          <a:xfrm>
            <a:off x="3273551"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38143" y="2880360"/>
            <a:ext cx="2560320" cy="457200"/>
          </a:xfrm>
          <a:prstGeom prst="rect">
            <a:avLst/>
          </a:prstGeom>
          <a:noFill/>
        </p:spPr>
        <p:txBody>
          <a:bodyPr wrap="square">
            <a:spAutoFit/>
          </a:bodyPr>
          <a:lstStyle/>
          <a:p>
            <a:pPr algn="l"/>
            <a:r>
              <a:rPr sz="1500" b="1">
                <a:solidFill>
                  <a:srgbClr val="606EF5"/>
                </a:solidFill>
              </a:rPr>
              <a:t>🗣️  Voice Agents</a:t>
            </a:r>
          </a:p>
        </p:txBody>
      </p:sp>
      <p:sp>
        <p:nvSpPr>
          <p:cNvPr id="22" name="TextBox 21"/>
          <p:cNvSpPr txBox="1"/>
          <p:nvPr/>
        </p:nvSpPr>
        <p:spPr>
          <a:xfrm>
            <a:off x="3438143" y="3273552"/>
            <a:ext cx="2560320" cy="1024128"/>
          </a:xfrm>
          <a:prstGeom prst="rect">
            <a:avLst/>
          </a:prstGeom>
          <a:noFill/>
        </p:spPr>
        <p:txBody>
          <a:bodyPr wrap="square">
            <a:spAutoFit/>
          </a:bodyPr>
          <a:lstStyle/>
          <a:p>
            <a:pPr algn="l"/>
            <a:r>
              <a:rPr sz="1200" b="0">
                <a:solidFill>
                  <a:srgbClr val="CBD5E1"/>
                </a:solidFill>
              </a:rPr>
              <a:t>Azure Speech STT → GPT-5.4-mini → Azure TTS pipeline. REST API for voice session management. Real-time audio I/O.</a:t>
            </a:r>
          </a:p>
        </p:txBody>
      </p:sp>
      <p:sp>
        <p:nvSpPr>
          <p:cNvPr id="23" name="Rectangle 22"/>
          <p:cNvSpPr/>
          <p:nvPr/>
        </p:nvSpPr>
        <p:spPr>
          <a:xfrm>
            <a:off x="6254496"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8" y="2766060"/>
            <a:ext cx="2560320" cy="457200"/>
          </a:xfrm>
          <a:prstGeom prst="rect">
            <a:avLst/>
          </a:prstGeom>
          <a:noFill/>
        </p:spPr>
        <p:txBody>
          <a:bodyPr wrap="square">
            <a:spAutoFit/>
          </a:bodyPr>
          <a:lstStyle/>
          <a:p>
            <a:pPr algn="l"/>
            <a:r>
              <a:rPr sz="1500" b="1" dirty="0">
                <a:solidFill>
                  <a:srgbClr val="606EF5"/>
                </a:solidFill>
              </a:rPr>
              <a:t>🧪  Simulation &amp; Evaluation Engine</a:t>
            </a:r>
          </a:p>
        </p:txBody>
      </p:sp>
      <p:sp>
        <p:nvSpPr>
          <p:cNvPr id="25" name="TextBox 24"/>
          <p:cNvSpPr txBox="1"/>
          <p:nvPr/>
        </p:nvSpPr>
        <p:spPr>
          <a:xfrm>
            <a:off x="6419088" y="3273552"/>
            <a:ext cx="2560320" cy="1024128"/>
          </a:xfrm>
          <a:prstGeom prst="rect">
            <a:avLst/>
          </a:prstGeom>
          <a:noFill/>
        </p:spPr>
        <p:txBody>
          <a:bodyPr wrap="square">
            <a:spAutoFit/>
          </a:bodyPr>
          <a:lstStyle/>
          <a:p>
            <a:pPr algn="l"/>
            <a:r>
              <a:rPr sz="1200" b="0">
                <a:solidFill>
                  <a:srgbClr val="CBD5E1"/>
                </a:solidFill>
              </a:rPr>
              <a:t>Run test scenarios against agents before deployment. Score output quality. Compare versions. Regression test suite.</a:t>
            </a:r>
          </a:p>
        </p:txBody>
      </p:sp>
      <p:sp>
        <p:nvSpPr>
          <p:cNvPr id="26" name="Rectangle 25"/>
          <p:cNvSpPr/>
          <p:nvPr/>
        </p:nvSpPr>
        <p:spPr>
          <a:xfrm>
            <a:off x="9235440"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00032" y="2756916"/>
            <a:ext cx="2560320" cy="457200"/>
          </a:xfrm>
          <a:prstGeom prst="rect">
            <a:avLst/>
          </a:prstGeom>
          <a:noFill/>
        </p:spPr>
        <p:txBody>
          <a:bodyPr wrap="square">
            <a:spAutoFit/>
          </a:bodyPr>
          <a:lstStyle/>
          <a:p>
            <a:pPr algn="l"/>
            <a:r>
              <a:rPr sz="1500" b="1" dirty="0">
                <a:solidFill>
                  <a:srgbClr val="606EF5"/>
                </a:solidFill>
              </a:rPr>
              <a:t>🔒  RBAC &amp; API Key Management</a:t>
            </a:r>
          </a:p>
        </p:txBody>
      </p:sp>
      <p:sp>
        <p:nvSpPr>
          <p:cNvPr id="28" name="TextBox 27"/>
          <p:cNvSpPr txBox="1"/>
          <p:nvPr/>
        </p:nvSpPr>
        <p:spPr>
          <a:xfrm>
            <a:off x="9400032" y="3273552"/>
            <a:ext cx="2560320" cy="1024128"/>
          </a:xfrm>
          <a:prstGeom prst="rect">
            <a:avLst/>
          </a:prstGeom>
          <a:noFill/>
        </p:spPr>
        <p:txBody>
          <a:bodyPr wrap="square">
            <a:spAutoFit/>
          </a:bodyPr>
          <a:lstStyle/>
          <a:p>
            <a:pPr algn="l"/>
            <a:r>
              <a:rPr sz="1200" b="0">
                <a:solidFill>
                  <a:srgbClr val="CBD5E1"/>
                </a:solidFill>
              </a:rPr>
              <a:t>Three roles: Admin · Developer · Viewer. Per-user JWT auth. Scoped API keys for programmatic agent invocation.</a:t>
            </a:r>
          </a:p>
        </p:txBody>
      </p:sp>
      <p:sp>
        <p:nvSpPr>
          <p:cNvPr id="29" name="Rectangle 28"/>
          <p:cNvSpPr/>
          <p:nvPr/>
        </p:nvSpPr>
        <p:spPr>
          <a:xfrm>
            <a:off x="292608"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4517136"/>
            <a:ext cx="2560320" cy="457200"/>
          </a:xfrm>
          <a:prstGeom prst="rect">
            <a:avLst/>
          </a:prstGeom>
          <a:noFill/>
        </p:spPr>
        <p:txBody>
          <a:bodyPr wrap="square">
            <a:spAutoFit/>
          </a:bodyPr>
          <a:lstStyle/>
          <a:p>
            <a:pPr algn="l"/>
            <a:r>
              <a:rPr sz="1500" b="1" dirty="0">
                <a:solidFill>
                  <a:srgbClr val="606EF5"/>
                </a:solidFill>
              </a:rPr>
              <a:t>📊  Control Plane &amp; Observability</a:t>
            </a:r>
          </a:p>
        </p:txBody>
      </p:sp>
      <p:sp>
        <p:nvSpPr>
          <p:cNvPr id="31" name="TextBox 30"/>
          <p:cNvSpPr txBox="1"/>
          <p:nvPr/>
        </p:nvSpPr>
        <p:spPr>
          <a:xfrm>
            <a:off x="457200" y="5056632"/>
            <a:ext cx="2560320" cy="1024128"/>
          </a:xfrm>
          <a:prstGeom prst="rect">
            <a:avLst/>
          </a:prstGeom>
          <a:noFill/>
        </p:spPr>
        <p:txBody>
          <a:bodyPr wrap="square">
            <a:spAutoFit/>
          </a:bodyPr>
          <a:lstStyle/>
          <a:p>
            <a:pPr algn="l"/>
            <a:r>
              <a:rPr sz="1200" b="0">
                <a:solidFill>
                  <a:srgbClr val="CBD5E1"/>
                </a:solidFill>
              </a:rPr>
              <a:t>Live workflow status, modify running agents, pause/resume. OpenTelemetry traces + Azure Monitor + custom dashboards.</a:t>
            </a:r>
          </a:p>
        </p:txBody>
      </p:sp>
      <p:sp>
        <p:nvSpPr>
          <p:cNvPr id="32" name="Rectangle 31"/>
          <p:cNvSpPr/>
          <p:nvPr/>
        </p:nvSpPr>
        <p:spPr>
          <a:xfrm>
            <a:off x="3273551"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38143" y="4663440"/>
            <a:ext cx="2560320" cy="457200"/>
          </a:xfrm>
          <a:prstGeom prst="rect">
            <a:avLst/>
          </a:prstGeom>
          <a:noFill/>
        </p:spPr>
        <p:txBody>
          <a:bodyPr wrap="square">
            <a:spAutoFit/>
          </a:bodyPr>
          <a:lstStyle/>
          <a:p>
            <a:pPr algn="l"/>
            <a:r>
              <a:rPr sz="1500" b="1">
                <a:solidFill>
                  <a:srgbClr val="606EF5"/>
                </a:solidFill>
              </a:rPr>
              <a:t>📝  Audit Logs &amp; Traceability</a:t>
            </a:r>
          </a:p>
        </p:txBody>
      </p:sp>
      <p:sp>
        <p:nvSpPr>
          <p:cNvPr id="34" name="TextBox 33"/>
          <p:cNvSpPr txBox="1"/>
          <p:nvPr/>
        </p:nvSpPr>
        <p:spPr>
          <a:xfrm>
            <a:off x="3438143" y="5056632"/>
            <a:ext cx="2560320" cy="1024128"/>
          </a:xfrm>
          <a:prstGeom prst="rect">
            <a:avLst/>
          </a:prstGeom>
          <a:noFill/>
        </p:spPr>
        <p:txBody>
          <a:bodyPr wrap="square">
            <a:spAutoFit/>
          </a:bodyPr>
          <a:lstStyle/>
          <a:p>
            <a:pPr algn="l"/>
            <a:r>
              <a:rPr sz="1200" b="0">
                <a:solidFill>
                  <a:srgbClr val="CBD5E1"/>
                </a:solidFill>
              </a:rPr>
              <a:t>Every agent action logged: user, action, resource, input/output snapshot, guardrail trigger, latency, trace ID.</a:t>
            </a:r>
          </a:p>
        </p:txBody>
      </p:sp>
      <p:sp>
        <p:nvSpPr>
          <p:cNvPr id="35" name="Rectangle 34"/>
          <p:cNvSpPr/>
          <p:nvPr/>
        </p:nvSpPr>
        <p:spPr>
          <a:xfrm>
            <a:off x="6254496"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19088" y="4549140"/>
            <a:ext cx="2560320" cy="457200"/>
          </a:xfrm>
          <a:prstGeom prst="rect">
            <a:avLst/>
          </a:prstGeom>
          <a:noFill/>
        </p:spPr>
        <p:txBody>
          <a:bodyPr wrap="square">
            <a:spAutoFit/>
          </a:bodyPr>
          <a:lstStyle/>
          <a:p>
            <a:pPr algn="l"/>
            <a:r>
              <a:rPr sz="1500" b="1" dirty="0">
                <a:solidFill>
                  <a:srgbClr val="606EF5"/>
                </a:solidFill>
              </a:rPr>
              <a:t>🗂️  Prompt Library &amp; Blueprints</a:t>
            </a:r>
          </a:p>
        </p:txBody>
      </p:sp>
      <p:sp>
        <p:nvSpPr>
          <p:cNvPr id="37" name="TextBox 36"/>
          <p:cNvSpPr txBox="1"/>
          <p:nvPr/>
        </p:nvSpPr>
        <p:spPr>
          <a:xfrm>
            <a:off x="6419088" y="5056632"/>
            <a:ext cx="2560320" cy="1024128"/>
          </a:xfrm>
          <a:prstGeom prst="rect">
            <a:avLst/>
          </a:prstGeom>
          <a:noFill/>
        </p:spPr>
        <p:txBody>
          <a:bodyPr wrap="square">
            <a:spAutoFit/>
          </a:bodyPr>
          <a:lstStyle/>
          <a:p>
            <a:pPr algn="l"/>
            <a:r>
              <a:rPr sz="1200" b="0">
                <a:solidFill>
                  <a:srgbClr val="CBD5E1"/>
                </a:solidFill>
              </a:rPr>
              <a:t>Curated prompt templates and reusable agent blueprints for common use cases (support, analytics, RAG Q&amp;A).</a:t>
            </a:r>
          </a:p>
        </p:txBody>
      </p:sp>
      <p:sp>
        <p:nvSpPr>
          <p:cNvPr id="38" name="Rectangle 37"/>
          <p:cNvSpPr/>
          <p:nvPr/>
        </p:nvSpPr>
        <p:spPr>
          <a:xfrm>
            <a:off x="9235440"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400032" y="4539996"/>
            <a:ext cx="2560320" cy="457200"/>
          </a:xfrm>
          <a:prstGeom prst="rect">
            <a:avLst/>
          </a:prstGeom>
          <a:noFill/>
        </p:spPr>
        <p:txBody>
          <a:bodyPr wrap="square">
            <a:spAutoFit/>
          </a:bodyPr>
          <a:lstStyle/>
          <a:p>
            <a:pPr algn="l"/>
            <a:r>
              <a:rPr sz="1500" b="1" dirty="0">
                <a:solidFill>
                  <a:srgbClr val="606EF5"/>
                </a:solidFill>
              </a:rPr>
              <a:t>⚡  Architect Download Engine</a:t>
            </a:r>
          </a:p>
        </p:txBody>
      </p:sp>
      <p:sp>
        <p:nvSpPr>
          <p:cNvPr id="40" name="TextBox 39"/>
          <p:cNvSpPr txBox="1"/>
          <p:nvPr/>
        </p:nvSpPr>
        <p:spPr>
          <a:xfrm>
            <a:off x="9400032" y="5056632"/>
            <a:ext cx="2560320" cy="1024128"/>
          </a:xfrm>
          <a:prstGeom prst="rect">
            <a:avLst/>
          </a:prstGeom>
          <a:noFill/>
        </p:spPr>
        <p:txBody>
          <a:bodyPr wrap="square">
            <a:spAutoFit/>
          </a:bodyPr>
          <a:lstStyle/>
          <a:p>
            <a:pPr algn="l"/>
            <a:r>
              <a:rPr sz="1200" b="0" dirty="0">
                <a:solidFill>
                  <a:srgbClr val="CBD5E1"/>
                </a:solidFill>
              </a:rPr>
              <a:t>One-click export of deployable RAG Scaffold or Custom Code ZIP (React + FastAPI) — production-ready in minutes.</a:t>
            </a:r>
          </a:p>
        </p:txBody>
      </p:sp>
      <p:sp>
        <p:nvSpPr>
          <p:cNvPr id="41" name="TextBox 4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ROI &amp; Business Value</a:t>
            </a:r>
          </a:p>
        </p:txBody>
      </p:sp>
      <p:sp>
        <p:nvSpPr>
          <p:cNvPr id="5" name="Rectangle 4"/>
          <p:cNvSpPr/>
          <p:nvPr/>
        </p:nvSpPr>
        <p:spPr>
          <a:xfrm>
            <a:off x="365760" y="10058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15568"/>
            <a:ext cx="3383280" cy="411480"/>
          </a:xfrm>
          <a:prstGeom prst="rect">
            <a:avLst/>
          </a:prstGeom>
          <a:noFill/>
        </p:spPr>
        <p:txBody>
          <a:bodyPr wrap="square">
            <a:spAutoFit/>
          </a:bodyPr>
          <a:lstStyle/>
          <a:p>
            <a:pPr algn="l"/>
            <a:r>
              <a:rPr sz="1400" b="1">
                <a:solidFill>
                  <a:srgbClr val="606EF5"/>
                </a:solidFill>
              </a:rPr>
              <a:t>⚡ Time-to-Agent</a:t>
            </a:r>
          </a:p>
        </p:txBody>
      </p:sp>
      <p:sp>
        <p:nvSpPr>
          <p:cNvPr id="7" name="TextBox 6"/>
          <p:cNvSpPr txBox="1"/>
          <p:nvPr/>
        </p:nvSpPr>
        <p:spPr>
          <a:xfrm>
            <a:off x="1979676" y="1280160"/>
            <a:ext cx="1371600" cy="640080"/>
          </a:xfrm>
          <a:prstGeom prst="rect">
            <a:avLst/>
          </a:prstGeom>
          <a:noFill/>
        </p:spPr>
        <p:txBody>
          <a:bodyPr wrap="square">
            <a:spAutoFit/>
          </a:bodyPr>
          <a:lstStyle/>
          <a:p>
            <a:pPr algn="l"/>
            <a:r>
              <a:rPr sz="3600" b="1" dirty="0">
                <a:solidFill>
                  <a:srgbClr val="FFFFFF"/>
                </a:solidFill>
              </a:rPr>
              <a:t>85%↓</a:t>
            </a:r>
          </a:p>
        </p:txBody>
      </p:sp>
      <p:sp>
        <p:nvSpPr>
          <p:cNvPr id="8" name="TextBox 7"/>
          <p:cNvSpPr txBox="1"/>
          <p:nvPr/>
        </p:nvSpPr>
        <p:spPr>
          <a:xfrm>
            <a:off x="502920" y="2103120"/>
            <a:ext cx="3383280" cy="320040"/>
          </a:xfrm>
          <a:prstGeom prst="rect">
            <a:avLst/>
          </a:prstGeom>
          <a:noFill/>
        </p:spPr>
        <p:txBody>
          <a:bodyPr wrap="square">
            <a:spAutoFit/>
          </a:bodyPr>
          <a:lstStyle/>
          <a:p>
            <a:pPr algn="l"/>
            <a:r>
              <a:rPr sz="1200" b="1">
                <a:solidFill>
                  <a:srgbClr val="10B981"/>
                </a:solidFill>
              </a:rPr>
              <a:t>From weeks → &lt;2 min</a:t>
            </a:r>
          </a:p>
        </p:txBody>
      </p:sp>
      <p:sp>
        <p:nvSpPr>
          <p:cNvPr id="9" name="TextBox 8"/>
          <p:cNvSpPr txBox="1"/>
          <p:nvPr/>
        </p:nvSpPr>
        <p:spPr>
          <a:xfrm>
            <a:off x="502920" y="2395728"/>
            <a:ext cx="3383280" cy="384048"/>
          </a:xfrm>
          <a:prstGeom prst="rect">
            <a:avLst/>
          </a:prstGeom>
          <a:noFill/>
        </p:spPr>
        <p:txBody>
          <a:bodyPr wrap="square">
            <a:spAutoFit/>
          </a:bodyPr>
          <a:lstStyle/>
          <a:p>
            <a:pPr algn="l"/>
            <a:r>
              <a:rPr sz="1000" b="0">
                <a:solidFill>
                  <a:srgbClr val="CBD5E1"/>
                </a:solidFill>
              </a:rPr>
              <a:t>Prompt-to-Agent converts NL description into full agent stack instantly — no boilerplate</a:t>
            </a:r>
          </a:p>
        </p:txBody>
      </p:sp>
      <p:sp>
        <p:nvSpPr>
          <p:cNvPr id="10" name="Rectangle 9"/>
          <p:cNvSpPr/>
          <p:nvPr/>
        </p:nvSpPr>
        <p:spPr>
          <a:xfrm>
            <a:off x="4297680" y="10058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115568"/>
            <a:ext cx="3383280" cy="411480"/>
          </a:xfrm>
          <a:prstGeom prst="rect">
            <a:avLst/>
          </a:prstGeom>
          <a:noFill/>
        </p:spPr>
        <p:txBody>
          <a:bodyPr wrap="square">
            <a:spAutoFit/>
          </a:bodyPr>
          <a:lstStyle/>
          <a:p>
            <a:pPr algn="l"/>
            <a:r>
              <a:rPr sz="1400" b="1">
                <a:solidFill>
                  <a:srgbClr val="10B981"/>
                </a:solidFill>
              </a:rPr>
              <a:t>💰 Dev Cost Savings</a:t>
            </a:r>
          </a:p>
        </p:txBody>
      </p:sp>
      <p:sp>
        <p:nvSpPr>
          <p:cNvPr id="12" name="TextBox 11"/>
          <p:cNvSpPr txBox="1"/>
          <p:nvPr/>
        </p:nvSpPr>
        <p:spPr>
          <a:xfrm>
            <a:off x="4434840" y="1508760"/>
            <a:ext cx="1371600" cy="640080"/>
          </a:xfrm>
          <a:prstGeom prst="rect">
            <a:avLst/>
          </a:prstGeom>
          <a:noFill/>
        </p:spPr>
        <p:txBody>
          <a:bodyPr wrap="square">
            <a:spAutoFit/>
          </a:bodyPr>
          <a:lstStyle/>
          <a:p>
            <a:pPr algn="l"/>
            <a:r>
              <a:rPr sz="3600" b="1">
                <a:solidFill>
                  <a:srgbClr val="FFFFFF"/>
                </a:solidFill>
              </a:rPr>
              <a:t>$18K+</a:t>
            </a:r>
          </a:p>
        </p:txBody>
      </p:sp>
      <p:sp>
        <p:nvSpPr>
          <p:cNvPr id="13" name="TextBox 12"/>
          <p:cNvSpPr txBox="1"/>
          <p:nvPr/>
        </p:nvSpPr>
        <p:spPr>
          <a:xfrm>
            <a:off x="4434840" y="2103120"/>
            <a:ext cx="3383280" cy="320040"/>
          </a:xfrm>
          <a:prstGeom prst="rect">
            <a:avLst/>
          </a:prstGeom>
          <a:noFill/>
        </p:spPr>
        <p:txBody>
          <a:bodyPr wrap="square">
            <a:spAutoFit/>
          </a:bodyPr>
          <a:lstStyle/>
          <a:p>
            <a:pPr algn="l"/>
            <a:r>
              <a:rPr sz="1200" b="1">
                <a:solidFill>
                  <a:srgbClr val="10B981"/>
                </a:solidFill>
              </a:rPr>
              <a:t>~40 hrs/agent saved</a:t>
            </a:r>
          </a:p>
        </p:txBody>
      </p:sp>
      <p:sp>
        <p:nvSpPr>
          <p:cNvPr id="14" name="TextBox 13"/>
          <p:cNvSpPr txBox="1"/>
          <p:nvPr/>
        </p:nvSpPr>
        <p:spPr>
          <a:xfrm>
            <a:off x="4434840" y="2395728"/>
            <a:ext cx="3383280" cy="384048"/>
          </a:xfrm>
          <a:prstGeom prst="rect">
            <a:avLst/>
          </a:prstGeom>
          <a:noFill/>
        </p:spPr>
        <p:txBody>
          <a:bodyPr wrap="square">
            <a:spAutoFit/>
          </a:bodyPr>
          <a:lstStyle/>
          <a:p>
            <a:pPr algn="l"/>
            <a:r>
              <a:rPr sz="1000" b="0">
                <a:solidFill>
                  <a:srgbClr val="CBD5E1"/>
                </a:solidFill>
              </a:rPr>
              <a:t>Reusable blueprints, templates, and one-click ZIP export eliminate redundant engineering</a:t>
            </a:r>
          </a:p>
        </p:txBody>
      </p:sp>
      <p:sp>
        <p:nvSpPr>
          <p:cNvPr id="15" name="Rectangle 14"/>
          <p:cNvSpPr/>
          <p:nvPr/>
        </p:nvSpPr>
        <p:spPr>
          <a:xfrm>
            <a:off x="8229600" y="10058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115568"/>
            <a:ext cx="3383280" cy="411480"/>
          </a:xfrm>
          <a:prstGeom prst="rect">
            <a:avLst/>
          </a:prstGeom>
          <a:noFill/>
        </p:spPr>
        <p:txBody>
          <a:bodyPr wrap="square">
            <a:spAutoFit/>
          </a:bodyPr>
          <a:lstStyle/>
          <a:p>
            <a:pPr algn="l"/>
            <a:r>
              <a:rPr sz="1400" b="1">
                <a:solidFill>
                  <a:srgbClr val="F59E0B"/>
                </a:solidFill>
              </a:rPr>
              <a:t>🔒 Compliance Risk</a:t>
            </a:r>
          </a:p>
        </p:txBody>
      </p:sp>
      <p:sp>
        <p:nvSpPr>
          <p:cNvPr id="17" name="TextBox 16"/>
          <p:cNvSpPr txBox="1"/>
          <p:nvPr/>
        </p:nvSpPr>
        <p:spPr>
          <a:xfrm>
            <a:off x="8366760" y="1508760"/>
            <a:ext cx="1371600" cy="640080"/>
          </a:xfrm>
          <a:prstGeom prst="rect">
            <a:avLst/>
          </a:prstGeom>
          <a:noFill/>
        </p:spPr>
        <p:txBody>
          <a:bodyPr wrap="square">
            <a:spAutoFit/>
          </a:bodyPr>
          <a:lstStyle/>
          <a:p>
            <a:pPr algn="l"/>
            <a:r>
              <a:rPr sz="3600" b="1">
                <a:solidFill>
                  <a:srgbClr val="FFFFFF"/>
                </a:solidFill>
              </a:rPr>
              <a:t>100%</a:t>
            </a:r>
          </a:p>
        </p:txBody>
      </p:sp>
      <p:sp>
        <p:nvSpPr>
          <p:cNvPr id="18" name="TextBox 17"/>
          <p:cNvSpPr txBox="1"/>
          <p:nvPr/>
        </p:nvSpPr>
        <p:spPr>
          <a:xfrm>
            <a:off x="8366760" y="2103120"/>
            <a:ext cx="3383280" cy="320040"/>
          </a:xfrm>
          <a:prstGeom prst="rect">
            <a:avLst/>
          </a:prstGeom>
          <a:noFill/>
        </p:spPr>
        <p:txBody>
          <a:bodyPr wrap="square">
            <a:spAutoFit/>
          </a:bodyPr>
          <a:lstStyle/>
          <a:p>
            <a:pPr algn="l"/>
            <a:r>
              <a:rPr sz="1200" b="1">
                <a:solidFill>
                  <a:srgbClr val="10B981"/>
                </a:solidFill>
              </a:rPr>
              <a:t>Automated PII redaction</a:t>
            </a:r>
          </a:p>
        </p:txBody>
      </p:sp>
      <p:sp>
        <p:nvSpPr>
          <p:cNvPr id="19" name="TextBox 18"/>
          <p:cNvSpPr txBox="1"/>
          <p:nvPr/>
        </p:nvSpPr>
        <p:spPr>
          <a:xfrm>
            <a:off x="8366760" y="2395728"/>
            <a:ext cx="3383280" cy="384048"/>
          </a:xfrm>
          <a:prstGeom prst="rect">
            <a:avLst/>
          </a:prstGeom>
          <a:noFill/>
        </p:spPr>
        <p:txBody>
          <a:bodyPr wrap="square">
            <a:spAutoFit/>
          </a:bodyPr>
          <a:lstStyle/>
          <a:p>
            <a:pPr algn="l"/>
            <a:r>
              <a:rPr sz="1000" b="0">
                <a:solidFill>
                  <a:srgbClr val="CBD5E1"/>
                </a:solidFill>
              </a:rPr>
              <a:t>Presidio-powered guardrails eliminate manual data masking effort and audit findings</a:t>
            </a:r>
          </a:p>
        </p:txBody>
      </p:sp>
      <p:sp>
        <p:nvSpPr>
          <p:cNvPr id="20" name="Rectangle 19"/>
          <p:cNvSpPr/>
          <p:nvPr/>
        </p:nvSpPr>
        <p:spPr>
          <a:xfrm>
            <a:off x="365760" y="30632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172968"/>
            <a:ext cx="3383280" cy="411480"/>
          </a:xfrm>
          <a:prstGeom prst="rect">
            <a:avLst/>
          </a:prstGeom>
          <a:noFill/>
        </p:spPr>
        <p:txBody>
          <a:bodyPr wrap="square">
            <a:spAutoFit/>
          </a:bodyPr>
          <a:lstStyle/>
          <a:p>
            <a:pPr algn="l"/>
            <a:r>
              <a:rPr sz="1400" b="1">
                <a:solidFill>
                  <a:srgbClr val="A855F7"/>
                </a:solidFill>
              </a:rPr>
              <a:t>📈 Quality Uplift</a:t>
            </a:r>
          </a:p>
        </p:txBody>
      </p:sp>
      <p:sp>
        <p:nvSpPr>
          <p:cNvPr id="22" name="TextBox 21"/>
          <p:cNvSpPr txBox="1"/>
          <p:nvPr/>
        </p:nvSpPr>
        <p:spPr>
          <a:xfrm>
            <a:off x="502920" y="3566160"/>
            <a:ext cx="1371600" cy="640080"/>
          </a:xfrm>
          <a:prstGeom prst="rect">
            <a:avLst/>
          </a:prstGeom>
          <a:noFill/>
        </p:spPr>
        <p:txBody>
          <a:bodyPr wrap="square">
            <a:spAutoFit/>
          </a:bodyPr>
          <a:lstStyle/>
          <a:p>
            <a:pPr algn="l"/>
            <a:r>
              <a:rPr sz="3600" b="1">
                <a:solidFill>
                  <a:srgbClr val="FFFFFF"/>
                </a:solidFill>
              </a:rPr>
              <a:t>3×</a:t>
            </a:r>
          </a:p>
        </p:txBody>
      </p:sp>
      <p:sp>
        <p:nvSpPr>
          <p:cNvPr id="23" name="TextBox 22"/>
          <p:cNvSpPr txBox="1"/>
          <p:nvPr/>
        </p:nvSpPr>
        <p:spPr>
          <a:xfrm>
            <a:off x="502920" y="4160520"/>
            <a:ext cx="3383280" cy="320040"/>
          </a:xfrm>
          <a:prstGeom prst="rect">
            <a:avLst/>
          </a:prstGeom>
          <a:noFill/>
        </p:spPr>
        <p:txBody>
          <a:bodyPr wrap="square">
            <a:spAutoFit/>
          </a:bodyPr>
          <a:lstStyle/>
          <a:p>
            <a:pPr algn="l"/>
            <a:r>
              <a:rPr sz="1200" b="1">
                <a:solidFill>
                  <a:srgbClr val="10B981"/>
                </a:solidFill>
              </a:rPr>
              <a:t>Pre-deploy simulation</a:t>
            </a:r>
          </a:p>
        </p:txBody>
      </p:sp>
      <p:sp>
        <p:nvSpPr>
          <p:cNvPr id="24" name="TextBox 23"/>
          <p:cNvSpPr txBox="1"/>
          <p:nvPr/>
        </p:nvSpPr>
        <p:spPr>
          <a:xfrm>
            <a:off x="502920" y="4453128"/>
            <a:ext cx="3383280" cy="384048"/>
          </a:xfrm>
          <a:prstGeom prst="rect">
            <a:avLst/>
          </a:prstGeom>
          <a:noFill/>
        </p:spPr>
        <p:txBody>
          <a:bodyPr wrap="square">
            <a:spAutoFit/>
          </a:bodyPr>
          <a:lstStyle/>
          <a:p>
            <a:pPr algn="l"/>
            <a:r>
              <a:rPr sz="1000" b="0">
                <a:solidFill>
                  <a:srgbClr val="CBD5E1"/>
                </a:solidFill>
              </a:rPr>
              <a:t>Test harness catches hallucinations and regressions before production — 3× fewer incidents</a:t>
            </a:r>
          </a:p>
        </p:txBody>
      </p:sp>
      <p:sp>
        <p:nvSpPr>
          <p:cNvPr id="25" name="Rectangle 24"/>
          <p:cNvSpPr/>
          <p:nvPr/>
        </p:nvSpPr>
        <p:spPr>
          <a:xfrm>
            <a:off x="4297680" y="30632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3172968"/>
            <a:ext cx="3383280" cy="411480"/>
          </a:xfrm>
          <a:prstGeom prst="rect">
            <a:avLst/>
          </a:prstGeom>
          <a:noFill/>
        </p:spPr>
        <p:txBody>
          <a:bodyPr wrap="square">
            <a:spAutoFit/>
          </a:bodyPr>
          <a:lstStyle/>
          <a:p>
            <a:pPr algn="l"/>
            <a:r>
              <a:rPr sz="1400" b="1">
                <a:solidFill>
                  <a:srgbClr val="0E79B2"/>
                </a:solidFill>
              </a:rPr>
              <a:t>🔁 Reuse Rate</a:t>
            </a:r>
          </a:p>
        </p:txBody>
      </p:sp>
      <p:sp>
        <p:nvSpPr>
          <p:cNvPr id="27" name="TextBox 26"/>
          <p:cNvSpPr txBox="1"/>
          <p:nvPr/>
        </p:nvSpPr>
        <p:spPr>
          <a:xfrm>
            <a:off x="5966460" y="3291840"/>
            <a:ext cx="1371600" cy="640080"/>
          </a:xfrm>
          <a:prstGeom prst="rect">
            <a:avLst/>
          </a:prstGeom>
          <a:noFill/>
        </p:spPr>
        <p:txBody>
          <a:bodyPr wrap="square">
            <a:spAutoFit/>
          </a:bodyPr>
          <a:lstStyle/>
          <a:p>
            <a:pPr algn="l"/>
            <a:r>
              <a:rPr sz="3600" b="1" dirty="0">
                <a:solidFill>
                  <a:srgbClr val="FFFFFF"/>
                </a:solidFill>
              </a:rPr>
              <a:t>60%↑</a:t>
            </a:r>
          </a:p>
        </p:txBody>
      </p:sp>
      <p:sp>
        <p:nvSpPr>
          <p:cNvPr id="28" name="TextBox 27"/>
          <p:cNvSpPr txBox="1"/>
          <p:nvPr/>
        </p:nvSpPr>
        <p:spPr>
          <a:xfrm>
            <a:off x="4434840" y="4160520"/>
            <a:ext cx="3383280" cy="320040"/>
          </a:xfrm>
          <a:prstGeom prst="rect">
            <a:avLst/>
          </a:prstGeom>
          <a:noFill/>
        </p:spPr>
        <p:txBody>
          <a:bodyPr wrap="square">
            <a:spAutoFit/>
          </a:bodyPr>
          <a:lstStyle/>
          <a:p>
            <a:pPr algn="l"/>
            <a:r>
              <a:rPr sz="1200" b="1">
                <a:solidFill>
                  <a:srgbClr val="10B981"/>
                </a:solidFill>
              </a:rPr>
              <a:t>Shared blueprint library</a:t>
            </a:r>
          </a:p>
        </p:txBody>
      </p:sp>
      <p:sp>
        <p:nvSpPr>
          <p:cNvPr id="29" name="TextBox 28"/>
          <p:cNvSpPr txBox="1"/>
          <p:nvPr/>
        </p:nvSpPr>
        <p:spPr>
          <a:xfrm>
            <a:off x="4434840" y="4453128"/>
            <a:ext cx="3383280" cy="384048"/>
          </a:xfrm>
          <a:prstGeom prst="rect">
            <a:avLst/>
          </a:prstGeom>
          <a:noFill/>
        </p:spPr>
        <p:txBody>
          <a:bodyPr wrap="square">
            <a:spAutoFit/>
          </a:bodyPr>
          <a:lstStyle/>
          <a:p>
            <a:pPr algn="l"/>
            <a:r>
              <a:rPr sz="1000" b="0">
                <a:solidFill>
                  <a:srgbClr val="CBD5E1"/>
                </a:solidFill>
              </a:rPr>
              <a:t>Marketplace of proven agent patterns reduces rebuild effort across teams and clients</a:t>
            </a:r>
          </a:p>
        </p:txBody>
      </p:sp>
      <p:sp>
        <p:nvSpPr>
          <p:cNvPr id="30" name="Rectangle 29"/>
          <p:cNvSpPr/>
          <p:nvPr/>
        </p:nvSpPr>
        <p:spPr>
          <a:xfrm>
            <a:off x="8229600" y="30632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172968"/>
            <a:ext cx="3383280" cy="411480"/>
          </a:xfrm>
          <a:prstGeom prst="rect">
            <a:avLst/>
          </a:prstGeom>
          <a:noFill/>
        </p:spPr>
        <p:txBody>
          <a:bodyPr wrap="square">
            <a:spAutoFit/>
          </a:bodyPr>
          <a:lstStyle/>
          <a:p>
            <a:pPr algn="l"/>
            <a:r>
              <a:rPr sz="1400" b="1">
                <a:solidFill>
                  <a:srgbClr val="DC2626"/>
                </a:solidFill>
              </a:rPr>
              <a:t>📊 Observability</a:t>
            </a:r>
          </a:p>
        </p:txBody>
      </p:sp>
      <p:sp>
        <p:nvSpPr>
          <p:cNvPr id="32" name="TextBox 31"/>
          <p:cNvSpPr txBox="1"/>
          <p:nvPr/>
        </p:nvSpPr>
        <p:spPr>
          <a:xfrm>
            <a:off x="8366760" y="3566160"/>
            <a:ext cx="1371600" cy="640080"/>
          </a:xfrm>
          <a:prstGeom prst="rect">
            <a:avLst/>
          </a:prstGeom>
          <a:noFill/>
        </p:spPr>
        <p:txBody>
          <a:bodyPr wrap="square">
            <a:spAutoFit/>
          </a:bodyPr>
          <a:lstStyle/>
          <a:p>
            <a:pPr algn="l"/>
            <a:r>
              <a:rPr sz="3600" b="1">
                <a:solidFill>
                  <a:srgbClr val="FFFFFF"/>
                </a:solidFill>
              </a:rPr>
              <a:t>100%</a:t>
            </a:r>
          </a:p>
        </p:txBody>
      </p:sp>
      <p:sp>
        <p:nvSpPr>
          <p:cNvPr id="33" name="TextBox 32"/>
          <p:cNvSpPr txBox="1"/>
          <p:nvPr/>
        </p:nvSpPr>
        <p:spPr>
          <a:xfrm>
            <a:off x="8366760" y="4160520"/>
            <a:ext cx="3383280" cy="320040"/>
          </a:xfrm>
          <a:prstGeom prst="rect">
            <a:avLst/>
          </a:prstGeom>
          <a:noFill/>
        </p:spPr>
        <p:txBody>
          <a:bodyPr wrap="square">
            <a:spAutoFit/>
          </a:bodyPr>
          <a:lstStyle/>
          <a:p>
            <a:pPr algn="l"/>
            <a:r>
              <a:rPr sz="1200" b="1">
                <a:solidFill>
                  <a:srgbClr val="10B981"/>
                </a:solidFill>
              </a:rPr>
              <a:t>Full trace coverage</a:t>
            </a:r>
          </a:p>
        </p:txBody>
      </p:sp>
      <p:sp>
        <p:nvSpPr>
          <p:cNvPr id="34" name="TextBox 33"/>
          <p:cNvSpPr txBox="1"/>
          <p:nvPr/>
        </p:nvSpPr>
        <p:spPr>
          <a:xfrm>
            <a:off x="8366760" y="4453128"/>
            <a:ext cx="3383280" cy="384048"/>
          </a:xfrm>
          <a:prstGeom prst="rect">
            <a:avLst/>
          </a:prstGeom>
          <a:noFill/>
        </p:spPr>
        <p:txBody>
          <a:bodyPr wrap="square">
            <a:spAutoFit/>
          </a:bodyPr>
          <a:lstStyle/>
          <a:p>
            <a:pPr algn="l"/>
            <a:r>
              <a:rPr sz="1000" b="0">
                <a:solidFill>
                  <a:srgbClr val="CBD5E1"/>
                </a:solidFill>
              </a:rPr>
              <a:t>OTEL + Audit logs give L1 support full incident context — MTTR reduced by 70%</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800" b="1">
                <a:solidFill>
                  <a:srgbClr val="FFFFFF"/>
                </a:solidFill>
              </a:rPr>
              <a:t>Competitive Landscape</a:t>
            </a:r>
          </a:p>
        </p:txBody>
      </p:sp>
      <p:sp>
        <p:nvSpPr>
          <p:cNvPr id="5" name="Rectangle 4"/>
          <p:cNvSpPr/>
          <p:nvPr/>
        </p:nvSpPr>
        <p:spPr>
          <a:xfrm>
            <a:off x="320040" y="960120"/>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4904" y="996696"/>
            <a:ext cx="2468880" cy="274320"/>
          </a:xfrm>
          <a:prstGeom prst="rect">
            <a:avLst/>
          </a:prstGeom>
          <a:noFill/>
        </p:spPr>
        <p:txBody>
          <a:bodyPr wrap="square">
            <a:spAutoFit/>
          </a:bodyPr>
          <a:lstStyle/>
          <a:p>
            <a:pPr algn="l"/>
            <a:r>
              <a:rPr sz="1100" b="1">
                <a:solidFill>
                  <a:srgbClr val="FFFFFF"/>
                </a:solidFill>
              </a:rPr>
              <a:t>Feature</a:t>
            </a:r>
          </a:p>
        </p:txBody>
      </p:sp>
      <p:sp>
        <p:nvSpPr>
          <p:cNvPr id="7" name="Rectangle 6"/>
          <p:cNvSpPr/>
          <p:nvPr/>
        </p:nvSpPr>
        <p:spPr>
          <a:xfrm>
            <a:off x="2880360" y="960120"/>
            <a:ext cx="1792224" cy="329184"/>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35224" y="996696"/>
            <a:ext cx="1737360" cy="274320"/>
          </a:xfrm>
          <a:prstGeom prst="rect">
            <a:avLst/>
          </a:prstGeom>
          <a:noFill/>
        </p:spPr>
        <p:txBody>
          <a:bodyPr wrap="square">
            <a:spAutoFit/>
          </a:bodyPr>
          <a:lstStyle/>
          <a:p>
            <a:pPr algn="ctr"/>
            <a:r>
              <a:rPr sz="1100" b="1">
                <a:solidFill>
                  <a:srgbClr val="FFFFFF"/>
                </a:solidFill>
              </a:rPr>
              <a:t>AgentForge</a:t>
            </a:r>
          </a:p>
        </p:txBody>
      </p:sp>
      <p:sp>
        <p:nvSpPr>
          <p:cNvPr id="9" name="Rectangle 8"/>
          <p:cNvSpPr/>
          <p:nvPr/>
        </p:nvSpPr>
        <p:spPr>
          <a:xfrm>
            <a:off x="4709160" y="960120"/>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64024" y="996696"/>
            <a:ext cx="1554480" cy="274320"/>
          </a:xfrm>
          <a:prstGeom prst="rect">
            <a:avLst/>
          </a:prstGeom>
          <a:noFill/>
        </p:spPr>
        <p:txBody>
          <a:bodyPr wrap="square">
            <a:spAutoFit/>
          </a:bodyPr>
          <a:lstStyle/>
          <a:p>
            <a:pPr algn="ctr"/>
            <a:r>
              <a:rPr sz="1100" b="1">
                <a:solidFill>
                  <a:srgbClr val="FFFFFF"/>
                </a:solidFill>
              </a:rPr>
              <a:t>Lyzr AI</a:t>
            </a:r>
          </a:p>
        </p:txBody>
      </p:sp>
      <p:sp>
        <p:nvSpPr>
          <p:cNvPr id="11" name="Rectangle 10"/>
          <p:cNvSpPr/>
          <p:nvPr/>
        </p:nvSpPr>
        <p:spPr>
          <a:xfrm>
            <a:off x="6355080" y="96012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9944" y="996696"/>
            <a:ext cx="1371600" cy="274320"/>
          </a:xfrm>
          <a:prstGeom prst="rect">
            <a:avLst/>
          </a:prstGeom>
          <a:noFill/>
        </p:spPr>
        <p:txBody>
          <a:bodyPr wrap="square">
            <a:spAutoFit/>
          </a:bodyPr>
          <a:lstStyle/>
          <a:p>
            <a:pPr algn="ctr"/>
            <a:r>
              <a:rPr sz="1100" b="1">
                <a:solidFill>
                  <a:srgbClr val="FFFFFF"/>
                </a:solidFill>
              </a:rPr>
              <a:t>LangChain</a:t>
            </a:r>
          </a:p>
        </p:txBody>
      </p:sp>
      <p:sp>
        <p:nvSpPr>
          <p:cNvPr id="13" name="Rectangle 12"/>
          <p:cNvSpPr/>
          <p:nvPr/>
        </p:nvSpPr>
        <p:spPr>
          <a:xfrm>
            <a:off x="7818120" y="960120"/>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72984" y="996696"/>
            <a:ext cx="1737360" cy="274320"/>
          </a:xfrm>
          <a:prstGeom prst="rect">
            <a:avLst/>
          </a:prstGeom>
          <a:noFill/>
        </p:spPr>
        <p:txBody>
          <a:bodyPr wrap="square">
            <a:spAutoFit/>
          </a:bodyPr>
          <a:lstStyle/>
          <a:p>
            <a:pPr algn="ctr"/>
            <a:r>
              <a:rPr sz="1100" b="1">
                <a:solidFill>
                  <a:srgbClr val="FFFFFF"/>
                </a:solidFill>
              </a:rPr>
              <a:t>Microsoft AutoGen</a:t>
            </a:r>
          </a:p>
        </p:txBody>
      </p:sp>
      <p:sp>
        <p:nvSpPr>
          <p:cNvPr id="15" name="Rectangle 14"/>
          <p:cNvSpPr/>
          <p:nvPr/>
        </p:nvSpPr>
        <p:spPr>
          <a:xfrm>
            <a:off x="9646920" y="96012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01784" y="996696"/>
            <a:ext cx="1371600" cy="274320"/>
          </a:xfrm>
          <a:prstGeom prst="rect">
            <a:avLst/>
          </a:prstGeom>
          <a:noFill/>
        </p:spPr>
        <p:txBody>
          <a:bodyPr wrap="square">
            <a:spAutoFit/>
          </a:bodyPr>
          <a:lstStyle/>
          <a:p>
            <a:pPr algn="ctr"/>
            <a:r>
              <a:rPr sz="1100" b="1">
                <a:solidFill>
                  <a:srgbClr val="FFFFFF"/>
                </a:solidFill>
              </a:rPr>
              <a:t>CrewAI</a:t>
            </a:r>
          </a:p>
        </p:txBody>
      </p:sp>
      <p:sp>
        <p:nvSpPr>
          <p:cNvPr id="17" name="Rectangle 16"/>
          <p:cNvSpPr/>
          <p:nvPr/>
        </p:nvSpPr>
        <p:spPr>
          <a:xfrm>
            <a:off x="320040" y="1289304"/>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 y="1325880"/>
            <a:ext cx="2468880" cy="274320"/>
          </a:xfrm>
          <a:prstGeom prst="rect">
            <a:avLst/>
          </a:prstGeom>
          <a:noFill/>
        </p:spPr>
        <p:txBody>
          <a:bodyPr wrap="square">
            <a:spAutoFit/>
          </a:bodyPr>
          <a:lstStyle/>
          <a:p>
            <a:pPr algn="l"/>
            <a:r>
              <a:rPr sz="1000" b="0">
                <a:solidFill>
                  <a:srgbClr val="CBD5E1"/>
                </a:solidFill>
              </a:rPr>
              <a:t>Prompt-to-Agent (NL → Stack)</a:t>
            </a:r>
          </a:p>
        </p:txBody>
      </p:sp>
      <p:sp>
        <p:nvSpPr>
          <p:cNvPr id="19" name="Rectangle 18"/>
          <p:cNvSpPr/>
          <p:nvPr/>
        </p:nvSpPr>
        <p:spPr>
          <a:xfrm>
            <a:off x="2880360" y="1289304"/>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35224" y="1325880"/>
            <a:ext cx="1737360" cy="274320"/>
          </a:xfrm>
          <a:prstGeom prst="rect">
            <a:avLst/>
          </a:prstGeom>
          <a:noFill/>
        </p:spPr>
        <p:txBody>
          <a:bodyPr wrap="square">
            <a:spAutoFit/>
          </a:bodyPr>
          <a:lstStyle/>
          <a:p>
            <a:pPr algn="ctr"/>
            <a:r>
              <a:rPr sz="1000" b="0">
                <a:solidFill>
                  <a:srgbClr val="10B981"/>
                </a:solidFill>
              </a:rPr>
              <a:t>✅ Full</a:t>
            </a:r>
          </a:p>
        </p:txBody>
      </p:sp>
      <p:sp>
        <p:nvSpPr>
          <p:cNvPr id="21" name="Rectangle 20"/>
          <p:cNvSpPr/>
          <p:nvPr/>
        </p:nvSpPr>
        <p:spPr>
          <a:xfrm>
            <a:off x="4709160" y="1289304"/>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64024" y="1325880"/>
            <a:ext cx="1554480" cy="274320"/>
          </a:xfrm>
          <a:prstGeom prst="rect">
            <a:avLst/>
          </a:prstGeom>
          <a:noFill/>
        </p:spPr>
        <p:txBody>
          <a:bodyPr wrap="square">
            <a:spAutoFit/>
          </a:bodyPr>
          <a:lstStyle/>
          <a:p>
            <a:pPr algn="ctr"/>
            <a:r>
              <a:rPr sz="1000" b="0">
                <a:solidFill>
                  <a:srgbClr val="10B981"/>
                </a:solidFill>
              </a:rPr>
              <a:t>✅ Yes</a:t>
            </a:r>
          </a:p>
        </p:txBody>
      </p:sp>
      <p:sp>
        <p:nvSpPr>
          <p:cNvPr id="23" name="Rectangle 22"/>
          <p:cNvSpPr/>
          <p:nvPr/>
        </p:nvSpPr>
        <p:spPr>
          <a:xfrm>
            <a:off x="6355080" y="128930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9944" y="1325880"/>
            <a:ext cx="1371600" cy="274320"/>
          </a:xfrm>
          <a:prstGeom prst="rect">
            <a:avLst/>
          </a:prstGeom>
          <a:noFill/>
        </p:spPr>
        <p:txBody>
          <a:bodyPr wrap="square">
            <a:spAutoFit/>
          </a:bodyPr>
          <a:lstStyle/>
          <a:p>
            <a:pPr algn="ctr"/>
            <a:r>
              <a:rPr sz="1000" b="0">
                <a:solidFill>
                  <a:srgbClr val="EF4444"/>
                </a:solidFill>
              </a:rPr>
              <a:t>❌ No</a:t>
            </a:r>
          </a:p>
        </p:txBody>
      </p:sp>
      <p:sp>
        <p:nvSpPr>
          <p:cNvPr id="25" name="Rectangle 24"/>
          <p:cNvSpPr/>
          <p:nvPr/>
        </p:nvSpPr>
        <p:spPr>
          <a:xfrm>
            <a:off x="7818120" y="1289304"/>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72984" y="1325880"/>
            <a:ext cx="1737360" cy="274320"/>
          </a:xfrm>
          <a:prstGeom prst="rect">
            <a:avLst/>
          </a:prstGeom>
          <a:noFill/>
        </p:spPr>
        <p:txBody>
          <a:bodyPr wrap="square">
            <a:spAutoFit/>
          </a:bodyPr>
          <a:lstStyle/>
          <a:p>
            <a:pPr algn="ctr"/>
            <a:r>
              <a:rPr sz="1000" b="0">
                <a:solidFill>
                  <a:srgbClr val="EF4444"/>
                </a:solidFill>
              </a:rPr>
              <a:t>❌ No</a:t>
            </a:r>
          </a:p>
        </p:txBody>
      </p:sp>
      <p:sp>
        <p:nvSpPr>
          <p:cNvPr id="27" name="Rectangle 26"/>
          <p:cNvSpPr/>
          <p:nvPr/>
        </p:nvSpPr>
        <p:spPr>
          <a:xfrm>
            <a:off x="9646920" y="128930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01784" y="1325880"/>
            <a:ext cx="1371600" cy="274320"/>
          </a:xfrm>
          <a:prstGeom prst="rect">
            <a:avLst/>
          </a:prstGeom>
          <a:noFill/>
        </p:spPr>
        <p:txBody>
          <a:bodyPr wrap="square">
            <a:spAutoFit/>
          </a:bodyPr>
          <a:lstStyle/>
          <a:p>
            <a:pPr algn="ctr"/>
            <a:r>
              <a:rPr sz="1000" b="0">
                <a:solidFill>
                  <a:srgbClr val="EF4444"/>
                </a:solidFill>
              </a:rPr>
              <a:t>❌ No</a:t>
            </a:r>
          </a:p>
        </p:txBody>
      </p:sp>
      <p:sp>
        <p:nvSpPr>
          <p:cNvPr id="29" name="Rectangle 28"/>
          <p:cNvSpPr/>
          <p:nvPr/>
        </p:nvSpPr>
        <p:spPr>
          <a:xfrm>
            <a:off x="320040" y="1618488"/>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1655064"/>
            <a:ext cx="2468880" cy="274320"/>
          </a:xfrm>
          <a:prstGeom prst="rect">
            <a:avLst/>
          </a:prstGeom>
          <a:noFill/>
        </p:spPr>
        <p:txBody>
          <a:bodyPr wrap="square">
            <a:spAutoFit/>
          </a:bodyPr>
          <a:lstStyle/>
          <a:p>
            <a:pPr algn="l"/>
            <a:r>
              <a:rPr sz="1000" b="0">
                <a:solidFill>
                  <a:srgbClr val="CBD5E1"/>
                </a:solidFill>
              </a:rPr>
              <a:t>Visual Workflow Builder</a:t>
            </a:r>
          </a:p>
        </p:txBody>
      </p:sp>
      <p:sp>
        <p:nvSpPr>
          <p:cNvPr id="31" name="Rectangle 30"/>
          <p:cNvSpPr/>
          <p:nvPr/>
        </p:nvSpPr>
        <p:spPr>
          <a:xfrm>
            <a:off x="2880360" y="1618488"/>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35224" y="1655064"/>
            <a:ext cx="1737360" cy="274320"/>
          </a:xfrm>
          <a:prstGeom prst="rect">
            <a:avLst/>
          </a:prstGeom>
          <a:noFill/>
        </p:spPr>
        <p:txBody>
          <a:bodyPr wrap="square">
            <a:spAutoFit/>
          </a:bodyPr>
          <a:lstStyle/>
          <a:p>
            <a:pPr algn="ctr"/>
            <a:r>
              <a:rPr sz="1000" b="0">
                <a:solidFill>
                  <a:srgbClr val="10B981"/>
                </a:solidFill>
              </a:rPr>
              <a:t>✅ Yes</a:t>
            </a:r>
          </a:p>
        </p:txBody>
      </p:sp>
      <p:sp>
        <p:nvSpPr>
          <p:cNvPr id="33" name="Rectangle 32"/>
          <p:cNvSpPr/>
          <p:nvPr/>
        </p:nvSpPr>
        <p:spPr>
          <a:xfrm>
            <a:off x="4709160" y="1618488"/>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64024" y="1655064"/>
            <a:ext cx="1554480" cy="274320"/>
          </a:xfrm>
          <a:prstGeom prst="rect">
            <a:avLst/>
          </a:prstGeom>
          <a:noFill/>
        </p:spPr>
        <p:txBody>
          <a:bodyPr wrap="square">
            <a:spAutoFit/>
          </a:bodyPr>
          <a:lstStyle/>
          <a:p>
            <a:pPr algn="ctr"/>
            <a:r>
              <a:rPr sz="1000" b="0">
                <a:solidFill>
                  <a:srgbClr val="10B981"/>
                </a:solidFill>
              </a:rPr>
              <a:t>✅ Yes</a:t>
            </a:r>
          </a:p>
        </p:txBody>
      </p:sp>
      <p:sp>
        <p:nvSpPr>
          <p:cNvPr id="35" name="Rectangle 34"/>
          <p:cNvSpPr/>
          <p:nvPr/>
        </p:nvSpPr>
        <p:spPr>
          <a:xfrm>
            <a:off x="6355080" y="161848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9944" y="1655064"/>
            <a:ext cx="1371600" cy="274320"/>
          </a:xfrm>
          <a:prstGeom prst="rect">
            <a:avLst/>
          </a:prstGeom>
          <a:noFill/>
        </p:spPr>
        <p:txBody>
          <a:bodyPr wrap="square">
            <a:spAutoFit/>
          </a:bodyPr>
          <a:lstStyle/>
          <a:p>
            <a:pPr algn="ctr"/>
            <a:r>
              <a:rPr sz="1000" b="0">
                <a:solidFill>
                  <a:srgbClr val="EF4444"/>
                </a:solidFill>
              </a:rPr>
              <a:t>❌ No</a:t>
            </a:r>
          </a:p>
        </p:txBody>
      </p:sp>
      <p:sp>
        <p:nvSpPr>
          <p:cNvPr id="37" name="Rectangle 36"/>
          <p:cNvSpPr/>
          <p:nvPr/>
        </p:nvSpPr>
        <p:spPr>
          <a:xfrm>
            <a:off x="7818120" y="1618488"/>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72984" y="1655064"/>
            <a:ext cx="1737360" cy="274320"/>
          </a:xfrm>
          <a:prstGeom prst="rect">
            <a:avLst/>
          </a:prstGeom>
          <a:noFill/>
        </p:spPr>
        <p:txBody>
          <a:bodyPr wrap="square">
            <a:spAutoFit/>
          </a:bodyPr>
          <a:lstStyle/>
          <a:p>
            <a:pPr algn="ctr"/>
            <a:r>
              <a:rPr sz="1000" b="0">
                <a:solidFill>
                  <a:srgbClr val="F59E0B"/>
                </a:solidFill>
              </a:rPr>
              <a:t>⚡ Basic</a:t>
            </a:r>
          </a:p>
        </p:txBody>
      </p:sp>
      <p:sp>
        <p:nvSpPr>
          <p:cNvPr id="39" name="Rectangle 38"/>
          <p:cNvSpPr/>
          <p:nvPr/>
        </p:nvSpPr>
        <p:spPr>
          <a:xfrm>
            <a:off x="9646920" y="161848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701784" y="1655064"/>
            <a:ext cx="1371600" cy="274320"/>
          </a:xfrm>
          <a:prstGeom prst="rect">
            <a:avLst/>
          </a:prstGeom>
          <a:noFill/>
        </p:spPr>
        <p:txBody>
          <a:bodyPr wrap="square">
            <a:spAutoFit/>
          </a:bodyPr>
          <a:lstStyle/>
          <a:p>
            <a:pPr algn="ctr"/>
            <a:r>
              <a:rPr sz="1000" b="0">
                <a:solidFill>
                  <a:srgbClr val="EF4444"/>
                </a:solidFill>
              </a:rPr>
              <a:t>❌ No</a:t>
            </a:r>
          </a:p>
        </p:txBody>
      </p:sp>
      <p:sp>
        <p:nvSpPr>
          <p:cNvPr id="41" name="Rectangle 40"/>
          <p:cNvSpPr/>
          <p:nvPr/>
        </p:nvSpPr>
        <p:spPr>
          <a:xfrm>
            <a:off x="320040" y="1947672"/>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74904" y="1984248"/>
            <a:ext cx="2468880" cy="274320"/>
          </a:xfrm>
          <a:prstGeom prst="rect">
            <a:avLst/>
          </a:prstGeom>
          <a:noFill/>
        </p:spPr>
        <p:txBody>
          <a:bodyPr wrap="square">
            <a:spAutoFit/>
          </a:bodyPr>
          <a:lstStyle/>
          <a:p>
            <a:pPr algn="l"/>
            <a:r>
              <a:rPr sz="1000" b="0">
                <a:solidFill>
                  <a:srgbClr val="CBD5E1"/>
                </a:solidFill>
              </a:rPr>
              <a:t>Built-in RAG Pipeline</a:t>
            </a:r>
          </a:p>
        </p:txBody>
      </p:sp>
      <p:sp>
        <p:nvSpPr>
          <p:cNvPr id="43" name="Rectangle 42"/>
          <p:cNvSpPr/>
          <p:nvPr/>
        </p:nvSpPr>
        <p:spPr>
          <a:xfrm>
            <a:off x="2880360" y="1947672"/>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935224" y="1984248"/>
            <a:ext cx="1737360" cy="274320"/>
          </a:xfrm>
          <a:prstGeom prst="rect">
            <a:avLst/>
          </a:prstGeom>
          <a:noFill/>
        </p:spPr>
        <p:txBody>
          <a:bodyPr wrap="square">
            <a:spAutoFit/>
          </a:bodyPr>
          <a:lstStyle/>
          <a:p>
            <a:pPr algn="ctr"/>
            <a:r>
              <a:rPr sz="1000" b="0">
                <a:solidFill>
                  <a:srgbClr val="10B981"/>
                </a:solidFill>
              </a:rPr>
              <a:t>✅ Yes</a:t>
            </a:r>
          </a:p>
        </p:txBody>
      </p:sp>
      <p:sp>
        <p:nvSpPr>
          <p:cNvPr id="45" name="Rectangle 44"/>
          <p:cNvSpPr/>
          <p:nvPr/>
        </p:nvSpPr>
        <p:spPr>
          <a:xfrm>
            <a:off x="4709160" y="1947672"/>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764024" y="1984248"/>
            <a:ext cx="1554480" cy="274320"/>
          </a:xfrm>
          <a:prstGeom prst="rect">
            <a:avLst/>
          </a:prstGeom>
          <a:noFill/>
        </p:spPr>
        <p:txBody>
          <a:bodyPr wrap="square">
            <a:spAutoFit/>
          </a:bodyPr>
          <a:lstStyle/>
          <a:p>
            <a:pPr algn="ctr"/>
            <a:r>
              <a:rPr sz="1000" b="0">
                <a:solidFill>
                  <a:srgbClr val="10B981"/>
                </a:solidFill>
              </a:rPr>
              <a:t>✅ Yes</a:t>
            </a:r>
          </a:p>
        </p:txBody>
      </p:sp>
      <p:sp>
        <p:nvSpPr>
          <p:cNvPr id="47" name="Rectangle 46"/>
          <p:cNvSpPr/>
          <p:nvPr/>
        </p:nvSpPr>
        <p:spPr>
          <a:xfrm>
            <a:off x="6355080" y="194767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9944" y="1984248"/>
            <a:ext cx="1371600" cy="274320"/>
          </a:xfrm>
          <a:prstGeom prst="rect">
            <a:avLst/>
          </a:prstGeom>
          <a:noFill/>
        </p:spPr>
        <p:txBody>
          <a:bodyPr wrap="square">
            <a:spAutoFit/>
          </a:bodyPr>
          <a:lstStyle/>
          <a:p>
            <a:pPr algn="ctr"/>
            <a:r>
              <a:rPr sz="1000" b="0">
                <a:solidFill>
                  <a:srgbClr val="F59E0B"/>
                </a:solidFill>
              </a:rPr>
              <a:t>⚡ DIY</a:t>
            </a:r>
          </a:p>
        </p:txBody>
      </p:sp>
      <p:sp>
        <p:nvSpPr>
          <p:cNvPr id="49" name="Rectangle 48"/>
          <p:cNvSpPr/>
          <p:nvPr/>
        </p:nvSpPr>
        <p:spPr>
          <a:xfrm>
            <a:off x="7818120" y="1947672"/>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72984" y="1984248"/>
            <a:ext cx="1737360" cy="274320"/>
          </a:xfrm>
          <a:prstGeom prst="rect">
            <a:avLst/>
          </a:prstGeom>
          <a:noFill/>
        </p:spPr>
        <p:txBody>
          <a:bodyPr wrap="square">
            <a:spAutoFit/>
          </a:bodyPr>
          <a:lstStyle/>
          <a:p>
            <a:pPr algn="ctr"/>
            <a:r>
              <a:rPr sz="1000" b="0">
                <a:solidFill>
                  <a:srgbClr val="EF4444"/>
                </a:solidFill>
              </a:rPr>
              <a:t>❌ No</a:t>
            </a:r>
          </a:p>
        </p:txBody>
      </p:sp>
      <p:sp>
        <p:nvSpPr>
          <p:cNvPr id="51" name="Rectangle 50"/>
          <p:cNvSpPr/>
          <p:nvPr/>
        </p:nvSpPr>
        <p:spPr>
          <a:xfrm>
            <a:off x="9646920" y="194767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701784" y="1984248"/>
            <a:ext cx="1371600" cy="274320"/>
          </a:xfrm>
          <a:prstGeom prst="rect">
            <a:avLst/>
          </a:prstGeom>
          <a:noFill/>
        </p:spPr>
        <p:txBody>
          <a:bodyPr wrap="square">
            <a:spAutoFit/>
          </a:bodyPr>
          <a:lstStyle/>
          <a:p>
            <a:pPr algn="ctr"/>
            <a:r>
              <a:rPr sz="1000" b="0">
                <a:solidFill>
                  <a:srgbClr val="EF4444"/>
                </a:solidFill>
              </a:rPr>
              <a:t>❌ No</a:t>
            </a:r>
          </a:p>
        </p:txBody>
      </p:sp>
      <p:sp>
        <p:nvSpPr>
          <p:cNvPr id="53" name="Rectangle 52"/>
          <p:cNvSpPr/>
          <p:nvPr/>
        </p:nvSpPr>
        <p:spPr>
          <a:xfrm>
            <a:off x="320040" y="2276856"/>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74904" y="2313432"/>
            <a:ext cx="2468880" cy="274320"/>
          </a:xfrm>
          <a:prstGeom prst="rect">
            <a:avLst/>
          </a:prstGeom>
          <a:noFill/>
        </p:spPr>
        <p:txBody>
          <a:bodyPr wrap="square">
            <a:spAutoFit/>
          </a:bodyPr>
          <a:lstStyle/>
          <a:p>
            <a:pPr algn="l"/>
            <a:r>
              <a:rPr sz="1000" b="0">
                <a:solidFill>
                  <a:srgbClr val="CBD5E1"/>
                </a:solidFill>
              </a:rPr>
              <a:t>PII / Guardrails (Presidio)</a:t>
            </a:r>
          </a:p>
        </p:txBody>
      </p:sp>
      <p:sp>
        <p:nvSpPr>
          <p:cNvPr id="55" name="Rectangle 54"/>
          <p:cNvSpPr/>
          <p:nvPr/>
        </p:nvSpPr>
        <p:spPr>
          <a:xfrm>
            <a:off x="2880360" y="2276856"/>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35224" y="2313432"/>
            <a:ext cx="1737360" cy="274320"/>
          </a:xfrm>
          <a:prstGeom prst="rect">
            <a:avLst/>
          </a:prstGeom>
          <a:noFill/>
        </p:spPr>
        <p:txBody>
          <a:bodyPr wrap="square">
            <a:spAutoFit/>
          </a:bodyPr>
          <a:lstStyle/>
          <a:p>
            <a:pPr algn="ctr"/>
            <a:r>
              <a:rPr sz="1000" b="0">
                <a:solidFill>
                  <a:srgbClr val="10B981"/>
                </a:solidFill>
              </a:rPr>
              <a:t>✅ Yes</a:t>
            </a:r>
          </a:p>
        </p:txBody>
      </p:sp>
      <p:sp>
        <p:nvSpPr>
          <p:cNvPr id="57" name="Rectangle 56"/>
          <p:cNvSpPr/>
          <p:nvPr/>
        </p:nvSpPr>
        <p:spPr>
          <a:xfrm>
            <a:off x="4709160" y="2276856"/>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764024" y="2313432"/>
            <a:ext cx="1554480" cy="274320"/>
          </a:xfrm>
          <a:prstGeom prst="rect">
            <a:avLst/>
          </a:prstGeom>
          <a:noFill/>
        </p:spPr>
        <p:txBody>
          <a:bodyPr wrap="square">
            <a:spAutoFit/>
          </a:bodyPr>
          <a:lstStyle/>
          <a:p>
            <a:pPr algn="ctr"/>
            <a:r>
              <a:rPr sz="1000" b="0">
                <a:solidFill>
                  <a:srgbClr val="F59E0B"/>
                </a:solidFill>
              </a:rPr>
              <a:t>⚡ Partial</a:t>
            </a:r>
          </a:p>
        </p:txBody>
      </p:sp>
      <p:sp>
        <p:nvSpPr>
          <p:cNvPr id="59" name="Rectangle 58"/>
          <p:cNvSpPr/>
          <p:nvPr/>
        </p:nvSpPr>
        <p:spPr>
          <a:xfrm>
            <a:off x="6355080" y="227685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9944" y="2313432"/>
            <a:ext cx="1371600" cy="274320"/>
          </a:xfrm>
          <a:prstGeom prst="rect">
            <a:avLst/>
          </a:prstGeom>
          <a:noFill/>
        </p:spPr>
        <p:txBody>
          <a:bodyPr wrap="square">
            <a:spAutoFit/>
          </a:bodyPr>
          <a:lstStyle/>
          <a:p>
            <a:pPr algn="ctr"/>
            <a:r>
              <a:rPr sz="1000" b="0">
                <a:solidFill>
                  <a:srgbClr val="EF4444"/>
                </a:solidFill>
              </a:rPr>
              <a:t>❌ No</a:t>
            </a:r>
          </a:p>
        </p:txBody>
      </p:sp>
      <p:sp>
        <p:nvSpPr>
          <p:cNvPr id="61" name="Rectangle 60"/>
          <p:cNvSpPr/>
          <p:nvPr/>
        </p:nvSpPr>
        <p:spPr>
          <a:xfrm>
            <a:off x="7818120" y="2276856"/>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72984" y="2313432"/>
            <a:ext cx="1737360" cy="274320"/>
          </a:xfrm>
          <a:prstGeom prst="rect">
            <a:avLst/>
          </a:prstGeom>
          <a:noFill/>
        </p:spPr>
        <p:txBody>
          <a:bodyPr wrap="square">
            <a:spAutoFit/>
          </a:bodyPr>
          <a:lstStyle/>
          <a:p>
            <a:pPr algn="ctr"/>
            <a:r>
              <a:rPr sz="1000" b="0">
                <a:solidFill>
                  <a:srgbClr val="EF4444"/>
                </a:solidFill>
              </a:rPr>
              <a:t>❌ No</a:t>
            </a:r>
          </a:p>
        </p:txBody>
      </p:sp>
      <p:sp>
        <p:nvSpPr>
          <p:cNvPr id="63" name="Rectangle 62"/>
          <p:cNvSpPr/>
          <p:nvPr/>
        </p:nvSpPr>
        <p:spPr>
          <a:xfrm>
            <a:off x="9646920" y="227685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701784" y="2313432"/>
            <a:ext cx="1371600" cy="274320"/>
          </a:xfrm>
          <a:prstGeom prst="rect">
            <a:avLst/>
          </a:prstGeom>
          <a:noFill/>
        </p:spPr>
        <p:txBody>
          <a:bodyPr wrap="square">
            <a:spAutoFit/>
          </a:bodyPr>
          <a:lstStyle/>
          <a:p>
            <a:pPr algn="ctr"/>
            <a:r>
              <a:rPr sz="1000" b="0">
                <a:solidFill>
                  <a:srgbClr val="EF4444"/>
                </a:solidFill>
              </a:rPr>
              <a:t>❌ No</a:t>
            </a:r>
          </a:p>
        </p:txBody>
      </p:sp>
      <p:sp>
        <p:nvSpPr>
          <p:cNvPr id="65" name="Rectangle 64"/>
          <p:cNvSpPr/>
          <p:nvPr/>
        </p:nvSpPr>
        <p:spPr>
          <a:xfrm>
            <a:off x="320040" y="2606040"/>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74904" y="2642616"/>
            <a:ext cx="2468880" cy="274320"/>
          </a:xfrm>
          <a:prstGeom prst="rect">
            <a:avLst/>
          </a:prstGeom>
          <a:noFill/>
        </p:spPr>
        <p:txBody>
          <a:bodyPr wrap="square">
            <a:spAutoFit/>
          </a:bodyPr>
          <a:lstStyle/>
          <a:p>
            <a:pPr algn="l"/>
            <a:r>
              <a:rPr sz="1000" b="0">
                <a:solidFill>
                  <a:srgbClr val="CBD5E1"/>
                </a:solidFill>
              </a:rPr>
              <a:t>Hallucination Detection</a:t>
            </a:r>
          </a:p>
        </p:txBody>
      </p:sp>
      <p:sp>
        <p:nvSpPr>
          <p:cNvPr id="67" name="Rectangle 66"/>
          <p:cNvSpPr/>
          <p:nvPr/>
        </p:nvSpPr>
        <p:spPr>
          <a:xfrm>
            <a:off x="2880360" y="2606040"/>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935224" y="2642616"/>
            <a:ext cx="1737360" cy="274320"/>
          </a:xfrm>
          <a:prstGeom prst="rect">
            <a:avLst/>
          </a:prstGeom>
          <a:noFill/>
        </p:spPr>
        <p:txBody>
          <a:bodyPr wrap="square">
            <a:spAutoFit/>
          </a:bodyPr>
          <a:lstStyle/>
          <a:p>
            <a:pPr algn="ctr"/>
            <a:r>
              <a:rPr sz="1000" b="0">
                <a:solidFill>
                  <a:srgbClr val="10B981"/>
                </a:solidFill>
              </a:rPr>
              <a:t>✅ Yes</a:t>
            </a:r>
          </a:p>
        </p:txBody>
      </p:sp>
      <p:sp>
        <p:nvSpPr>
          <p:cNvPr id="69" name="Rectangle 68"/>
          <p:cNvSpPr/>
          <p:nvPr/>
        </p:nvSpPr>
        <p:spPr>
          <a:xfrm>
            <a:off x="4709160" y="2606040"/>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764024" y="2642616"/>
            <a:ext cx="1554480" cy="274320"/>
          </a:xfrm>
          <a:prstGeom prst="rect">
            <a:avLst/>
          </a:prstGeom>
          <a:noFill/>
        </p:spPr>
        <p:txBody>
          <a:bodyPr wrap="square">
            <a:spAutoFit/>
          </a:bodyPr>
          <a:lstStyle/>
          <a:p>
            <a:pPr algn="ctr"/>
            <a:r>
              <a:rPr sz="1000" b="0">
                <a:solidFill>
                  <a:srgbClr val="F59E0B"/>
                </a:solidFill>
              </a:rPr>
              <a:t>⚡ Partial</a:t>
            </a:r>
          </a:p>
        </p:txBody>
      </p:sp>
      <p:sp>
        <p:nvSpPr>
          <p:cNvPr id="71" name="Rectangle 70"/>
          <p:cNvSpPr/>
          <p:nvPr/>
        </p:nvSpPr>
        <p:spPr>
          <a:xfrm>
            <a:off x="6355080" y="2606040"/>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409944" y="2642616"/>
            <a:ext cx="1371600" cy="274320"/>
          </a:xfrm>
          <a:prstGeom prst="rect">
            <a:avLst/>
          </a:prstGeom>
          <a:noFill/>
        </p:spPr>
        <p:txBody>
          <a:bodyPr wrap="square">
            <a:spAutoFit/>
          </a:bodyPr>
          <a:lstStyle/>
          <a:p>
            <a:pPr algn="ctr"/>
            <a:r>
              <a:rPr sz="1000" b="0">
                <a:solidFill>
                  <a:srgbClr val="EF4444"/>
                </a:solidFill>
              </a:rPr>
              <a:t>❌ No</a:t>
            </a:r>
          </a:p>
        </p:txBody>
      </p:sp>
      <p:sp>
        <p:nvSpPr>
          <p:cNvPr id="73" name="Rectangle 72"/>
          <p:cNvSpPr/>
          <p:nvPr/>
        </p:nvSpPr>
        <p:spPr>
          <a:xfrm>
            <a:off x="7818120" y="2606040"/>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872984" y="2642616"/>
            <a:ext cx="1737360" cy="274320"/>
          </a:xfrm>
          <a:prstGeom prst="rect">
            <a:avLst/>
          </a:prstGeom>
          <a:noFill/>
        </p:spPr>
        <p:txBody>
          <a:bodyPr wrap="square">
            <a:spAutoFit/>
          </a:bodyPr>
          <a:lstStyle/>
          <a:p>
            <a:pPr algn="ctr"/>
            <a:r>
              <a:rPr sz="1000" b="0">
                <a:solidFill>
                  <a:srgbClr val="EF4444"/>
                </a:solidFill>
              </a:rPr>
              <a:t>❌ No</a:t>
            </a:r>
          </a:p>
        </p:txBody>
      </p:sp>
      <p:sp>
        <p:nvSpPr>
          <p:cNvPr id="75" name="Rectangle 74"/>
          <p:cNvSpPr/>
          <p:nvPr/>
        </p:nvSpPr>
        <p:spPr>
          <a:xfrm>
            <a:off x="9646920" y="2606040"/>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701784" y="2642616"/>
            <a:ext cx="1371600" cy="274320"/>
          </a:xfrm>
          <a:prstGeom prst="rect">
            <a:avLst/>
          </a:prstGeom>
          <a:noFill/>
        </p:spPr>
        <p:txBody>
          <a:bodyPr wrap="square">
            <a:spAutoFit/>
          </a:bodyPr>
          <a:lstStyle/>
          <a:p>
            <a:pPr algn="ctr"/>
            <a:r>
              <a:rPr sz="1000" b="0">
                <a:solidFill>
                  <a:srgbClr val="EF4444"/>
                </a:solidFill>
              </a:rPr>
              <a:t>❌ No</a:t>
            </a:r>
          </a:p>
        </p:txBody>
      </p:sp>
      <p:sp>
        <p:nvSpPr>
          <p:cNvPr id="77" name="Rectangle 76"/>
          <p:cNvSpPr/>
          <p:nvPr/>
        </p:nvSpPr>
        <p:spPr>
          <a:xfrm>
            <a:off x="320040" y="2935224"/>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374904" y="2971800"/>
            <a:ext cx="2468880" cy="274320"/>
          </a:xfrm>
          <a:prstGeom prst="rect">
            <a:avLst/>
          </a:prstGeom>
          <a:noFill/>
        </p:spPr>
        <p:txBody>
          <a:bodyPr wrap="square">
            <a:spAutoFit/>
          </a:bodyPr>
          <a:lstStyle/>
          <a:p>
            <a:pPr algn="l"/>
            <a:r>
              <a:rPr sz="1000" b="0">
                <a:solidFill>
                  <a:srgbClr val="CBD5E1"/>
                </a:solidFill>
              </a:rPr>
              <a:t>Multi-Agent Orchestration</a:t>
            </a:r>
          </a:p>
        </p:txBody>
      </p:sp>
      <p:sp>
        <p:nvSpPr>
          <p:cNvPr id="79" name="Rectangle 78"/>
          <p:cNvSpPr/>
          <p:nvPr/>
        </p:nvSpPr>
        <p:spPr>
          <a:xfrm>
            <a:off x="2880360" y="2935224"/>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935224" y="2971800"/>
            <a:ext cx="1737360" cy="274320"/>
          </a:xfrm>
          <a:prstGeom prst="rect">
            <a:avLst/>
          </a:prstGeom>
          <a:noFill/>
        </p:spPr>
        <p:txBody>
          <a:bodyPr wrap="square">
            <a:spAutoFit/>
          </a:bodyPr>
          <a:lstStyle/>
          <a:p>
            <a:pPr algn="ctr"/>
            <a:r>
              <a:rPr sz="1000" b="0">
                <a:solidFill>
                  <a:srgbClr val="10B981"/>
                </a:solidFill>
              </a:rPr>
              <a:t>✅ Yes</a:t>
            </a:r>
          </a:p>
        </p:txBody>
      </p:sp>
      <p:sp>
        <p:nvSpPr>
          <p:cNvPr id="81" name="Rectangle 80"/>
          <p:cNvSpPr/>
          <p:nvPr/>
        </p:nvSpPr>
        <p:spPr>
          <a:xfrm>
            <a:off x="4709160" y="2935224"/>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764024" y="2971800"/>
            <a:ext cx="1554480" cy="274320"/>
          </a:xfrm>
          <a:prstGeom prst="rect">
            <a:avLst/>
          </a:prstGeom>
          <a:noFill/>
        </p:spPr>
        <p:txBody>
          <a:bodyPr wrap="square">
            <a:spAutoFit/>
          </a:bodyPr>
          <a:lstStyle/>
          <a:p>
            <a:pPr algn="ctr"/>
            <a:r>
              <a:rPr sz="1000" b="0">
                <a:solidFill>
                  <a:srgbClr val="10B981"/>
                </a:solidFill>
              </a:rPr>
              <a:t>✅ Yes</a:t>
            </a:r>
          </a:p>
        </p:txBody>
      </p:sp>
      <p:sp>
        <p:nvSpPr>
          <p:cNvPr id="83" name="Rectangle 82"/>
          <p:cNvSpPr/>
          <p:nvPr/>
        </p:nvSpPr>
        <p:spPr>
          <a:xfrm>
            <a:off x="6355080" y="2935224"/>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409944" y="2971800"/>
            <a:ext cx="1371600" cy="274320"/>
          </a:xfrm>
          <a:prstGeom prst="rect">
            <a:avLst/>
          </a:prstGeom>
          <a:noFill/>
        </p:spPr>
        <p:txBody>
          <a:bodyPr wrap="square">
            <a:spAutoFit/>
          </a:bodyPr>
          <a:lstStyle/>
          <a:p>
            <a:pPr algn="ctr"/>
            <a:r>
              <a:rPr sz="1000" b="0">
                <a:solidFill>
                  <a:srgbClr val="10B981"/>
                </a:solidFill>
              </a:rPr>
              <a:t>✅ Yes</a:t>
            </a:r>
          </a:p>
        </p:txBody>
      </p:sp>
      <p:sp>
        <p:nvSpPr>
          <p:cNvPr id="85" name="Rectangle 84"/>
          <p:cNvSpPr/>
          <p:nvPr/>
        </p:nvSpPr>
        <p:spPr>
          <a:xfrm>
            <a:off x="7818120" y="2935224"/>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872984" y="2971800"/>
            <a:ext cx="1737360" cy="274320"/>
          </a:xfrm>
          <a:prstGeom prst="rect">
            <a:avLst/>
          </a:prstGeom>
          <a:noFill/>
        </p:spPr>
        <p:txBody>
          <a:bodyPr wrap="square">
            <a:spAutoFit/>
          </a:bodyPr>
          <a:lstStyle/>
          <a:p>
            <a:pPr algn="ctr"/>
            <a:r>
              <a:rPr sz="1000" b="0">
                <a:solidFill>
                  <a:srgbClr val="10B981"/>
                </a:solidFill>
              </a:rPr>
              <a:t>✅ Yes</a:t>
            </a:r>
          </a:p>
        </p:txBody>
      </p:sp>
      <p:sp>
        <p:nvSpPr>
          <p:cNvPr id="87" name="Rectangle 86"/>
          <p:cNvSpPr/>
          <p:nvPr/>
        </p:nvSpPr>
        <p:spPr>
          <a:xfrm>
            <a:off x="9646920" y="2935224"/>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701784" y="2971800"/>
            <a:ext cx="1371600" cy="274320"/>
          </a:xfrm>
          <a:prstGeom prst="rect">
            <a:avLst/>
          </a:prstGeom>
          <a:noFill/>
        </p:spPr>
        <p:txBody>
          <a:bodyPr wrap="square">
            <a:spAutoFit/>
          </a:bodyPr>
          <a:lstStyle/>
          <a:p>
            <a:pPr algn="ctr"/>
            <a:r>
              <a:rPr sz="1000" b="0">
                <a:solidFill>
                  <a:srgbClr val="10B981"/>
                </a:solidFill>
              </a:rPr>
              <a:t>✅ Yes</a:t>
            </a:r>
          </a:p>
        </p:txBody>
      </p:sp>
      <p:sp>
        <p:nvSpPr>
          <p:cNvPr id="89" name="Rectangle 88"/>
          <p:cNvSpPr/>
          <p:nvPr/>
        </p:nvSpPr>
        <p:spPr>
          <a:xfrm>
            <a:off x="320040" y="3264408"/>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374904" y="3300984"/>
            <a:ext cx="2468880" cy="274320"/>
          </a:xfrm>
          <a:prstGeom prst="rect">
            <a:avLst/>
          </a:prstGeom>
          <a:noFill/>
        </p:spPr>
        <p:txBody>
          <a:bodyPr wrap="square">
            <a:spAutoFit/>
          </a:bodyPr>
          <a:lstStyle/>
          <a:p>
            <a:pPr algn="l"/>
            <a:r>
              <a:rPr sz="1000" b="0">
                <a:solidFill>
                  <a:srgbClr val="CBD5E1"/>
                </a:solidFill>
              </a:rPr>
              <a:t>Voice Agent (STT/TTS)</a:t>
            </a:r>
          </a:p>
        </p:txBody>
      </p:sp>
      <p:sp>
        <p:nvSpPr>
          <p:cNvPr id="91" name="Rectangle 90"/>
          <p:cNvSpPr/>
          <p:nvPr/>
        </p:nvSpPr>
        <p:spPr>
          <a:xfrm>
            <a:off x="2880360" y="3264408"/>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935224" y="3300984"/>
            <a:ext cx="1737360" cy="274320"/>
          </a:xfrm>
          <a:prstGeom prst="rect">
            <a:avLst/>
          </a:prstGeom>
          <a:noFill/>
        </p:spPr>
        <p:txBody>
          <a:bodyPr wrap="square">
            <a:spAutoFit/>
          </a:bodyPr>
          <a:lstStyle/>
          <a:p>
            <a:pPr algn="ctr"/>
            <a:r>
              <a:rPr sz="1000" b="0">
                <a:solidFill>
                  <a:srgbClr val="10B981"/>
                </a:solidFill>
              </a:rPr>
              <a:t>✅ Yes</a:t>
            </a:r>
          </a:p>
        </p:txBody>
      </p:sp>
      <p:sp>
        <p:nvSpPr>
          <p:cNvPr id="93" name="Rectangle 92"/>
          <p:cNvSpPr/>
          <p:nvPr/>
        </p:nvSpPr>
        <p:spPr>
          <a:xfrm>
            <a:off x="4709160" y="3264408"/>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764024" y="3300984"/>
            <a:ext cx="1554480" cy="274320"/>
          </a:xfrm>
          <a:prstGeom prst="rect">
            <a:avLst/>
          </a:prstGeom>
          <a:noFill/>
        </p:spPr>
        <p:txBody>
          <a:bodyPr wrap="square">
            <a:spAutoFit/>
          </a:bodyPr>
          <a:lstStyle/>
          <a:p>
            <a:pPr algn="ctr"/>
            <a:r>
              <a:rPr sz="1000" b="0">
                <a:solidFill>
                  <a:srgbClr val="EF4444"/>
                </a:solidFill>
              </a:rPr>
              <a:t>❌ No</a:t>
            </a:r>
          </a:p>
        </p:txBody>
      </p:sp>
      <p:sp>
        <p:nvSpPr>
          <p:cNvPr id="95" name="Rectangle 94"/>
          <p:cNvSpPr/>
          <p:nvPr/>
        </p:nvSpPr>
        <p:spPr>
          <a:xfrm>
            <a:off x="6355080" y="3264408"/>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409944" y="3300984"/>
            <a:ext cx="1371600" cy="274320"/>
          </a:xfrm>
          <a:prstGeom prst="rect">
            <a:avLst/>
          </a:prstGeom>
          <a:noFill/>
        </p:spPr>
        <p:txBody>
          <a:bodyPr wrap="square">
            <a:spAutoFit/>
          </a:bodyPr>
          <a:lstStyle/>
          <a:p>
            <a:pPr algn="ctr"/>
            <a:r>
              <a:rPr sz="1000" b="0">
                <a:solidFill>
                  <a:srgbClr val="EF4444"/>
                </a:solidFill>
              </a:rPr>
              <a:t>❌ No</a:t>
            </a:r>
          </a:p>
        </p:txBody>
      </p:sp>
      <p:sp>
        <p:nvSpPr>
          <p:cNvPr id="97" name="Rectangle 96"/>
          <p:cNvSpPr/>
          <p:nvPr/>
        </p:nvSpPr>
        <p:spPr>
          <a:xfrm>
            <a:off x="7818120" y="3264408"/>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872984" y="3300984"/>
            <a:ext cx="1737360" cy="274320"/>
          </a:xfrm>
          <a:prstGeom prst="rect">
            <a:avLst/>
          </a:prstGeom>
          <a:noFill/>
        </p:spPr>
        <p:txBody>
          <a:bodyPr wrap="square">
            <a:spAutoFit/>
          </a:bodyPr>
          <a:lstStyle/>
          <a:p>
            <a:pPr algn="ctr"/>
            <a:r>
              <a:rPr sz="1000" b="0">
                <a:solidFill>
                  <a:srgbClr val="EF4444"/>
                </a:solidFill>
              </a:rPr>
              <a:t>❌ No</a:t>
            </a:r>
          </a:p>
        </p:txBody>
      </p:sp>
      <p:sp>
        <p:nvSpPr>
          <p:cNvPr id="99" name="Rectangle 98"/>
          <p:cNvSpPr/>
          <p:nvPr/>
        </p:nvSpPr>
        <p:spPr>
          <a:xfrm>
            <a:off x="9646920" y="3264408"/>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701784" y="3300984"/>
            <a:ext cx="1371600" cy="274320"/>
          </a:xfrm>
          <a:prstGeom prst="rect">
            <a:avLst/>
          </a:prstGeom>
          <a:noFill/>
        </p:spPr>
        <p:txBody>
          <a:bodyPr wrap="square">
            <a:spAutoFit/>
          </a:bodyPr>
          <a:lstStyle/>
          <a:p>
            <a:pPr algn="ctr"/>
            <a:r>
              <a:rPr sz="1000" b="0">
                <a:solidFill>
                  <a:srgbClr val="EF4444"/>
                </a:solidFill>
              </a:rPr>
              <a:t>❌ No</a:t>
            </a:r>
          </a:p>
        </p:txBody>
      </p:sp>
      <p:sp>
        <p:nvSpPr>
          <p:cNvPr id="101" name="Rectangle 100"/>
          <p:cNvSpPr/>
          <p:nvPr/>
        </p:nvSpPr>
        <p:spPr>
          <a:xfrm>
            <a:off x="320040" y="3593592"/>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374904" y="3630168"/>
            <a:ext cx="2468880" cy="274320"/>
          </a:xfrm>
          <a:prstGeom prst="rect">
            <a:avLst/>
          </a:prstGeom>
          <a:noFill/>
        </p:spPr>
        <p:txBody>
          <a:bodyPr wrap="square">
            <a:spAutoFit/>
          </a:bodyPr>
          <a:lstStyle/>
          <a:p>
            <a:pPr algn="l"/>
            <a:r>
              <a:rPr sz="1000" b="0">
                <a:solidFill>
                  <a:srgbClr val="CBD5E1"/>
                </a:solidFill>
              </a:rPr>
              <a:t>Control Plane (live modify)</a:t>
            </a:r>
          </a:p>
        </p:txBody>
      </p:sp>
      <p:sp>
        <p:nvSpPr>
          <p:cNvPr id="103" name="Rectangle 102"/>
          <p:cNvSpPr/>
          <p:nvPr/>
        </p:nvSpPr>
        <p:spPr>
          <a:xfrm>
            <a:off x="2880360" y="3593592"/>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2935224" y="3630168"/>
            <a:ext cx="1737360" cy="274320"/>
          </a:xfrm>
          <a:prstGeom prst="rect">
            <a:avLst/>
          </a:prstGeom>
          <a:noFill/>
        </p:spPr>
        <p:txBody>
          <a:bodyPr wrap="square">
            <a:spAutoFit/>
          </a:bodyPr>
          <a:lstStyle/>
          <a:p>
            <a:pPr algn="ctr"/>
            <a:r>
              <a:rPr sz="1000" b="0">
                <a:solidFill>
                  <a:srgbClr val="10B981"/>
                </a:solidFill>
              </a:rPr>
              <a:t>✅ Yes</a:t>
            </a:r>
          </a:p>
        </p:txBody>
      </p:sp>
      <p:sp>
        <p:nvSpPr>
          <p:cNvPr id="105" name="Rectangle 104"/>
          <p:cNvSpPr/>
          <p:nvPr/>
        </p:nvSpPr>
        <p:spPr>
          <a:xfrm>
            <a:off x="4709160" y="3593592"/>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764024" y="3630168"/>
            <a:ext cx="1554480" cy="274320"/>
          </a:xfrm>
          <a:prstGeom prst="rect">
            <a:avLst/>
          </a:prstGeom>
          <a:noFill/>
        </p:spPr>
        <p:txBody>
          <a:bodyPr wrap="square">
            <a:spAutoFit/>
          </a:bodyPr>
          <a:lstStyle/>
          <a:p>
            <a:pPr algn="ctr"/>
            <a:r>
              <a:rPr sz="1000" b="0">
                <a:solidFill>
                  <a:srgbClr val="F59E0B"/>
                </a:solidFill>
              </a:rPr>
              <a:t>⚡ Basic</a:t>
            </a:r>
          </a:p>
        </p:txBody>
      </p:sp>
      <p:sp>
        <p:nvSpPr>
          <p:cNvPr id="107" name="Rectangle 106"/>
          <p:cNvSpPr/>
          <p:nvPr/>
        </p:nvSpPr>
        <p:spPr>
          <a:xfrm>
            <a:off x="6355080" y="3593592"/>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6409944" y="3630168"/>
            <a:ext cx="1371600" cy="274320"/>
          </a:xfrm>
          <a:prstGeom prst="rect">
            <a:avLst/>
          </a:prstGeom>
          <a:noFill/>
        </p:spPr>
        <p:txBody>
          <a:bodyPr wrap="square">
            <a:spAutoFit/>
          </a:bodyPr>
          <a:lstStyle/>
          <a:p>
            <a:pPr algn="ctr"/>
            <a:r>
              <a:rPr sz="1000" b="0">
                <a:solidFill>
                  <a:srgbClr val="EF4444"/>
                </a:solidFill>
              </a:rPr>
              <a:t>❌ No</a:t>
            </a:r>
          </a:p>
        </p:txBody>
      </p:sp>
      <p:sp>
        <p:nvSpPr>
          <p:cNvPr id="109" name="Rectangle 108"/>
          <p:cNvSpPr/>
          <p:nvPr/>
        </p:nvSpPr>
        <p:spPr>
          <a:xfrm>
            <a:off x="7818120" y="3593592"/>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872984" y="3630168"/>
            <a:ext cx="1737360" cy="274320"/>
          </a:xfrm>
          <a:prstGeom prst="rect">
            <a:avLst/>
          </a:prstGeom>
          <a:noFill/>
        </p:spPr>
        <p:txBody>
          <a:bodyPr wrap="square">
            <a:spAutoFit/>
          </a:bodyPr>
          <a:lstStyle/>
          <a:p>
            <a:pPr algn="ctr"/>
            <a:r>
              <a:rPr sz="1000" b="0">
                <a:solidFill>
                  <a:srgbClr val="EF4444"/>
                </a:solidFill>
              </a:rPr>
              <a:t>❌ No</a:t>
            </a:r>
          </a:p>
        </p:txBody>
      </p:sp>
      <p:sp>
        <p:nvSpPr>
          <p:cNvPr id="111" name="Rectangle 110"/>
          <p:cNvSpPr/>
          <p:nvPr/>
        </p:nvSpPr>
        <p:spPr>
          <a:xfrm>
            <a:off x="9646920" y="3593592"/>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9701784" y="3630168"/>
            <a:ext cx="1371600" cy="274320"/>
          </a:xfrm>
          <a:prstGeom prst="rect">
            <a:avLst/>
          </a:prstGeom>
          <a:noFill/>
        </p:spPr>
        <p:txBody>
          <a:bodyPr wrap="square">
            <a:spAutoFit/>
          </a:bodyPr>
          <a:lstStyle/>
          <a:p>
            <a:pPr algn="ctr"/>
            <a:r>
              <a:rPr sz="1000" b="0">
                <a:solidFill>
                  <a:srgbClr val="EF4444"/>
                </a:solidFill>
              </a:rPr>
              <a:t>❌ No</a:t>
            </a:r>
          </a:p>
        </p:txBody>
      </p:sp>
      <p:sp>
        <p:nvSpPr>
          <p:cNvPr id="113" name="Rectangle 112"/>
          <p:cNvSpPr/>
          <p:nvPr/>
        </p:nvSpPr>
        <p:spPr>
          <a:xfrm>
            <a:off x="320040" y="3922776"/>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74904" y="3959352"/>
            <a:ext cx="2468880" cy="274320"/>
          </a:xfrm>
          <a:prstGeom prst="rect">
            <a:avLst/>
          </a:prstGeom>
          <a:noFill/>
        </p:spPr>
        <p:txBody>
          <a:bodyPr wrap="square">
            <a:spAutoFit/>
          </a:bodyPr>
          <a:lstStyle/>
          <a:p>
            <a:pPr algn="l"/>
            <a:r>
              <a:rPr sz="1000" b="0">
                <a:solidFill>
                  <a:srgbClr val="CBD5E1"/>
                </a:solidFill>
              </a:rPr>
              <a:t>Audit Logs + RBAC</a:t>
            </a:r>
          </a:p>
        </p:txBody>
      </p:sp>
      <p:sp>
        <p:nvSpPr>
          <p:cNvPr id="115" name="Rectangle 114"/>
          <p:cNvSpPr/>
          <p:nvPr/>
        </p:nvSpPr>
        <p:spPr>
          <a:xfrm>
            <a:off x="2880360" y="3922776"/>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2935224" y="3959352"/>
            <a:ext cx="1737360" cy="274320"/>
          </a:xfrm>
          <a:prstGeom prst="rect">
            <a:avLst/>
          </a:prstGeom>
          <a:noFill/>
        </p:spPr>
        <p:txBody>
          <a:bodyPr wrap="square">
            <a:spAutoFit/>
          </a:bodyPr>
          <a:lstStyle/>
          <a:p>
            <a:pPr algn="ctr"/>
            <a:r>
              <a:rPr sz="1000" b="0">
                <a:solidFill>
                  <a:srgbClr val="10B981"/>
                </a:solidFill>
              </a:rPr>
              <a:t>✅ Yes</a:t>
            </a:r>
          </a:p>
        </p:txBody>
      </p:sp>
      <p:sp>
        <p:nvSpPr>
          <p:cNvPr id="117" name="Rectangle 116"/>
          <p:cNvSpPr/>
          <p:nvPr/>
        </p:nvSpPr>
        <p:spPr>
          <a:xfrm>
            <a:off x="4709160" y="3922776"/>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764024" y="3959352"/>
            <a:ext cx="1554480" cy="274320"/>
          </a:xfrm>
          <a:prstGeom prst="rect">
            <a:avLst/>
          </a:prstGeom>
          <a:noFill/>
        </p:spPr>
        <p:txBody>
          <a:bodyPr wrap="square">
            <a:spAutoFit/>
          </a:bodyPr>
          <a:lstStyle/>
          <a:p>
            <a:pPr algn="ctr"/>
            <a:r>
              <a:rPr sz="1000" b="0">
                <a:solidFill>
                  <a:srgbClr val="F59E0B"/>
                </a:solidFill>
              </a:rPr>
              <a:t>⚡ Partial</a:t>
            </a:r>
          </a:p>
        </p:txBody>
      </p:sp>
      <p:sp>
        <p:nvSpPr>
          <p:cNvPr id="119" name="Rectangle 118"/>
          <p:cNvSpPr/>
          <p:nvPr/>
        </p:nvSpPr>
        <p:spPr>
          <a:xfrm>
            <a:off x="6355080" y="3922776"/>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6409944" y="3959352"/>
            <a:ext cx="1371600" cy="274320"/>
          </a:xfrm>
          <a:prstGeom prst="rect">
            <a:avLst/>
          </a:prstGeom>
          <a:noFill/>
        </p:spPr>
        <p:txBody>
          <a:bodyPr wrap="square">
            <a:spAutoFit/>
          </a:bodyPr>
          <a:lstStyle/>
          <a:p>
            <a:pPr algn="ctr"/>
            <a:r>
              <a:rPr sz="1000" b="0">
                <a:solidFill>
                  <a:srgbClr val="EF4444"/>
                </a:solidFill>
              </a:rPr>
              <a:t>❌ No</a:t>
            </a:r>
          </a:p>
        </p:txBody>
      </p:sp>
      <p:sp>
        <p:nvSpPr>
          <p:cNvPr id="121" name="Rectangle 120"/>
          <p:cNvSpPr/>
          <p:nvPr/>
        </p:nvSpPr>
        <p:spPr>
          <a:xfrm>
            <a:off x="7818120" y="3922776"/>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7872984" y="3959352"/>
            <a:ext cx="1737360" cy="274320"/>
          </a:xfrm>
          <a:prstGeom prst="rect">
            <a:avLst/>
          </a:prstGeom>
          <a:noFill/>
        </p:spPr>
        <p:txBody>
          <a:bodyPr wrap="square">
            <a:spAutoFit/>
          </a:bodyPr>
          <a:lstStyle/>
          <a:p>
            <a:pPr algn="ctr"/>
            <a:r>
              <a:rPr sz="1000" b="0">
                <a:solidFill>
                  <a:srgbClr val="EF4444"/>
                </a:solidFill>
              </a:rPr>
              <a:t>❌ No</a:t>
            </a:r>
          </a:p>
        </p:txBody>
      </p:sp>
      <p:sp>
        <p:nvSpPr>
          <p:cNvPr id="123" name="Rectangle 122"/>
          <p:cNvSpPr/>
          <p:nvPr/>
        </p:nvSpPr>
        <p:spPr>
          <a:xfrm>
            <a:off x="9646920" y="3922776"/>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701784" y="3959352"/>
            <a:ext cx="1371600" cy="274320"/>
          </a:xfrm>
          <a:prstGeom prst="rect">
            <a:avLst/>
          </a:prstGeom>
          <a:noFill/>
        </p:spPr>
        <p:txBody>
          <a:bodyPr wrap="square">
            <a:spAutoFit/>
          </a:bodyPr>
          <a:lstStyle/>
          <a:p>
            <a:pPr algn="ctr"/>
            <a:r>
              <a:rPr sz="1000" b="0">
                <a:solidFill>
                  <a:srgbClr val="EF4444"/>
                </a:solidFill>
              </a:rPr>
              <a:t>❌ No</a:t>
            </a:r>
          </a:p>
        </p:txBody>
      </p:sp>
      <p:sp>
        <p:nvSpPr>
          <p:cNvPr id="125" name="Rectangle 124"/>
          <p:cNvSpPr/>
          <p:nvPr/>
        </p:nvSpPr>
        <p:spPr>
          <a:xfrm>
            <a:off x="320040" y="4251960"/>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74904" y="4288536"/>
            <a:ext cx="2468880" cy="274320"/>
          </a:xfrm>
          <a:prstGeom prst="rect">
            <a:avLst/>
          </a:prstGeom>
          <a:noFill/>
        </p:spPr>
        <p:txBody>
          <a:bodyPr wrap="square">
            <a:spAutoFit/>
          </a:bodyPr>
          <a:lstStyle/>
          <a:p>
            <a:pPr algn="l"/>
            <a:r>
              <a:rPr sz="1000" b="0">
                <a:solidFill>
                  <a:srgbClr val="CBD5E1"/>
                </a:solidFill>
              </a:rPr>
              <a:t>OpenTelemetry Observability</a:t>
            </a:r>
          </a:p>
        </p:txBody>
      </p:sp>
      <p:sp>
        <p:nvSpPr>
          <p:cNvPr id="127" name="Rectangle 126"/>
          <p:cNvSpPr/>
          <p:nvPr/>
        </p:nvSpPr>
        <p:spPr>
          <a:xfrm>
            <a:off x="2880360" y="4251960"/>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935224" y="4288536"/>
            <a:ext cx="1737360" cy="274320"/>
          </a:xfrm>
          <a:prstGeom prst="rect">
            <a:avLst/>
          </a:prstGeom>
          <a:noFill/>
        </p:spPr>
        <p:txBody>
          <a:bodyPr wrap="square">
            <a:spAutoFit/>
          </a:bodyPr>
          <a:lstStyle/>
          <a:p>
            <a:pPr algn="ctr"/>
            <a:r>
              <a:rPr sz="1000" b="0">
                <a:solidFill>
                  <a:srgbClr val="10B981"/>
                </a:solidFill>
              </a:rPr>
              <a:t>✅ Yes</a:t>
            </a:r>
          </a:p>
        </p:txBody>
      </p:sp>
      <p:sp>
        <p:nvSpPr>
          <p:cNvPr id="129" name="Rectangle 128"/>
          <p:cNvSpPr/>
          <p:nvPr/>
        </p:nvSpPr>
        <p:spPr>
          <a:xfrm>
            <a:off x="4709160" y="4251960"/>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4764024" y="4288536"/>
            <a:ext cx="1554480" cy="274320"/>
          </a:xfrm>
          <a:prstGeom prst="rect">
            <a:avLst/>
          </a:prstGeom>
          <a:noFill/>
        </p:spPr>
        <p:txBody>
          <a:bodyPr wrap="square">
            <a:spAutoFit/>
          </a:bodyPr>
          <a:lstStyle/>
          <a:p>
            <a:pPr algn="ctr"/>
            <a:r>
              <a:rPr sz="1000" b="0">
                <a:solidFill>
                  <a:srgbClr val="EF4444"/>
                </a:solidFill>
              </a:rPr>
              <a:t>❌ No</a:t>
            </a:r>
          </a:p>
        </p:txBody>
      </p:sp>
      <p:sp>
        <p:nvSpPr>
          <p:cNvPr id="131" name="Rectangle 130"/>
          <p:cNvSpPr/>
          <p:nvPr/>
        </p:nvSpPr>
        <p:spPr>
          <a:xfrm>
            <a:off x="6355080" y="425196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409944" y="4288536"/>
            <a:ext cx="1371600" cy="274320"/>
          </a:xfrm>
          <a:prstGeom prst="rect">
            <a:avLst/>
          </a:prstGeom>
          <a:noFill/>
        </p:spPr>
        <p:txBody>
          <a:bodyPr wrap="square">
            <a:spAutoFit/>
          </a:bodyPr>
          <a:lstStyle/>
          <a:p>
            <a:pPr algn="ctr"/>
            <a:r>
              <a:rPr sz="1000" b="0">
                <a:solidFill>
                  <a:srgbClr val="EF4444"/>
                </a:solidFill>
              </a:rPr>
              <a:t>❌ No</a:t>
            </a:r>
          </a:p>
        </p:txBody>
      </p:sp>
      <p:sp>
        <p:nvSpPr>
          <p:cNvPr id="133" name="Rectangle 132"/>
          <p:cNvSpPr/>
          <p:nvPr/>
        </p:nvSpPr>
        <p:spPr>
          <a:xfrm>
            <a:off x="7818120" y="4251960"/>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7872984" y="4288536"/>
            <a:ext cx="1737360" cy="274320"/>
          </a:xfrm>
          <a:prstGeom prst="rect">
            <a:avLst/>
          </a:prstGeom>
          <a:noFill/>
        </p:spPr>
        <p:txBody>
          <a:bodyPr wrap="square">
            <a:spAutoFit/>
          </a:bodyPr>
          <a:lstStyle/>
          <a:p>
            <a:pPr algn="ctr"/>
            <a:r>
              <a:rPr sz="1000" b="0">
                <a:solidFill>
                  <a:srgbClr val="EF4444"/>
                </a:solidFill>
              </a:rPr>
              <a:t>❌ No</a:t>
            </a:r>
          </a:p>
        </p:txBody>
      </p:sp>
      <p:sp>
        <p:nvSpPr>
          <p:cNvPr id="135" name="Rectangle 134"/>
          <p:cNvSpPr/>
          <p:nvPr/>
        </p:nvSpPr>
        <p:spPr>
          <a:xfrm>
            <a:off x="9646920" y="425196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9701784" y="4288536"/>
            <a:ext cx="1371600" cy="274320"/>
          </a:xfrm>
          <a:prstGeom prst="rect">
            <a:avLst/>
          </a:prstGeom>
          <a:noFill/>
        </p:spPr>
        <p:txBody>
          <a:bodyPr wrap="square">
            <a:spAutoFit/>
          </a:bodyPr>
          <a:lstStyle/>
          <a:p>
            <a:pPr algn="ctr"/>
            <a:r>
              <a:rPr sz="1000" b="0">
                <a:solidFill>
                  <a:srgbClr val="EF4444"/>
                </a:solidFill>
              </a:rPr>
              <a:t>❌ No</a:t>
            </a:r>
          </a:p>
        </p:txBody>
      </p:sp>
      <p:sp>
        <p:nvSpPr>
          <p:cNvPr id="137" name="Rectangle 136"/>
          <p:cNvSpPr/>
          <p:nvPr/>
        </p:nvSpPr>
        <p:spPr>
          <a:xfrm>
            <a:off x="320040" y="4581144"/>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374904" y="4617720"/>
            <a:ext cx="2468880" cy="274320"/>
          </a:xfrm>
          <a:prstGeom prst="rect">
            <a:avLst/>
          </a:prstGeom>
          <a:noFill/>
        </p:spPr>
        <p:txBody>
          <a:bodyPr wrap="square">
            <a:spAutoFit/>
          </a:bodyPr>
          <a:lstStyle/>
          <a:p>
            <a:pPr algn="l"/>
            <a:r>
              <a:rPr sz="1000" b="0">
                <a:solidFill>
                  <a:srgbClr val="CBD5E1"/>
                </a:solidFill>
              </a:rPr>
              <a:t>One-click Deployable ZIP</a:t>
            </a:r>
          </a:p>
        </p:txBody>
      </p:sp>
      <p:sp>
        <p:nvSpPr>
          <p:cNvPr id="139" name="Rectangle 138"/>
          <p:cNvSpPr/>
          <p:nvPr/>
        </p:nvSpPr>
        <p:spPr>
          <a:xfrm>
            <a:off x="2880360" y="4581144"/>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2935224" y="4617720"/>
            <a:ext cx="1737360" cy="274320"/>
          </a:xfrm>
          <a:prstGeom prst="rect">
            <a:avLst/>
          </a:prstGeom>
          <a:noFill/>
        </p:spPr>
        <p:txBody>
          <a:bodyPr wrap="square">
            <a:spAutoFit/>
          </a:bodyPr>
          <a:lstStyle/>
          <a:p>
            <a:pPr algn="ctr"/>
            <a:r>
              <a:rPr sz="1000" b="0">
                <a:solidFill>
                  <a:srgbClr val="10B981"/>
                </a:solidFill>
              </a:rPr>
              <a:t>✅ Yes</a:t>
            </a:r>
          </a:p>
        </p:txBody>
      </p:sp>
      <p:sp>
        <p:nvSpPr>
          <p:cNvPr id="141" name="Rectangle 140"/>
          <p:cNvSpPr/>
          <p:nvPr/>
        </p:nvSpPr>
        <p:spPr>
          <a:xfrm>
            <a:off x="4709160" y="4581144"/>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4764024" y="4617720"/>
            <a:ext cx="1554480" cy="274320"/>
          </a:xfrm>
          <a:prstGeom prst="rect">
            <a:avLst/>
          </a:prstGeom>
          <a:noFill/>
        </p:spPr>
        <p:txBody>
          <a:bodyPr wrap="square">
            <a:spAutoFit/>
          </a:bodyPr>
          <a:lstStyle/>
          <a:p>
            <a:pPr algn="ctr"/>
            <a:r>
              <a:rPr sz="1000" b="0">
                <a:solidFill>
                  <a:srgbClr val="10B981"/>
                </a:solidFill>
              </a:rPr>
              <a:t>✅ Yes</a:t>
            </a:r>
          </a:p>
        </p:txBody>
      </p:sp>
      <p:sp>
        <p:nvSpPr>
          <p:cNvPr id="143" name="Rectangle 142"/>
          <p:cNvSpPr/>
          <p:nvPr/>
        </p:nvSpPr>
        <p:spPr>
          <a:xfrm>
            <a:off x="6355080" y="458114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6409944" y="4617720"/>
            <a:ext cx="1371600" cy="274320"/>
          </a:xfrm>
          <a:prstGeom prst="rect">
            <a:avLst/>
          </a:prstGeom>
          <a:noFill/>
        </p:spPr>
        <p:txBody>
          <a:bodyPr wrap="square">
            <a:spAutoFit/>
          </a:bodyPr>
          <a:lstStyle/>
          <a:p>
            <a:pPr algn="ctr"/>
            <a:r>
              <a:rPr sz="1000" b="0">
                <a:solidFill>
                  <a:srgbClr val="EF4444"/>
                </a:solidFill>
              </a:rPr>
              <a:t>❌ No</a:t>
            </a:r>
          </a:p>
        </p:txBody>
      </p:sp>
      <p:sp>
        <p:nvSpPr>
          <p:cNvPr id="145" name="Rectangle 144"/>
          <p:cNvSpPr/>
          <p:nvPr/>
        </p:nvSpPr>
        <p:spPr>
          <a:xfrm>
            <a:off x="7818120" y="4581144"/>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7872984" y="4617720"/>
            <a:ext cx="1737360" cy="274320"/>
          </a:xfrm>
          <a:prstGeom prst="rect">
            <a:avLst/>
          </a:prstGeom>
          <a:noFill/>
        </p:spPr>
        <p:txBody>
          <a:bodyPr wrap="square">
            <a:spAutoFit/>
          </a:bodyPr>
          <a:lstStyle/>
          <a:p>
            <a:pPr algn="ctr"/>
            <a:r>
              <a:rPr sz="1000" b="0">
                <a:solidFill>
                  <a:srgbClr val="EF4444"/>
                </a:solidFill>
              </a:rPr>
              <a:t>❌ No</a:t>
            </a:r>
          </a:p>
        </p:txBody>
      </p:sp>
      <p:sp>
        <p:nvSpPr>
          <p:cNvPr id="147" name="Rectangle 146"/>
          <p:cNvSpPr/>
          <p:nvPr/>
        </p:nvSpPr>
        <p:spPr>
          <a:xfrm>
            <a:off x="9646920" y="458114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9701784" y="4617720"/>
            <a:ext cx="1371600" cy="274320"/>
          </a:xfrm>
          <a:prstGeom prst="rect">
            <a:avLst/>
          </a:prstGeom>
          <a:noFill/>
        </p:spPr>
        <p:txBody>
          <a:bodyPr wrap="square">
            <a:spAutoFit/>
          </a:bodyPr>
          <a:lstStyle/>
          <a:p>
            <a:pPr algn="ctr"/>
            <a:r>
              <a:rPr sz="1000" b="0">
                <a:solidFill>
                  <a:srgbClr val="EF4444"/>
                </a:solidFill>
              </a:rPr>
              <a:t>❌ No</a:t>
            </a:r>
          </a:p>
        </p:txBody>
      </p:sp>
      <p:sp>
        <p:nvSpPr>
          <p:cNvPr id="149" name="Rectangle 148"/>
          <p:cNvSpPr/>
          <p:nvPr/>
        </p:nvSpPr>
        <p:spPr>
          <a:xfrm>
            <a:off x="320040" y="4910328"/>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374904" y="4946904"/>
            <a:ext cx="2468880" cy="274320"/>
          </a:xfrm>
          <a:prstGeom prst="rect">
            <a:avLst/>
          </a:prstGeom>
          <a:noFill/>
        </p:spPr>
        <p:txBody>
          <a:bodyPr wrap="square">
            <a:spAutoFit/>
          </a:bodyPr>
          <a:lstStyle/>
          <a:p>
            <a:pPr algn="l"/>
            <a:r>
              <a:rPr sz="1000" b="0">
                <a:solidFill>
                  <a:srgbClr val="CBD5E1"/>
                </a:solidFill>
              </a:rPr>
              <a:t>Simulation / Eval Engine</a:t>
            </a:r>
          </a:p>
        </p:txBody>
      </p:sp>
      <p:sp>
        <p:nvSpPr>
          <p:cNvPr id="151" name="Rectangle 150"/>
          <p:cNvSpPr/>
          <p:nvPr/>
        </p:nvSpPr>
        <p:spPr>
          <a:xfrm>
            <a:off x="2880360" y="4910328"/>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2935224" y="4946904"/>
            <a:ext cx="1737360" cy="274320"/>
          </a:xfrm>
          <a:prstGeom prst="rect">
            <a:avLst/>
          </a:prstGeom>
          <a:noFill/>
        </p:spPr>
        <p:txBody>
          <a:bodyPr wrap="square">
            <a:spAutoFit/>
          </a:bodyPr>
          <a:lstStyle/>
          <a:p>
            <a:pPr algn="ctr"/>
            <a:r>
              <a:rPr sz="1000" b="0">
                <a:solidFill>
                  <a:srgbClr val="10B981"/>
                </a:solidFill>
              </a:rPr>
              <a:t>✅ Yes</a:t>
            </a:r>
          </a:p>
        </p:txBody>
      </p:sp>
      <p:sp>
        <p:nvSpPr>
          <p:cNvPr id="153" name="Rectangle 152"/>
          <p:cNvSpPr/>
          <p:nvPr/>
        </p:nvSpPr>
        <p:spPr>
          <a:xfrm>
            <a:off x="4709160" y="4910328"/>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4764024" y="4946904"/>
            <a:ext cx="1554480" cy="274320"/>
          </a:xfrm>
          <a:prstGeom prst="rect">
            <a:avLst/>
          </a:prstGeom>
          <a:noFill/>
        </p:spPr>
        <p:txBody>
          <a:bodyPr wrap="square">
            <a:spAutoFit/>
          </a:bodyPr>
          <a:lstStyle/>
          <a:p>
            <a:pPr algn="ctr"/>
            <a:r>
              <a:rPr sz="1000" b="0">
                <a:solidFill>
                  <a:srgbClr val="F59E0B"/>
                </a:solidFill>
              </a:rPr>
              <a:t>⚡ Basic</a:t>
            </a:r>
          </a:p>
        </p:txBody>
      </p:sp>
      <p:sp>
        <p:nvSpPr>
          <p:cNvPr id="155" name="Rectangle 154"/>
          <p:cNvSpPr/>
          <p:nvPr/>
        </p:nvSpPr>
        <p:spPr>
          <a:xfrm>
            <a:off x="6355080" y="491032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6409944" y="4946904"/>
            <a:ext cx="1371600" cy="274320"/>
          </a:xfrm>
          <a:prstGeom prst="rect">
            <a:avLst/>
          </a:prstGeom>
          <a:noFill/>
        </p:spPr>
        <p:txBody>
          <a:bodyPr wrap="square">
            <a:spAutoFit/>
          </a:bodyPr>
          <a:lstStyle/>
          <a:p>
            <a:pPr algn="ctr"/>
            <a:r>
              <a:rPr sz="1000" b="0">
                <a:solidFill>
                  <a:srgbClr val="EF4444"/>
                </a:solidFill>
              </a:rPr>
              <a:t>❌ No</a:t>
            </a:r>
          </a:p>
        </p:txBody>
      </p:sp>
      <p:sp>
        <p:nvSpPr>
          <p:cNvPr id="157" name="Rectangle 156"/>
          <p:cNvSpPr/>
          <p:nvPr/>
        </p:nvSpPr>
        <p:spPr>
          <a:xfrm>
            <a:off x="7818120" y="4910328"/>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7872984" y="4946904"/>
            <a:ext cx="1737360" cy="274320"/>
          </a:xfrm>
          <a:prstGeom prst="rect">
            <a:avLst/>
          </a:prstGeom>
          <a:noFill/>
        </p:spPr>
        <p:txBody>
          <a:bodyPr wrap="square">
            <a:spAutoFit/>
          </a:bodyPr>
          <a:lstStyle/>
          <a:p>
            <a:pPr algn="ctr"/>
            <a:r>
              <a:rPr sz="1000" b="0">
                <a:solidFill>
                  <a:srgbClr val="F59E0B"/>
                </a:solidFill>
              </a:rPr>
              <a:t>⚡ Basic</a:t>
            </a:r>
          </a:p>
        </p:txBody>
      </p:sp>
      <p:sp>
        <p:nvSpPr>
          <p:cNvPr id="159" name="Rectangle 158"/>
          <p:cNvSpPr/>
          <p:nvPr/>
        </p:nvSpPr>
        <p:spPr>
          <a:xfrm>
            <a:off x="9646920" y="491032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9701784" y="4946904"/>
            <a:ext cx="1371600" cy="274320"/>
          </a:xfrm>
          <a:prstGeom prst="rect">
            <a:avLst/>
          </a:prstGeom>
          <a:noFill/>
        </p:spPr>
        <p:txBody>
          <a:bodyPr wrap="square">
            <a:spAutoFit/>
          </a:bodyPr>
          <a:lstStyle/>
          <a:p>
            <a:pPr algn="ctr"/>
            <a:r>
              <a:rPr sz="1000" b="0">
                <a:solidFill>
                  <a:srgbClr val="EF4444"/>
                </a:solidFill>
              </a:rPr>
              <a:t>❌ No</a:t>
            </a:r>
          </a:p>
        </p:txBody>
      </p:sp>
      <p:sp>
        <p:nvSpPr>
          <p:cNvPr id="161" name="Rectangle 160"/>
          <p:cNvSpPr/>
          <p:nvPr/>
        </p:nvSpPr>
        <p:spPr>
          <a:xfrm>
            <a:off x="320040" y="5239512"/>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374904" y="5276088"/>
            <a:ext cx="2468880" cy="274320"/>
          </a:xfrm>
          <a:prstGeom prst="rect">
            <a:avLst/>
          </a:prstGeom>
          <a:noFill/>
        </p:spPr>
        <p:txBody>
          <a:bodyPr wrap="square">
            <a:spAutoFit/>
          </a:bodyPr>
          <a:lstStyle/>
          <a:p>
            <a:pPr algn="l"/>
            <a:r>
              <a:rPr sz="1000" b="0">
                <a:solidFill>
                  <a:srgbClr val="CBD5E1"/>
                </a:solidFill>
              </a:rPr>
              <a:t>Azure-native (no vendor lock)</a:t>
            </a:r>
          </a:p>
        </p:txBody>
      </p:sp>
      <p:sp>
        <p:nvSpPr>
          <p:cNvPr id="163" name="Rectangle 162"/>
          <p:cNvSpPr/>
          <p:nvPr/>
        </p:nvSpPr>
        <p:spPr>
          <a:xfrm>
            <a:off x="2880360" y="5239512"/>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2935224" y="5276088"/>
            <a:ext cx="1737360" cy="274320"/>
          </a:xfrm>
          <a:prstGeom prst="rect">
            <a:avLst/>
          </a:prstGeom>
          <a:noFill/>
        </p:spPr>
        <p:txBody>
          <a:bodyPr wrap="square">
            <a:spAutoFit/>
          </a:bodyPr>
          <a:lstStyle/>
          <a:p>
            <a:pPr algn="ctr"/>
            <a:r>
              <a:rPr sz="1000" b="0">
                <a:solidFill>
                  <a:srgbClr val="10B981"/>
                </a:solidFill>
              </a:rPr>
              <a:t>✅ Yes</a:t>
            </a:r>
          </a:p>
        </p:txBody>
      </p:sp>
      <p:sp>
        <p:nvSpPr>
          <p:cNvPr id="165" name="Rectangle 164"/>
          <p:cNvSpPr/>
          <p:nvPr/>
        </p:nvSpPr>
        <p:spPr>
          <a:xfrm>
            <a:off x="4709160" y="5239512"/>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4764024" y="5276088"/>
            <a:ext cx="1554480" cy="274320"/>
          </a:xfrm>
          <a:prstGeom prst="rect">
            <a:avLst/>
          </a:prstGeom>
          <a:noFill/>
        </p:spPr>
        <p:txBody>
          <a:bodyPr wrap="square">
            <a:spAutoFit/>
          </a:bodyPr>
          <a:lstStyle/>
          <a:p>
            <a:pPr algn="ctr"/>
            <a:r>
              <a:rPr sz="1000" b="0">
                <a:solidFill>
                  <a:srgbClr val="EF4444"/>
                </a:solidFill>
              </a:rPr>
              <a:t>❌ OpenAI</a:t>
            </a:r>
          </a:p>
        </p:txBody>
      </p:sp>
      <p:sp>
        <p:nvSpPr>
          <p:cNvPr id="167" name="Rectangle 166"/>
          <p:cNvSpPr/>
          <p:nvPr/>
        </p:nvSpPr>
        <p:spPr>
          <a:xfrm>
            <a:off x="6355080" y="523951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6409944" y="5276088"/>
            <a:ext cx="1371600" cy="274320"/>
          </a:xfrm>
          <a:prstGeom prst="rect">
            <a:avLst/>
          </a:prstGeom>
          <a:noFill/>
        </p:spPr>
        <p:txBody>
          <a:bodyPr wrap="square">
            <a:spAutoFit/>
          </a:bodyPr>
          <a:lstStyle/>
          <a:p>
            <a:pPr algn="ctr"/>
            <a:r>
              <a:rPr sz="1000" b="0">
                <a:solidFill>
                  <a:srgbClr val="EF4444"/>
                </a:solidFill>
              </a:rPr>
              <a:t>❌ Mix</a:t>
            </a:r>
          </a:p>
        </p:txBody>
      </p:sp>
      <p:sp>
        <p:nvSpPr>
          <p:cNvPr id="169" name="Rectangle 168"/>
          <p:cNvSpPr/>
          <p:nvPr/>
        </p:nvSpPr>
        <p:spPr>
          <a:xfrm>
            <a:off x="7818120" y="5239512"/>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7872984" y="5276088"/>
            <a:ext cx="1737360" cy="274320"/>
          </a:xfrm>
          <a:prstGeom prst="rect">
            <a:avLst/>
          </a:prstGeom>
          <a:noFill/>
        </p:spPr>
        <p:txBody>
          <a:bodyPr wrap="square">
            <a:spAutoFit/>
          </a:bodyPr>
          <a:lstStyle/>
          <a:p>
            <a:pPr algn="ctr"/>
            <a:r>
              <a:rPr sz="1000" b="0">
                <a:solidFill>
                  <a:srgbClr val="10B981"/>
                </a:solidFill>
              </a:rPr>
              <a:t>✅ Azure</a:t>
            </a:r>
          </a:p>
        </p:txBody>
      </p:sp>
      <p:sp>
        <p:nvSpPr>
          <p:cNvPr id="171" name="Rectangle 170"/>
          <p:cNvSpPr/>
          <p:nvPr/>
        </p:nvSpPr>
        <p:spPr>
          <a:xfrm>
            <a:off x="9646920" y="523951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9701784" y="5276088"/>
            <a:ext cx="1371600" cy="274320"/>
          </a:xfrm>
          <a:prstGeom prst="rect">
            <a:avLst/>
          </a:prstGeom>
          <a:noFill/>
        </p:spPr>
        <p:txBody>
          <a:bodyPr wrap="square">
            <a:spAutoFit/>
          </a:bodyPr>
          <a:lstStyle/>
          <a:p>
            <a:pPr algn="ctr"/>
            <a:r>
              <a:rPr sz="1000" b="0">
                <a:solidFill>
                  <a:srgbClr val="EF4444"/>
                </a:solidFill>
              </a:rPr>
              <a:t>❌ Mix</a:t>
            </a:r>
          </a:p>
        </p:txBody>
      </p:sp>
      <p:sp>
        <p:nvSpPr>
          <p:cNvPr id="173" name="Rectangle 172"/>
          <p:cNvSpPr/>
          <p:nvPr/>
        </p:nvSpPr>
        <p:spPr>
          <a:xfrm>
            <a:off x="320040" y="5568696"/>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374904" y="5605272"/>
            <a:ext cx="2468880" cy="274320"/>
          </a:xfrm>
          <a:prstGeom prst="rect">
            <a:avLst/>
          </a:prstGeom>
          <a:noFill/>
        </p:spPr>
        <p:txBody>
          <a:bodyPr wrap="square">
            <a:spAutoFit/>
          </a:bodyPr>
          <a:lstStyle/>
          <a:p>
            <a:pPr algn="l"/>
            <a:r>
              <a:rPr sz="1000" b="0">
                <a:solidFill>
                  <a:srgbClr val="CBD5E1"/>
                </a:solidFill>
              </a:rPr>
              <a:t>On-prem / Private Deployment</a:t>
            </a:r>
          </a:p>
        </p:txBody>
      </p:sp>
      <p:sp>
        <p:nvSpPr>
          <p:cNvPr id="175" name="Rectangle 174"/>
          <p:cNvSpPr/>
          <p:nvPr/>
        </p:nvSpPr>
        <p:spPr>
          <a:xfrm>
            <a:off x="2880360" y="5568696"/>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2935224" y="5605272"/>
            <a:ext cx="1737360" cy="274320"/>
          </a:xfrm>
          <a:prstGeom prst="rect">
            <a:avLst/>
          </a:prstGeom>
          <a:noFill/>
        </p:spPr>
        <p:txBody>
          <a:bodyPr wrap="square">
            <a:spAutoFit/>
          </a:bodyPr>
          <a:lstStyle/>
          <a:p>
            <a:pPr algn="ctr"/>
            <a:r>
              <a:rPr sz="1000" b="0">
                <a:solidFill>
                  <a:srgbClr val="10B981"/>
                </a:solidFill>
              </a:rPr>
              <a:t>✅ Yes</a:t>
            </a:r>
          </a:p>
        </p:txBody>
      </p:sp>
      <p:sp>
        <p:nvSpPr>
          <p:cNvPr id="177" name="Rectangle 176"/>
          <p:cNvSpPr/>
          <p:nvPr/>
        </p:nvSpPr>
        <p:spPr>
          <a:xfrm>
            <a:off x="4709160" y="5568696"/>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4764024" y="5605272"/>
            <a:ext cx="1554480" cy="274320"/>
          </a:xfrm>
          <a:prstGeom prst="rect">
            <a:avLst/>
          </a:prstGeom>
          <a:noFill/>
        </p:spPr>
        <p:txBody>
          <a:bodyPr wrap="square">
            <a:spAutoFit/>
          </a:bodyPr>
          <a:lstStyle/>
          <a:p>
            <a:pPr algn="ctr"/>
            <a:r>
              <a:rPr sz="1000" b="0">
                <a:solidFill>
                  <a:srgbClr val="EF4444"/>
                </a:solidFill>
              </a:rPr>
              <a:t>❌ SaaS</a:t>
            </a:r>
          </a:p>
        </p:txBody>
      </p:sp>
      <p:sp>
        <p:nvSpPr>
          <p:cNvPr id="179" name="Rectangle 178"/>
          <p:cNvSpPr/>
          <p:nvPr/>
        </p:nvSpPr>
        <p:spPr>
          <a:xfrm>
            <a:off x="6355080" y="556869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6409944" y="5605272"/>
            <a:ext cx="1371600" cy="274320"/>
          </a:xfrm>
          <a:prstGeom prst="rect">
            <a:avLst/>
          </a:prstGeom>
          <a:noFill/>
        </p:spPr>
        <p:txBody>
          <a:bodyPr wrap="square">
            <a:spAutoFit/>
          </a:bodyPr>
          <a:lstStyle/>
          <a:p>
            <a:pPr algn="ctr"/>
            <a:r>
              <a:rPr sz="1000" b="0">
                <a:solidFill>
                  <a:srgbClr val="10B981"/>
                </a:solidFill>
              </a:rPr>
              <a:t>✅ Yes</a:t>
            </a:r>
          </a:p>
        </p:txBody>
      </p:sp>
      <p:sp>
        <p:nvSpPr>
          <p:cNvPr id="181" name="Rectangle 180"/>
          <p:cNvSpPr/>
          <p:nvPr/>
        </p:nvSpPr>
        <p:spPr>
          <a:xfrm>
            <a:off x="7818120" y="5568696"/>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7872984" y="5605272"/>
            <a:ext cx="1737360" cy="274320"/>
          </a:xfrm>
          <a:prstGeom prst="rect">
            <a:avLst/>
          </a:prstGeom>
          <a:noFill/>
        </p:spPr>
        <p:txBody>
          <a:bodyPr wrap="square">
            <a:spAutoFit/>
          </a:bodyPr>
          <a:lstStyle/>
          <a:p>
            <a:pPr algn="ctr"/>
            <a:r>
              <a:rPr sz="1000" b="0">
                <a:solidFill>
                  <a:srgbClr val="10B981"/>
                </a:solidFill>
              </a:rPr>
              <a:t>✅ Yes</a:t>
            </a:r>
          </a:p>
        </p:txBody>
      </p:sp>
      <p:sp>
        <p:nvSpPr>
          <p:cNvPr id="183" name="Rectangle 182"/>
          <p:cNvSpPr/>
          <p:nvPr/>
        </p:nvSpPr>
        <p:spPr>
          <a:xfrm>
            <a:off x="9646920" y="556869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9701784" y="5605272"/>
            <a:ext cx="1371600" cy="274320"/>
          </a:xfrm>
          <a:prstGeom prst="rect">
            <a:avLst/>
          </a:prstGeom>
          <a:noFill/>
        </p:spPr>
        <p:txBody>
          <a:bodyPr wrap="square">
            <a:spAutoFit/>
          </a:bodyPr>
          <a:lstStyle/>
          <a:p>
            <a:pPr algn="ctr"/>
            <a:r>
              <a:rPr sz="1000" b="0">
                <a:solidFill>
                  <a:srgbClr val="10B981"/>
                </a:solidFill>
              </a:rPr>
              <a:t>✅ Yes</a:t>
            </a:r>
          </a:p>
        </p:txBody>
      </p:sp>
      <p:sp>
        <p:nvSpPr>
          <p:cNvPr id="185" name="TextBox 18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7</a:t>
            </a:r>
          </a:p>
        </p:txBody>
      </p:sp>
      <p:sp>
        <p:nvSpPr>
          <p:cNvPr id="187" name="TextBox 186"/>
          <p:cNvSpPr txBox="1"/>
          <p:nvPr/>
        </p:nvSpPr>
        <p:spPr>
          <a:xfrm>
            <a:off x="320040" y="5980000"/>
            <a:ext cx="10972800" cy="457200"/>
          </a:xfrm>
          <a:prstGeom prst="rect">
            <a:avLst/>
          </a:prstGeom>
          <a:noFill/>
        </p:spPr>
        <p:txBody>
          <a:bodyPr wrap="square">
            <a:spAutoFit/>
          </a:bodyPr>
          <a:lstStyle/>
          <a:p>
            <a:r>
              <a:rPr sz="1100" b="1">
                <a:solidFill>
                  <a:srgbClr val="F59E0B"/>
                </a:solidFill>
              </a:rPr>
              <a:t>Known internal gaps (not shown above, tracked separately): </a:t>
            </a:r>
            <a:r>
              <a:rPr sz="1100" b="0">
                <a:solidFill>
                  <a:srgbClr val="CBD5E1"/>
                </a:solidFill>
              </a:rPr>
              <a:t>compliance-certification docs (SOC2/HIPAA), managed vector store option (FAISS-only today), Marketplace template-breadth audit vs Lyzr -- see the Lyzr-Parity Scorecard slide for status.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800" b="1">
                <a:solidFill>
                  <a:srgbClr val="FFFFFF"/>
                </a:solidFill>
              </a:rPr>
              <a:t>Leadership Narrative</a:t>
            </a:r>
          </a:p>
        </p:txBody>
      </p:sp>
      <p:sp>
        <p:nvSpPr>
          <p:cNvPr id="5" name="Rectangle 4"/>
          <p:cNvSpPr/>
          <p:nvPr/>
        </p:nvSpPr>
        <p:spPr>
          <a:xfrm>
            <a:off x="365760" y="1005840"/>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051560"/>
            <a:ext cx="10972800" cy="411480"/>
          </a:xfrm>
          <a:prstGeom prst="rect">
            <a:avLst/>
          </a:prstGeom>
          <a:noFill/>
        </p:spPr>
        <p:txBody>
          <a:bodyPr wrap="square">
            <a:spAutoFit/>
          </a:bodyPr>
          <a:lstStyle/>
          <a:p>
            <a:pPr algn="l"/>
            <a:r>
              <a:rPr sz="1500" b="1">
                <a:solidFill>
                  <a:srgbClr val="606EF5"/>
                </a:solidFill>
              </a:rPr>
              <a:t>🎯 Strategic Alignment</a:t>
            </a:r>
          </a:p>
        </p:txBody>
      </p:sp>
      <p:sp>
        <p:nvSpPr>
          <p:cNvPr id="7" name="TextBox 6"/>
          <p:cNvSpPr txBox="1"/>
          <p:nvPr/>
        </p:nvSpPr>
        <p:spPr>
          <a:xfrm>
            <a:off x="594360" y="1444752"/>
            <a:ext cx="10972800" cy="477054"/>
          </a:xfrm>
          <a:prstGeom prst="rect">
            <a:avLst/>
          </a:prstGeom>
          <a:noFill/>
        </p:spPr>
        <p:txBody>
          <a:bodyPr wrap="square">
            <a:spAutoFit/>
          </a:bodyPr>
          <a:lstStyle/>
          <a:p>
            <a:pPr algn="l"/>
            <a:r>
              <a:rPr sz="1250" b="0" dirty="0" err="1">
                <a:solidFill>
                  <a:srgbClr val="CBD5E1"/>
                </a:solidFill>
              </a:rPr>
              <a:t>AgentForge</a:t>
            </a:r>
            <a:r>
              <a:rPr sz="1250" b="0" dirty="0">
                <a:solidFill>
                  <a:srgbClr val="CBD5E1"/>
                </a:solidFill>
              </a:rPr>
              <a:t> directly advances 's AI-first mandate by creating a reusable internal platform that accelerates client delivery of AI agents. Every engagement that uses </a:t>
            </a:r>
            <a:r>
              <a:rPr sz="1250" b="0" dirty="0" err="1">
                <a:solidFill>
                  <a:srgbClr val="CBD5E1"/>
                </a:solidFill>
              </a:rPr>
              <a:t>AgentForge</a:t>
            </a:r>
            <a:r>
              <a:rPr sz="1250" b="0" dirty="0">
                <a:solidFill>
                  <a:srgbClr val="CBD5E1"/>
                </a:solidFill>
              </a:rPr>
              <a:t> compresses delivery timelines by 60–85%, improving margin and client NPS simultaneously.</a:t>
            </a:r>
          </a:p>
        </p:txBody>
      </p:sp>
      <p:sp>
        <p:nvSpPr>
          <p:cNvPr id="8" name="Rectangle 7"/>
          <p:cNvSpPr/>
          <p:nvPr/>
        </p:nvSpPr>
        <p:spPr>
          <a:xfrm>
            <a:off x="365760" y="2331720"/>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377440"/>
            <a:ext cx="10972800" cy="411480"/>
          </a:xfrm>
          <a:prstGeom prst="rect">
            <a:avLst/>
          </a:prstGeom>
          <a:noFill/>
        </p:spPr>
        <p:txBody>
          <a:bodyPr wrap="square">
            <a:spAutoFit/>
          </a:bodyPr>
          <a:lstStyle/>
          <a:p>
            <a:pPr algn="l"/>
            <a:r>
              <a:rPr sz="1500" b="1">
                <a:solidFill>
                  <a:srgbClr val="606EF5"/>
                </a:solidFill>
              </a:rPr>
              <a:t>🏆 Competitive Differentiation</a:t>
            </a:r>
          </a:p>
        </p:txBody>
      </p:sp>
      <p:sp>
        <p:nvSpPr>
          <p:cNvPr id="10" name="TextBox 9"/>
          <p:cNvSpPr txBox="1"/>
          <p:nvPr/>
        </p:nvSpPr>
        <p:spPr>
          <a:xfrm>
            <a:off x="594360" y="2770632"/>
            <a:ext cx="10972800" cy="477054"/>
          </a:xfrm>
          <a:prstGeom prst="rect">
            <a:avLst/>
          </a:prstGeom>
          <a:noFill/>
        </p:spPr>
        <p:txBody>
          <a:bodyPr wrap="square">
            <a:spAutoFit/>
          </a:bodyPr>
          <a:lstStyle/>
          <a:p>
            <a:pPr algn="l"/>
            <a:r>
              <a:rPr sz="1250" b="0" dirty="0">
                <a:solidFill>
                  <a:srgbClr val="CBD5E1"/>
                </a:solidFill>
              </a:rPr>
              <a:t>No competitor today combines Prompt-to-Agent generation, built-in enterprise guardrails (</a:t>
            </a:r>
            <a:r>
              <a:rPr sz="1250" b="0" dirty="0" err="1">
                <a:solidFill>
                  <a:srgbClr val="CBD5E1"/>
                </a:solidFill>
              </a:rPr>
              <a:t>PII+hallucination</a:t>
            </a:r>
            <a:r>
              <a:rPr sz="1250" b="0" dirty="0">
                <a:solidFill>
                  <a:srgbClr val="CBD5E1"/>
                </a:solidFill>
              </a:rPr>
              <a:t>), voice agents, and a full observability stack in a single deployable platform. </a:t>
            </a:r>
            <a:r>
              <a:rPr sz="1250" b="0" dirty="0" err="1">
                <a:solidFill>
                  <a:srgbClr val="CBD5E1"/>
                </a:solidFill>
              </a:rPr>
              <a:t>AgentForge</a:t>
            </a:r>
            <a:r>
              <a:rPr sz="1250" b="0" dirty="0">
                <a:solidFill>
                  <a:srgbClr val="CBD5E1"/>
                </a:solidFill>
              </a:rPr>
              <a:t> positions  as the go-to partner for enterprise-grade AI agent deployments.</a:t>
            </a:r>
          </a:p>
        </p:txBody>
      </p:sp>
      <p:sp>
        <p:nvSpPr>
          <p:cNvPr id="11" name="Rectangle 10"/>
          <p:cNvSpPr/>
          <p:nvPr/>
        </p:nvSpPr>
        <p:spPr>
          <a:xfrm>
            <a:off x="365760" y="3657600"/>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3703320"/>
            <a:ext cx="10972800" cy="411480"/>
          </a:xfrm>
          <a:prstGeom prst="rect">
            <a:avLst/>
          </a:prstGeom>
          <a:noFill/>
        </p:spPr>
        <p:txBody>
          <a:bodyPr wrap="square">
            <a:spAutoFit/>
          </a:bodyPr>
          <a:lstStyle/>
          <a:p>
            <a:pPr algn="l"/>
            <a:r>
              <a:rPr sz="1500" b="1">
                <a:solidFill>
                  <a:srgbClr val="606EF5"/>
                </a:solidFill>
              </a:rPr>
              <a:t>💼 Client Value Proposition</a:t>
            </a:r>
          </a:p>
        </p:txBody>
      </p:sp>
      <p:sp>
        <p:nvSpPr>
          <p:cNvPr id="13" name="TextBox 12"/>
          <p:cNvSpPr txBox="1"/>
          <p:nvPr/>
        </p:nvSpPr>
        <p:spPr>
          <a:xfrm>
            <a:off x="594360" y="4096512"/>
            <a:ext cx="10972800" cy="658368"/>
          </a:xfrm>
          <a:prstGeom prst="rect">
            <a:avLst/>
          </a:prstGeom>
          <a:noFill/>
        </p:spPr>
        <p:txBody>
          <a:bodyPr wrap="square">
            <a:spAutoFit/>
          </a:bodyPr>
          <a:lstStyle/>
          <a:p>
            <a:pPr algn="l"/>
            <a:r>
              <a:rPr sz="1250" b="0">
                <a:solidFill>
                  <a:srgbClr val="CBD5E1"/>
                </a:solidFill>
              </a:rPr>
              <a:t>Clients receive a production-ready, governable AI agent platform aligned with their Azure investment. They get faster innovation cycles, lower risk (compliance-ready guardrails), and full transparency (audit logs, OTEL) — without needing to build internal AI infrastructure from scratch.</a:t>
            </a:r>
          </a:p>
        </p:txBody>
      </p:sp>
      <p:sp>
        <p:nvSpPr>
          <p:cNvPr id="14" name="Rectangle 13"/>
          <p:cNvSpPr/>
          <p:nvPr/>
        </p:nvSpPr>
        <p:spPr>
          <a:xfrm>
            <a:off x="365760" y="4983479"/>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5029199"/>
            <a:ext cx="10972800" cy="411480"/>
          </a:xfrm>
          <a:prstGeom prst="rect">
            <a:avLst/>
          </a:prstGeom>
          <a:noFill/>
        </p:spPr>
        <p:txBody>
          <a:bodyPr wrap="square">
            <a:spAutoFit/>
          </a:bodyPr>
          <a:lstStyle/>
          <a:p>
            <a:pPr algn="l"/>
            <a:r>
              <a:rPr sz="1500" b="1">
                <a:solidFill>
                  <a:srgbClr val="606EF5"/>
                </a:solidFill>
              </a:rPr>
              <a:t>🌱 Platform Network Effect</a:t>
            </a:r>
          </a:p>
        </p:txBody>
      </p:sp>
      <p:sp>
        <p:nvSpPr>
          <p:cNvPr id="16" name="TextBox 15"/>
          <p:cNvSpPr txBox="1"/>
          <p:nvPr/>
        </p:nvSpPr>
        <p:spPr>
          <a:xfrm>
            <a:off x="594360" y="5422391"/>
            <a:ext cx="10972800" cy="477054"/>
          </a:xfrm>
          <a:prstGeom prst="rect">
            <a:avLst/>
          </a:prstGeom>
          <a:noFill/>
        </p:spPr>
        <p:txBody>
          <a:bodyPr wrap="square">
            <a:spAutoFit/>
          </a:bodyPr>
          <a:lstStyle/>
          <a:p>
            <a:pPr algn="l"/>
            <a:r>
              <a:rPr sz="1250" b="0" dirty="0">
                <a:solidFill>
                  <a:srgbClr val="CBD5E1"/>
                </a:solidFill>
              </a:rPr>
              <a:t>The Blueprints Marketplace creates a virtuous cycle: every agent built on </a:t>
            </a:r>
            <a:r>
              <a:rPr sz="1250" b="0" dirty="0" err="1">
                <a:solidFill>
                  <a:srgbClr val="CBD5E1"/>
                </a:solidFill>
              </a:rPr>
              <a:t>AgentForge</a:t>
            </a:r>
            <a:r>
              <a:rPr sz="1250" b="0" dirty="0">
                <a:solidFill>
                  <a:srgbClr val="CBD5E1"/>
                </a:solidFill>
              </a:rPr>
              <a:t> adds to the shared library, reducing future build cost. Over 24 months this compounds into a proprietary IP moat for 's AI practice.</a:t>
            </a:r>
          </a:p>
        </p:txBody>
      </p:sp>
      <p:sp>
        <p:nvSpPr>
          <p:cNvPr id="17" name="TextBox 16"/>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KPIs &amp; Success Metrics</a:t>
            </a:r>
          </a:p>
        </p:txBody>
      </p:sp>
      <p:sp>
        <p:nvSpPr>
          <p:cNvPr id="5" name="Rectangle 4"/>
          <p:cNvSpPr/>
          <p:nvPr/>
        </p:nvSpPr>
        <p:spPr>
          <a:xfrm>
            <a:off x="365760" y="96012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5669280" cy="38404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14984"/>
            <a:ext cx="5486400" cy="292608"/>
          </a:xfrm>
          <a:prstGeom prst="rect">
            <a:avLst/>
          </a:prstGeom>
          <a:noFill/>
        </p:spPr>
        <p:txBody>
          <a:bodyPr wrap="square">
            <a:spAutoFit/>
          </a:bodyPr>
          <a:lstStyle/>
          <a:p>
            <a:pPr algn="l"/>
            <a:r>
              <a:rPr sz="1400" b="1">
                <a:solidFill>
                  <a:srgbClr val="FFFFFF"/>
                </a:solidFill>
              </a:rPr>
              <a:t>📐 Platform Adoption</a:t>
            </a:r>
          </a:p>
        </p:txBody>
      </p:sp>
      <p:sp>
        <p:nvSpPr>
          <p:cNvPr id="8" name="TextBox 7"/>
          <p:cNvSpPr txBox="1"/>
          <p:nvPr/>
        </p:nvSpPr>
        <p:spPr>
          <a:xfrm>
            <a:off x="502920" y="1435608"/>
            <a:ext cx="2286000" cy="320040"/>
          </a:xfrm>
          <a:prstGeom prst="rect">
            <a:avLst/>
          </a:prstGeom>
          <a:noFill/>
        </p:spPr>
        <p:txBody>
          <a:bodyPr wrap="square">
            <a:spAutoFit/>
          </a:bodyPr>
          <a:lstStyle/>
          <a:p>
            <a:pPr algn="l"/>
            <a:r>
              <a:rPr sz="1100" b="1">
                <a:solidFill>
                  <a:srgbClr val="CBD5E1"/>
                </a:solidFill>
              </a:rPr>
              <a:t>• Active Users / Month</a:t>
            </a:r>
          </a:p>
        </p:txBody>
      </p:sp>
      <p:sp>
        <p:nvSpPr>
          <p:cNvPr id="9" name="TextBox 8"/>
          <p:cNvSpPr txBox="1"/>
          <p:nvPr/>
        </p:nvSpPr>
        <p:spPr>
          <a:xfrm>
            <a:off x="2834640" y="1435608"/>
            <a:ext cx="1645920" cy="320040"/>
          </a:xfrm>
          <a:prstGeom prst="rect">
            <a:avLst/>
          </a:prstGeom>
          <a:noFill/>
        </p:spPr>
        <p:txBody>
          <a:bodyPr wrap="square">
            <a:spAutoFit/>
          </a:bodyPr>
          <a:lstStyle/>
          <a:p>
            <a:pPr algn="l"/>
            <a:r>
              <a:rPr sz="1100" b="0">
                <a:solidFill>
                  <a:srgbClr val="606EF5"/>
                </a:solidFill>
              </a:rPr>
              <a:t>Target: 50+ developers</a:t>
            </a:r>
          </a:p>
        </p:txBody>
      </p:sp>
      <p:sp>
        <p:nvSpPr>
          <p:cNvPr id="10" name="TextBox 9"/>
          <p:cNvSpPr txBox="1"/>
          <p:nvPr/>
        </p:nvSpPr>
        <p:spPr>
          <a:xfrm>
            <a:off x="4480560" y="1435608"/>
            <a:ext cx="1554480" cy="320040"/>
          </a:xfrm>
          <a:prstGeom prst="rect">
            <a:avLst/>
          </a:prstGeom>
          <a:noFill/>
        </p:spPr>
        <p:txBody>
          <a:bodyPr wrap="square">
            <a:spAutoFit/>
          </a:bodyPr>
          <a:lstStyle/>
          <a:p>
            <a:pPr algn="l"/>
            <a:r>
              <a:rPr sz="1000" b="0">
                <a:solidFill>
                  <a:srgbClr val="94A3B8"/>
                </a:solidFill>
              </a:rPr>
              <a:t>Track: Auth login events</a:t>
            </a:r>
          </a:p>
        </p:txBody>
      </p:sp>
      <p:sp>
        <p:nvSpPr>
          <p:cNvPr id="11" name="TextBox 10"/>
          <p:cNvSpPr txBox="1"/>
          <p:nvPr/>
        </p:nvSpPr>
        <p:spPr>
          <a:xfrm>
            <a:off x="502920" y="2075688"/>
            <a:ext cx="2286000" cy="320040"/>
          </a:xfrm>
          <a:prstGeom prst="rect">
            <a:avLst/>
          </a:prstGeom>
          <a:noFill/>
        </p:spPr>
        <p:txBody>
          <a:bodyPr wrap="square">
            <a:spAutoFit/>
          </a:bodyPr>
          <a:lstStyle/>
          <a:p>
            <a:pPr algn="l"/>
            <a:r>
              <a:rPr sz="1100" b="1">
                <a:solidFill>
                  <a:srgbClr val="CBD5E1"/>
                </a:solidFill>
              </a:rPr>
              <a:t>• Agents Created</a:t>
            </a:r>
          </a:p>
        </p:txBody>
      </p:sp>
      <p:sp>
        <p:nvSpPr>
          <p:cNvPr id="12" name="TextBox 11"/>
          <p:cNvSpPr txBox="1"/>
          <p:nvPr/>
        </p:nvSpPr>
        <p:spPr>
          <a:xfrm>
            <a:off x="2834640" y="2075688"/>
            <a:ext cx="1645920" cy="320040"/>
          </a:xfrm>
          <a:prstGeom prst="rect">
            <a:avLst/>
          </a:prstGeom>
          <a:noFill/>
        </p:spPr>
        <p:txBody>
          <a:bodyPr wrap="square">
            <a:spAutoFit/>
          </a:bodyPr>
          <a:lstStyle/>
          <a:p>
            <a:pPr algn="l"/>
            <a:r>
              <a:rPr sz="1100" b="0">
                <a:solidFill>
                  <a:srgbClr val="606EF5"/>
                </a:solidFill>
              </a:rPr>
              <a:t>Target: 200+ agents</a:t>
            </a:r>
          </a:p>
        </p:txBody>
      </p:sp>
      <p:sp>
        <p:nvSpPr>
          <p:cNvPr id="13" name="TextBox 12"/>
          <p:cNvSpPr txBox="1"/>
          <p:nvPr/>
        </p:nvSpPr>
        <p:spPr>
          <a:xfrm>
            <a:off x="4480560" y="2075688"/>
            <a:ext cx="1554480" cy="320040"/>
          </a:xfrm>
          <a:prstGeom prst="rect">
            <a:avLst/>
          </a:prstGeom>
          <a:noFill/>
        </p:spPr>
        <p:txBody>
          <a:bodyPr wrap="square">
            <a:spAutoFit/>
          </a:bodyPr>
          <a:lstStyle/>
          <a:p>
            <a:pPr algn="l"/>
            <a:r>
              <a:rPr sz="1000" b="0">
                <a:solidFill>
                  <a:srgbClr val="94A3B8"/>
                </a:solidFill>
              </a:rPr>
              <a:t>Track: agents table count</a:t>
            </a:r>
          </a:p>
        </p:txBody>
      </p:sp>
      <p:sp>
        <p:nvSpPr>
          <p:cNvPr id="14" name="TextBox 13"/>
          <p:cNvSpPr txBox="1"/>
          <p:nvPr/>
        </p:nvSpPr>
        <p:spPr>
          <a:xfrm>
            <a:off x="502920" y="2715768"/>
            <a:ext cx="2286000" cy="320040"/>
          </a:xfrm>
          <a:prstGeom prst="rect">
            <a:avLst/>
          </a:prstGeom>
          <a:noFill/>
        </p:spPr>
        <p:txBody>
          <a:bodyPr wrap="square">
            <a:spAutoFit/>
          </a:bodyPr>
          <a:lstStyle/>
          <a:p>
            <a:pPr algn="l"/>
            <a:r>
              <a:rPr sz="1100" b="1">
                <a:solidFill>
                  <a:srgbClr val="CBD5E1"/>
                </a:solidFill>
              </a:rPr>
              <a:t>• Projects / Blueprints Saved</a:t>
            </a:r>
          </a:p>
        </p:txBody>
      </p:sp>
      <p:sp>
        <p:nvSpPr>
          <p:cNvPr id="15" name="TextBox 14"/>
          <p:cNvSpPr txBox="1"/>
          <p:nvPr/>
        </p:nvSpPr>
        <p:spPr>
          <a:xfrm>
            <a:off x="2834640" y="2715768"/>
            <a:ext cx="1645920" cy="320040"/>
          </a:xfrm>
          <a:prstGeom prst="rect">
            <a:avLst/>
          </a:prstGeom>
          <a:noFill/>
        </p:spPr>
        <p:txBody>
          <a:bodyPr wrap="square">
            <a:spAutoFit/>
          </a:bodyPr>
          <a:lstStyle/>
          <a:p>
            <a:pPr algn="l"/>
            <a:r>
              <a:rPr sz="1100" b="0">
                <a:solidFill>
                  <a:srgbClr val="606EF5"/>
                </a:solidFill>
              </a:rPr>
              <a:t>Target: 100+ projects</a:t>
            </a:r>
          </a:p>
        </p:txBody>
      </p:sp>
      <p:sp>
        <p:nvSpPr>
          <p:cNvPr id="16" name="TextBox 15"/>
          <p:cNvSpPr txBox="1"/>
          <p:nvPr/>
        </p:nvSpPr>
        <p:spPr>
          <a:xfrm>
            <a:off x="4480560" y="2715768"/>
            <a:ext cx="1554480" cy="320040"/>
          </a:xfrm>
          <a:prstGeom prst="rect">
            <a:avLst/>
          </a:prstGeom>
          <a:noFill/>
        </p:spPr>
        <p:txBody>
          <a:bodyPr wrap="square">
            <a:spAutoFit/>
          </a:bodyPr>
          <a:lstStyle/>
          <a:p>
            <a:pPr algn="l"/>
            <a:r>
              <a:rPr sz="1000" b="0">
                <a:solidFill>
                  <a:srgbClr val="94A3B8"/>
                </a:solidFill>
              </a:rPr>
              <a:t>Track: workflows count</a:t>
            </a:r>
          </a:p>
        </p:txBody>
      </p:sp>
      <p:sp>
        <p:nvSpPr>
          <p:cNvPr id="17" name="Rectangle 16"/>
          <p:cNvSpPr/>
          <p:nvPr/>
        </p:nvSpPr>
        <p:spPr>
          <a:xfrm>
            <a:off x="6309360" y="96012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960120"/>
            <a:ext cx="5669280"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1014984"/>
            <a:ext cx="5486400" cy="292608"/>
          </a:xfrm>
          <a:prstGeom prst="rect">
            <a:avLst/>
          </a:prstGeom>
          <a:noFill/>
        </p:spPr>
        <p:txBody>
          <a:bodyPr wrap="square">
            <a:spAutoFit/>
          </a:bodyPr>
          <a:lstStyle/>
          <a:p>
            <a:pPr algn="l"/>
            <a:r>
              <a:rPr sz="1400" b="1">
                <a:solidFill>
                  <a:srgbClr val="FFFFFF"/>
                </a:solidFill>
              </a:rPr>
              <a:t>⚡ Developer Velocity</a:t>
            </a:r>
          </a:p>
        </p:txBody>
      </p:sp>
      <p:sp>
        <p:nvSpPr>
          <p:cNvPr id="20" name="TextBox 19"/>
          <p:cNvSpPr txBox="1"/>
          <p:nvPr/>
        </p:nvSpPr>
        <p:spPr>
          <a:xfrm>
            <a:off x="6446520" y="1435608"/>
            <a:ext cx="2286000" cy="320040"/>
          </a:xfrm>
          <a:prstGeom prst="rect">
            <a:avLst/>
          </a:prstGeom>
          <a:noFill/>
        </p:spPr>
        <p:txBody>
          <a:bodyPr wrap="square">
            <a:spAutoFit/>
          </a:bodyPr>
          <a:lstStyle/>
          <a:p>
            <a:pPr algn="l"/>
            <a:r>
              <a:rPr sz="1100" b="1">
                <a:solidFill>
                  <a:srgbClr val="CBD5E1"/>
                </a:solidFill>
              </a:rPr>
              <a:t>• Time-to-First-Agent</a:t>
            </a:r>
          </a:p>
        </p:txBody>
      </p:sp>
      <p:sp>
        <p:nvSpPr>
          <p:cNvPr id="21" name="TextBox 20"/>
          <p:cNvSpPr txBox="1"/>
          <p:nvPr/>
        </p:nvSpPr>
        <p:spPr>
          <a:xfrm>
            <a:off x="8778240" y="1435608"/>
            <a:ext cx="1645920" cy="320040"/>
          </a:xfrm>
          <a:prstGeom prst="rect">
            <a:avLst/>
          </a:prstGeom>
          <a:noFill/>
        </p:spPr>
        <p:txBody>
          <a:bodyPr wrap="square">
            <a:spAutoFit/>
          </a:bodyPr>
          <a:lstStyle/>
          <a:p>
            <a:pPr algn="l"/>
            <a:r>
              <a:rPr sz="1100" b="0">
                <a:solidFill>
                  <a:srgbClr val="10B981"/>
                </a:solidFill>
              </a:rPr>
              <a:t>Target: &lt;5 minutes</a:t>
            </a:r>
          </a:p>
        </p:txBody>
      </p:sp>
      <p:sp>
        <p:nvSpPr>
          <p:cNvPr id="22" name="TextBox 21"/>
          <p:cNvSpPr txBox="1"/>
          <p:nvPr/>
        </p:nvSpPr>
        <p:spPr>
          <a:xfrm>
            <a:off x="10424160" y="1435608"/>
            <a:ext cx="1554480" cy="320040"/>
          </a:xfrm>
          <a:prstGeom prst="rect">
            <a:avLst/>
          </a:prstGeom>
          <a:noFill/>
        </p:spPr>
        <p:txBody>
          <a:bodyPr wrap="square">
            <a:spAutoFit/>
          </a:bodyPr>
          <a:lstStyle/>
          <a:p>
            <a:pPr algn="l"/>
            <a:r>
              <a:rPr sz="1000" b="0">
                <a:solidFill>
                  <a:srgbClr val="94A3B8"/>
                </a:solidFill>
              </a:rPr>
              <a:t>Track: Architect session duration</a:t>
            </a:r>
          </a:p>
        </p:txBody>
      </p:sp>
      <p:sp>
        <p:nvSpPr>
          <p:cNvPr id="23" name="TextBox 22"/>
          <p:cNvSpPr txBox="1"/>
          <p:nvPr/>
        </p:nvSpPr>
        <p:spPr>
          <a:xfrm>
            <a:off x="6446520" y="2075688"/>
            <a:ext cx="2286000" cy="320040"/>
          </a:xfrm>
          <a:prstGeom prst="rect">
            <a:avLst/>
          </a:prstGeom>
          <a:noFill/>
        </p:spPr>
        <p:txBody>
          <a:bodyPr wrap="square">
            <a:spAutoFit/>
          </a:bodyPr>
          <a:lstStyle/>
          <a:p>
            <a:pPr algn="l"/>
            <a:r>
              <a:rPr sz="1100" b="1">
                <a:solidFill>
                  <a:srgbClr val="CBD5E1"/>
                </a:solidFill>
              </a:rPr>
              <a:t>• ZIP Downloads / Week</a:t>
            </a:r>
          </a:p>
        </p:txBody>
      </p:sp>
      <p:sp>
        <p:nvSpPr>
          <p:cNvPr id="24" name="TextBox 23"/>
          <p:cNvSpPr txBox="1"/>
          <p:nvPr/>
        </p:nvSpPr>
        <p:spPr>
          <a:xfrm>
            <a:off x="8778240" y="2075688"/>
            <a:ext cx="1645920" cy="320040"/>
          </a:xfrm>
          <a:prstGeom prst="rect">
            <a:avLst/>
          </a:prstGeom>
          <a:noFill/>
        </p:spPr>
        <p:txBody>
          <a:bodyPr wrap="square">
            <a:spAutoFit/>
          </a:bodyPr>
          <a:lstStyle/>
          <a:p>
            <a:pPr algn="l"/>
            <a:r>
              <a:rPr sz="1100" b="0">
                <a:solidFill>
                  <a:srgbClr val="10B981"/>
                </a:solidFill>
              </a:rPr>
              <a:t>Target: 20+/week</a:t>
            </a:r>
          </a:p>
        </p:txBody>
      </p:sp>
      <p:sp>
        <p:nvSpPr>
          <p:cNvPr id="25" name="TextBox 24"/>
          <p:cNvSpPr txBox="1"/>
          <p:nvPr/>
        </p:nvSpPr>
        <p:spPr>
          <a:xfrm>
            <a:off x="10424160" y="2075688"/>
            <a:ext cx="1554480" cy="320040"/>
          </a:xfrm>
          <a:prstGeom prst="rect">
            <a:avLst/>
          </a:prstGeom>
          <a:noFill/>
        </p:spPr>
        <p:txBody>
          <a:bodyPr wrap="square">
            <a:spAutoFit/>
          </a:bodyPr>
          <a:lstStyle/>
          <a:p>
            <a:pPr algn="l"/>
            <a:r>
              <a:rPr sz="1000" b="0">
                <a:solidFill>
                  <a:srgbClr val="94A3B8"/>
                </a:solidFill>
              </a:rPr>
              <a:t>Track: buildSourceZip calls</a:t>
            </a:r>
          </a:p>
        </p:txBody>
      </p:sp>
      <p:sp>
        <p:nvSpPr>
          <p:cNvPr id="26" name="TextBox 25"/>
          <p:cNvSpPr txBox="1"/>
          <p:nvPr/>
        </p:nvSpPr>
        <p:spPr>
          <a:xfrm>
            <a:off x="6446520" y="2715768"/>
            <a:ext cx="2286000" cy="320040"/>
          </a:xfrm>
          <a:prstGeom prst="rect">
            <a:avLst/>
          </a:prstGeom>
          <a:noFill/>
        </p:spPr>
        <p:txBody>
          <a:bodyPr wrap="square">
            <a:spAutoFit/>
          </a:bodyPr>
          <a:lstStyle/>
          <a:p>
            <a:pPr algn="l"/>
            <a:r>
              <a:rPr sz="1100" b="1">
                <a:solidFill>
                  <a:srgbClr val="CBD5E1"/>
                </a:solidFill>
              </a:rPr>
              <a:t>• Simulation Pass Rate</a:t>
            </a:r>
          </a:p>
        </p:txBody>
      </p:sp>
      <p:sp>
        <p:nvSpPr>
          <p:cNvPr id="27" name="TextBox 26"/>
          <p:cNvSpPr txBox="1"/>
          <p:nvPr/>
        </p:nvSpPr>
        <p:spPr>
          <a:xfrm>
            <a:off x="8778240" y="2715768"/>
            <a:ext cx="1645920" cy="320040"/>
          </a:xfrm>
          <a:prstGeom prst="rect">
            <a:avLst/>
          </a:prstGeom>
          <a:noFill/>
        </p:spPr>
        <p:txBody>
          <a:bodyPr wrap="square">
            <a:spAutoFit/>
          </a:bodyPr>
          <a:lstStyle/>
          <a:p>
            <a:pPr algn="l"/>
            <a:r>
              <a:rPr sz="1100" b="0">
                <a:solidFill>
                  <a:srgbClr val="10B981"/>
                </a:solidFill>
              </a:rPr>
              <a:t>Target: &gt;90%</a:t>
            </a:r>
          </a:p>
        </p:txBody>
      </p:sp>
      <p:sp>
        <p:nvSpPr>
          <p:cNvPr id="28" name="TextBox 27"/>
          <p:cNvSpPr txBox="1"/>
          <p:nvPr/>
        </p:nvSpPr>
        <p:spPr>
          <a:xfrm>
            <a:off x="10424160" y="2715768"/>
            <a:ext cx="1554480" cy="320040"/>
          </a:xfrm>
          <a:prstGeom prst="rect">
            <a:avLst/>
          </a:prstGeom>
          <a:noFill/>
        </p:spPr>
        <p:txBody>
          <a:bodyPr wrap="square">
            <a:spAutoFit/>
          </a:bodyPr>
          <a:lstStyle/>
          <a:p>
            <a:pPr algn="l"/>
            <a:r>
              <a:rPr sz="1000" b="0">
                <a:solidFill>
                  <a:srgbClr val="94A3B8"/>
                </a:solidFill>
              </a:rPr>
              <a:t>Track: simulation.status=passed</a:t>
            </a:r>
          </a:p>
        </p:txBody>
      </p:sp>
      <p:sp>
        <p:nvSpPr>
          <p:cNvPr id="29" name="Rectangle 28"/>
          <p:cNvSpPr/>
          <p:nvPr/>
        </p:nvSpPr>
        <p:spPr>
          <a:xfrm>
            <a:off x="365760" y="365760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5760" y="3657600"/>
            <a:ext cx="5669280" cy="3840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3712464"/>
            <a:ext cx="5486400" cy="292608"/>
          </a:xfrm>
          <a:prstGeom prst="rect">
            <a:avLst/>
          </a:prstGeom>
          <a:noFill/>
        </p:spPr>
        <p:txBody>
          <a:bodyPr wrap="square">
            <a:spAutoFit/>
          </a:bodyPr>
          <a:lstStyle/>
          <a:p>
            <a:pPr algn="l"/>
            <a:r>
              <a:rPr sz="1400" b="1">
                <a:solidFill>
                  <a:srgbClr val="FFFFFF"/>
                </a:solidFill>
              </a:rPr>
              <a:t>🛡️ Governance &amp; Safety</a:t>
            </a:r>
          </a:p>
        </p:txBody>
      </p:sp>
      <p:sp>
        <p:nvSpPr>
          <p:cNvPr id="32" name="TextBox 31"/>
          <p:cNvSpPr txBox="1"/>
          <p:nvPr/>
        </p:nvSpPr>
        <p:spPr>
          <a:xfrm>
            <a:off x="502920" y="4133088"/>
            <a:ext cx="2286000" cy="320040"/>
          </a:xfrm>
          <a:prstGeom prst="rect">
            <a:avLst/>
          </a:prstGeom>
          <a:noFill/>
        </p:spPr>
        <p:txBody>
          <a:bodyPr wrap="square">
            <a:spAutoFit/>
          </a:bodyPr>
          <a:lstStyle/>
          <a:p>
            <a:pPr algn="l"/>
            <a:r>
              <a:rPr sz="1100" b="1">
                <a:solidFill>
                  <a:srgbClr val="CBD5E1"/>
                </a:solidFill>
              </a:rPr>
              <a:t>• PII Triggers / 1000 calls</a:t>
            </a:r>
          </a:p>
        </p:txBody>
      </p:sp>
      <p:sp>
        <p:nvSpPr>
          <p:cNvPr id="33" name="TextBox 32"/>
          <p:cNvSpPr txBox="1"/>
          <p:nvPr/>
        </p:nvSpPr>
        <p:spPr>
          <a:xfrm>
            <a:off x="2834640" y="4133088"/>
            <a:ext cx="1645920" cy="320040"/>
          </a:xfrm>
          <a:prstGeom prst="rect">
            <a:avLst/>
          </a:prstGeom>
          <a:noFill/>
        </p:spPr>
        <p:txBody>
          <a:bodyPr wrap="square">
            <a:spAutoFit/>
          </a:bodyPr>
          <a:lstStyle/>
          <a:p>
            <a:pPr algn="l"/>
            <a:r>
              <a:rPr sz="1100" b="0">
                <a:solidFill>
                  <a:srgbClr val="F59E0B"/>
                </a:solidFill>
              </a:rPr>
              <a:t>Target: &lt;5 incidents</a:t>
            </a:r>
          </a:p>
        </p:txBody>
      </p:sp>
      <p:sp>
        <p:nvSpPr>
          <p:cNvPr id="34" name="TextBox 33"/>
          <p:cNvSpPr txBox="1"/>
          <p:nvPr/>
        </p:nvSpPr>
        <p:spPr>
          <a:xfrm>
            <a:off x="4480560" y="4133088"/>
            <a:ext cx="1554480" cy="320040"/>
          </a:xfrm>
          <a:prstGeom prst="rect">
            <a:avLst/>
          </a:prstGeom>
          <a:noFill/>
        </p:spPr>
        <p:txBody>
          <a:bodyPr wrap="square">
            <a:spAutoFit/>
          </a:bodyPr>
          <a:lstStyle/>
          <a:p>
            <a:pPr algn="l"/>
            <a:r>
              <a:rPr sz="1000" b="0">
                <a:solidFill>
                  <a:srgbClr val="94A3B8"/>
                </a:solidFill>
              </a:rPr>
              <a:t>Track: guardrail_triggered=true</a:t>
            </a:r>
          </a:p>
        </p:txBody>
      </p:sp>
      <p:sp>
        <p:nvSpPr>
          <p:cNvPr id="35" name="TextBox 34"/>
          <p:cNvSpPr txBox="1"/>
          <p:nvPr/>
        </p:nvSpPr>
        <p:spPr>
          <a:xfrm>
            <a:off x="502920" y="4773168"/>
            <a:ext cx="2286000" cy="320040"/>
          </a:xfrm>
          <a:prstGeom prst="rect">
            <a:avLst/>
          </a:prstGeom>
          <a:noFill/>
        </p:spPr>
        <p:txBody>
          <a:bodyPr wrap="square">
            <a:spAutoFit/>
          </a:bodyPr>
          <a:lstStyle/>
          <a:p>
            <a:pPr algn="l"/>
            <a:r>
              <a:rPr sz="1100" b="1">
                <a:solidFill>
                  <a:srgbClr val="CBD5E1"/>
                </a:solidFill>
              </a:rPr>
              <a:t>• Hallucination Rate</a:t>
            </a:r>
          </a:p>
        </p:txBody>
      </p:sp>
      <p:sp>
        <p:nvSpPr>
          <p:cNvPr id="36" name="TextBox 35"/>
          <p:cNvSpPr txBox="1"/>
          <p:nvPr/>
        </p:nvSpPr>
        <p:spPr>
          <a:xfrm>
            <a:off x="2834640" y="4773168"/>
            <a:ext cx="1645920" cy="320040"/>
          </a:xfrm>
          <a:prstGeom prst="rect">
            <a:avLst/>
          </a:prstGeom>
          <a:noFill/>
        </p:spPr>
        <p:txBody>
          <a:bodyPr wrap="square">
            <a:spAutoFit/>
          </a:bodyPr>
          <a:lstStyle/>
          <a:p>
            <a:pPr algn="l"/>
            <a:r>
              <a:rPr sz="1100" b="0">
                <a:solidFill>
                  <a:srgbClr val="F59E0B"/>
                </a:solidFill>
              </a:rPr>
              <a:t>Target: &lt;2%</a:t>
            </a:r>
          </a:p>
        </p:txBody>
      </p:sp>
      <p:sp>
        <p:nvSpPr>
          <p:cNvPr id="37" name="TextBox 36"/>
          <p:cNvSpPr txBox="1"/>
          <p:nvPr/>
        </p:nvSpPr>
        <p:spPr>
          <a:xfrm>
            <a:off x="4480560" y="4773168"/>
            <a:ext cx="1554480" cy="320040"/>
          </a:xfrm>
          <a:prstGeom prst="rect">
            <a:avLst/>
          </a:prstGeom>
          <a:noFill/>
        </p:spPr>
        <p:txBody>
          <a:bodyPr wrap="square">
            <a:spAutoFit/>
          </a:bodyPr>
          <a:lstStyle/>
          <a:p>
            <a:pPr algn="l"/>
            <a:r>
              <a:rPr sz="1000" b="0">
                <a:solidFill>
                  <a:srgbClr val="94A3B8"/>
                </a:solidFill>
              </a:rPr>
              <a:t>Track: hallucination_triggered</a:t>
            </a:r>
          </a:p>
        </p:txBody>
      </p:sp>
      <p:sp>
        <p:nvSpPr>
          <p:cNvPr id="38" name="TextBox 37"/>
          <p:cNvSpPr txBox="1"/>
          <p:nvPr/>
        </p:nvSpPr>
        <p:spPr>
          <a:xfrm>
            <a:off x="502920" y="5413248"/>
            <a:ext cx="2286000" cy="320040"/>
          </a:xfrm>
          <a:prstGeom prst="rect">
            <a:avLst/>
          </a:prstGeom>
          <a:noFill/>
        </p:spPr>
        <p:txBody>
          <a:bodyPr wrap="square">
            <a:spAutoFit/>
          </a:bodyPr>
          <a:lstStyle/>
          <a:p>
            <a:pPr algn="l"/>
            <a:r>
              <a:rPr sz="1100" b="1">
                <a:solidFill>
                  <a:srgbClr val="CBD5E1"/>
                </a:solidFill>
              </a:rPr>
              <a:t>• Audit Log Coverage</a:t>
            </a:r>
          </a:p>
        </p:txBody>
      </p:sp>
      <p:sp>
        <p:nvSpPr>
          <p:cNvPr id="39" name="TextBox 38"/>
          <p:cNvSpPr txBox="1"/>
          <p:nvPr/>
        </p:nvSpPr>
        <p:spPr>
          <a:xfrm>
            <a:off x="2834640" y="5413248"/>
            <a:ext cx="1645920" cy="320040"/>
          </a:xfrm>
          <a:prstGeom prst="rect">
            <a:avLst/>
          </a:prstGeom>
          <a:noFill/>
        </p:spPr>
        <p:txBody>
          <a:bodyPr wrap="square">
            <a:spAutoFit/>
          </a:bodyPr>
          <a:lstStyle/>
          <a:p>
            <a:pPr algn="l"/>
            <a:r>
              <a:rPr sz="1100" b="0">
                <a:solidFill>
                  <a:srgbClr val="F59E0B"/>
                </a:solidFill>
              </a:rPr>
              <a:t>Target: 100%</a:t>
            </a:r>
          </a:p>
        </p:txBody>
      </p:sp>
      <p:sp>
        <p:nvSpPr>
          <p:cNvPr id="40" name="TextBox 39"/>
          <p:cNvSpPr txBox="1"/>
          <p:nvPr/>
        </p:nvSpPr>
        <p:spPr>
          <a:xfrm>
            <a:off x="4480560" y="5413248"/>
            <a:ext cx="1554480" cy="320040"/>
          </a:xfrm>
          <a:prstGeom prst="rect">
            <a:avLst/>
          </a:prstGeom>
          <a:noFill/>
        </p:spPr>
        <p:txBody>
          <a:bodyPr wrap="square">
            <a:spAutoFit/>
          </a:bodyPr>
          <a:lstStyle/>
          <a:p>
            <a:pPr algn="l"/>
            <a:r>
              <a:rPr sz="1000" b="0">
                <a:solidFill>
                  <a:srgbClr val="94A3B8"/>
                </a:solidFill>
              </a:rPr>
              <a:t>Track: audit_logs completeness</a:t>
            </a:r>
          </a:p>
        </p:txBody>
      </p:sp>
      <p:sp>
        <p:nvSpPr>
          <p:cNvPr id="41" name="Rectangle 40"/>
          <p:cNvSpPr/>
          <p:nvPr/>
        </p:nvSpPr>
        <p:spPr>
          <a:xfrm>
            <a:off x="6309360" y="365760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309360" y="3657600"/>
            <a:ext cx="5669280" cy="38404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520" y="3712464"/>
            <a:ext cx="5486400" cy="292608"/>
          </a:xfrm>
          <a:prstGeom prst="rect">
            <a:avLst/>
          </a:prstGeom>
          <a:noFill/>
        </p:spPr>
        <p:txBody>
          <a:bodyPr wrap="square">
            <a:spAutoFit/>
          </a:bodyPr>
          <a:lstStyle/>
          <a:p>
            <a:pPr algn="l"/>
            <a:r>
              <a:rPr sz="1400" b="1">
                <a:solidFill>
                  <a:srgbClr val="FFFFFF"/>
                </a:solidFill>
              </a:rPr>
              <a:t>📊 Reliability &amp; Perf</a:t>
            </a:r>
          </a:p>
        </p:txBody>
      </p:sp>
      <p:sp>
        <p:nvSpPr>
          <p:cNvPr id="44" name="TextBox 43"/>
          <p:cNvSpPr txBox="1"/>
          <p:nvPr/>
        </p:nvSpPr>
        <p:spPr>
          <a:xfrm>
            <a:off x="6446520" y="4133088"/>
            <a:ext cx="2286000" cy="320040"/>
          </a:xfrm>
          <a:prstGeom prst="rect">
            <a:avLst/>
          </a:prstGeom>
          <a:noFill/>
        </p:spPr>
        <p:txBody>
          <a:bodyPr wrap="square">
            <a:spAutoFit/>
          </a:bodyPr>
          <a:lstStyle/>
          <a:p>
            <a:pPr algn="l"/>
            <a:r>
              <a:rPr sz="1100" b="1">
                <a:solidFill>
                  <a:srgbClr val="CBD5E1"/>
                </a:solidFill>
              </a:rPr>
              <a:t>• API P95 Latency</a:t>
            </a:r>
          </a:p>
        </p:txBody>
      </p:sp>
      <p:sp>
        <p:nvSpPr>
          <p:cNvPr id="45" name="TextBox 44"/>
          <p:cNvSpPr txBox="1"/>
          <p:nvPr/>
        </p:nvSpPr>
        <p:spPr>
          <a:xfrm>
            <a:off x="8778240" y="4133088"/>
            <a:ext cx="1645920" cy="320040"/>
          </a:xfrm>
          <a:prstGeom prst="rect">
            <a:avLst/>
          </a:prstGeom>
          <a:noFill/>
        </p:spPr>
        <p:txBody>
          <a:bodyPr wrap="square">
            <a:spAutoFit/>
          </a:bodyPr>
          <a:lstStyle/>
          <a:p>
            <a:pPr algn="l"/>
            <a:r>
              <a:rPr sz="1100" b="0">
                <a:solidFill>
                  <a:srgbClr val="A855F7"/>
                </a:solidFill>
              </a:rPr>
              <a:t>Target: &lt;800ms</a:t>
            </a:r>
          </a:p>
        </p:txBody>
      </p:sp>
      <p:sp>
        <p:nvSpPr>
          <p:cNvPr id="46" name="TextBox 45"/>
          <p:cNvSpPr txBox="1"/>
          <p:nvPr/>
        </p:nvSpPr>
        <p:spPr>
          <a:xfrm>
            <a:off x="10424160" y="4133088"/>
            <a:ext cx="1554480" cy="320040"/>
          </a:xfrm>
          <a:prstGeom prst="rect">
            <a:avLst/>
          </a:prstGeom>
          <a:noFill/>
        </p:spPr>
        <p:txBody>
          <a:bodyPr wrap="square">
            <a:spAutoFit/>
          </a:bodyPr>
          <a:lstStyle/>
          <a:p>
            <a:pPr algn="l"/>
            <a:r>
              <a:rPr sz="1000" b="0">
                <a:solidFill>
                  <a:srgbClr val="94A3B8"/>
                </a:solidFill>
              </a:rPr>
              <a:t>Track: OTEL latency histograms</a:t>
            </a:r>
          </a:p>
        </p:txBody>
      </p:sp>
      <p:sp>
        <p:nvSpPr>
          <p:cNvPr id="47" name="TextBox 46"/>
          <p:cNvSpPr txBox="1"/>
          <p:nvPr/>
        </p:nvSpPr>
        <p:spPr>
          <a:xfrm>
            <a:off x="6446520" y="4773168"/>
            <a:ext cx="2286000" cy="320040"/>
          </a:xfrm>
          <a:prstGeom prst="rect">
            <a:avLst/>
          </a:prstGeom>
          <a:noFill/>
        </p:spPr>
        <p:txBody>
          <a:bodyPr wrap="square">
            <a:spAutoFit/>
          </a:bodyPr>
          <a:lstStyle/>
          <a:p>
            <a:pPr algn="l"/>
            <a:r>
              <a:rPr sz="1100" b="1">
                <a:solidFill>
                  <a:srgbClr val="CBD5E1"/>
                </a:solidFill>
              </a:rPr>
              <a:t>• Workflow Success Rate</a:t>
            </a:r>
          </a:p>
        </p:txBody>
      </p:sp>
      <p:sp>
        <p:nvSpPr>
          <p:cNvPr id="48" name="TextBox 47"/>
          <p:cNvSpPr txBox="1"/>
          <p:nvPr/>
        </p:nvSpPr>
        <p:spPr>
          <a:xfrm>
            <a:off x="8778240" y="4773168"/>
            <a:ext cx="1645920" cy="320040"/>
          </a:xfrm>
          <a:prstGeom prst="rect">
            <a:avLst/>
          </a:prstGeom>
          <a:noFill/>
        </p:spPr>
        <p:txBody>
          <a:bodyPr wrap="square">
            <a:spAutoFit/>
          </a:bodyPr>
          <a:lstStyle/>
          <a:p>
            <a:pPr algn="l"/>
            <a:r>
              <a:rPr sz="1100" b="0">
                <a:solidFill>
                  <a:srgbClr val="A855F7"/>
                </a:solidFill>
              </a:rPr>
              <a:t>Target: &gt;98%</a:t>
            </a:r>
          </a:p>
        </p:txBody>
      </p:sp>
      <p:sp>
        <p:nvSpPr>
          <p:cNvPr id="49" name="TextBox 48"/>
          <p:cNvSpPr txBox="1"/>
          <p:nvPr/>
        </p:nvSpPr>
        <p:spPr>
          <a:xfrm>
            <a:off x="10424160" y="4773168"/>
            <a:ext cx="1554480" cy="320040"/>
          </a:xfrm>
          <a:prstGeom prst="rect">
            <a:avLst/>
          </a:prstGeom>
          <a:noFill/>
        </p:spPr>
        <p:txBody>
          <a:bodyPr wrap="square">
            <a:spAutoFit/>
          </a:bodyPr>
          <a:lstStyle/>
          <a:p>
            <a:pPr algn="l"/>
            <a:r>
              <a:rPr sz="1000" b="0">
                <a:solidFill>
                  <a:srgbClr val="94A3B8"/>
                </a:solidFill>
              </a:rPr>
              <a:t>Track: workflow_runs status</a:t>
            </a:r>
          </a:p>
        </p:txBody>
      </p:sp>
      <p:sp>
        <p:nvSpPr>
          <p:cNvPr id="50" name="TextBox 49"/>
          <p:cNvSpPr txBox="1"/>
          <p:nvPr/>
        </p:nvSpPr>
        <p:spPr>
          <a:xfrm>
            <a:off x="6446520" y="5413248"/>
            <a:ext cx="2286000" cy="320040"/>
          </a:xfrm>
          <a:prstGeom prst="rect">
            <a:avLst/>
          </a:prstGeom>
          <a:noFill/>
        </p:spPr>
        <p:txBody>
          <a:bodyPr wrap="square">
            <a:spAutoFit/>
          </a:bodyPr>
          <a:lstStyle/>
          <a:p>
            <a:pPr algn="l"/>
            <a:r>
              <a:rPr sz="1100" b="1">
                <a:solidFill>
                  <a:srgbClr val="CBD5E1"/>
                </a:solidFill>
              </a:rPr>
              <a:t>• System Uptime</a:t>
            </a:r>
          </a:p>
        </p:txBody>
      </p:sp>
      <p:sp>
        <p:nvSpPr>
          <p:cNvPr id="51" name="TextBox 50"/>
          <p:cNvSpPr txBox="1"/>
          <p:nvPr/>
        </p:nvSpPr>
        <p:spPr>
          <a:xfrm>
            <a:off x="8778240" y="5413248"/>
            <a:ext cx="1645920" cy="320040"/>
          </a:xfrm>
          <a:prstGeom prst="rect">
            <a:avLst/>
          </a:prstGeom>
          <a:noFill/>
        </p:spPr>
        <p:txBody>
          <a:bodyPr wrap="square">
            <a:spAutoFit/>
          </a:bodyPr>
          <a:lstStyle/>
          <a:p>
            <a:pPr algn="l"/>
            <a:r>
              <a:rPr sz="1100" b="0">
                <a:solidFill>
                  <a:srgbClr val="A855F7"/>
                </a:solidFill>
              </a:rPr>
              <a:t>Target: 99.9%</a:t>
            </a:r>
          </a:p>
        </p:txBody>
      </p:sp>
      <p:sp>
        <p:nvSpPr>
          <p:cNvPr id="52" name="TextBox 51"/>
          <p:cNvSpPr txBox="1"/>
          <p:nvPr/>
        </p:nvSpPr>
        <p:spPr>
          <a:xfrm>
            <a:off x="10424160" y="5413248"/>
            <a:ext cx="1554480" cy="320040"/>
          </a:xfrm>
          <a:prstGeom prst="rect">
            <a:avLst/>
          </a:prstGeom>
          <a:noFill/>
        </p:spPr>
        <p:txBody>
          <a:bodyPr wrap="square">
            <a:spAutoFit/>
          </a:bodyPr>
          <a:lstStyle/>
          <a:p>
            <a:pPr algn="l"/>
            <a:r>
              <a:rPr sz="1000" b="0">
                <a:solidFill>
                  <a:srgbClr val="94A3B8"/>
                </a:solidFill>
              </a:rPr>
              <a:t>Track: health endpoint + OTEL</a:t>
            </a:r>
          </a:p>
        </p:txBody>
      </p:sp>
      <p:sp>
        <p:nvSpPr>
          <p:cNvPr id="53" name="TextBox 5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Database Schema (PostgreSQL 16 + pgvector)</a:t>
            </a:r>
          </a:p>
        </p:txBody>
      </p:sp>
      <p:sp>
        <p:nvSpPr>
          <p:cNvPr id="5" name="Rectangle 4"/>
          <p:cNvSpPr/>
          <p:nvPr/>
        </p:nvSpPr>
        <p:spPr>
          <a:xfrm>
            <a:off x="320040" y="86868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868680"/>
            <a:ext cx="3749039"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905256"/>
            <a:ext cx="3611879" cy="292608"/>
          </a:xfrm>
          <a:prstGeom prst="rect">
            <a:avLst/>
          </a:prstGeom>
          <a:noFill/>
        </p:spPr>
        <p:txBody>
          <a:bodyPr wrap="square">
            <a:spAutoFit/>
          </a:bodyPr>
          <a:lstStyle/>
          <a:p>
            <a:pPr algn="l"/>
            <a:r>
              <a:rPr sz="1300" b="1">
                <a:solidFill>
                  <a:srgbClr val="FFFFFF"/>
                </a:solidFill>
              </a:rPr>
              <a:t>⬛ users</a:t>
            </a:r>
          </a:p>
        </p:txBody>
      </p:sp>
      <p:sp>
        <p:nvSpPr>
          <p:cNvPr id="8" name="TextBox 7"/>
          <p:cNvSpPr txBox="1"/>
          <p:nvPr/>
        </p:nvSpPr>
        <p:spPr>
          <a:xfrm>
            <a:off x="411480" y="1252728"/>
            <a:ext cx="3611879" cy="914400"/>
          </a:xfrm>
          <a:prstGeom prst="rect">
            <a:avLst/>
          </a:prstGeom>
          <a:noFill/>
        </p:spPr>
        <p:txBody>
          <a:bodyPr wrap="square">
            <a:spAutoFit/>
          </a:bodyPr>
          <a:lstStyle/>
          <a:p>
            <a:pPr algn="l"/>
            <a:r>
              <a:rPr sz="950" b="0">
                <a:solidFill>
                  <a:srgbClr val="CBD5E1"/>
                </a:solidFill>
              </a:rPr>
              <a:t>id (PK)  ·  email (unique)  ·  hashed_password  ·  full_name
  ·  role (admin|developer|viewer)  ·  is_active  ·  created_at</a:t>
            </a:r>
          </a:p>
        </p:txBody>
      </p:sp>
      <p:sp>
        <p:nvSpPr>
          <p:cNvPr id="9" name="Rectangle 8"/>
          <p:cNvSpPr/>
          <p:nvPr/>
        </p:nvSpPr>
        <p:spPr>
          <a:xfrm>
            <a:off x="4251959" y="86868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51959" y="868680"/>
            <a:ext cx="3749039"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399" y="905256"/>
            <a:ext cx="3611879" cy="292608"/>
          </a:xfrm>
          <a:prstGeom prst="rect">
            <a:avLst/>
          </a:prstGeom>
          <a:noFill/>
        </p:spPr>
        <p:txBody>
          <a:bodyPr wrap="square">
            <a:spAutoFit/>
          </a:bodyPr>
          <a:lstStyle/>
          <a:p>
            <a:pPr algn="l"/>
            <a:r>
              <a:rPr sz="1300" b="1">
                <a:solidFill>
                  <a:srgbClr val="FFFFFF"/>
                </a:solidFill>
              </a:rPr>
              <a:t>⬛ agents</a:t>
            </a:r>
          </a:p>
        </p:txBody>
      </p:sp>
      <p:sp>
        <p:nvSpPr>
          <p:cNvPr id="12" name="TextBox 11"/>
          <p:cNvSpPr txBox="1"/>
          <p:nvPr/>
        </p:nvSpPr>
        <p:spPr>
          <a:xfrm>
            <a:off x="4343399" y="1252728"/>
            <a:ext cx="3611879" cy="914400"/>
          </a:xfrm>
          <a:prstGeom prst="rect">
            <a:avLst/>
          </a:prstGeom>
          <a:noFill/>
        </p:spPr>
        <p:txBody>
          <a:bodyPr wrap="square">
            <a:spAutoFit/>
          </a:bodyPr>
          <a:lstStyle/>
          <a:p>
            <a:pPr algn="l"/>
            <a:r>
              <a:rPr sz="950" b="0">
                <a:solidFill>
                  <a:srgbClr val="CBD5E1"/>
                </a:solidFill>
              </a:rPr>
              <a:t>id (PK)  ·  name  ·  description  ·  system_prompt
  ·  model (gpt-5.4-mini)  ·  tools (JSON)  ·  guardrails (JSON)  ·  created_by (FK→users)  ·  agent_type  ·  current_version</a:t>
            </a:r>
          </a:p>
        </p:txBody>
      </p:sp>
      <p:sp>
        <p:nvSpPr>
          <p:cNvPr id="13" name="Rectangle 12"/>
          <p:cNvSpPr/>
          <p:nvPr/>
        </p:nvSpPr>
        <p:spPr>
          <a:xfrm>
            <a:off x="8183879" y="86868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83879" y="868680"/>
            <a:ext cx="3749039" cy="34747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19" y="905256"/>
            <a:ext cx="3611879" cy="292608"/>
          </a:xfrm>
          <a:prstGeom prst="rect">
            <a:avLst/>
          </a:prstGeom>
          <a:noFill/>
        </p:spPr>
        <p:txBody>
          <a:bodyPr wrap="square">
            <a:spAutoFit/>
          </a:bodyPr>
          <a:lstStyle/>
          <a:p>
            <a:pPr algn="l"/>
            <a:r>
              <a:rPr sz="1300" b="1">
                <a:solidFill>
                  <a:srgbClr val="FFFFFF"/>
                </a:solidFill>
              </a:rPr>
              <a:t>⬛ agent_versions</a:t>
            </a:r>
          </a:p>
        </p:txBody>
      </p:sp>
      <p:sp>
        <p:nvSpPr>
          <p:cNvPr id="16" name="TextBox 15"/>
          <p:cNvSpPr txBox="1"/>
          <p:nvPr/>
        </p:nvSpPr>
        <p:spPr>
          <a:xfrm>
            <a:off x="8275319" y="1252728"/>
            <a:ext cx="3611879" cy="914400"/>
          </a:xfrm>
          <a:prstGeom prst="rect">
            <a:avLst/>
          </a:prstGeom>
          <a:noFill/>
        </p:spPr>
        <p:txBody>
          <a:bodyPr wrap="square">
            <a:spAutoFit/>
          </a:bodyPr>
          <a:lstStyle/>
          <a:p>
            <a:pPr algn="l"/>
            <a:r>
              <a:rPr sz="950" b="0">
                <a:solidFill>
                  <a:srgbClr val="CBD5E1"/>
                </a:solidFill>
              </a:rPr>
              <a:t>id (PK)  ·  agent_id (FK→agents)  ·  version (int)  ·  snapshot (JSON)
  ·  created_at</a:t>
            </a:r>
          </a:p>
        </p:txBody>
      </p:sp>
      <p:sp>
        <p:nvSpPr>
          <p:cNvPr id="17" name="Rectangle 16"/>
          <p:cNvSpPr/>
          <p:nvPr/>
        </p:nvSpPr>
        <p:spPr>
          <a:xfrm>
            <a:off x="320040" y="237744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2377440"/>
            <a:ext cx="3749039"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414016"/>
            <a:ext cx="3611879" cy="292608"/>
          </a:xfrm>
          <a:prstGeom prst="rect">
            <a:avLst/>
          </a:prstGeom>
          <a:noFill/>
        </p:spPr>
        <p:txBody>
          <a:bodyPr wrap="square">
            <a:spAutoFit/>
          </a:bodyPr>
          <a:lstStyle/>
          <a:p>
            <a:pPr algn="l"/>
            <a:r>
              <a:rPr sz="1300" b="1">
                <a:solidFill>
                  <a:srgbClr val="FFFFFF"/>
                </a:solidFill>
              </a:rPr>
              <a:t>⬛ workflows</a:t>
            </a:r>
          </a:p>
        </p:txBody>
      </p:sp>
      <p:sp>
        <p:nvSpPr>
          <p:cNvPr id="20" name="TextBox 19"/>
          <p:cNvSpPr txBox="1"/>
          <p:nvPr/>
        </p:nvSpPr>
        <p:spPr>
          <a:xfrm>
            <a:off x="411480" y="2761488"/>
            <a:ext cx="3611879" cy="914400"/>
          </a:xfrm>
          <a:prstGeom prst="rect">
            <a:avLst/>
          </a:prstGeom>
          <a:noFill/>
        </p:spPr>
        <p:txBody>
          <a:bodyPr wrap="square">
            <a:spAutoFit/>
          </a:bodyPr>
          <a:lstStyle/>
          <a:p>
            <a:pPr algn="l"/>
            <a:r>
              <a:rPr sz="950" b="0">
                <a:solidFill>
                  <a:srgbClr val="CBD5E1"/>
                </a:solidFill>
              </a:rPr>
              <a:t>id (PK)  ·  name  ·  description  ·  nodes (JSON)
  ·  edges (JSON)  ·  created_by (FK→users)  ·  created_at  ·  updated_at</a:t>
            </a:r>
          </a:p>
        </p:txBody>
      </p:sp>
      <p:sp>
        <p:nvSpPr>
          <p:cNvPr id="21" name="Rectangle 20"/>
          <p:cNvSpPr/>
          <p:nvPr/>
        </p:nvSpPr>
        <p:spPr>
          <a:xfrm>
            <a:off x="4251959" y="237744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51959" y="2377440"/>
            <a:ext cx="3749039"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43399" y="2414016"/>
            <a:ext cx="3611879" cy="292608"/>
          </a:xfrm>
          <a:prstGeom prst="rect">
            <a:avLst/>
          </a:prstGeom>
          <a:noFill/>
        </p:spPr>
        <p:txBody>
          <a:bodyPr wrap="square">
            <a:spAutoFit/>
          </a:bodyPr>
          <a:lstStyle/>
          <a:p>
            <a:pPr algn="l"/>
            <a:r>
              <a:rPr sz="1300" b="1">
                <a:solidFill>
                  <a:srgbClr val="FFFFFF"/>
                </a:solidFill>
              </a:rPr>
              <a:t>⬛ workflow_runs</a:t>
            </a:r>
          </a:p>
        </p:txBody>
      </p:sp>
      <p:sp>
        <p:nvSpPr>
          <p:cNvPr id="24" name="TextBox 23"/>
          <p:cNvSpPr txBox="1"/>
          <p:nvPr/>
        </p:nvSpPr>
        <p:spPr>
          <a:xfrm>
            <a:off x="4343399" y="2761488"/>
            <a:ext cx="3611879" cy="914400"/>
          </a:xfrm>
          <a:prstGeom prst="rect">
            <a:avLst/>
          </a:prstGeom>
          <a:noFill/>
        </p:spPr>
        <p:txBody>
          <a:bodyPr wrap="square">
            <a:spAutoFit/>
          </a:bodyPr>
          <a:lstStyle/>
          <a:p>
            <a:pPr algn="l"/>
            <a:r>
              <a:rPr sz="950" b="0">
                <a:solidFill>
                  <a:srgbClr val="CBD5E1"/>
                </a:solidFill>
              </a:rPr>
              <a:t>id (PK)  ·  workflow_id (FK→workflows)  ·  trigger_input  ·  final_output
  ·  status  ·  node_logs (JSON)  ·  total_duration_ms  ·  triggered_at</a:t>
            </a:r>
          </a:p>
        </p:txBody>
      </p:sp>
      <p:sp>
        <p:nvSpPr>
          <p:cNvPr id="25" name="Rectangle 24"/>
          <p:cNvSpPr/>
          <p:nvPr/>
        </p:nvSpPr>
        <p:spPr>
          <a:xfrm>
            <a:off x="8183879" y="237744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83879" y="2377440"/>
            <a:ext cx="3749039" cy="347472"/>
          </a:xfrm>
          <a:prstGeom prst="rect">
            <a:avLst/>
          </a:prstGeom>
          <a:solidFill>
            <a:srgbClr val="0E79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5319" y="2414016"/>
            <a:ext cx="3611879" cy="292608"/>
          </a:xfrm>
          <a:prstGeom prst="rect">
            <a:avLst/>
          </a:prstGeom>
          <a:noFill/>
        </p:spPr>
        <p:txBody>
          <a:bodyPr wrap="square">
            <a:spAutoFit/>
          </a:bodyPr>
          <a:lstStyle/>
          <a:p>
            <a:pPr algn="l"/>
            <a:r>
              <a:rPr sz="1300" b="1">
                <a:solidFill>
                  <a:srgbClr val="FFFFFF"/>
                </a:solidFill>
              </a:rPr>
              <a:t>⬛ knowledge_bases</a:t>
            </a:r>
          </a:p>
        </p:txBody>
      </p:sp>
      <p:sp>
        <p:nvSpPr>
          <p:cNvPr id="28" name="TextBox 27"/>
          <p:cNvSpPr txBox="1"/>
          <p:nvPr/>
        </p:nvSpPr>
        <p:spPr>
          <a:xfrm>
            <a:off x="8275319" y="2761488"/>
            <a:ext cx="3611879" cy="914400"/>
          </a:xfrm>
          <a:prstGeom prst="rect">
            <a:avLst/>
          </a:prstGeom>
          <a:noFill/>
        </p:spPr>
        <p:txBody>
          <a:bodyPr wrap="square">
            <a:spAutoFit/>
          </a:bodyPr>
          <a:lstStyle/>
          <a:p>
            <a:pPr algn="l"/>
            <a:r>
              <a:rPr sz="950" b="0">
                <a:solidFill>
                  <a:srgbClr val="CBD5E1"/>
                </a:solidFill>
              </a:rPr>
              <a:t>id (PK)  ·  name  ·  description  ·  agent_id (FK→agents)
  ·  created_by  ·  created_at</a:t>
            </a:r>
          </a:p>
        </p:txBody>
      </p:sp>
      <p:sp>
        <p:nvSpPr>
          <p:cNvPr id="29" name="Rectangle 28"/>
          <p:cNvSpPr/>
          <p:nvPr/>
        </p:nvSpPr>
        <p:spPr>
          <a:xfrm>
            <a:off x="320040" y="388619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20040" y="3886199"/>
            <a:ext cx="3749039" cy="34747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3922775"/>
            <a:ext cx="3611879" cy="292608"/>
          </a:xfrm>
          <a:prstGeom prst="rect">
            <a:avLst/>
          </a:prstGeom>
          <a:noFill/>
        </p:spPr>
        <p:txBody>
          <a:bodyPr wrap="square">
            <a:spAutoFit/>
          </a:bodyPr>
          <a:lstStyle/>
          <a:p>
            <a:pPr algn="l"/>
            <a:r>
              <a:rPr sz="1300" b="1">
                <a:solidFill>
                  <a:srgbClr val="FFFFFF"/>
                </a:solidFill>
              </a:rPr>
              <a:t>⬛ documents</a:t>
            </a:r>
          </a:p>
        </p:txBody>
      </p:sp>
      <p:sp>
        <p:nvSpPr>
          <p:cNvPr id="32" name="TextBox 31"/>
          <p:cNvSpPr txBox="1"/>
          <p:nvPr/>
        </p:nvSpPr>
        <p:spPr>
          <a:xfrm>
            <a:off x="411480" y="4270247"/>
            <a:ext cx="3611879" cy="914400"/>
          </a:xfrm>
          <a:prstGeom prst="rect">
            <a:avLst/>
          </a:prstGeom>
          <a:noFill/>
        </p:spPr>
        <p:txBody>
          <a:bodyPr wrap="square">
            <a:spAutoFit/>
          </a:bodyPr>
          <a:lstStyle/>
          <a:p>
            <a:pPr algn="l"/>
            <a:r>
              <a:rPr sz="950" b="0">
                <a:solidFill>
                  <a:srgbClr val="CBD5E1"/>
                </a:solidFill>
              </a:rPr>
              <a:t>id (PK)  ·  kb_id (FK→knowledge_bases)  ·  filename  ·  content (TEXT)
  ·  chunk_count  ·  status (processing|ready)  ·  created_at</a:t>
            </a:r>
          </a:p>
        </p:txBody>
      </p:sp>
      <p:sp>
        <p:nvSpPr>
          <p:cNvPr id="33" name="Rectangle 32"/>
          <p:cNvSpPr/>
          <p:nvPr/>
        </p:nvSpPr>
        <p:spPr>
          <a:xfrm>
            <a:off x="4251959" y="388619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251959" y="3886199"/>
            <a:ext cx="3749039" cy="34747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43399" y="3922775"/>
            <a:ext cx="3611879" cy="292608"/>
          </a:xfrm>
          <a:prstGeom prst="rect">
            <a:avLst/>
          </a:prstGeom>
          <a:noFill/>
        </p:spPr>
        <p:txBody>
          <a:bodyPr wrap="square">
            <a:spAutoFit/>
          </a:bodyPr>
          <a:lstStyle/>
          <a:p>
            <a:pPr algn="l"/>
            <a:r>
              <a:rPr sz="1300" b="1">
                <a:solidFill>
                  <a:srgbClr val="FFFFFF"/>
                </a:solidFill>
              </a:rPr>
              <a:t>⬛ audit_logs</a:t>
            </a:r>
          </a:p>
        </p:txBody>
      </p:sp>
      <p:sp>
        <p:nvSpPr>
          <p:cNvPr id="36" name="TextBox 35"/>
          <p:cNvSpPr txBox="1"/>
          <p:nvPr/>
        </p:nvSpPr>
        <p:spPr>
          <a:xfrm>
            <a:off x="4343399" y="4270247"/>
            <a:ext cx="3611879" cy="914400"/>
          </a:xfrm>
          <a:prstGeom prst="rect">
            <a:avLst/>
          </a:prstGeom>
          <a:noFill/>
        </p:spPr>
        <p:txBody>
          <a:bodyPr wrap="square">
            <a:spAutoFit/>
          </a:bodyPr>
          <a:lstStyle/>
          <a:p>
            <a:pPr algn="l"/>
            <a:r>
              <a:rPr sz="950" b="0">
                <a:solidFill>
                  <a:srgbClr val="CBD5E1"/>
                </a:solidFill>
              </a:rPr>
              <a:t>id (PK)  ·  user_id  ·  action  ·  resource_type
  ·  resource_id  ·  input_snapshot (JSON)  ·  output_snapshot (JSON)  ·  guardrail_triggered  ·  latency_ms  ·  trace_id  ·  created_at</a:t>
            </a:r>
          </a:p>
        </p:txBody>
      </p:sp>
      <p:sp>
        <p:nvSpPr>
          <p:cNvPr id="37" name="Rectangle 36"/>
          <p:cNvSpPr/>
          <p:nvPr/>
        </p:nvSpPr>
        <p:spPr>
          <a:xfrm>
            <a:off x="8183879" y="388619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183879" y="3886199"/>
            <a:ext cx="3749039" cy="347472"/>
          </a:xfrm>
          <a:prstGeom prst="rect">
            <a:avLst/>
          </a:prstGeom>
          <a:solidFill>
            <a:srgbClr val="84C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19" y="3922775"/>
            <a:ext cx="3611879" cy="292608"/>
          </a:xfrm>
          <a:prstGeom prst="rect">
            <a:avLst/>
          </a:prstGeom>
          <a:noFill/>
        </p:spPr>
        <p:txBody>
          <a:bodyPr wrap="square">
            <a:spAutoFit/>
          </a:bodyPr>
          <a:lstStyle/>
          <a:p>
            <a:pPr algn="l"/>
            <a:r>
              <a:rPr sz="1300" b="1">
                <a:solidFill>
                  <a:srgbClr val="FFFFFF"/>
                </a:solidFill>
              </a:rPr>
              <a:t>⬛ api_keys</a:t>
            </a:r>
          </a:p>
        </p:txBody>
      </p:sp>
      <p:sp>
        <p:nvSpPr>
          <p:cNvPr id="40" name="TextBox 39"/>
          <p:cNvSpPr txBox="1"/>
          <p:nvPr/>
        </p:nvSpPr>
        <p:spPr>
          <a:xfrm>
            <a:off x="8275319" y="4270247"/>
            <a:ext cx="3611879" cy="914400"/>
          </a:xfrm>
          <a:prstGeom prst="rect">
            <a:avLst/>
          </a:prstGeom>
          <a:noFill/>
        </p:spPr>
        <p:txBody>
          <a:bodyPr wrap="square">
            <a:spAutoFit/>
          </a:bodyPr>
          <a:lstStyle/>
          <a:p>
            <a:pPr algn="l"/>
            <a:r>
              <a:rPr sz="950" b="0">
                <a:solidFill>
                  <a:srgbClr val="CBD5E1"/>
                </a:solidFill>
              </a:rPr>
              <a:t>id (PK)  ·  name  ·  key_prefix  ·  hashed_key
  ·  user_id (FK→users)  ·  is_active  ·  created_at</a:t>
            </a:r>
          </a:p>
        </p:txBody>
      </p:sp>
      <p:sp>
        <p:nvSpPr>
          <p:cNvPr id="41" name="Rectangle 40"/>
          <p:cNvSpPr/>
          <p:nvPr/>
        </p:nvSpPr>
        <p:spPr>
          <a:xfrm>
            <a:off x="320040" y="539495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20040" y="5394959"/>
            <a:ext cx="3749039" cy="347472"/>
          </a:xfrm>
          <a:prstGeom prst="rect">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11480" y="5431535"/>
            <a:ext cx="3611879" cy="292608"/>
          </a:xfrm>
          <a:prstGeom prst="rect">
            <a:avLst/>
          </a:prstGeom>
          <a:noFill/>
        </p:spPr>
        <p:txBody>
          <a:bodyPr wrap="square">
            <a:spAutoFit/>
          </a:bodyPr>
          <a:lstStyle/>
          <a:p>
            <a:pPr algn="l"/>
            <a:r>
              <a:rPr sz="1300" b="1">
                <a:solidFill>
                  <a:srgbClr val="FFFFFF"/>
                </a:solidFill>
              </a:rPr>
              <a:t>⬛ voice_sessions</a:t>
            </a:r>
          </a:p>
        </p:txBody>
      </p:sp>
      <p:sp>
        <p:nvSpPr>
          <p:cNvPr id="44" name="TextBox 43"/>
          <p:cNvSpPr txBox="1"/>
          <p:nvPr/>
        </p:nvSpPr>
        <p:spPr>
          <a:xfrm>
            <a:off x="411480" y="5779007"/>
            <a:ext cx="3611879" cy="914400"/>
          </a:xfrm>
          <a:prstGeom prst="rect">
            <a:avLst/>
          </a:prstGeom>
          <a:noFill/>
        </p:spPr>
        <p:txBody>
          <a:bodyPr wrap="square">
            <a:spAutoFit/>
          </a:bodyPr>
          <a:lstStyle/>
          <a:p>
            <a:pPr algn="l"/>
            <a:r>
              <a:rPr sz="950" b="0">
                <a:solidFill>
                  <a:srgbClr val="CBD5E1"/>
                </a:solidFill>
              </a:rPr>
              <a:t>id (PK)  ·  agent_id (FK→agents)  ·  user_id  ·  transcript (JSON)
  ·  status  ·  created_at</a:t>
            </a:r>
          </a:p>
        </p:txBody>
      </p:sp>
      <p:sp>
        <p:nvSpPr>
          <p:cNvPr id="45" name="TextBox 4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10</a:t>
            </a:r>
          </a:p>
        </p:txBody>
      </p:sp>
      <p:sp>
        <p:nvSpPr>
          <p:cNvPr id="46" name="Rectangle 45"/>
          <p:cNvSpPr/>
          <p:nvPr/>
        </p:nvSpPr>
        <p:spPr>
          <a:xfrm>
            <a:off x="4251959" y="5394959"/>
            <a:ext cx="3749039" cy="1371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251959" y="5394959"/>
            <a:ext cx="3749039" cy="3474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43399" y="5431535"/>
            <a:ext cx="3611879" cy="292608"/>
          </a:xfrm>
          <a:prstGeom prst="rect">
            <a:avLst/>
          </a:prstGeom>
          <a:noFill/>
        </p:spPr>
        <p:txBody>
          <a:bodyPr wrap="square">
            <a:spAutoFit/>
          </a:bodyPr>
          <a:lstStyle/>
          <a:p>
            <a:pPr algn="l"/>
            <a:r>
              <a:rPr sz="1300" b="1">
                <a:solidFill>
                  <a:srgbClr val="FFFFFF"/>
                </a:solidFill>
              </a:rPr>
              <a:t>⬛ projects</a:t>
            </a:r>
          </a:p>
        </p:txBody>
      </p:sp>
      <p:sp>
        <p:nvSpPr>
          <p:cNvPr id="49" name="TextBox 48"/>
          <p:cNvSpPr txBox="1"/>
          <p:nvPr/>
        </p:nvSpPr>
        <p:spPr>
          <a:xfrm>
            <a:off x="4343399" y="5779007"/>
            <a:ext cx="3611879" cy="914400"/>
          </a:xfrm>
          <a:prstGeom prst="rect">
            <a:avLst/>
          </a:prstGeom>
          <a:noFill/>
        </p:spPr>
        <p:txBody>
          <a:bodyPr wrap="square">
            <a:spAutoFit/>
          </a:bodyPr>
          <a:lstStyle/>
          <a:p>
            <a:pPr algn="l"/>
            <a:r>
              <a:rPr sz="950" b="0">
                <a:solidFill>
                  <a:srgbClr val="CBD5E1"/>
                </a:solidFill>
              </a:rPr>
              <a:t>id (PK)  ·  owner_id (FK→users)  ·  name  ·  summary  ·  original_prompt  ·  plan (JSON)  ·  ui_html  ·  files (JSON)  ·  chat_history (JSON)  ·  app_type  ·  visibility  ·  shared_with (JSON)  ·  deleted_at  ·  created_at  ·  updated_at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Technology Stack</a:t>
            </a:r>
          </a:p>
        </p:txBody>
      </p:sp>
      <p:sp>
        <p:nvSpPr>
          <p:cNvPr id="5" name="Rectangle 4"/>
          <p:cNvSpPr/>
          <p:nvPr/>
        </p:nvSpPr>
        <p:spPr>
          <a:xfrm>
            <a:off x="320040"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960120"/>
            <a:ext cx="2834640" cy="4572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9768" y="1005840"/>
            <a:ext cx="2651760" cy="384048"/>
          </a:xfrm>
          <a:prstGeom prst="rect">
            <a:avLst/>
          </a:prstGeom>
          <a:noFill/>
        </p:spPr>
        <p:txBody>
          <a:bodyPr wrap="square">
            <a:spAutoFit/>
          </a:bodyPr>
          <a:lstStyle/>
          <a:p>
            <a:pPr algn="l"/>
            <a:r>
              <a:rPr sz="1500" b="1">
                <a:solidFill>
                  <a:srgbClr val="FFFFFF"/>
                </a:solidFill>
              </a:rPr>
              <a:t>🖥️ Frontend</a:t>
            </a:r>
          </a:p>
        </p:txBody>
      </p:sp>
      <p:sp>
        <p:nvSpPr>
          <p:cNvPr id="8" name="TextBox 7"/>
          <p:cNvSpPr txBox="1"/>
          <p:nvPr/>
        </p:nvSpPr>
        <p:spPr>
          <a:xfrm>
            <a:off x="429768" y="1508760"/>
            <a:ext cx="2651760" cy="530352"/>
          </a:xfrm>
          <a:prstGeom prst="rect">
            <a:avLst/>
          </a:prstGeom>
          <a:noFill/>
        </p:spPr>
        <p:txBody>
          <a:bodyPr wrap="square">
            <a:spAutoFit/>
          </a:bodyPr>
          <a:lstStyle/>
          <a:p>
            <a:pPr algn="l"/>
            <a:r>
              <a:rPr sz="1200" b="0">
                <a:solidFill>
                  <a:srgbClr val="CBD5E1"/>
                </a:solidFill>
              </a:rPr>
              <a:t>▸ React 18.3 + Vite 5 + TypeScript 5</a:t>
            </a:r>
          </a:p>
        </p:txBody>
      </p:sp>
      <p:sp>
        <p:nvSpPr>
          <p:cNvPr id="9" name="TextBox 8"/>
          <p:cNvSpPr txBox="1"/>
          <p:nvPr/>
        </p:nvSpPr>
        <p:spPr>
          <a:xfrm>
            <a:off x="429768" y="2130552"/>
            <a:ext cx="2651760" cy="530352"/>
          </a:xfrm>
          <a:prstGeom prst="rect">
            <a:avLst/>
          </a:prstGeom>
          <a:noFill/>
        </p:spPr>
        <p:txBody>
          <a:bodyPr wrap="square">
            <a:spAutoFit/>
          </a:bodyPr>
          <a:lstStyle/>
          <a:p>
            <a:pPr algn="l"/>
            <a:r>
              <a:rPr sz="1200" b="0">
                <a:solidFill>
                  <a:srgbClr val="CBD5E1"/>
                </a:solidFill>
              </a:rPr>
              <a:t>▸ TailwindCSS 3 (utility-first styling)</a:t>
            </a:r>
          </a:p>
        </p:txBody>
      </p:sp>
      <p:sp>
        <p:nvSpPr>
          <p:cNvPr id="10" name="TextBox 9"/>
          <p:cNvSpPr txBox="1"/>
          <p:nvPr/>
        </p:nvSpPr>
        <p:spPr>
          <a:xfrm>
            <a:off x="429768" y="2752344"/>
            <a:ext cx="2651760" cy="530352"/>
          </a:xfrm>
          <a:prstGeom prst="rect">
            <a:avLst/>
          </a:prstGeom>
          <a:noFill/>
        </p:spPr>
        <p:txBody>
          <a:bodyPr wrap="square">
            <a:spAutoFit/>
          </a:bodyPr>
          <a:lstStyle/>
          <a:p>
            <a:pPr algn="l"/>
            <a:r>
              <a:rPr sz="1200" b="0">
                <a:solidFill>
                  <a:srgbClr val="CBD5E1"/>
                </a:solidFill>
              </a:rPr>
              <a:t>▸ React Flow (visual workflow canvas)</a:t>
            </a:r>
          </a:p>
        </p:txBody>
      </p:sp>
      <p:sp>
        <p:nvSpPr>
          <p:cNvPr id="11" name="TextBox 10"/>
          <p:cNvSpPr txBox="1"/>
          <p:nvPr/>
        </p:nvSpPr>
        <p:spPr>
          <a:xfrm>
            <a:off x="429768" y="3374136"/>
            <a:ext cx="2651760" cy="530352"/>
          </a:xfrm>
          <a:prstGeom prst="rect">
            <a:avLst/>
          </a:prstGeom>
          <a:noFill/>
        </p:spPr>
        <p:txBody>
          <a:bodyPr wrap="square">
            <a:spAutoFit/>
          </a:bodyPr>
          <a:lstStyle/>
          <a:p>
            <a:pPr algn="l"/>
            <a:r>
              <a:rPr sz="1200" b="0">
                <a:solidFill>
                  <a:srgbClr val="CBD5E1"/>
                </a:solidFill>
              </a:rPr>
              <a:t>▸ TanStack Query v4 (server state)</a:t>
            </a:r>
          </a:p>
        </p:txBody>
      </p:sp>
      <p:sp>
        <p:nvSpPr>
          <p:cNvPr id="12" name="TextBox 11"/>
          <p:cNvSpPr txBox="1"/>
          <p:nvPr/>
        </p:nvSpPr>
        <p:spPr>
          <a:xfrm>
            <a:off x="429768" y="3995928"/>
            <a:ext cx="2651760" cy="530352"/>
          </a:xfrm>
          <a:prstGeom prst="rect">
            <a:avLst/>
          </a:prstGeom>
          <a:noFill/>
        </p:spPr>
        <p:txBody>
          <a:bodyPr wrap="square">
            <a:spAutoFit/>
          </a:bodyPr>
          <a:lstStyle/>
          <a:p>
            <a:pPr algn="l"/>
            <a:r>
              <a:rPr sz="1200" b="0">
                <a:solidFill>
                  <a:srgbClr val="CBD5E1"/>
                </a:solidFill>
              </a:rPr>
              <a:t>▸ Lucide React (icon system)</a:t>
            </a:r>
          </a:p>
        </p:txBody>
      </p:sp>
      <p:sp>
        <p:nvSpPr>
          <p:cNvPr id="13" name="TextBox 12"/>
          <p:cNvSpPr txBox="1"/>
          <p:nvPr/>
        </p:nvSpPr>
        <p:spPr>
          <a:xfrm>
            <a:off x="429768" y="4617720"/>
            <a:ext cx="2651760" cy="530352"/>
          </a:xfrm>
          <a:prstGeom prst="rect">
            <a:avLst/>
          </a:prstGeom>
          <a:noFill/>
        </p:spPr>
        <p:txBody>
          <a:bodyPr wrap="square">
            <a:spAutoFit/>
          </a:bodyPr>
          <a:lstStyle/>
          <a:p>
            <a:pPr algn="l"/>
            <a:r>
              <a:rPr sz="1200" b="0">
                <a:solidFill>
                  <a:srgbClr val="CBD5E1"/>
                </a:solidFill>
              </a:rPr>
              <a:t>▸ react-hot-toast (notifications)</a:t>
            </a:r>
          </a:p>
        </p:txBody>
      </p:sp>
      <p:sp>
        <p:nvSpPr>
          <p:cNvPr id="14" name="TextBox 13"/>
          <p:cNvSpPr txBox="1"/>
          <p:nvPr/>
        </p:nvSpPr>
        <p:spPr>
          <a:xfrm>
            <a:off x="429768" y="5239512"/>
            <a:ext cx="2651760" cy="530352"/>
          </a:xfrm>
          <a:prstGeom prst="rect">
            <a:avLst/>
          </a:prstGeom>
          <a:noFill/>
        </p:spPr>
        <p:txBody>
          <a:bodyPr wrap="square">
            <a:spAutoFit/>
          </a:bodyPr>
          <a:lstStyle/>
          <a:p>
            <a:pPr algn="l"/>
            <a:r>
              <a:rPr sz="1200" b="0">
                <a:solidFill>
                  <a:srgbClr val="CBD5E1"/>
                </a:solidFill>
              </a:rPr>
              <a:t>▸ Axios (API client)</a:t>
            </a:r>
          </a:p>
        </p:txBody>
      </p:sp>
      <p:sp>
        <p:nvSpPr>
          <p:cNvPr id="15" name="Rectangle 14"/>
          <p:cNvSpPr/>
          <p:nvPr/>
        </p:nvSpPr>
        <p:spPr>
          <a:xfrm>
            <a:off x="3282696"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82696" y="960120"/>
            <a:ext cx="283464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92424" y="1005840"/>
            <a:ext cx="2651760" cy="384048"/>
          </a:xfrm>
          <a:prstGeom prst="rect">
            <a:avLst/>
          </a:prstGeom>
          <a:noFill/>
        </p:spPr>
        <p:txBody>
          <a:bodyPr wrap="square">
            <a:spAutoFit/>
          </a:bodyPr>
          <a:lstStyle/>
          <a:p>
            <a:pPr algn="l"/>
            <a:r>
              <a:rPr sz="1500" b="1">
                <a:solidFill>
                  <a:srgbClr val="FFFFFF"/>
                </a:solidFill>
              </a:rPr>
              <a:t>⚙️ Backend</a:t>
            </a:r>
          </a:p>
        </p:txBody>
      </p:sp>
      <p:sp>
        <p:nvSpPr>
          <p:cNvPr id="18" name="TextBox 17"/>
          <p:cNvSpPr txBox="1"/>
          <p:nvPr/>
        </p:nvSpPr>
        <p:spPr>
          <a:xfrm>
            <a:off x="3392424" y="1508760"/>
            <a:ext cx="2651760" cy="530352"/>
          </a:xfrm>
          <a:prstGeom prst="rect">
            <a:avLst/>
          </a:prstGeom>
          <a:noFill/>
        </p:spPr>
        <p:txBody>
          <a:bodyPr wrap="square">
            <a:spAutoFit/>
          </a:bodyPr>
          <a:lstStyle/>
          <a:p>
            <a:pPr algn="l"/>
            <a:r>
              <a:rPr sz="1200" b="0" dirty="0">
                <a:solidFill>
                  <a:srgbClr val="CBD5E1"/>
                </a:solidFill>
              </a:rPr>
              <a:t>▸ FastAPI 0.115 + </a:t>
            </a:r>
            <a:r>
              <a:rPr sz="1200" b="0" dirty="0" err="1">
                <a:solidFill>
                  <a:srgbClr val="CBD5E1"/>
                </a:solidFill>
              </a:rPr>
              <a:t>Uvicorn</a:t>
            </a:r>
            <a:r>
              <a:rPr sz="1200" b="0" dirty="0">
                <a:solidFill>
                  <a:srgbClr val="CBD5E1"/>
                </a:solidFill>
              </a:rPr>
              <a:t> (ASGI)</a:t>
            </a:r>
          </a:p>
        </p:txBody>
      </p:sp>
      <p:sp>
        <p:nvSpPr>
          <p:cNvPr id="19" name="TextBox 18"/>
          <p:cNvSpPr txBox="1"/>
          <p:nvPr/>
        </p:nvSpPr>
        <p:spPr>
          <a:xfrm>
            <a:off x="3392424" y="2130552"/>
            <a:ext cx="2651760" cy="530352"/>
          </a:xfrm>
          <a:prstGeom prst="rect">
            <a:avLst/>
          </a:prstGeom>
          <a:noFill/>
        </p:spPr>
        <p:txBody>
          <a:bodyPr wrap="square">
            <a:spAutoFit/>
          </a:bodyPr>
          <a:lstStyle/>
          <a:p>
            <a:pPr algn="l"/>
            <a:r>
              <a:rPr sz="1200" b="0">
                <a:solidFill>
                  <a:srgbClr val="CBD5E1"/>
                </a:solidFill>
              </a:rPr>
              <a:t>▸ Python 3.12</a:t>
            </a:r>
          </a:p>
        </p:txBody>
      </p:sp>
      <p:sp>
        <p:nvSpPr>
          <p:cNvPr id="20" name="TextBox 19"/>
          <p:cNvSpPr txBox="1"/>
          <p:nvPr/>
        </p:nvSpPr>
        <p:spPr>
          <a:xfrm>
            <a:off x="3392424" y="2752344"/>
            <a:ext cx="2651760" cy="530352"/>
          </a:xfrm>
          <a:prstGeom prst="rect">
            <a:avLst/>
          </a:prstGeom>
          <a:noFill/>
        </p:spPr>
        <p:txBody>
          <a:bodyPr wrap="square">
            <a:spAutoFit/>
          </a:bodyPr>
          <a:lstStyle/>
          <a:p>
            <a:pPr algn="l"/>
            <a:r>
              <a:rPr sz="1200" b="0">
                <a:solidFill>
                  <a:srgbClr val="CBD5E1"/>
                </a:solidFill>
              </a:rPr>
              <a:t>▸ SQLAlchemy 2.0 (async ORM)</a:t>
            </a:r>
          </a:p>
        </p:txBody>
      </p:sp>
      <p:sp>
        <p:nvSpPr>
          <p:cNvPr id="21" name="TextBox 20"/>
          <p:cNvSpPr txBox="1"/>
          <p:nvPr/>
        </p:nvSpPr>
        <p:spPr>
          <a:xfrm>
            <a:off x="3392424" y="3374136"/>
            <a:ext cx="2651760" cy="530352"/>
          </a:xfrm>
          <a:prstGeom prst="rect">
            <a:avLst/>
          </a:prstGeom>
          <a:noFill/>
        </p:spPr>
        <p:txBody>
          <a:bodyPr wrap="square">
            <a:spAutoFit/>
          </a:bodyPr>
          <a:lstStyle/>
          <a:p>
            <a:pPr algn="l"/>
            <a:r>
              <a:rPr sz="1200" b="0">
                <a:solidFill>
                  <a:srgbClr val="CBD5E1"/>
                </a:solidFill>
              </a:rPr>
              <a:t>▸ Alembic (migrations)</a:t>
            </a:r>
          </a:p>
        </p:txBody>
      </p:sp>
      <p:sp>
        <p:nvSpPr>
          <p:cNvPr id="22" name="TextBox 21"/>
          <p:cNvSpPr txBox="1"/>
          <p:nvPr/>
        </p:nvSpPr>
        <p:spPr>
          <a:xfrm>
            <a:off x="3392424" y="3995928"/>
            <a:ext cx="2651760" cy="530352"/>
          </a:xfrm>
          <a:prstGeom prst="rect">
            <a:avLst/>
          </a:prstGeom>
          <a:noFill/>
        </p:spPr>
        <p:txBody>
          <a:bodyPr wrap="square">
            <a:spAutoFit/>
          </a:bodyPr>
          <a:lstStyle/>
          <a:p>
            <a:pPr algn="l"/>
            <a:r>
              <a:rPr sz="1200" b="0">
                <a:solidFill>
                  <a:srgbClr val="CBD5E1"/>
                </a:solidFill>
              </a:rPr>
              <a:t>▸ Pydantic v2 (validation)</a:t>
            </a:r>
          </a:p>
        </p:txBody>
      </p:sp>
      <p:sp>
        <p:nvSpPr>
          <p:cNvPr id="23" name="TextBox 22"/>
          <p:cNvSpPr txBox="1"/>
          <p:nvPr/>
        </p:nvSpPr>
        <p:spPr>
          <a:xfrm>
            <a:off x="3392424" y="4617720"/>
            <a:ext cx="2651760" cy="530352"/>
          </a:xfrm>
          <a:prstGeom prst="rect">
            <a:avLst/>
          </a:prstGeom>
          <a:noFill/>
        </p:spPr>
        <p:txBody>
          <a:bodyPr wrap="square">
            <a:spAutoFit/>
          </a:bodyPr>
          <a:lstStyle/>
          <a:p>
            <a:pPr algn="l"/>
            <a:r>
              <a:rPr sz="1200" b="0">
                <a:solidFill>
                  <a:srgbClr val="CBD5E1"/>
                </a:solidFill>
              </a:rPr>
              <a:t>▸ python-jose (JWT auth)</a:t>
            </a:r>
          </a:p>
        </p:txBody>
      </p:sp>
      <p:sp>
        <p:nvSpPr>
          <p:cNvPr id="24" name="TextBox 23"/>
          <p:cNvSpPr txBox="1"/>
          <p:nvPr/>
        </p:nvSpPr>
        <p:spPr>
          <a:xfrm>
            <a:off x="3392424" y="5239512"/>
            <a:ext cx="2651760" cy="530352"/>
          </a:xfrm>
          <a:prstGeom prst="rect">
            <a:avLst/>
          </a:prstGeom>
          <a:noFill/>
        </p:spPr>
        <p:txBody>
          <a:bodyPr wrap="square">
            <a:spAutoFit/>
          </a:bodyPr>
          <a:lstStyle/>
          <a:p>
            <a:pPr algn="l"/>
            <a:r>
              <a:rPr sz="1200" b="0">
                <a:solidFill>
                  <a:srgbClr val="CBD5E1"/>
                </a:solidFill>
              </a:rPr>
              <a:t>▸ passlib + bcrypt (password hashing)</a:t>
            </a:r>
          </a:p>
        </p:txBody>
      </p:sp>
      <p:sp>
        <p:nvSpPr>
          <p:cNvPr id="25" name="Rectangle 24"/>
          <p:cNvSpPr/>
          <p:nvPr/>
        </p:nvSpPr>
        <p:spPr>
          <a:xfrm>
            <a:off x="6245352"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45352" y="960120"/>
            <a:ext cx="283464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1005840"/>
            <a:ext cx="2651760" cy="384048"/>
          </a:xfrm>
          <a:prstGeom prst="rect">
            <a:avLst/>
          </a:prstGeom>
          <a:noFill/>
        </p:spPr>
        <p:txBody>
          <a:bodyPr wrap="square">
            <a:spAutoFit/>
          </a:bodyPr>
          <a:lstStyle/>
          <a:p>
            <a:pPr algn="l"/>
            <a:r>
              <a:rPr sz="1500" b="1">
                <a:solidFill>
                  <a:srgbClr val="FFFFFF"/>
                </a:solidFill>
              </a:rPr>
              <a:t>🤖 AI / ML</a:t>
            </a:r>
          </a:p>
        </p:txBody>
      </p:sp>
      <p:sp>
        <p:nvSpPr>
          <p:cNvPr id="28" name="TextBox 27"/>
          <p:cNvSpPr txBox="1"/>
          <p:nvPr/>
        </p:nvSpPr>
        <p:spPr>
          <a:xfrm>
            <a:off x="6355080" y="1508760"/>
            <a:ext cx="2651760" cy="530352"/>
          </a:xfrm>
          <a:prstGeom prst="rect">
            <a:avLst/>
          </a:prstGeom>
          <a:noFill/>
        </p:spPr>
        <p:txBody>
          <a:bodyPr wrap="square">
            <a:spAutoFit/>
          </a:bodyPr>
          <a:lstStyle/>
          <a:p>
            <a:pPr algn="l"/>
            <a:r>
              <a:rPr sz="1200" b="0">
                <a:solidFill>
                  <a:srgbClr val="CBD5E1"/>
                </a:solidFill>
              </a:rPr>
              <a:t>▸ Azure OpenAI, Google Gemini, local LM Studio</a:t>
            </a:r>
          </a:p>
        </p:txBody>
      </p:sp>
      <p:sp>
        <p:nvSpPr>
          <p:cNvPr id="29" name="TextBox 28"/>
          <p:cNvSpPr txBox="1"/>
          <p:nvPr/>
        </p:nvSpPr>
        <p:spPr>
          <a:xfrm>
            <a:off x="6355080" y="2130552"/>
            <a:ext cx="2651760" cy="530352"/>
          </a:xfrm>
          <a:prstGeom prst="rect">
            <a:avLst/>
          </a:prstGeom>
          <a:noFill/>
        </p:spPr>
        <p:txBody>
          <a:bodyPr wrap="square">
            <a:spAutoFit/>
          </a:bodyPr>
          <a:lstStyle/>
          <a:p>
            <a:pPr algn="l"/>
            <a:r>
              <a:rPr sz="1200" b="0">
                <a:solidFill>
                  <a:srgbClr val="CBD5E1"/>
                </a:solidFill>
              </a:rPr>
              <a:t>▸ LangChain 0.3 + LangChain-OpenAI</a:t>
            </a:r>
          </a:p>
        </p:txBody>
      </p:sp>
      <p:sp>
        <p:nvSpPr>
          <p:cNvPr id="30" name="TextBox 29"/>
          <p:cNvSpPr txBox="1"/>
          <p:nvPr/>
        </p:nvSpPr>
        <p:spPr>
          <a:xfrm>
            <a:off x="6355080" y="2752344"/>
            <a:ext cx="2651760" cy="530352"/>
          </a:xfrm>
          <a:prstGeom prst="rect">
            <a:avLst/>
          </a:prstGeom>
          <a:noFill/>
        </p:spPr>
        <p:txBody>
          <a:bodyPr wrap="square">
            <a:spAutoFit/>
          </a:bodyPr>
          <a:lstStyle/>
          <a:p>
            <a:pPr algn="l"/>
            <a:r>
              <a:rPr sz="1200" b="0">
                <a:solidFill>
                  <a:srgbClr val="CBD5E1"/>
                </a:solidFill>
              </a:rPr>
              <a:t>▸ OpenAI SDK 1.84</a:t>
            </a:r>
          </a:p>
        </p:txBody>
      </p:sp>
      <p:sp>
        <p:nvSpPr>
          <p:cNvPr id="31" name="TextBox 30"/>
          <p:cNvSpPr txBox="1"/>
          <p:nvPr/>
        </p:nvSpPr>
        <p:spPr>
          <a:xfrm>
            <a:off x="6355080" y="3374136"/>
            <a:ext cx="2651760" cy="530352"/>
          </a:xfrm>
          <a:prstGeom prst="rect">
            <a:avLst/>
          </a:prstGeom>
          <a:noFill/>
        </p:spPr>
        <p:txBody>
          <a:bodyPr wrap="square">
            <a:spAutoFit/>
          </a:bodyPr>
          <a:lstStyle/>
          <a:p>
            <a:pPr algn="l"/>
            <a:r>
              <a:rPr sz="1200" b="0">
                <a:solidFill>
                  <a:srgbClr val="CBD5E1"/>
                </a:solidFill>
              </a:rPr>
              <a:t>▸ FAISS (vector similarity)</a:t>
            </a:r>
          </a:p>
        </p:txBody>
      </p:sp>
      <p:sp>
        <p:nvSpPr>
          <p:cNvPr id="32" name="TextBox 31"/>
          <p:cNvSpPr txBox="1"/>
          <p:nvPr/>
        </p:nvSpPr>
        <p:spPr>
          <a:xfrm>
            <a:off x="6355080" y="3995928"/>
            <a:ext cx="2651760" cy="530352"/>
          </a:xfrm>
          <a:prstGeom prst="rect">
            <a:avLst/>
          </a:prstGeom>
          <a:noFill/>
        </p:spPr>
        <p:txBody>
          <a:bodyPr wrap="square">
            <a:spAutoFit/>
          </a:bodyPr>
          <a:lstStyle/>
          <a:p>
            <a:pPr algn="l"/>
            <a:r>
              <a:rPr sz="1200" b="0">
                <a:solidFill>
                  <a:srgbClr val="CBD5E1"/>
                </a:solidFill>
              </a:rPr>
              <a:t>▸ pgvector 0.3 (PostgreSQL vectors)</a:t>
            </a:r>
          </a:p>
        </p:txBody>
      </p:sp>
      <p:sp>
        <p:nvSpPr>
          <p:cNvPr id="33" name="TextBox 32"/>
          <p:cNvSpPr txBox="1"/>
          <p:nvPr/>
        </p:nvSpPr>
        <p:spPr>
          <a:xfrm>
            <a:off x="6355080" y="4617720"/>
            <a:ext cx="2651760" cy="530352"/>
          </a:xfrm>
          <a:prstGeom prst="rect">
            <a:avLst/>
          </a:prstGeom>
          <a:noFill/>
        </p:spPr>
        <p:txBody>
          <a:bodyPr wrap="square">
            <a:spAutoFit/>
          </a:bodyPr>
          <a:lstStyle/>
          <a:p>
            <a:pPr algn="l"/>
            <a:r>
              <a:rPr sz="1200" b="0">
                <a:solidFill>
                  <a:srgbClr val="CBD5E1"/>
                </a:solidFill>
              </a:rPr>
              <a:t>▸ Presidio (PII detection/anonymization)</a:t>
            </a:r>
          </a:p>
        </p:txBody>
      </p:sp>
      <p:sp>
        <p:nvSpPr>
          <p:cNvPr id="34" name="TextBox 33"/>
          <p:cNvSpPr txBox="1"/>
          <p:nvPr/>
        </p:nvSpPr>
        <p:spPr>
          <a:xfrm>
            <a:off x="6355080" y="5239512"/>
            <a:ext cx="2651760" cy="530352"/>
          </a:xfrm>
          <a:prstGeom prst="rect">
            <a:avLst/>
          </a:prstGeom>
          <a:noFill/>
        </p:spPr>
        <p:txBody>
          <a:bodyPr wrap="square">
            <a:spAutoFit/>
          </a:bodyPr>
          <a:lstStyle/>
          <a:p>
            <a:pPr algn="l"/>
            <a:r>
              <a:rPr sz="1200" b="0">
                <a:solidFill>
                  <a:srgbClr val="CBD5E1"/>
                </a:solidFill>
              </a:rPr>
              <a:t>▸ Azure AI Search (enterprise RAG)</a:t>
            </a:r>
          </a:p>
        </p:txBody>
      </p:sp>
      <p:sp>
        <p:nvSpPr>
          <p:cNvPr id="35" name="Rectangle 34"/>
          <p:cNvSpPr/>
          <p:nvPr/>
        </p:nvSpPr>
        <p:spPr>
          <a:xfrm>
            <a:off x="9208008"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08008" y="960120"/>
            <a:ext cx="2834640" cy="45720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17736" y="1005840"/>
            <a:ext cx="2651760" cy="384048"/>
          </a:xfrm>
          <a:prstGeom prst="rect">
            <a:avLst/>
          </a:prstGeom>
          <a:noFill/>
        </p:spPr>
        <p:txBody>
          <a:bodyPr wrap="square">
            <a:spAutoFit/>
          </a:bodyPr>
          <a:lstStyle/>
          <a:p>
            <a:pPr algn="l"/>
            <a:r>
              <a:rPr sz="1500" b="1">
                <a:solidFill>
                  <a:srgbClr val="FFFFFF"/>
                </a:solidFill>
              </a:rPr>
              <a:t>🗄️ Data &amp; Infra</a:t>
            </a:r>
          </a:p>
        </p:txBody>
      </p:sp>
      <p:sp>
        <p:nvSpPr>
          <p:cNvPr id="38" name="TextBox 37"/>
          <p:cNvSpPr txBox="1"/>
          <p:nvPr/>
        </p:nvSpPr>
        <p:spPr>
          <a:xfrm>
            <a:off x="9317736" y="1508760"/>
            <a:ext cx="2651760" cy="530352"/>
          </a:xfrm>
          <a:prstGeom prst="rect">
            <a:avLst/>
          </a:prstGeom>
          <a:noFill/>
        </p:spPr>
        <p:txBody>
          <a:bodyPr wrap="square">
            <a:spAutoFit/>
          </a:bodyPr>
          <a:lstStyle/>
          <a:p>
            <a:pPr algn="l"/>
            <a:r>
              <a:rPr sz="1200" b="0">
                <a:solidFill>
                  <a:srgbClr val="CBD5E1"/>
                </a:solidFill>
              </a:rPr>
              <a:t>▸ PostgreSQL 16 + pgvector extension</a:t>
            </a:r>
          </a:p>
        </p:txBody>
      </p:sp>
      <p:sp>
        <p:nvSpPr>
          <p:cNvPr id="39" name="TextBox 38"/>
          <p:cNvSpPr txBox="1"/>
          <p:nvPr/>
        </p:nvSpPr>
        <p:spPr>
          <a:xfrm>
            <a:off x="9317736" y="2130552"/>
            <a:ext cx="2651760" cy="530352"/>
          </a:xfrm>
          <a:prstGeom prst="rect">
            <a:avLst/>
          </a:prstGeom>
          <a:noFill/>
        </p:spPr>
        <p:txBody>
          <a:bodyPr wrap="square">
            <a:spAutoFit/>
          </a:bodyPr>
          <a:lstStyle/>
          <a:p>
            <a:pPr algn="l"/>
            <a:r>
              <a:rPr sz="1200" b="0">
                <a:solidFill>
                  <a:srgbClr val="CBD5E1"/>
                </a:solidFill>
              </a:rPr>
              <a:t>▸ asyncpg (async DB driver)</a:t>
            </a:r>
          </a:p>
        </p:txBody>
      </p:sp>
      <p:sp>
        <p:nvSpPr>
          <p:cNvPr id="40" name="TextBox 39"/>
          <p:cNvSpPr txBox="1"/>
          <p:nvPr/>
        </p:nvSpPr>
        <p:spPr>
          <a:xfrm>
            <a:off x="9317736" y="2752344"/>
            <a:ext cx="2651760" cy="530352"/>
          </a:xfrm>
          <a:prstGeom prst="rect">
            <a:avLst/>
          </a:prstGeom>
          <a:noFill/>
        </p:spPr>
        <p:txBody>
          <a:bodyPr wrap="square">
            <a:spAutoFit/>
          </a:bodyPr>
          <a:lstStyle/>
          <a:p>
            <a:pPr algn="l"/>
            <a:r>
              <a:rPr sz="1200" b="0">
                <a:solidFill>
                  <a:srgbClr val="CBD5E1"/>
                </a:solidFill>
              </a:rPr>
              <a:t>▸ Docker + Docker Compose</a:t>
            </a:r>
          </a:p>
        </p:txBody>
      </p:sp>
      <p:sp>
        <p:nvSpPr>
          <p:cNvPr id="41" name="TextBox 40"/>
          <p:cNvSpPr txBox="1"/>
          <p:nvPr/>
        </p:nvSpPr>
        <p:spPr>
          <a:xfrm>
            <a:off x="9317736" y="3374136"/>
            <a:ext cx="2651760" cy="530352"/>
          </a:xfrm>
          <a:prstGeom prst="rect">
            <a:avLst/>
          </a:prstGeom>
          <a:noFill/>
        </p:spPr>
        <p:txBody>
          <a:bodyPr wrap="square">
            <a:spAutoFit/>
          </a:bodyPr>
          <a:lstStyle/>
          <a:p>
            <a:pPr algn="l"/>
            <a:r>
              <a:rPr sz="1200" b="0">
                <a:solidFill>
                  <a:srgbClr val="CBD5E1"/>
                </a:solidFill>
              </a:rPr>
              <a:t>▸ Azure Speech (STT + TTS)</a:t>
            </a:r>
          </a:p>
        </p:txBody>
      </p:sp>
      <p:sp>
        <p:nvSpPr>
          <p:cNvPr id="42" name="TextBox 41"/>
          <p:cNvSpPr txBox="1"/>
          <p:nvPr/>
        </p:nvSpPr>
        <p:spPr>
          <a:xfrm>
            <a:off x="9317736" y="3995928"/>
            <a:ext cx="2651760" cy="530352"/>
          </a:xfrm>
          <a:prstGeom prst="rect">
            <a:avLst/>
          </a:prstGeom>
          <a:noFill/>
        </p:spPr>
        <p:txBody>
          <a:bodyPr wrap="square">
            <a:spAutoFit/>
          </a:bodyPr>
          <a:lstStyle/>
          <a:p>
            <a:pPr algn="l"/>
            <a:r>
              <a:rPr sz="1200" b="0">
                <a:solidFill>
                  <a:srgbClr val="CBD5E1"/>
                </a:solidFill>
              </a:rPr>
              <a:t>▸ OpenTelemetry (traces + metrics)</a:t>
            </a:r>
          </a:p>
        </p:txBody>
      </p:sp>
      <p:sp>
        <p:nvSpPr>
          <p:cNvPr id="43" name="TextBox 42"/>
          <p:cNvSpPr txBox="1"/>
          <p:nvPr/>
        </p:nvSpPr>
        <p:spPr>
          <a:xfrm>
            <a:off x="9317736" y="4617720"/>
            <a:ext cx="2651760" cy="530352"/>
          </a:xfrm>
          <a:prstGeom prst="rect">
            <a:avLst/>
          </a:prstGeom>
          <a:noFill/>
        </p:spPr>
        <p:txBody>
          <a:bodyPr wrap="square">
            <a:spAutoFit/>
          </a:bodyPr>
          <a:lstStyle/>
          <a:p>
            <a:pPr algn="l"/>
            <a:r>
              <a:rPr sz="1200" b="0">
                <a:solidFill>
                  <a:srgbClr val="CBD5E1"/>
                </a:solidFill>
              </a:rPr>
              <a:t>▸ Azure Monitor (OTEL exporter)</a:t>
            </a:r>
          </a:p>
        </p:txBody>
      </p:sp>
      <p:sp>
        <p:nvSpPr>
          <p:cNvPr id="44" name="TextBox 43"/>
          <p:cNvSpPr txBox="1"/>
          <p:nvPr/>
        </p:nvSpPr>
        <p:spPr>
          <a:xfrm>
            <a:off x="9317736" y="5239512"/>
            <a:ext cx="2651760" cy="530352"/>
          </a:xfrm>
          <a:prstGeom prst="rect">
            <a:avLst/>
          </a:prstGeom>
          <a:noFill/>
        </p:spPr>
        <p:txBody>
          <a:bodyPr wrap="square">
            <a:spAutoFit/>
          </a:bodyPr>
          <a:lstStyle/>
          <a:p>
            <a:pPr algn="l"/>
            <a:r>
              <a:rPr sz="1200" b="0">
                <a:solidFill>
                  <a:srgbClr val="CBD5E1"/>
                </a:solidFill>
              </a:rPr>
              <a:t>▸ pypdf + python-docx (doc parsing)</a:t>
            </a:r>
          </a:p>
        </p:txBody>
      </p:sp>
      <p:sp>
        <p:nvSpPr>
          <p:cNvPr id="45" name="TextBox 4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600" b="1" dirty="0">
                <a:solidFill>
                  <a:srgbClr val="FFFFFF"/>
                </a:solidFill>
              </a:rPr>
              <a:t>API Module Map  (16 Routers · FastAPI)</a:t>
            </a:r>
          </a:p>
        </p:txBody>
      </p:sp>
      <p:sp>
        <p:nvSpPr>
          <p:cNvPr id="5" name="Rectangle 4"/>
          <p:cNvSpPr/>
          <p:nvPr/>
        </p:nvSpPr>
        <p:spPr>
          <a:xfrm>
            <a:off x="320040" y="960120"/>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24128"/>
            <a:ext cx="2286000" cy="457200"/>
          </a:xfrm>
          <a:prstGeom prst="rect">
            <a:avLst/>
          </a:prstGeom>
          <a:noFill/>
        </p:spPr>
        <p:txBody>
          <a:bodyPr wrap="square">
            <a:spAutoFit/>
          </a:bodyPr>
          <a:lstStyle/>
          <a:p>
            <a:pPr algn="l"/>
            <a:r>
              <a:rPr sz="1200" b="1">
                <a:solidFill>
                  <a:srgbClr val="606EF5"/>
                </a:solidFill>
              </a:rPr>
              <a:t>/api/auth</a:t>
            </a:r>
          </a:p>
        </p:txBody>
      </p:sp>
      <p:sp>
        <p:nvSpPr>
          <p:cNvPr id="7" name="TextBox 6"/>
          <p:cNvSpPr txBox="1"/>
          <p:nvPr/>
        </p:nvSpPr>
        <p:spPr>
          <a:xfrm>
            <a:off x="2743200" y="1024128"/>
            <a:ext cx="3383280" cy="457200"/>
          </a:xfrm>
          <a:prstGeom prst="rect">
            <a:avLst/>
          </a:prstGeom>
          <a:noFill/>
        </p:spPr>
        <p:txBody>
          <a:bodyPr wrap="square">
            <a:spAutoFit/>
          </a:bodyPr>
          <a:lstStyle/>
          <a:p>
            <a:pPr algn="l"/>
            <a:r>
              <a:rPr sz="1100" b="0">
                <a:solidFill>
                  <a:srgbClr val="CBD5E1"/>
                </a:solidFill>
              </a:rPr>
              <a:t>JWT login, register, me endpoint</a:t>
            </a:r>
          </a:p>
        </p:txBody>
      </p:sp>
      <p:sp>
        <p:nvSpPr>
          <p:cNvPr id="8" name="Rectangle 7"/>
          <p:cNvSpPr/>
          <p:nvPr/>
        </p:nvSpPr>
        <p:spPr>
          <a:xfrm>
            <a:off x="320040" y="1636776"/>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700784"/>
            <a:ext cx="2286000" cy="457200"/>
          </a:xfrm>
          <a:prstGeom prst="rect">
            <a:avLst/>
          </a:prstGeom>
          <a:noFill/>
        </p:spPr>
        <p:txBody>
          <a:bodyPr wrap="square">
            <a:spAutoFit/>
          </a:bodyPr>
          <a:lstStyle/>
          <a:p>
            <a:pPr algn="l"/>
            <a:r>
              <a:rPr sz="1200" b="1">
                <a:solidFill>
                  <a:srgbClr val="606EF5"/>
                </a:solidFill>
              </a:rPr>
              <a:t>/api/agents</a:t>
            </a:r>
          </a:p>
        </p:txBody>
      </p:sp>
      <p:sp>
        <p:nvSpPr>
          <p:cNvPr id="10" name="TextBox 9"/>
          <p:cNvSpPr txBox="1"/>
          <p:nvPr/>
        </p:nvSpPr>
        <p:spPr>
          <a:xfrm>
            <a:off x="2743200" y="1700784"/>
            <a:ext cx="3383280" cy="457200"/>
          </a:xfrm>
          <a:prstGeom prst="rect">
            <a:avLst/>
          </a:prstGeom>
          <a:noFill/>
        </p:spPr>
        <p:txBody>
          <a:bodyPr wrap="square">
            <a:spAutoFit/>
          </a:bodyPr>
          <a:lstStyle/>
          <a:p>
            <a:pPr algn="l"/>
            <a:r>
              <a:rPr sz="1100" b="0">
                <a:solidFill>
                  <a:srgbClr val="CBD5E1"/>
                </a:solidFill>
              </a:rPr>
              <a:t>CRUD agents, versions, tools, guardrails config</a:t>
            </a:r>
          </a:p>
        </p:txBody>
      </p:sp>
      <p:sp>
        <p:nvSpPr>
          <p:cNvPr id="11" name="Rectangle 10"/>
          <p:cNvSpPr/>
          <p:nvPr/>
        </p:nvSpPr>
        <p:spPr>
          <a:xfrm>
            <a:off x="320040" y="2313432"/>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377440"/>
            <a:ext cx="2286000" cy="457200"/>
          </a:xfrm>
          <a:prstGeom prst="rect">
            <a:avLst/>
          </a:prstGeom>
          <a:noFill/>
        </p:spPr>
        <p:txBody>
          <a:bodyPr wrap="square">
            <a:spAutoFit/>
          </a:bodyPr>
          <a:lstStyle/>
          <a:p>
            <a:pPr algn="l"/>
            <a:r>
              <a:rPr sz="1200" b="1">
                <a:solidFill>
                  <a:srgbClr val="606EF5"/>
                </a:solidFill>
              </a:rPr>
              <a:t>/api/rag</a:t>
            </a:r>
          </a:p>
        </p:txBody>
      </p:sp>
      <p:sp>
        <p:nvSpPr>
          <p:cNvPr id="13" name="TextBox 12"/>
          <p:cNvSpPr txBox="1"/>
          <p:nvPr/>
        </p:nvSpPr>
        <p:spPr>
          <a:xfrm>
            <a:off x="2743200" y="2377440"/>
            <a:ext cx="3383280" cy="457200"/>
          </a:xfrm>
          <a:prstGeom prst="rect">
            <a:avLst/>
          </a:prstGeom>
          <a:noFill/>
        </p:spPr>
        <p:txBody>
          <a:bodyPr wrap="square">
            <a:spAutoFit/>
          </a:bodyPr>
          <a:lstStyle/>
          <a:p>
            <a:pPr algn="l"/>
            <a:r>
              <a:rPr sz="1100" b="0">
                <a:solidFill>
                  <a:srgbClr val="CBD5E1"/>
                </a:solidFill>
              </a:rPr>
              <a:t>Knowledge bases, document upload &amp; chunking, semantic search</a:t>
            </a:r>
          </a:p>
        </p:txBody>
      </p:sp>
      <p:sp>
        <p:nvSpPr>
          <p:cNvPr id="14" name="Rectangle 13"/>
          <p:cNvSpPr/>
          <p:nvPr/>
        </p:nvSpPr>
        <p:spPr>
          <a:xfrm>
            <a:off x="320040" y="2990087"/>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054095"/>
            <a:ext cx="2286000" cy="457200"/>
          </a:xfrm>
          <a:prstGeom prst="rect">
            <a:avLst/>
          </a:prstGeom>
          <a:noFill/>
        </p:spPr>
        <p:txBody>
          <a:bodyPr wrap="square">
            <a:spAutoFit/>
          </a:bodyPr>
          <a:lstStyle/>
          <a:p>
            <a:pPr algn="l"/>
            <a:r>
              <a:rPr sz="1200" b="1">
                <a:solidFill>
                  <a:srgbClr val="606EF5"/>
                </a:solidFill>
              </a:rPr>
              <a:t>/api/tools</a:t>
            </a:r>
          </a:p>
        </p:txBody>
      </p:sp>
      <p:sp>
        <p:nvSpPr>
          <p:cNvPr id="16" name="TextBox 15"/>
          <p:cNvSpPr txBox="1"/>
          <p:nvPr/>
        </p:nvSpPr>
        <p:spPr>
          <a:xfrm>
            <a:off x="2743200" y="3054095"/>
            <a:ext cx="3383280" cy="457200"/>
          </a:xfrm>
          <a:prstGeom prst="rect">
            <a:avLst/>
          </a:prstGeom>
          <a:noFill/>
        </p:spPr>
        <p:txBody>
          <a:bodyPr wrap="square">
            <a:spAutoFit/>
          </a:bodyPr>
          <a:lstStyle/>
          <a:p>
            <a:pPr algn="l"/>
            <a:r>
              <a:rPr sz="1100" b="0">
                <a:solidFill>
                  <a:srgbClr val="CBD5E1"/>
                </a:solidFill>
              </a:rPr>
              <a:t>Tool registry — list, register, invoke native tools</a:t>
            </a:r>
          </a:p>
        </p:txBody>
      </p:sp>
      <p:sp>
        <p:nvSpPr>
          <p:cNvPr id="17" name="Rectangle 16"/>
          <p:cNvSpPr/>
          <p:nvPr/>
        </p:nvSpPr>
        <p:spPr>
          <a:xfrm>
            <a:off x="320040" y="3666744"/>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730752"/>
            <a:ext cx="2286000" cy="457200"/>
          </a:xfrm>
          <a:prstGeom prst="rect">
            <a:avLst/>
          </a:prstGeom>
          <a:noFill/>
        </p:spPr>
        <p:txBody>
          <a:bodyPr wrap="square">
            <a:spAutoFit/>
          </a:bodyPr>
          <a:lstStyle/>
          <a:p>
            <a:pPr algn="l"/>
            <a:r>
              <a:rPr sz="1200" b="1">
                <a:solidFill>
                  <a:srgbClr val="606EF5"/>
                </a:solidFill>
              </a:rPr>
              <a:t>/api/builder</a:t>
            </a:r>
          </a:p>
        </p:txBody>
      </p:sp>
      <p:sp>
        <p:nvSpPr>
          <p:cNvPr id="19" name="TextBox 18"/>
          <p:cNvSpPr txBox="1"/>
          <p:nvPr/>
        </p:nvSpPr>
        <p:spPr>
          <a:xfrm>
            <a:off x="2743200" y="3730752"/>
            <a:ext cx="3383280" cy="457200"/>
          </a:xfrm>
          <a:prstGeom prst="rect">
            <a:avLst/>
          </a:prstGeom>
          <a:noFill/>
        </p:spPr>
        <p:txBody>
          <a:bodyPr wrap="square">
            <a:spAutoFit/>
          </a:bodyPr>
          <a:lstStyle/>
          <a:p>
            <a:pPr algn="l"/>
            <a:r>
              <a:rPr sz="1100" b="0">
                <a:solidFill>
                  <a:srgbClr val="CBD5E1"/>
                </a:solidFill>
              </a:rPr>
              <a:t>Visual workflow save/load/run (nodes + edges)</a:t>
            </a:r>
          </a:p>
        </p:txBody>
      </p:sp>
      <p:sp>
        <p:nvSpPr>
          <p:cNvPr id="20" name="Rectangle 19"/>
          <p:cNvSpPr/>
          <p:nvPr/>
        </p:nvSpPr>
        <p:spPr>
          <a:xfrm>
            <a:off x="320040" y="4343400"/>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407408"/>
            <a:ext cx="2286000" cy="457200"/>
          </a:xfrm>
          <a:prstGeom prst="rect">
            <a:avLst/>
          </a:prstGeom>
          <a:noFill/>
        </p:spPr>
        <p:txBody>
          <a:bodyPr wrap="square">
            <a:spAutoFit/>
          </a:bodyPr>
          <a:lstStyle/>
          <a:p>
            <a:pPr algn="l"/>
            <a:r>
              <a:rPr sz="1200" b="1">
                <a:solidFill>
                  <a:srgbClr val="606EF5"/>
                </a:solidFill>
              </a:rPr>
              <a:t>/api/simulation</a:t>
            </a:r>
          </a:p>
        </p:txBody>
      </p:sp>
      <p:sp>
        <p:nvSpPr>
          <p:cNvPr id="22" name="TextBox 21"/>
          <p:cNvSpPr txBox="1"/>
          <p:nvPr/>
        </p:nvSpPr>
        <p:spPr>
          <a:xfrm>
            <a:off x="2743200" y="4407408"/>
            <a:ext cx="3383280" cy="457200"/>
          </a:xfrm>
          <a:prstGeom prst="rect">
            <a:avLst/>
          </a:prstGeom>
          <a:noFill/>
        </p:spPr>
        <p:txBody>
          <a:bodyPr wrap="square">
            <a:spAutoFit/>
          </a:bodyPr>
          <a:lstStyle/>
          <a:p>
            <a:pPr algn="l"/>
            <a:r>
              <a:rPr sz="1100" b="0">
                <a:solidFill>
                  <a:srgbClr val="CBD5E1"/>
                </a:solidFill>
              </a:rPr>
              <a:t>Run agent test scenarios, score outputs</a:t>
            </a:r>
          </a:p>
        </p:txBody>
      </p:sp>
      <p:sp>
        <p:nvSpPr>
          <p:cNvPr id="23" name="Rectangle 22"/>
          <p:cNvSpPr/>
          <p:nvPr/>
        </p:nvSpPr>
        <p:spPr>
          <a:xfrm>
            <a:off x="320040" y="5020055"/>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5084063"/>
            <a:ext cx="2286000" cy="457200"/>
          </a:xfrm>
          <a:prstGeom prst="rect">
            <a:avLst/>
          </a:prstGeom>
          <a:noFill/>
        </p:spPr>
        <p:txBody>
          <a:bodyPr wrap="square">
            <a:spAutoFit/>
          </a:bodyPr>
          <a:lstStyle/>
          <a:p>
            <a:pPr algn="l"/>
            <a:r>
              <a:rPr sz="1200" b="1">
                <a:solidFill>
                  <a:srgbClr val="606EF5"/>
                </a:solidFill>
              </a:rPr>
              <a:t>/api/architect</a:t>
            </a:r>
          </a:p>
        </p:txBody>
      </p:sp>
      <p:sp>
        <p:nvSpPr>
          <p:cNvPr id="25" name="TextBox 24"/>
          <p:cNvSpPr txBox="1"/>
          <p:nvPr/>
        </p:nvSpPr>
        <p:spPr>
          <a:xfrm>
            <a:off x="2743200" y="5084063"/>
            <a:ext cx="3383280" cy="457200"/>
          </a:xfrm>
          <a:prstGeom prst="rect">
            <a:avLst/>
          </a:prstGeom>
          <a:noFill/>
        </p:spPr>
        <p:txBody>
          <a:bodyPr wrap="square">
            <a:spAutoFit/>
          </a:bodyPr>
          <a:lstStyle/>
          <a:p>
            <a:pPr algn="l"/>
            <a:r>
              <a:rPr sz="1100" b="0">
                <a:solidFill>
                  <a:srgbClr val="CBD5E1"/>
                </a:solidFill>
              </a:rPr>
              <a:t>Prompt-to-Agent generation, ZIP export (RAG Scaffold &amp; Custom Code)</a:t>
            </a:r>
          </a:p>
        </p:txBody>
      </p:sp>
      <p:sp>
        <p:nvSpPr>
          <p:cNvPr id="26" name="Rectangle 25"/>
          <p:cNvSpPr/>
          <p:nvPr/>
        </p:nvSpPr>
        <p:spPr>
          <a:xfrm>
            <a:off x="320040" y="5696712"/>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760720"/>
            <a:ext cx="2286000" cy="457200"/>
          </a:xfrm>
          <a:prstGeom prst="rect">
            <a:avLst/>
          </a:prstGeom>
          <a:noFill/>
        </p:spPr>
        <p:txBody>
          <a:bodyPr wrap="square">
            <a:spAutoFit/>
          </a:bodyPr>
          <a:lstStyle/>
          <a:p>
            <a:pPr algn="l"/>
            <a:r>
              <a:rPr sz="1200" b="1">
                <a:solidFill>
                  <a:srgbClr val="606EF5"/>
                </a:solidFill>
              </a:rPr>
              <a:t>/api/control-plane</a:t>
            </a:r>
          </a:p>
        </p:txBody>
      </p:sp>
      <p:sp>
        <p:nvSpPr>
          <p:cNvPr id="28" name="TextBox 27"/>
          <p:cNvSpPr txBox="1"/>
          <p:nvPr/>
        </p:nvSpPr>
        <p:spPr>
          <a:xfrm>
            <a:off x="2743200" y="5760720"/>
            <a:ext cx="3383280" cy="457200"/>
          </a:xfrm>
          <a:prstGeom prst="rect">
            <a:avLst/>
          </a:prstGeom>
          <a:noFill/>
        </p:spPr>
        <p:txBody>
          <a:bodyPr wrap="square">
            <a:spAutoFit/>
          </a:bodyPr>
          <a:lstStyle/>
          <a:p>
            <a:pPr algn="l"/>
            <a:r>
              <a:rPr sz="1100" b="0">
                <a:solidFill>
                  <a:srgbClr val="CBD5E1"/>
                </a:solidFill>
              </a:rPr>
              <a:t>Live agent status, patch, pause, resume running workflows</a:t>
            </a:r>
          </a:p>
        </p:txBody>
      </p:sp>
      <p:sp>
        <p:nvSpPr>
          <p:cNvPr id="29" name="Rectangle 28"/>
          <p:cNvSpPr/>
          <p:nvPr/>
        </p:nvSpPr>
        <p:spPr>
          <a:xfrm>
            <a:off x="6355080" y="960120"/>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0" y="1024128"/>
            <a:ext cx="2286000" cy="457200"/>
          </a:xfrm>
          <a:prstGeom prst="rect">
            <a:avLst/>
          </a:prstGeom>
          <a:noFill/>
        </p:spPr>
        <p:txBody>
          <a:bodyPr wrap="square">
            <a:spAutoFit/>
          </a:bodyPr>
          <a:lstStyle/>
          <a:p>
            <a:pPr algn="l"/>
            <a:r>
              <a:rPr sz="1200" b="1">
                <a:solidFill>
                  <a:srgbClr val="10B981"/>
                </a:solidFill>
              </a:rPr>
              <a:t>/api/safety</a:t>
            </a:r>
          </a:p>
        </p:txBody>
      </p:sp>
      <p:sp>
        <p:nvSpPr>
          <p:cNvPr id="31" name="TextBox 30"/>
          <p:cNvSpPr txBox="1"/>
          <p:nvPr/>
        </p:nvSpPr>
        <p:spPr>
          <a:xfrm>
            <a:off x="8778240" y="1024128"/>
            <a:ext cx="3017520" cy="457200"/>
          </a:xfrm>
          <a:prstGeom prst="rect">
            <a:avLst/>
          </a:prstGeom>
          <a:noFill/>
        </p:spPr>
        <p:txBody>
          <a:bodyPr wrap="square">
            <a:spAutoFit/>
          </a:bodyPr>
          <a:lstStyle/>
          <a:p>
            <a:pPr algn="l"/>
            <a:r>
              <a:rPr sz="1100" b="0">
                <a:solidFill>
                  <a:srgbClr val="CBD5E1"/>
                </a:solidFill>
              </a:rPr>
              <a:t>Guardrail policy configuration per agent</a:t>
            </a:r>
          </a:p>
        </p:txBody>
      </p:sp>
      <p:sp>
        <p:nvSpPr>
          <p:cNvPr id="32" name="Rectangle 31"/>
          <p:cNvSpPr/>
          <p:nvPr/>
        </p:nvSpPr>
        <p:spPr>
          <a:xfrm>
            <a:off x="6355080" y="1636776"/>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1700784"/>
            <a:ext cx="2286000" cy="457200"/>
          </a:xfrm>
          <a:prstGeom prst="rect">
            <a:avLst/>
          </a:prstGeom>
          <a:noFill/>
        </p:spPr>
        <p:txBody>
          <a:bodyPr wrap="square">
            <a:spAutoFit/>
          </a:bodyPr>
          <a:lstStyle/>
          <a:p>
            <a:pPr algn="l"/>
            <a:r>
              <a:rPr sz="1200" b="1">
                <a:solidFill>
                  <a:srgbClr val="10B981"/>
                </a:solidFill>
              </a:rPr>
              <a:t>/api/evaluations</a:t>
            </a:r>
          </a:p>
        </p:txBody>
      </p:sp>
      <p:sp>
        <p:nvSpPr>
          <p:cNvPr id="34" name="TextBox 33"/>
          <p:cNvSpPr txBox="1"/>
          <p:nvPr/>
        </p:nvSpPr>
        <p:spPr>
          <a:xfrm>
            <a:off x="8778240" y="1700784"/>
            <a:ext cx="3017520" cy="457200"/>
          </a:xfrm>
          <a:prstGeom prst="rect">
            <a:avLst/>
          </a:prstGeom>
          <a:noFill/>
        </p:spPr>
        <p:txBody>
          <a:bodyPr wrap="square">
            <a:spAutoFit/>
          </a:bodyPr>
          <a:lstStyle/>
          <a:p>
            <a:pPr algn="l"/>
            <a:r>
              <a:rPr sz="1100" b="0">
                <a:solidFill>
                  <a:srgbClr val="CBD5E1"/>
                </a:solidFill>
              </a:rPr>
              <a:t>Batch evaluation runs, scoring metrics, version comparison</a:t>
            </a:r>
          </a:p>
        </p:txBody>
      </p:sp>
      <p:sp>
        <p:nvSpPr>
          <p:cNvPr id="35" name="Rectangle 34"/>
          <p:cNvSpPr/>
          <p:nvPr/>
        </p:nvSpPr>
        <p:spPr>
          <a:xfrm>
            <a:off x="6355080" y="2313432"/>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2377440"/>
            <a:ext cx="2286000" cy="457200"/>
          </a:xfrm>
          <a:prstGeom prst="rect">
            <a:avLst/>
          </a:prstGeom>
          <a:noFill/>
        </p:spPr>
        <p:txBody>
          <a:bodyPr wrap="square">
            <a:spAutoFit/>
          </a:bodyPr>
          <a:lstStyle/>
          <a:p>
            <a:pPr algn="l"/>
            <a:r>
              <a:rPr sz="1200" b="1">
                <a:solidFill>
                  <a:srgbClr val="10B981"/>
                </a:solidFill>
              </a:rPr>
              <a:t>/api/voice</a:t>
            </a:r>
          </a:p>
        </p:txBody>
      </p:sp>
      <p:sp>
        <p:nvSpPr>
          <p:cNvPr id="37" name="TextBox 36"/>
          <p:cNvSpPr txBox="1"/>
          <p:nvPr/>
        </p:nvSpPr>
        <p:spPr>
          <a:xfrm>
            <a:off x="8778240" y="2377440"/>
            <a:ext cx="3017520" cy="457200"/>
          </a:xfrm>
          <a:prstGeom prst="rect">
            <a:avLst/>
          </a:prstGeom>
          <a:noFill/>
        </p:spPr>
        <p:txBody>
          <a:bodyPr wrap="square">
            <a:spAutoFit/>
          </a:bodyPr>
          <a:lstStyle/>
          <a:p>
            <a:pPr algn="l"/>
            <a:r>
              <a:rPr sz="1100" b="0">
                <a:solidFill>
                  <a:srgbClr val="CBD5E1"/>
                </a:solidFill>
              </a:rPr>
              <a:t>Voice session management, STT→LLM→TTS pipeline</a:t>
            </a:r>
          </a:p>
        </p:txBody>
      </p:sp>
      <p:sp>
        <p:nvSpPr>
          <p:cNvPr id="38" name="Rectangle 37"/>
          <p:cNvSpPr/>
          <p:nvPr/>
        </p:nvSpPr>
        <p:spPr>
          <a:xfrm>
            <a:off x="6355080" y="2990087"/>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92240" y="3054095"/>
            <a:ext cx="2286000" cy="457200"/>
          </a:xfrm>
          <a:prstGeom prst="rect">
            <a:avLst/>
          </a:prstGeom>
          <a:noFill/>
        </p:spPr>
        <p:txBody>
          <a:bodyPr wrap="square">
            <a:spAutoFit/>
          </a:bodyPr>
          <a:lstStyle/>
          <a:p>
            <a:pPr algn="l"/>
            <a:r>
              <a:rPr sz="1200" b="1">
                <a:solidFill>
                  <a:srgbClr val="10B981"/>
                </a:solidFill>
              </a:rPr>
              <a:t>/api/api-keys</a:t>
            </a:r>
          </a:p>
        </p:txBody>
      </p:sp>
      <p:sp>
        <p:nvSpPr>
          <p:cNvPr id="40" name="TextBox 39"/>
          <p:cNvSpPr txBox="1"/>
          <p:nvPr/>
        </p:nvSpPr>
        <p:spPr>
          <a:xfrm>
            <a:off x="8778240" y="3054095"/>
            <a:ext cx="3017520" cy="457200"/>
          </a:xfrm>
          <a:prstGeom prst="rect">
            <a:avLst/>
          </a:prstGeom>
          <a:noFill/>
        </p:spPr>
        <p:txBody>
          <a:bodyPr wrap="square">
            <a:spAutoFit/>
          </a:bodyPr>
          <a:lstStyle/>
          <a:p>
            <a:pPr algn="l"/>
            <a:r>
              <a:rPr sz="1100" b="0">
                <a:solidFill>
                  <a:srgbClr val="CBD5E1"/>
                </a:solidFill>
              </a:rPr>
              <a:t>Issue, list, revoke programmatic API keys</a:t>
            </a:r>
          </a:p>
        </p:txBody>
      </p:sp>
      <p:sp>
        <p:nvSpPr>
          <p:cNvPr id="41" name="Rectangle 40"/>
          <p:cNvSpPr/>
          <p:nvPr/>
        </p:nvSpPr>
        <p:spPr>
          <a:xfrm>
            <a:off x="6355080" y="3666744"/>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2240" y="3730752"/>
            <a:ext cx="2286000" cy="457200"/>
          </a:xfrm>
          <a:prstGeom prst="rect">
            <a:avLst/>
          </a:prstGeom>
          <a:noFill/>
        </p:spPr>
        <p:txBody>
          <a:bodyPr wrap="square">
            <a:spAutoFit/>
          </a:bodyPr>
          <a:lstStyle/>
          <a:p>
            <a:pPr algn="l"/>
            <a:r>
              <a:rPr sz="1200" b="1">
                <a:solidFill>
                  <a:srgbClr val="10B981"/>
                </a:solidFill>
              </a:rPr>
              <a:t>/api/team</a:t>
            </a:r>
          </a:p>
        </p:txBody>
      </p:sp>
      <p:sp>
        <p:nvSpPr>
          <p:cNvPr id="43" name="TextBox 42"/>
          <p:cNvSpPr txBox="1"/>
          <p:nvPr/>
        </p:nvSpPr>
        <p:spPr>
          <a:xfrm>
            <a:off x="8778240" y="3730752"/>
            <a:ext cx="3017520" cy="457200"/>
          </a:xfrm>
          <a:prstGeom prst="rect">
            <a:avLst/>
          </a:prstGeom>
          <a:noFill/>
        </p:spPr>
        <p:txBody>
          <a:bodyPr wrap="square">
            <a:spAutoFit/>
          </a:bodyPr>
          <a:lstStyle/>
          <a:p>
            <a:pPr algn="l"/>
            <a:r>
              <a:rPr sz="1100" b="0">
                <a:solidFill>
                  <a:srgbClr val="CBD5E1"/>
                </a:solidFill>
              </a:rPr>
              <a:t>User invite, role assignment, team management</a:t>
            </a:r>
          </a:p>
        </p:txBody>
      </p:sp>
      <p:sp>
        <p:nvSpPr>
          <p:cNvPr id="44" name="Rectangle 43"/>
          <p:cNvSpPr/>
          <p:nvPr/>
        </p:nvSpPr>
        <p:spPr>
          <a:xfrm>
            <a:off x="6355080" y="4343400"/>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92240" y="4407408"/>
            <a:ext cx="2286000" cy="457200"/>
          </a:xfrm>
          <a:prstGeom prst="rect">
            <a:avLst/>
          </a:prstGeom>
          <a:noFill/>
        </p:spPr>
        <p:txBody>
          <a:bodyPr wrap="square">
            <a:spAutoFit/>
          </a:bodyPr>
          <a:lstStyle/>
          <a:p>
            <a:pPr algn="l"/>
            <a:r>
              <a:rPr sz="1200" b="1">
                <a:solidFill>
                  <a:srgbClr val="10B981"/>
                </a:solidFill>
              </a:rPr>
              <a:t>/api/control-plane/audit-logs</a:t>
            </a:r>
          </a:p>
        </p:txBody>
      </p:sp>
      <p:sp>
        <p:nvSpPr>
          <p:cNvPr id="46" name="TextBox 45"/>
          <p:cNvSpPr txBox="1"/>
          <p:nvPr/>
        </p:nvSpPr>
        <p:spPr>
          <a:xfrm>
            <a:off x="8778240" y="4407408"/>
            <a:ext cx="3017520" cy="457200"/>
          </a:xfrm>
          <a:prstGeom prst="rect">
            <a:avLst/>
          </a:prstGeom>
          <a:noFill/>
        </p:spPr>
        <p:txBody>
          <a:bodyPr wrap="square">
            <a:spAutoFit/>
          </a:bodyPr>
          <a:lstStyle/>
          <a:p>
            <a:pPr algn="l"/>
            <a:r>
              <a:rPr sz="1100" b="0">
                <a:solidFill>
                  <a:srgbClr val="CBD5E1"/>
                </a:solidFill>
              </a:rPr>
              <a:t>Query audit logs, filter by user/action/resource/date</a:t>
            </a:r>
          </a:p>
        </p:txBody>
      </p:sp>
      <p:sp>
        <p:nvSpPr>
          <p:cNvPr id="47" name="Rectangle 46"/>
          <p:cNvSpPr/>
          <p:nvPr/>
        </p:nvSpPr>
        <p:spPr>
          <a:xfrm>
            <a:off x="6355080" y="5020055"/>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92240" y="5084063"/>
            <a:ext cx="2286000" cy="457200"/>
          </a:xfrm>
          <a:prstGeom prst="rect">
            <a:avLst/>
          </a:prstGeom>
          <a:noFill/>
        </p:spPr>
        <p:txBody>
          <a:bodyPr wrap="square">
            <a:spAutoFit/>
          </a:bodyPr>
          <a:lstStyle/>
          <a:p>
            <a:pPr algn="l"/>
            <a:r>
              <a:rPr sz="1200" b="1">
                <a:solidFill>
                  <a:srgbClr val="10B981"/>
                </a:solidFill>
              </a:rPr>
              <a:t>/api/projects</a:t>
            </a:r>
          </a:p>
        </p:txBody>
      </p:sp>
      <p:sp>
        <p:nvSpPr>
          <p:cNvPr id="49" name="TextBox 48"/>
          <p:cNvSpPr txBox="1"/>
          <p:nvPr/>
        </p:nvSpPr>
        <p:spPr>
          <a:xfrm>
            <a:off x="8778240" y="5084063"/>
            <a:ext cx="3017520" cy="457200"/>
          </a:xfrm>
          <a:prstGeom prst="rect">
            <a:avLst/>
          </a:prstGeom>
          <a:noFill/>
        </p:spPr>
        <p:txBody>
          <a:bodyPr wrap="square">
            <a:spAutoFit/>
          </a:bodyPr>
          <a:lstStyle/>
          <a:p>
            <a:pPr algn="l"/>
            <a:r>
              <a:rPr sz="1100" b="0">
                <a:solidFill>
                  <a:srgbClr val="CBD5E1"/>
                </a:solidFill>
              </a:rPr>
              <a:t>CRUD projects, publish/visibility toggle, Architect auto-save integration</a:t>
            </a:r>
          </a:p>
        </p:txBody>
      </p:sp>
      <p:sp>
        <p:nvSpPr>
          <p:cNvPr id="50" name="Rectangle 49"/>
          <p:cNvSpPr/>
          <p:nvPr/>
        </p:nvSpPr>
        <p:spPr>
          <a:xfrm>
            <a:off x="6355080" y="5696712"/>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92240" y="5760720"/>
            <a:ext cx="2286000" cy="457200"/>
          </a:xfrm>
          <a:prstGeom prst="rect">
            <a:avLst/>
          </a:prstGeom>
          <a:noFill/>
        </p:spPr>
        <p:txBody>
          <a:bodyPr wrap="square">
            <a:spAutoFit/>
          </a:bodyPr>
          <a:lstStyle/>
          <a:p>
            <a:pPr algn="l"/>
            <a:r>
              <a:rPr sz="1200" b="1">
                <a:solidFill>
                  <a:srgbClr val="10B981"/>
                </a:solidFill>
              </a:rPr>
              <a:t>/api/health</a:t>
            </a:r>
          </a:p>
        </p:txBody>
      </p:sp>
      <p:sp>
        <p:nvSpPr>
          <p:cNvPr id="52" name="TextBox 51"/>
          <p:cNvSpPr txBox="1"/>
          <p:nvPr/>
        </p:nvSpPr>
        <p:spPr>
          <a:xfrm>
            <a:off x="8778240" y="5760720"/>
            <a:ext cx="3017520" cy="457200"/>
          </a:xfrm>
          <a:prstGeom prst="rect">
            <a:avLst/>
          </a:prstGeom>
          <a:noFill/>
        </p:spPr>
        <p:txBody>
          <a:bodyPr wrap="square">
            <a:spAutoFit/>
          </a:bodyPr>
          <a:lstStyle/>
          <a:p>
            <a:pPr algn="l"/>
            <a:r>
              <a:rPr sz="1100" b="0">
                <a:solidFill>
                  <a:srgbClr val="CBD5E1"/>
                </a:solidFill>
              </a:rPr>
              <a:t>Health check endpoint for load balancers and Kubernetes</a:t>
            </a:r>
          </a:p>
        </p:txBody>
      </p:sp>
      <p:sp>
        <p:nvSpPr>
          <p:cNvPr id="53" name="TextBox 5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600" b="1">
                <a:solidFill>
                  <a:srgbClr val="FFFFFF"/>
                </a:solidFill>
              </a:rPr>
              <a:t>Frontend Page Map  (25 Pages · React SPA)</a:t>
            </a:r>
          </a:p>
        </p:txBody>
      </p:sp>
      <p:sp>
        <p:nvSpPr>
          <p:cNvPr id="5" name="Rectangle 4"/>
          <p:cNvSpPr/>
          <p:nvPr/>
        </p:nvSpPr>
        <p:spPr>
          <a:xfrm>
            <a:off x="320040"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987552"/>
            <a:ext cx="1188720" cy="475488"/>
          </a:xfrm>
          <a:prstGeom prst="rect">
            <a:avLst/>
          </a:prstGeom>
          <a:noFill/>
        </p:spPr>
        <p:txBody>
          <a:bodyPr wrap="square">
            <a:spAutoFit/>
          </a:bodyPr>
          <a:lstStyle/>
          <a:p>
            <a:pPr algn="l"/>
            <a:r>
              <a:rPr sz="1050" b="1">
                <a:solidFill>
                  <a:srgbClr val="606EF5"/>
                </a:solidFill>
              </a:rPr>
              <a:t>🏠 Home</a:t>
            </a:r>
          </a:p>
        </p:txBody>
      </p:sp>
      <p:sp>
        <p:nvSpPr>
          <p:cNvPr id="7" name="TextBox 6"/>
          <p:cNvSpPr txBox="1"/>
          <p:nvPr/>
        </p:nvSpPr>
        <p:spPr>
          <a:xfrm>
            <a:off x="1600200" y="1014984"/>
            <a:ext cx="1426464" cy="475488"/>
          </a:xfrm>
          <a:prstGeom prst="rect">
            <a:avLst/>
          </a:prstGeom>
          <a:noFill/>
        </p:spPr>
        <p:txBody>
          <a:bodyPr wrap="square">
            <a:spAutoFit/>
          </a:bodyPr>
          <a:lstStyle/>
          <a:p>
            <a:pPr algn="l"/>
            <a:r>
              <a:rPr sz="900" b="0">
                <a:solidFill>
                  <a:srgbClr val="CBD5E1"/>
                </a:solidFill>
              </a:rPr>
              <a:t>Landing, quick actions, recent activity</a:t>
            </a:r>
          </a:p>
        </p:txBody>
      </p:sp>
      <p:sp>
        <p:nvSpPr>
          <p:cNvPr id="8" name="Rectangle 7"/>
          <p:cNvSpPr/>
          <p:nvPr/>
        </p:nvSpPr>
        <p:spPr>
          <a:xfrm>
            <a:off x="3282696"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74136" y="987552"/>
            <a:ext cx="1188720" cy="475488"/>
          </a:xfrm>
          <a:prstGeom prst="rect">
            <a:avLst/>
          </a:prstGeom>
          <a:noFill/>
        </p:spPr>
        <p:txBody>
          <a:bodyPr wrap="square">
            <a:spAutoFit/>
          </a:bodyPr>
          <a:lstStyle/>
          <a:p>
            <a:pPr algn="l"/>
            <a:r>
              <a:rPr sz="1050" b="1">
                <a:solidFill>
                  <a:srgbClr val="606EF5"/>
                </a:solidFill>
              </a:rPr>
              <a:t>🧠 Planning Architect</a:t>
            </a:r>
          </a:p>
        </p:txBody>
      </p:sp>
      <p:sp>
        <p:nvSpPr>
          <p:cNvPr id="10" name="TextBox 9"/>
          <p:cNvSpPr txBox="1"/>
          <p:nvPr/>
        </p:nvSpPr>
        <p:spPr>
          <a:xfrm>
            <a:off x="4562856" y="1014984"/>
            <a:ext cx="1426464" cy="475488"/>
          </a:xfrm>
          <a:prstGeom prst="rect">
            <a:avLst/>
          </a:prstGeom>
          <a:noFill/>
        </p:spPr>
        <p:txBody>
          <a:bodyPr wrap="square">
            <a:spAutoFit/>
          </a:bodyPr>
          <a:lstStyle/>
          <a:p>
            <a:pPr algn="l"/>
            <a:r>
              <a:rPr sz="900" b="0">
                <a:solidFill>
                  <a:srgbClr val="CBD5E1"/>
                </a:solidFill>
              </a:rPr>
              <a:t>Conversational prompt-to-agent, session history, plan/agents/app/db tabs</a:t>
            </a:r>
          </a:p>
        </p:txBody>
      </p:sp>
      <p:sp>
        <p:nvSpPr>
          <p:cNvPr id="11" name="Rectangle 10"/>
          <p:cNvSpPr/>
          <p:nvPr/>
        </p:nvSpPr>
        <p:spPr>
          <a:xfrm>
            <a:off x="6245352"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987552"/>
            <a:ext cx="1188720" cy="475488"/>
          </a:xfrm>
          <a:prstGeom prst="rect">
            <a:avLst/>
          </a:prstGeom>
          <a:noFill/>
        </p:spPr>
        <p:txBody>
          <a:bodyPr wrap="square">
            <a:spAutoFit/>
          </a:bodyPr>
          <a:lstStyle/>
          <a:p>
            <a:pPr algn="l"/>
            <a:r>
              <a:rPr sz="1050" b="1">
                <a:solidFill>
                  <a:srgbClr val="606EF5"/>
                </a:solidFill>
              </a:rPr>
              <a:t>🔧 Agent Studio</a:t>
            </a:r>
          </a:p>
        </p:txBody>
      </p:sp>
      <p:sp>
        <p:nvSpPr>
          <p:cNvPr id="13" name="TextBox 12"/>
          <p:cNvSpPr txBox="1"/>
          <p:nvPr/>
        </p:nvSpPr>
        <p:spPr>
          <a:xfrm>
            <a:off x="7525512" y="1014984"/>
            <a:ext cx="1426464" cy="475488"/>
          </a:xfrm>
          <a:prstGeom prst="rect">
            <a:avLst/>
          </a:prstGeom>
          <a:noFill/>
        </p:spPr>
        <p:txBody>
          <a:bodyPr wrap="square">
            <a:spAutoFit/>
          </a:bodyPr>
          <a:lstStyle/>
          <a:p>
            <a:pPr algn="l"/>
            <a:r>
              <a:rPr sz="900" b="0">
                <a:solidFill>
                  <a:srgbClr val="CBD5E1"/>
                </a:solidFill>
              </a:rPr>
              <a:t>Create, edit, test, deploy, publish agents</a:t>
            </a:r>
          </a:p>
        </p:txBody>
      </p:sp>
      <p:sp>
        <p:nvSpPr>
          <p:cNvPr id="14" name="Rectangle 13"/>
          <p:cNvSpPr/>
          <p:nvPr/>
        </p:nvSpPr>
        <p:spPr>
          <a:xfrm>
            <a:off x="9208008"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99448" y="987552"/>
            <a:ext cx="1188720" cy="475488"/>
          </a:xfrm>
          <a:prstGeom prst="rect">
            <a:avLst/>
          </a:prstGeom>
          <a:noFill/>
        </p:spPr>
        <p:txBody>
          <a:bodyPr wrap="square">
            <a:spAutoFit/>
          </a:bodyPr>
          <a:lstStyle/>
          <a:p>
            <a:pPr algn="l"/>
            <a:r>
              <a:rPr sz="1050" b="1">
                <a:solidFill>
                  <a:srgbClr val="606EF5"/>
                </a:solidFill>
              </a:rPr>
              <a:t>📐 Workflow Builder</a:t>
            </a:r>
          </a:p>
        </p:txBody>
      </p:sp>
      <p:sp>
        <p:nvSpPr>
          <p:cNvPr id="16" name="TextBox 15"/>
          <p:cNvSpPr txBox="1"/>
          <p:nvPr/>
        </p:nvSpPr>
        <p:spPr>
          <a:xfrm>
            <a:off x="10488168" y="1014984"/>
            <a:ext cx="1426464" cy="475488"/>
          </a:xfrm>
          <a:prstGeom prst="rect">
            <a:avLst/>
          </a:prstGeom>
          <a:noFill/>
        </p:spPr>
        <p:txBody>
          <a:bodyPr wrap="square">
            <a:spAutoFit/>
          </a:bodyPr>
          <a:lstStyle/>
          <a:p>
            <a:pPr algn="l"/>
            <a:r>
              <a:rPr sz="900" b="0">
                <a:solidFill>
                  <a:srgbClr val="CBD5E1"/>
                </a:solidFill>
              </a:rPr>
              <a:t>React Flow drag-drop canvas, node config, trigger &amp; run</a:t>
            </a:r>
          </a:p>
        </p:txBody>
      </p:sp>
      <p:sp>
        <p:nvSpPr>
          <p:cNvPr id="17" name="Rectangle 16"/>
          <p:cNvSpPr/>
          <p:nvPr/>
        </p:nvSpPr>
        <p:spPr>
          <a:xfrm>
            <a:off x="320040"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1591056"/>
            <a:ext cx="1188720" cy="475488"/>
          </a:xfrm>
          <a:prstGeom prst="rect">
            <a:avLst/>
          </a:prstGeom>
          <a:noFill/>
        </p:spPr>
        <p:txBody>
          <a:bodyPr wrap="square">
            <a:spAutoFit/>
          </a:bodyPr>
          <a:lstStyle/>
          <a:p>
            <a:pPr algn="l"/>
            <a:r>
              <a:rPr sz="1050" b="1">
                <a:solidFill>
                  <a:srgbClr val="606EF5"/>
                </a:solidFill>
              </a:rPr>
              <a:t>📚 Knowledge Bases</a:t>
            </a:r>
          </a:p>
        </p:txBody>
      </p:sp>
      <p:sp>
        <p:nvSpPr>
          <p:cNvPr id="19" name="TextBox 18"/>
          <p:cNvSpPr txBox="1"/>
          <p:nvPr/>
        </p:nvSpPr>
        <p:spPr>
          <a:xfrm>
            <a:off x="1600200" y="1618488"/>
            <a:ext cx="1426464" cy="475488"/>
          </a:xfrm>
          <a:prstGeom prst="rect">
            <a:avLst/>
          </a:prstGeom>
          <a:noFill/>
        </p:spPr>
        <p:txBody>
          <a:bodyPr wrap="square">
            <a:spAutoFit/>
          </a:bodyPr>
          <a:lstStyle/>
          <a:p>
            <a:pPr algn="l"/>
            <a:r>
              <a:rPr sz="900" b="0">
                <a:solidFill>
                  <a:srgbClr val="CBD5E1"/>
                </a:solidFill>
              </a:rPr>
              <a:t>Create KB, upload docs, view chunk status</a:t>
            </a:r>
          </a:p>
        </p:txBody>
      </p:sp>
      <p:sp>
        <p:nvSpPr>
          <p:cNvPr id="20" name="Rectangle 19"/>
          <p:cNvSpPr/>
          <p:nvPr/>
        </p:nvSpPr>
        <p:spPr>
          <a:xfrm>
            <a:off x="3282696"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74136" y="1591056"/>
            <a:ext cx="1188720" cy="475488"/>
          </a:xfrm>
          <a:prstGeom prst="rect">
            <a:avLst/>
          </a:prstGeom>
          <a:noFill/>
        </p:spPr>
        <p:txBody>
          <a:bodyPr wrap="square">
            <a:spAutoFit/>
          </a:bodyPr>
          <a:lstStyle/>
          <a:p>
            <a:pPr algn="l"/>
            <a:r>
              <a:rPr sz="1050" b="1">
                <a:solidFill>
                  <a:srgbClr val="606EF5"/>
                </a:solidFill>
              </a:rPr>
              <a:t>🎮 Playground</a:t>
            </a:r>
          </a:p>
        </p:txBody>
      </p:sp>
      <p:sp>
        <p:nvSpPr>
          <p:cNvPr id="22" name="TextBox 21"/>
          <p:cNvSpPr txBox="1"/>
          <p:nvPr/>
        </p:nvSpPr>
        <p:spPr>
          <a:xfrm>
            <a:off x="4562856" y="1618488"/>
            <a:ext cx="1426464" cy="475488"/>
          </a:xfrm>
          <a:prstGeom prst="rect">
            <a:avLst/>
          </a:prstGeom>
          <a:noFill/>
        </p:spPr>
        <p:txBody>
          <a:bodyPr wrap="square">
            <a:spAutoFit/>
          </a:bodyPr>
          <a:lstStyle/>
          <a:p>
            <a:pPr algn="l"/>
            <a:r>
              <a:rPr sz="900" b="0">
                <a:solidFill>
                  <a:srgbClr val="CBD5E1"/>
                </a:solidFill>
              </a:rPr>
              <a:t>Interactive agent testing with streaming responses</a:t>
            </a:r>
          </a:p>
        </p:txBody>
      </p:sp>
      <p:sp>
        <p:nvSpPr>
          <p:cNvPr id="23" name="Rectangle 22"/>
          <p:cNvSpPr/>
          <p:nvPr/>
        </p:nvSpPr>
        <p:spPr>
          <a:xfrm>
            <a:off x="6245352"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36792" y="1591056"/>
            <a:ext cx="1188720" cy="475488"/>
          </a:xfrm>
          <a:prstGeom prst="rect">
            <a:avLst/>
          </a:prstGeom>
          <a:noFill/>
        </p:spPr>
        <p:txBody>
          <a:bodyPr wrap="square">
            <a:spAutoFit/>
          </a:bodyPr>
          <a:lstStyle/>
          <a:p>
            <a:pPr algn="l"/>
            <a:r>
              <a:rPr sz="1050" b="1">
                <a:solidFill>
                  <a:srgbClr val="606EF5"/>
                </a:solidFill>
              </a:rPr>
              <a:t>🧪 Evaluations</a:t>
            </a:r>
          </a:p>
        </p:txBody>
      </p:sp>
      <p:sp>
        <p:nvSpPr>
          <p:cNvPr id="25" name="TextBox 24"/>
          <p:cNvSpPr txBox="1"/>
          <p:nvPr/>
        </p:nvSpPr>
        <p:spPr>
          <a:xfrm>
            <a:off x="7525512" y="1618488"/>
            <a:ext cx="1426464" cy="475488"/>
          </a:xfrm>
          <a:prstGeom prst="rect">
            <a:avLst/>
          </a:prstGeom>
          <a:noFill/>
        </p:spPr>
        <p:txBody>
          <a:bodyPr wrap="square">
            <a:spAutoFit/>
          </a:bodyPr>
          <a:lstStyle/>
          <a:p>
            <a:pPr algn="l"/>
            <a:r>
              <a:rPr sz="900" b="0">
                <a:solidFill>
                  <a:srgbClr val="CBD5E1"/>
                </a:solidFill>
              </a:rPr>
              <a:t>Batch test runs, scoring, version comparison</a:t>
            </a:r>
          </a:p>
        </p:txBody>
      </p:sp>
      <p:sp>
        <p:nvSpPr>
          <p:cNvPr id="26" name="Rectangle 25"/>
          <p:cNvSpPr/>
          <p:nvPr/>
        </p:nvSpPr>
        <p:spPr>
          <a:xfrm>
            <a:off x="9208008"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99448" y="1591056"/>
            <a:ext cx="1188720" cy="475488"/>
          </a:xfrm>
          <a:prstGeom prst="rect">
            <a:avLst/>
          </a:prstGeom>
          <a:noFill/>
        </p:spPr>
        <p:txBody>
          <a:bodyPr wrap="square">
            <a:spAutoFit/>
          </a:bodyPr>
          <a:lstStyle/>
          <a:p>
            <a:pPr algn="l"/>
            <a:r>
              <a:rPr sz="1050" b="1">
                <a:solidFill>
                  <a:srgbClr val="606EF5"/>
                </a:solidFill>
              </a:rPr>
              <a:t>🔒 Safety</a:t>
            </a:r>
          </a:p>
        </p:txBody>
      </p:sp>
      <p:sp>
        <p:nvSpPr>
          <p:cNvPr id="28" name="TextBox 27"/>
          <p:cNvSpPr txBox="1"/>
          <p:nvPr/>
        </p:nvSpPr>
        <p:spPr>
          <a:xfrm>
            <a:off x="10488168" y="1618488"/>
            <a:ext cx="1426464" cy="475488"/>
          </a:xfrm>
          <a:prstGeom prst="rect">
            <a:avLst/>
          </a:prstGeom>
          <a:noFill/>
        </p:spPr>
        <p:txBody>
          <a:bodyPr wrap="square">
            <a:spAutoFit/>
          </a:bodyPr>
          <a:lstStyle/>
          <a:p>
            <a:pPr algn="l"/>
            <a:r>
              <a:rPr sz="900" b="0">
                <a:solidFill>
                  <a:srgbClr val="CBD5E1"/>
                </a:solidFill>
              </a:rPr>
              <a:t>Guardrail policies per agent, PII/hallucination config</a:t>
            </a:r>
          </a:p>
        </p:txBody>
      </p:sp>
      <p:sp>
        <p:nvSpPr>
          <p:cNvPr id="29" name="Rectangle 28"/>
          <p:cNvSpPr/>
          <p:nvPr/>
        </p:nvSpPr>
        <p:spPr>
          <a:xfrm>
            <a:off x="320040"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194560"/>
            <a:ext cx="1188720" cy="475488"/>
          </a:xfrm>
          <a:prstGeom prst="rect">
            <a:avLst/>
          </a:prstGeom>
          <a:noFill/>
        </p:spPr>
        <p:txBody>
          <a:bodyPr wrap="square">
            <a:spAutoFit/>
          </a:bodyPr>
          <a:lstStyle/>
          <a:p>
            <a:pPr algn="l"/>
            <a:r>
              <a:rPr sz="1050" b="1">
                <a:solidFill>
                  <a:srgbClr val="606EF5"/>
                </a:solidFill>
              </a:rPr>
              <a:t>📊 Usage &amp; Traceability</a:t>
            </a:r>
          </a:p>
        </p:txBody>
      </p:sp>
      <p:sp>
        <p:nvSpPr>
          <p:cNvPr id="31" name="TextBox 30"/>
          <p:cNvSpPr txBox="1"/>
          <p:nvPr/>
        </p:nvSpPr>
        <p:spPr>
          <a:xfrm>
            <a:off x="1600200" y="2221992"/>
            <a:ext cx="1426464" cy="475488"/>
          </a:xfrm>
          <a:prstGeom prst="rect">
            <a:avLst/>
          </a:prstGeom>
          <a:noFill/>
        </p:spPr>
        <p:txBody>
          <a:bodyPr wrap="square">
            <a:spAutoFit/>
          </a:bodyPr>
          <a:lstStyle/>
          <a:p>
            <a:pPr algn="l"/>
            <a:r>
              <a:rPr sz="900" b="0">
                <a:solidFill>
                  <a:srgbClr val="CBD5E1"/>
                </a:solidFill>
              </a:rPr>
              <a:t>Audit log viewer, latency stats, filter by action/agent</a:t>
            </a:r>
          </a:p>
        </p:txBody>
      </p:sp>
      <p:sp>
        <p:nvSpPr>
          <p:cNvPr id="32" name="Rectangle 31"/>
          <p:cNvSpPr/>
          <p:nvPr/>
        </p:nvSpPr>
        <p:spPr>
          <a:xfrm>
            <a:off x="3282696"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74136" y="2194560"/>
            <a:ext cx="1188720" cy="475488"/>
          </a:xfrm>
          <a:prstGeom prst="rect">
            <a:avLst/>
          </a:prstGeom>
          <a:noFill/>
        </p:spPr>
        <p:txBody>
          <a:bodyPr wrap="square">
            <a:spAutoFit/>
          </a:bodyPr>
          <a:lstStyle/>
          <a:p>
            <a:pPr algn="l"/>
            <a:r>
              <a:rPr sz="1050" b="1">
                <a:solidFill>
                  <a:srgbClr val="606EF5"/>
                </a:solidFill>
              </a:rPr>
              <a:t>🌐 Control Plane</a:t>
            </a:r>
          </a:p>
        </p:txBody>
      </p:sp>
      <p:sp>
        <p:nvSpPr>
          <p:cNvPr id="34" name="TextBox 33"/>
          <p:cNvSpPr txBox="1"/>
          <p:nvPr/>
        </p:nvSpPr>
        <p:spPr>
          <a:xfrm>
            <a:off x="4562856" y="2221992"/>
            <a:ext cx="1426464" cy="475488"/>
          </a:xfrm>
          <a:prstGeom prst="rect">
            <a:avLst/>
          </a:prstGeom>
          <a:noFill/>
        </p:spPr>
        <p:txBody>
          <a:bodyPr wrap="square">
            <a:spAutoFit/>
          </a:bodyPr>
          <a:lstStyle/>
          <a:p>
            <a:pPr algn="l"/>
            <a:r>
              <a:rPr sz="900" b="0">
                <a:solidFill>
                  <a:srgbClr val="CBD5E1"/>
                </a:solidFill>
              </a:rPr>
              <a:t>Live platform stats — agents, runs, guardrail triggers, avg latency</a:t>
            </a:r>
          </a:p>
        </p:txBody>
      </p:sp>
      <p:sp>
        <p:nvSpPr>
          <p:cNvPr id="35" name="Rectangle 34"/>
          <p:cNvSpPr/>
          <p:nvPr/>
        </p:nvSpPr>
        <p:spPr>
          <a:xfrm>
            <a:off x="6245352"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36792" y="2194560"/>
            <a:ext cx="1188720" cy="475488"/>
          </a:xfrm>
          <a:prstGeom prst="rect">
            <a:avLst/>
          </a:prstGeom>
          <a:noFill/>
        </p:spPr>
        <p:txBody>
          <a:bodyPr wrap="square">
            <a:spAutoFit/>
          </a:bodyPr>
          <a:lstStyle/>
          <a:p>
            <a:pPr algn="l"/>
            <a:r>
              <a:rPr sz="1050" b="1">
                <a:solidFill>
                  <a:srgbClr val="606EF5"/>
                </a:solidFill>
              </a:rPr>
              <a:t>🔭 Workflow Observability</a:t>
            </a:r>
          </a:p>
        </p:txBody>
      </p:sp>
      <p:sp>
        <p:nvSpPr>
          <p:cNvPr id="37" name="TextBox 36"/>
          <p:cNvSpPr txBox="1"/>
          <p:nvPr/>
        </p:nvSpPr>
        <p:spPr>
          <a:xfrm>
            <a:off x="7525512" y="2221992"/>
            <a:ext cx="1426464" cy="475488"/>
          </a:xfrm>
          <a:prstGeom prst="rect">
            <a:avLst/>
          </a:prstGeom>
          <a:noFill/>
        </p:spPr>
        <p:txBody>
          <a:bodyPr wrap="square">
            <a:spAutoFit/>
          </a:bodyPr>
          <a:lstStyle/>
          <a:p>
            <a:pPr algn="l"/>
            <a:r>
              <a:rPr sz="900" b="0">
                <a:solidFill>
                  <a:srgbClr val="CBD5E1"/>
                </a:solidFill>
              </a:rPr>
              <a:t>Per-run execution trace, "Awaiting Approval" tracking, Review link</a:t>
            </a:r>
          </a:p>
        </p:txBody>
      </p:sp>
      <p:sp>
        <p:nvSpPr>
          <p:cNvPr id="38" name="Rectangle 37"/>
          <p:cNvSpPr/>
          <p:nvPr/>
        </p:nvSpPr>
        <p:spPr>
          <a:xfrm>
            <a:off x="9208008"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99448" y="2194560"/>
            <a:ext cx="1188720" cy="475488"/>
          </a:xfrm>
          <a:prstGeom prst="rect">
            <a:avLst/>
          </a:prstGeom>
          <a:noFill/>
        </p:spPr>
        <p:txBody>
          <a:bodyPr wrap="square">
            <a:spAutoFit/>
          </a:bodyPr>
          <a:lstStyle/>
          <a:p>
            <a:pPr algn="l"/>
            <a:r>
              <a:rPr sz="1050" b="1">
                <a:solidFill>
                  <a:srgbClr val="606EF5"/>
                </a:solidFill>
              </a:rPr>
              <a:t>✅ Approval Page</a:t>
            </a:r>
          </a:p>
        </p:txBody>
      </p:sp>
      <p:sp>
        <p:nvSpPr>
          <p:cNvPr id="40" name="TextBox 39"/>
          <p:cNvSpPr txBox="1"/>
          <p:nvPr/>
        </p:nvSpPr>
        <p:spPr>
          <a:xfrm>
            <a:off x="10488168" y="2221992"/>
            <a:ext cx="1426464" cy="475488"/>
          </a:xfrm>
          <a:prstGeom prst="rect">
            <a:avLst/>
          </a:prstGeom>
          <a:noFill/>
        </p:spPr>
        <p:txBody>
          <a:bodyPr wrap="square">
            <a:spAutoFit/>
          </a:bodyPr>
          <a:lstStyle/>
          <a:p>
            <a:pPr algn="l"/>
            <a:r>
              <a:rPr sz="900" b="0">
                <a:solidFill>
                  <a:srgbClr val="CBD5E1"/>
                </a:solidFill>
              </a:rPr>
              <a:t>Review a paused run's context, Approve/Reject to resume</a:t>
            </a:r>
          </a:p>
        </p:txBody>
      </p:sp>
      <p:sp>
        <p:nvSpPr>
          <p:cNvPr id="41" name="Rectangle 40"/>
          <p:cNvSpPr/>
          <p:nvPr/>
        </p:nvSpPr>
        <p:spPr>
          <a:xfrm>
            <a:off x="320040"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1480" y="2798064"/>
            <a:ext cx="1188720" cy="475488"/>
          </a:xfrm>
          <a:prstGeom prst="rect">
            <a:avLst/>
          </a:prstGeom>
          <a:noFill/>
        </p:spPr>
        <p:txBody>
          <a:bodyPr wrap="square">
            <a:spAutoFit/>
          </a:bodyPr>
          <a:lstStyle/>
          <a:p>
            <a:pPr algn="l"/>
            <a:r>
              <a:rPr sz="1050" b="1">
                <a:solidFill>
                  <a:srgbClr val="606EF5"/>
                </a:solidFill>
              </a:rPr>
              <a:t>🗣️ Voice Agents</a:t>
            </a:r>
          </a:p>
        </p:txBody>
      </p:sp>
      <p:sp>
        <p:nvSpPr>
          <p:cNvPr id="43" name="TextBox 42"/>
          <p:cNvSpPr txBox="1"/>
          <p:nvPr/>
        </p:nvSpPr>
        <p:spPr>
          <a:xfrm>
            <a:off x="1600200" y="2825496"/>
            <a:ext cx="1426464" cy="475488"/>
          </a:xfrm>
          <a:prstGeom prst="rect">
            <a:avLst/>
          </a:prstGeom>
          <a:noFill/>
        </p:spPr>
        <p:txBody>
          <a:bodyPr wrap="square">
            <a:spAutoFit/>
          </a:bodyPr>
          <a:lstStyle/>
          <a:p>
            <a:pPr algn="l"/>
            <a:r>
              <a:rPr sz="900" b="0">
                <a:solidFill>
                  <a:srgbClr val="CBD5E1"/>
                </a:solidFill>
              </a:rPr>
              <a:t>Voice session management, STT/TTS config, audio test</a:t>
            </a:r>
          </a:p>
        </p:txBody>
      </p:sp>
      <p:sp>
        <p:nvSpPr>
          <p:cNvPr id="44" name="Rectangle 43"/>
          <p:cNvSpPr/>
          <p:nvPr/>
        </p:nvSpPr>
        <p:spPr>
          <a:xfrm>
            <a:off x="3282696"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374136" y="2798064"/>
            <a:ext cx="1188720" cy="475488"/>
          </a:xfrm>
          <a:prstGeom prst="rect">
            <a:avLst/>
          </a:prstGeom>
          <a:noFill/>
        </p:spPr>
        <p:txBody>
          <a:bodyPr wrap="square">
            <a:spAutoFit/>
          </a:bodyPr>
          <a:lstStyle/>
          <a:p>
            <a:pPr algn="l"/>
            <a:r>
              <a:rPr sz="1050" b="1">
                <a:solidFill>
                  <a:srgbClr val="606EF5"/>
                </a:solidFill>
              </a:rPr>
              <a:t>🗂️ Blueprints</a:t>
            </a:r>
          </a:p>
        </p:txBody>
      </p:sp>
      <p:sp>
        <p:nvSpPr>
          <p:cNvPr id="46" name="TextBox 45"/>
          <p:cNvSpPr txBox="1"/>
          <p:nvPr/>
        </p:nvSpPr>
        <p:spPr>
          <a:xfrm>
            <a:off x="4562856" y="2825496"/>
            <a:ext cx="1426464" cy="475488"/>
          </a:xfrm>
          <a:prstGeom prst="rect">
            <a:avLst/>
          </a:prstGeom>
          <a:noFill/>
        </p:spPr>
        <p:txBody>
          <a:bodyPr wrap="square">
            <a:spAutoFit/>
          </a:bodyPr>
          <a:lstStyle/>
          <a:p>
            <a:pPr algn="l"/>
            <a:r>
              <a:rPr sz="900" b="0">
                <a:solidFill>
                  <a:srgbClr val="CBD5E1"/>
                </a:solidFill>
              </a:rPr>
              <a:t>Reusable agent blueprints library, clone to project</a:t>
            </a:r>
          </a:p>
        </p:txBody>
      </p:sp>
      <p:sp>
        <p:nvSpPr>
          <p:cNvPr id="47" name="Rectangle 46"/>
          <p:cNvSpPr/>
          <p:nvPr/>
        </p:nvSpPr>
        <p:spPr>
          <a:xfrm>
            <a:off x="6245352"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36792" y="2798064"/>
            <a:ext cx="1188720" cy="475488"/>
          </a:xfrm>
          <a:prstGeom prst="rect">
            <a:avLst/>
          </a:prstGeom>
          <a:noFill/>
        </p:spPr>
        <p:txBody>
          <a:bodyPr wrap="square">
            <a:spAutoFit/>
          </a:bodyPr>
          <a:lstStyle/>
          <a:p>
            <a:pPr algn="l"/>
            <a:r>
              <a:rPr sz="1050" b="1">
                <a:solidFill>
                  <a:srgbClr val="606EF5"/>
                </a:solidFill>
              </a:rPr>
              <a:t>📝 Prompt Library</a:t>
            </a:r>
          </a:p>
        </p:txBody>
      </p:sp>
      <p:sp>
        <p:nvSpPr>
          <p:cNvPr id="49" name="TextBox 48"/>
          <p:cNvSpPr txBox="1"/>
          <p:nvPr/>
        </p:nvSpPr>
        <p:spPr>
          <a:xfrm>
            <a:off x="7525512" y="2825496"/>
            <a:ext cx="1426464" cy="475488"/>
          </a:xfrm>
          <a:prstGeom prst="rect">
            <a:avLst/>
          </a:prstGeom>
          <a:noFill/>
        </p:spPr>
        <p:txBody>
          <a:bodyPr wrap="square">
            <a:spAutoFit/>
          </a:bodyPr>
          <a:lstStyle/>
          <a:p>
            <a:pPr algn="l"/>
            <a:r>
              <a:rPr sz="900" b="0">
                <a:solidFill>
                  <a:srgbClr val="CBD5E1"/>
                </a:solidFill>
              </a:rPr>
              <a:t>Curated prompts across 10 domains, search, copy-to-agent</a:t>
            </a:r>
          </a:p>
        </p:txBody>
      </p:sp>
      <p:sp>
        <p:nvSpPr>
          <p:cNvPr id="50" name="Rectangle 49"/>
          <p:cNvSpPr/>
          <p:nvPr/>
        </p:nvSpPr>
        <p:spPr>
          <a:xfrm>
            <a:off x="9208008"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99448" y="2798064"/>
            <a:ext cx="1188720" cy="475488"/>
          </a:xfrm>
          <a:prstGeom prst="rect">
            <a:avLst/>
          </a:prstGeom>
          <a:noFill/>
        </p:spPr>
        <p:txBody>
          <a:bodyPr wrap="square">
            <a:spAutoFit/>
          </a:bodyPr>
          <a:lstStyle/>
          <a:p>
            <a:pPr algn="l"/>
            <a:r>
              <a:rPr sz="1050" b="1">
                <a:solidFill>
                  <a:srgbClr val="606EF5"/>
                </a:solidFill>
              </a:rPr>
              <a:t>💡 What Should I Build</a:t>
            </a:r>
          </a:p>
        </p:txBody>
      </p:sp>
      <p:sp>
        <p:nvSpPr>
          <p:cNvPr id="52" name="TextBox 51"/>
          <p:cNvSpPr txBox="1"/>
          <p:nvPr/>
        </p:nvSpPr>
        <p:spPr>
          <a:xfrm>
            <a:off x="10488168" y="2825496"/>
            <a:ext cx="1426464" cy="475488"/>
          </a:xfrm>
          <a:prstGeom prst="rect">
            <a:avLst/>
          </a:prstGeom>
          <a:noFill/>
        </p:spPr>
        <p:txBody>
          <a:bodyPr wrap="square">
            <a:spAutoFit/>
          </a:bodyPr>
          <a:lstStyle/>
          <a:p>
            <a:pPr algn="l"/>
            <a:r>
              <a:rPr sz="900" b="0">
                <a:solidFill>
                  <a:srgbClr val="CBD5E1"/>
                </a:solidFill>
              </a:rPr>
              <a:t>AI-guided project ideation based on use-case description</a:t>
            </a:r>
          </a:p>
        </p:txBody>
      </p:sp>
      <p:sp>
        <p:nvSpPr>
          <p:cNvPr id="53" name="Rectangle 52"/>
          <p:cNvSpPr/>
          <p:nvPr/>
        </p:nvSpPr>
        <p:spPr>
          <a:xfrm>
            <a:off x="320040"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1480" y="3401568"/>
            <a:ext cx="1188720" cy="475488"/>
          </a:xfrm>
          <a:prstGeom prst="rect">
            <a:avLst/>
          </a:prstGeom>
          <a:noFill/>
        </p:spPr>
        <p:txBody>
          <a:bodyPr wrap="square">
            <a:spAutoFit/>
          </a:bodyPr>
          <a:lstStyle/>
          <a:p>
            <a:pPr algn="l"/>
            <a:r>
              <a:rPr sz="1050" b="1">
                <a:solidFill>
                  <a:srgbClr val="606EF5"/>
                </a:solidFill>
              </a:rPr>
              <a:t>🗺️ My Projects</a:t>
            </a:r>
          </a:p>
        </p:txBody>
      </p:sp>
      <p:sp>
        <p:nvSpPr>
          <p:cNvPr id="55" name="TextBox 54"/>
          <p:cNvSpPr txBox="1"/>
          <p:nvPr/>
        </p:nvSpPr>
        <p:spPr>
          <a:xfrm>
            <a:off x="1600200" y="3429000"/>
            <a:ext cx="1426464" cy="475488"/>
          </a:xfrm>
          <a:prstGeom prst="rect">
            <a:avLst/>
          </a:prstGeom>
          <a:noFill/>
        </p:spPr>
        <p:txBody>
          <a:bodyPr wrap="square">
            <a:spAutoFit/>
          </a:bodyPr>
          <a:lstStyle/>
          <a:p>
            <a:pPr algn="l"/>
            <a:r>
              <a:rPr sz="900" b="0">
                <a:solidFill>
                  <a:srgbClr val="CBD5E1"/>
                </a:solidFill>
              </a:rPr>
              <a:t>Project cards, download ZIP, open in Architect</a:t>
            </a:r>
          </a:p>
        </p:txBody>
      </p:sp>
      <p:sp>
        <p:nvSpPr>
          <p:cNvPr id="56" name="Rectangle 55"/>
          <p:cNvSpPr/>
          <p:nvPr/>
        </p:nvSpPr>
        <p:spPr>
          <a:xfrm>
            <a:off x="3282696"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374136" y="3401568"/>
            <a:ext cx="1188720" cy="475488"/>
          </a:xfrm>
          <a:prstGeom prst="rect">
            <a:avLst/>
          </a:prstGeom>
          <a:noFill/>
        </p:spPr>
        <p:txBody>
          <a:bodyPr wrap="square">
            <a:spAutoFit/>
          </a:bodyPr>
          <a:lstStyle/>
          <a:p>
            <a:pPr algn="l"/>
            <a:r>
              <a:rPr sz="1050" b="1">
                <a:solidFill>
                  <a:srgbClr val="606EF5"/>
                </a:solidFill>
              </a:rPr>
              <a:t>🌍 Published Projects</a:t>
            </a:r>
          </a:p>
        </p:txBody>
      </p:sp>
      <p:sp>
        <p:nvSpPr>
          <p:cNvPr id="58" name="TextBox 57"/>
          <p:cNvSpPr txBox="1"/>
          <p:nvPr/>
        </p:nvSpPr>
        <p:spPr>
          <a:xfrm>
            <a:off x="4562856" y="3429000"/>
            <a:ext cx="1426464" cy="475488"/>
          </a:xfrm>
          <a:prstGeom prst="rect">
            <a:avLst/>
          </a:prstGeom>
          <a:noFill/>
        </p:spPr>
        <p:txBody>
          <a:bodyPr wrap="square">
            <a:spAutoFit/>
          </a:bodyPr>
          <a:lstStyle/>
          <a:p>
            <a:pPr algn="l"/>
            <a:r>
              <a:rPr sz="900" b="0">
                <a:solidFill>
                  <a:srgbClr val="CBD5E1"/>
                </a:solidFill>
              </a:rPr>
              <a:t>Published agents visible to org members</a:t>
            </a:r>
          </a:p>
        </p:txBody>
      </p:sp>
      <p:sp>
        <p:nvSpPr>
          <p:cNvPr id="59" name="Rectangle 58"/>
          <p:cNvSpPr/>
          <p:nvPr/>
        </p:nvSpPr>
        <p:spPr>
          <a:xfrm>
            <a:off x="6245352"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36792" y="3401568"/>
            <a:ext cx="1188720" cy="475488"/>
          </a:xfrm>
          <a:prstGeom prst="rect">
            <a:avLst/>
          </a:prstGeom>
          <a:noFill/>
        </p:spPr>
        <p:txBody>
          <a:bodyPr wrap="square">
            <a:spAutoFit/>
          </a:bodyPr>
          <a:lstStyle/>
          <a:p>
            <a:pPr algn="l"/>
            <a:r>
              <a:rPr sz="1050" b="1">
                <a:solidFill>
                  <a:srgbClr val="606EF5"/>
                </a:solidFill>
              </a:rPr>
              <a:t>🤝 Shared Projects</a:t>
            </a:r>
          </a:p>
        </p:txBody>
      </p:sp>
      <p:sp>
        <p:nvSpPr>
          <p:cNvPr id="61" name="TextBox 60"/>
          <p:cNvSpPr txBox="1"/>
          <p:nvPr/>
        </p:nvSpPr>
        <p:spPr>
          <a:xfrm>
            <a:off x="7525512" y="3429000"/>
            <a:ext cx="1426464" cy="475488"/>
          </a:xfrm>
          <a:prstGeom prst="rect">
            <a:avLst/>
          </a:prstGeom>
          <a:noFill/>
        </p:spPr>
        <p:txBody>
          <a:bodyPr wrap="square">
            <a:spAutoFit/>
          </a:bodyPr>
          <a:lstStyle/>
          <a:p>
            <a:pPr algn="l"/>
            <a:r>
              <a:rPr sz="900" b="0">
                <a:solidFill>
                  <a:srgbClr val="CBD5E1"/>
                </a:solidFill>
              </a:rPr>
              <a:t>Projects shared with you across the org</a:t>
            </a:r>
          </a:p>
        </p:txBody>
      </p:sp>
      <p:sp>
        <p:nvSpPr>
          <p:cNvPr id="62" name="Rectangle 61"/>
          <p:cNvSpPr/>
          <p:nvPr/>
        </p:nvSpPr>
        <p:spPr>
          <a:xfrm>
            <a:off x="9208008"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299448" y="3401568"/>
            <a:ext cx="1188720" cy="475488"/>
          </a:xfrm>
          <a:prstGeom prst="rect">
            <a:avLst/>
          </a:prstGeom>
          <a:noFill/>
        </p:spPr>
        <p:txBody>
          <a:bodyPr wrap="square">
            <a:spAutoFit/>
          </a:bodyPr>
          <a:lstStyle/>
          <a:p>
            <a:pPr algn="l"/>
            <a:r>
              <a:rPr sz="1050" b="1">
                <a:solidFill>
                  <a:srgbClr val="606EF5"/>
                </a:solidFill>
              </a:rPr>
              <a:t>🛒 Marketplace</a:t>
            </a:r>
          </a:p>
        </p:txBody>
      </p:sp>
      <p:sp>
        <p:nvSpPr>
          <p:cNvPr id="64" name="TextBox 63"/>
          <p:cNvSpPr txBox="1"/>
          <p:nvPr/>
        </p:nvSpPr>
        <p:spPr>
          <a:xfrm>
            <a:off x="10488168" y="3429000"/>
            <a:ext cx="1426464" cy="475488"/>
          </a:xfrm>
          <a:prstGeom prst="rect">
            <a:avLst/>
          </a:prstGeom>
          <a:noFill/>
        </p:spPr>
        <p:txBody>
          <a:bodyPr wrap="square">
            <a:spAutoFit/>
          </a:bodyPr>
          <a:lstStyle/>
          <a:p>
            <a:pPr algn="l"/>
            <a:r>
              <a:rPr sz="900" b="0">
                <a:solidFill>
                  <a:srgbClr val="CBD5E1"/>
                </a:solidFill>
              </a:rPr>
              <a:t>Community agent templates — import &amp; customise</a:t>
            </a:r>
          </a:p>
        </p:txBody>
      </p:sp>
      <p:sp>
        <p:nvSpPr>
          <p:cNvPr id="65" name="Rectangle 64"/>
          <p:cNvSpPr/>
          <p:nvPr/>
        </p:nvSpPr>
        <p:spPr>
          <a:xfrm>
            <a:off x="320040"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11480" y="4005072"/>
            <a:ext cx="1188720" cy="475488"/>
          </a:xfrm>
          <a:prstGeom prst="rect">
            <a:avLst/>
          </a:prstGeom>
          <a:noFill/>
        </p:spPr>
        <p:txBody>
          <a:bodyPr wrap="square">
            <a:spAutoFit/>
          </a:bodyPr>
          <a:lstStyle/>
          <a:p>
            <a:pPr algn="l"/>
            <a:r>
              <a:rPr sz="1050" b="1">
                <a:solidFill>
                  <a:srgbClr val="606EF5"/>
                </a:solidFill>
              </a:rPr>
              <a:t>🔑 API Keys</a:t>
            </a:r>
          </a:p>
        </p:txBody>
      </p:sp>
      <p:sp>
        <p:nvSpPr>
          <p:cNvPr id="67" name="TextBox 66"/>
          <p:cNvSpPr txBox="1"/>
          <p:nvPr/>
        </p:nvSpPr>
        <p:spPr>
          <a:xfrm>
            <a:off x="1600200" y="4032504"/>
            <a:ext cx="1426464" cy="475488"/>
          </a:xfrm>
          <a:prstGeom prst="rect">
            <a:avLst/>
          </a:prstGeom>
          <a:noFill/>
        </p:spPr>
        <p:txBody>
          <a:bodyPr wrap="square">
            <a:spAutoFit/>
          </a:bodyPr>
          <a:lstStyle/>
          <a:p>
            <a:pPr algn="l"/>
            <a:r>
              <a:rPr sz="900" b="0">
                <a:solidFill>
                  <a:srgbClr val="CBD5E1"/>
                </a:solidFill>
              </a:rPr>
              <a:t>Generate, list, revoke programmatic keys</a:t>
            </a:r>
          </a:p>
        </p:txBody>
      </p:sp>
      <p:sp>
        <p:nvSpPr>
          <p:cNvPr id="68" name="Rectangle 67"/>
          <p:cNvSpPr/>
          <p:nvPr/>
        </p:nvSpPr>
        <p:spPr>
          <a:xfrm>
            <a:off x="3282696"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374136" y="4005072"/>
            <a:ext cx="1188720" cy="475488"/>
          </a:xfrm>
          <a:prstGeom prst="rect">
            <a:avLst/>
          </a:prstGeom>
          <a:noFill/>
        </p:spPr>
        <p:txBody>
          <a:bodyPr wrap="square">
            <a:spAutoFit/>
          </a:bodyPr>
          <a:lstStyle/>
          <a:p>
            <a:pPr algn="l"/>
            <a:r>
              <a:rPr sz="1050" b="1">
                <a:solidFill>
                  <a:srgbClr val="606EF5"/>
                </a:solidFill>
              </a:rPr>
              <a:t>👥 Team Members</a:t>
            </a:r>
          </a:p>
        </p:txBody>
      </p:sp>
      <p:sp>
        <p:nvSpPr>
          <p:cNvPr id="70" name="TextBox 69"/>
          <p:cNvSpPr txBox="1"/>
          <p:nvPr/>
        </p:nvSpPr>
        <p:spPr>
          <a:xfrm>
            <a:off x="4562856" y="4032504"/>
            <a:ext cx="1426464" cy="475488"/>
          </a:xfrm>
          <a:prstGeom prst="rect">
            <a:avLst/>
          </a:prstGeom>
          <a:noFill/>
        </p:spPr>
        <p:txBody>
          <a:bodyPr wrap="square">
            <a:spAutoFit/>
          </a:bodyPr>
          <a:lstStyle/>
          <a:p>
            <a:pPr algn="l"/>
            <a:r>
              <a:rPr sz="900" b="0">
                <a:solidFill>
                  <a:srgbClr val="CBD5E1"/>
                </a:solidFill>
              </a:rPr>
              <a:t>Invite, assign roles, deactivate users</a:t>
            </a:r>
          </a:p>
        </p:txBody>
      </p:sp>
      <p:sp>
        <p:nvSpPr>
          <p:cNvPr id="71" name="Rectangle 70"/>
          <p:cNvSpPr/>
          <p:nvPr/>
        </p:nvSpPr>
        <p:spPr>
          <a:xfrm>
            <a:off x="6245352"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36792" y="4005072"/>
            <a:ext cx="1188720" cy="475488"/>
          </a:xfrm>
          <a:prstGeom prst="rect">
            <a:avLst/>
          </a:prstGeom>
          <a:noFill/>
        </p:spPr>
        <p:txBody>
          <a:bodyPr wrap="square">
            <a:spAutoFit/>
          </a:bodyPr>
          <a:lstStyle/>
          <a:p>
            <a:pPr algn="l"/>
            <a:r>
              <a:rPr sz="1050" b="1">
                <a:solidFill>
                  <a:srgbClr val="606EF5"/>
                </a:solidFill>
              </a:rPr>
              <a:t>📅 Agent Versions</a:t>
            </a:r>
          </a:p>
        </p:txBody>
      </p:sp>
      <p:sp>
        <p:nvSpPr>
          <p:cNvPr id="73" name="TextBox 72"/>
          <p:cNvSpPr txBox="1"/>
          <p:nvPr/>
        </p:nvSpPr>
        <p:spPr>
          <a:xfrm>
            <a:off x="7525512" y="4032504"/>
            <a:ext cx="1426464" cy="475488"/>
          </a:xfrm>
          <a:prstGeom prst="rect">
            <a:avLst/>
          </a:prstGeom>
          <a:noFill/>
        </p:spPr>
        <p:txBody>
          <a:bodyPr wrap="square">
            <a:spAutoFit/>
          </a:bodyPr>
          <a:lstStyle/>
          <a:p>
            <a:pPr algn="l"/>
            <a:r>
              <a:rPr sz="900" b="0">
                <a:solidFill>
                  <a:srgbClr val="CBD5E1"/>
                </a:solidFill>
              </a:rPr>
              <a:t>Version history, diff, rollback</a:t>
            </a:r>
          </a:p>
        </p:txBody>
      </p:sp>
      <p:sp>
        <p:nvSpPr>
          <p:cNvPr id="74" name="Rectangle 73"/>
          <p:cNvSpPr/>
          <p:nvPr/>
        </p:nvSpPr>
        <p:spPr>
          <a:xfrm>
            <a:off x="9208008"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99448" y="4005072"/>
            <a:ext cx="1188720" cy="475488"/>
          </a:xfrm>
          <a:prstGeom prst="rect">
            <a:avLst/>
          </a:prstGeom>
          <a:noFill/>
        </p:spPr>
        <p:txBody>
          <a:bodyPr wrap="square">
            <a:spAutoFit/>
          </a:bodyPr>
          <a:lstStyle/>
          <a:p>
            <a:pPr algn="l"/>
            <a:r>
              <a:rPr sz="1050" b="1">
                <a:solidFill>
                  <a:srgbClr val="606EF5"/>
                </a:solidFill>
              </a:rPr>
              <a:t>👤 Profile</a:t>
            </a:r>
          </a:p>
        </p:txBody>
      </p:sp>
      <p:sp>
        <p:nvSpPr>
          <p:cNvPr id="76" name="TextBox 75"/>
          <p:cNvSpPr txBox="1"/>
          <p:nvPr/>
        </p:nvSpPr>
        <p:spPr>
          <a:xfrm>
            <a:off x="10488168" y="4032504"/>
            <a:ext cx="1426464" cy="475488"/>
          </a:xfrm>
          <a:prstGeom prst="rect">
            <a:avLst/>
          </a:prstGeom>
          <a:noFill/>
        </p:spPr>
        <p:txBody>
          <a:bodyPr wrap="square">
            <a:spAutoFit/>
          </a:bodyPr>
          <a:lstStyle/>
          <a:p>
            <a:pPr algn="l"/>
            <a:r>
              <a:rPr sz="900" b="0">
                <a:solidFill>
                  <a:srgbClr val="CBD5E1"/>
                </a:solidFill>
              </a:rPr>
              <a:t>User profile, password change</a:t>
            </a:r>
          </a:p>
        </p:txBody>
      </p:sp>
      <p:sp>
        <p:nvSpPr>
          <p:cNvPr id="77" name="Rectangle 76"/>
          <p:cNvSpPr/>
          <p:nvPr/>
        </p:nvSpPr>
        <p:spPr>
          <a:xfrm>
            <a:off x="320040" y="458114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11480" y="4608576"/>
            <a:ext cx="1188720" cy="475488"/>
          </a:xfrm>
          <a:prstGeom prst="rect">
            <a:avLst/>
          </a:prstGeom>
          <a:noFill/>
        </p:spPr>
        <p:txBody>
          <a:bodyPr wrap="square">
            <a:spAutoFit/>
          </a:bodyPr>
          <a:lstStyle/>
          <a:p>
            <a:pPr algn="l"/>
            <a:r>
              <a:rPr sz="1050" b="1">
                <a:solidFill>
                  <a:srgbClr val="606EF5"/>
                </a:solidFill>
              </a:rPr>
              <a:t>⚙️ Settings</a:t>
            </a:r>
          </a:p>
        </p:txBody>
      </p:sp>
      <p:sp>
        <p:nvSpPr>
          <p:cNvPr id="79" name="TextBox 78"/>
          <p:cNvSpPr txBox="1"/>
          <p:nvPr/>
        </p:nvSpPr>
        <p:spPr>
          <a:xfrm>
            <a:off x="1600200" y="4636008"/>
            <a:ext cx="1426464" cy="475488"/>
          </a:xfrm>
          <a:prstGeom prst="rect">
            <a:avLst/>
          </a:prstGeom>
          <a:noFill/>
        </p:spPr>
        <p:txBody>
          <a:bodyPr wrap="square">
            <a:spAutoFit/>
          </a:bodyPr>
          <a:lstStyle/>
          <a:p>
            <a:pPr algn="l"/>
            <a:r>
              <a:rPr sz="900" b="0">
                <a:solidFill>
                  <a:srgbClr val="CBD5E1"/>
                </a:solidFill>
              </a:rPr>
              <a:t>Org settings, Azure config, notification prefs</a:t>
            </a:r>
          </a:p>
        </p:txBody>
      </p:sp>
      <p:sp>
        <p:nvSpPr>
          <p:cNvPr id="80" name="TextBox 7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200" b="1">
                <a:solidFill>
                  <a:srgbClr val="FFFFFF"/>
                </a:solidFill>
              </a:rPr>
              <a:t>Developer Setup Guide  — Part 1: Prerequisites &amp; Backend</a:t>
            </a:r>
          </a:p>
        </p:txBody>
      </p:sp>
      <p:sp>
        <p:nvSpPr>
          <p:cNvPr id="5" name="TextBox 4"/>
          <p:cNvSpPr txBox="1"/>
          <p:nvPr/>
        </p:nvSpPr>
        <p:spPr>
          <a:xfrm>
            <a:off x="457200" y="868680"/>
            <a:ext cx="5486400" cy="365760"/>
          </a:xfrm>
          <a:prstGeom prst="rect">
            <a:avLst/>
          </a:prstGeom>
          <a:noFill/>
        </p:spPr>
        <p:txBody>
          <a:bodyPr wrap="square">
            <a:spAutoFit/>
          </a:bodyPr>
          <a:lstStyle/>
          <a:p>
            <a:pPr algn="l"/>
            <a:r>
              <a:rPr sz="1500" b="1">
                <a:solidFill>
                  <a:srgbClr val="606EF5"/>
                </a:solidFill>
              </a:rPr>
              <a:t>📋  Prerequisites</a:t>
            </a:r>
          </a:p>
        </p:txBody>
      </p:sp>
      <p:sp>
        <p:nvSpPr>
          <p:cNvPr id="6" name="TextBox 5"/>
          <p:cNvSpPr txBox="1"/>
          <p:nvPr/>
        </p:nvSpPr>
        <p:spPr>
          <a:xfrm>
            <a:off x="457200" y="1261872"/>
            <a:ext cx="11155680" cy="274320"/>
          </a:xfrm>
          <a:prstGeom prst="rect">
            <a:avLst/>
          </a:prstGeom>
          <a:noFill/>
        </p:spPr>
        <p:txBody>
          <a:bodyPr wrap="square">
            <a:spAutoFit/>
          </a:bodyPr>
          <a:lstStyle/>
          <a:p>
            <a:pPr algn="l"/>
            <a:r>
              <a:rPr sz="1100" b="0">
                <a:solidFill>
                  <a:srgbClr val="CBD5E1"/>
                </a:solidFill>
              </a:rPr>
              <a:t>  Python 3.12+  ·  Node.js 20+ &amp; npm  ·  PostgreSQL 16  ·  Git</a:t>
            </a:r>
          </a:p>
        </p:txBody>
      </p:sp>
      <p:sp>
        <p:nvSpPr>
          <p:cNvPr id="7" name="TextBox 6"/>
          <p:cNvSpPr txBox="1"/>
          <p:nvPr/>
        </p:nvSpPr>
        <p:spPr>
          <a:xfrm>
            <a:off x="457200" y="1554480"/>
            <a:ext cx="11155680" cy="274320"/>
          </a:xfrm>
          <a:prstGeom prst="rect">
            <a:avLst/>
          </a:prstGeom>
          <a:noFill/>
        </p:spPr>
        <p:txBody>
          <a:bodyPr wrap="square">
            <a:spAutoFit/>
          </a:bodyPr>
          <a:lstStyle/>
          <a:p>
            <a:pPr algn="l"/>
            <a:r>
              <a:rPr sz="1100" b="0">
                <a:solidFill>
                  <a:srgbClr val="CBD5E1"/>
                </a:solidFill>
              </a:rPr>
              <a:t>  pgvector extension: CREATE EXTENSION IF NOT EXISTS vector;</a:t>
            </a:r>
          </a:p>
        </p:txBody>
      </p:sp>
      <p:sp>
        <p:nvSpPr>
          <p:cNvPr id="8" name="TextBox 7"/>
          <p:cNvSpPr txBox="1"/>
          <p:nvPr/>
        </p:nvSpPr>
        <p:spPr>
          <a:xfrm>
            <a:off x="457200" y="1847088"/>
            <a:ext cx="11155680" cy="274320"/>
          </a:xfrm>
          <a:prstGeom prst="rect">
            <a:avLst/>
          </a:prstGeom>
          <a:noFill/>
        </p:spPr>
        <p:txBody>
          <a:bodyPr wrap="square">
            <a:spAutoFit/>
          </a:bodyPr>
          <a:lstStyle/>
          <a:p>
            <a:pPr algn="l"/>
            <a:r>
              <a:rPr sz="1100" b="0">
                <a:solidFill>
                  <a:srgbClr val="CBD5E1"/>
                </a:solidFill>
              </a:rPr>
              <a:t>  Azure OpenAI resource with gpt-5.4-mini + gpt-5.4-mini deployments</a:t>
            </a:r>
          </a:p>
        </p:txBody>
      </p:sp>
      <p:sp>
        <p:nvSpPr>
          <p:cNvPr id="9" name="TextBox 8"/>
          <p:cNvSpPr txBox="1"/>
          <p:nvPr/>
        </p:nvSpPr>
        <p:spPr>
          <a:xfrm>
            <a:off x="457200" y="2139696"/>
            <a:ext cx="11155680" cy="274320"/>
          </a:xfrm>
          <a:prstGeom prst="rect">
            <a:avLst/>
          </a:prstGeom>
          <a:noFill/>
        </p:spPr>
        <p:txBody>
          <a:bodyPr wrap="square">
            <a:spAutoFit/>
          </a:bodyPr>
          <a:lstStyle/>
          <a:p>
            <a:pPr algn="l"/>
            <a:r>
              <a:rPr sz="1100" b="0">
                <a:solidFill>
                  <a:srgbClr val="CBD5E1"/>
                </a:solidFill>
              </a:rPr>
              <a:t>  Optional: Azure Speech, Azure AI Search, Azure Monitor</a:t>
            </a:r>
          </a:p>
        </p:txBody>
      </p:sp>
      <p:sp>
        <p:nvSpPr>
          <p:cNvPr id="10" name="TextBox 9"/>
          <p:cNvSpPr txBox="1"/>
          <p:nvPr/>
        </p:nvSpPr>
        <p:spPr>
          <a:xfrm>
            <a:off x="457200" y="2487168"/>
            <a:ext cx="5486400" cy="365760"/>
          </a:xfrm>
          <a:prstGeom prst="rect">
            <a:avLst/>
          </a:prstGeom>
          <a:noFill/>
        </p:spPr>
        <p:txBody>
          <a:bodyPr wrap="square">
            <a:spAutoFit/>
          </a:bodyPr>
          <a:lstStyle/>
          <a:p>
            <a:pPr algn="l"/>
            <a:r>
              <a:rPr sz="1500" b="1">
                <a:solidFill>
                  <a:srgbClr val="10B981"/>
                </a:solidFill>
              </a:rPr>
              <a:t>⚙️  Backend Setup</a:t>
            </a:r>
          </a:p>
        </p:txBody>
      </p:sp>
      <p:sp>
        <p:nvSpPr>
          <p:cNvPr id="11" name="Rectangle 10"/>
          <p:cNvSpPr/>
          <p:nvPr/>
        </p:nvSpPr>
        <p:spPr>
          <a:xfrm>
            <a:off x="457200" y="2916936"/>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916936"/>
            <a:ext cx="292608" cy="292608"/>
          </a:xfrm>
          <a:prstGeom prst="rect">
            <a:avLst/>
          </a:prstGeom>
          <a:noFill/>
        </p:spPr>
        <p:txBody>
          <a:bodyPr wrap="square">
            <a:spAutoFit/>
          </a:bodyPr>
          <a:lstStyle/>
          <a:p>
            <a:pPr algn="ctr"/>
            <a:r>
              <a:rPr sz="1100" b="1">
                <a:solidFill>
                  <a:srgbClr val="FFFFFF"/>
                </a:solidFill>
              </a:rPr>
              <a:t>14</a:t>
            </a:r>
          </a:p>
        </p:txBody>
      </p:sp>
      <p:sp>
        <p:nvSpPr>
          <p:cNvPr id="13" name="TextBox 12"/>
          <p:cNvSpPr txBox="1"/>
          <p:nvPr/>
        </p:nvSpPr>
        <p:spPr>
          <a:xfrm>
            <a:off x="841248" y="2916936"/>
            <a:ext cx="2286000" cy="292608"/>
          </a:xfrm>
          <a:prstGeom prst="rect">
            <a:avLst/>
          </a:prstGeom>
          <a:noFill/>
        </p:spPr>
        <p:txBody>
          <a:bodyPr wrap="square">
            <a:spAutoFit/>
          </a:bodyPr>
          <a:lstStyle/>
          <a:p>
            <a:pPr algn="l"/>
            <a:r>
              <a:rPr sz="1200" b="1">
                <a:solidFill>
                  <a:srgbClr val="FFFFFF"/>
                </a:solidFill>
              </a:rPr>
              <a:t>Clone &amp; enter backend</a:t>
            </a:r>
          </a:p>
        </p:txBody>
      </p:sp>
      <p:sp>
        <p:nvSpPr>
          <p:cNvPr id="14" name="TextBox 13"/>
          <p:cNvSpPr txBox="1"/>
          <p:nvPr/>
        </p:nvSpPr>
        <p:spPr>
          <a:xfrm>
            <a:off x="3200400" y="2880360"/>
            <a:ext cx="8412480" cy="548640"/>
          </a:xfrm>
          <a:prstGeom prst="rect">
            <a:avLst/>
          </a:prstGeom>
          <a:noFill/>
        </p:spPr>
        <p:txBody>
          <a:bodyPr wrap="square">
            <a:spAutoFit/>
          </a:bodyPr>
          <a:lstStyle/>
          <a:p>
            <a:pPr algn="l"/>
            <a:r>
              <a:rPr sz="1000" b="0">
                <a:solidFill>
                  <a:srgbClr val="86EFAC"/>
                </a:solidFill>
              </a:rPr>
              <a:t>git clone &lt;repo&gt;  &amp;&amp;  cd AgentForge/backend</a:t>
            </a:r>
          </a:p>
        </p:txBody>
      </p:sp>
      <p:sp>
        <p:nvSpPr>
          <p:cNvPr id="15" name="Rectangle 14"/>
          <p:cNvSpPr/>
          <p:nvPr/>
        </p:nvSpPr>
        <p:spPr>
          <a:xfrm>
            <a:off x="457200" y="3529584"/>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529584"/>
            <a:ext cx="292608" cy="292608"/>
          </a:xfrm>
          <a:prstGeom prst="rect">
            <a:avLst/>
          </a:prstGeom>
          <a:noFill/>
        </p:spPr>
        <p:txBody>
          <a:bodyPr wrap="square">
            <a:spAutoFit/>
          </a:bodyPr>
          <a:lstStyle/>
          <a:p>
            <a:pPr algn="ctr"/>
            <a:r>
              <a:rPr sz="1100" b="1">
                <a:solidFill>
                  <a:srgbClr val="FFFFFF"/>
                </a:solidFill>
              </a:rPr>
              <a:t>2</a:t>
            </a:r>
          </a:p>
        </p:txBody>
      </p:sp>
      <p:sp>
        <p:nvSpPr>
          <p:cNvPr id="17" name="TextBox 16"/>
          <p:cNvSpPr txBox="1"/>
          <p:nvPr/>
        </p:nvSpPr>
        <p:spPr>
          <a:xfrm>
            <a:off x="841248" y="3529584"/>
            <a:ext cx="2286000" cy="292608"/>
          </a:xfrm>
          <a:prstGeom prst="rect">
            <a:avLst/>
          </a:prstGeom>
          <a:noFill/>
        </p:spPr>
        <p:txBody>
          <a:bodyPr wrap="square">
            <a:spAutoFit/>
          </a:bodyPr>
          <a:lstStyle/>
          <a:p>
            <a:pPr algn="l"/>
            <a:r>
              <a:rPr sz="1200" b="1">
                <a:solidFill>
                  <a:srgbClr val="FFFFFF"/>
                </a:solidFill>
              </a:rPr>
              <a:t>Create virtual environment</a:t>
            </a:r>
          </a:p>
        </p:txBody>
      </p:sp>
      <p:sp>
        <p:nvSpPr>
          <p:cNvPr id="18" name="TextBox 17"/>
          <p:cNvSpPr txBox="1"/>
          <p:nvPr/>
        </p:nvSpPr>
        <p:spPr>
          <a:xfrm>
            <a:off x="3200400" y="3493008"/>
            <a:ext cx="8412480" cy="548640"/>
          </a:xfrm>
          <a:prstGeom prst="rect">
            <a:avLst/>
          </a:prstGeom>
          <a:noFill/>
        </p:spPr>
        <p:txBody>
          <a:bodyPr wrap="square">
            <a:spAutoFit/>
          </a:bodyPr>
          <a:lstStyle/>
          <a:p>
            <a:pPr algn="l"/>
            <a:r>
              <a:rPr sz="1000" b="0">
                <a:solidFill>
                  <a:srgbClr val="86EFAC"/>
                </a:solidFill>
              </a:rPr>
              <a:t>python -m venv venv  &amp;&amp;  .\venv\Scripts\activate  (Windows)
source venv/bin/activate  (Mac/Linux)</a:t>
            </a:r>
          </a:p>
        </p:txBody>
      </p:sp>
      <p:sp>
        <p:nvSpPr>
          <p:cNvPr id="19" name="Rectangle 18"/>
          <p:cNvSpPr/>
          <p:nvPr/>
        </p:nvSpPr>
        <p:spPr>
          <a:xfrm>
            <a:off x="457200" y="4142232"/>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142232"/>
            <a:ext cx="292608" cy="292608"/>
          </a:xfrm>
          <a:prstGeom prst="rect">
            <a:avLst/>
          </a:prstGeom>
          <a:noFill/>
        </p:spPr>
        <p:txBody>
          <a:bodyPr wrap="square">
            <a:spAutoFit/>
          </a:bodyPr>
          <a:lstStyle/>
          <a:p>
            <a:pPr algn="ctr"/>
            <a:r>
              <a:rPr sz="1100" b="1">
                <a:solidFill>
                  <a:srgbClr val="FFFFFF"/>
                </a:solidFill>
              </a:rPr>
              <a:t>3</a:t>
            </a:r>
          </a:p>
        </p:txBody>
      </p:sp>
      <p:sp>
        <p:nvSpPr>
          <p:cNvPr id="21" name="TextBox 20"/>
          <p:cNvSpPr txBox="1"/>
          <p:nvPr/>
        </p:nvSpPr>
        <p:spPr>
          <a:xfrm>
            <a:off x="841248" y="4142232"/>
            <a:ext cx="2286000" cy="292608"/>
          </a:xfrm>
          <a:prstGeom prst="rect">
            <a:avLst/>
          </a:prstGeom>
          <a:noFill/>
        </p:spPr>
        <p:txBody>
          <a:bodyPr wrap="square">
            <a:spAutoFit/>
          </a:bodyPr>
          <a:lstStyle/>
          <a:p>
            <a:pPr algn="l"/>
            <a:r>
              <a:rPr sz="1200" b="1">
                <a:solidFill>
                  <a:srgbClr val="FFFFFF"/>
                </a:solidFill>
              </a:rPr>
              <a:t>Install dependencies</a:t>
            </a:r>
          </a:p>
        </p:txBody>
      </p:sp>
      <p:sp>
        <p:nvSpPr>
          <p:cNvPr id="22" name="TextBox 21"/>
          <p:cNvSpPr txBox="1"/>
          <p:nvPr/>
        </p:nvSpPr>
        <p:spPr>
          <a:xfrm>
            <a:off x="3200400" y="4105656"/>
            <a:ext cx="8412480" cy="548640"/>
          </a:xfrm>
          <a:prstGeom prst="rect">
            <a:avLst/>
          </a:prstGeom>
          <a:noFill/>
        </p:spPr>
        <p:txBody>
          <a:bodyPr wrap="square">
            <a:spAutoFit/>
          </a:bodyPr>
          <a:lstStyle/>
          <a:p>
            <a:pPr algn="l"/>
            <a:r>
              <a:rPr sz="1000" b="0">
                <a:solidFill>
                  <a:srgbClr val="86EFAC"/>
                </a:solidFill>
              </a:rPr>
              <a:t>pip install -r requirements.txt</a:t>
            </a:r>
          </a:p>
        </p:txBody>
      </p:sp>
      <p:sp>
        <p:nvSpPr>
          <p:cNvPr id="23" name="Rectangle 22"/>
          <p:cNvSpPr/>
          <p:nvPr/>
        </p:nvSpPr>
        <p:spPr>
          <a:xfrm>
            <a:off x="457200" y="4754880"/>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754880"/>
            <a:ext cx="292608" cy="292608"/>
          </a:xfrm>
          <a:prstGeom prst="rect">
            <a:avLst/>
          </a:prstGeom>
          <a:noFill/>
        </p:spPr>
        <p:txBody>
          <a:bodyPr wrap="square">
            <a:spAutoFit/>
          </a:bodyPr>
          <a:lstStyle/>
          <a:p>
            <a:pPr algn="ctr"/>
            <a:r>
              <a:rPr sz="1100" b="1">
                <a:solidFill>
                  <a:srgbClr val="FFFFFF"/>
                </a:solidFill>
              </a:rPr>
              <a:t>4</a:t>
            </a:r>
          </a:p>
        </p:txBody>
      </p:sp>
      <p:sp>
        <p:nvSpPr>
          <p:cNvPr id="25" name="TextBox 24"/>
          <p:cNvSpPr txBox="1"/>
          <p:nvPr/>
        </p:nvSpPr>
        <p:spPr>
          <a:xfrm>
            <a:off x="841248" y="4754880"/>
            <a:ext cx="2286000" cy="292608"/>
          </a:xfrm>
          <a:prstGeom prst="rect">
            <a:avLst/>
          </a:prstGeom>
          <a:noFill/>
        </p:spPr>
        <p:txBody>
          <a:bodyPr wrap="square">
            <a:spAutoFit/>
          </a:bodyPr>
          <a:lstStyle/>
          <a:p>
            <a:pPr algn="l"/>
            <a:r>
              <a:rPr sz="1200" b="1">
                <a:solidFill>
                  <a:srgbClr val="FFFFFF"/>
                </a:solidFill>
              </a:rPr>
              <a:t>Configure environment</a:t>
            </a:r>
          </a:p>
        </p:txBody>
      </p:sp>
      <p:sp>
        <p:nvSpPr>
          <p:cNvPr id="26" name="TextBox 25"/>
          <p:cNvSpPr txBox="1"/>
          <p:nvPr/>
        </p:nvSpPr>
        <p:spPr>
          <a:xfrm>
            <a:off x="3200400" y="4718304"/>
            <a:ext cx="8412480" cy="548640"/>
          </a:xfrm>
          <a:prstGeom prst="rect">
            <a:avLst/>
          </a:prstGeom>
          <a:noFill/>
        </p:spPr>
        <p:txBody>
          <a:bodyPr wrap="square">
            <a:spAutoFit/>
          </a:bodyPr>
          <a:lstStyle/>
          <a:p>
            <a:pPr algn="l"/>
            <a:r>
              <a:rPr sz="1000" b="0">
                <a:solidFill>
                  <a:srgbClr val="86EFAC"/>
                </a:solidFill>
              </a:rPr>
              <a:t>Copy .env.example → .env
Set: AZURE_OPENAI_ENDPOINT, AZURE_OPENAI_API_KEY,
     AZURE_OPENAI_DEPLOYMENT_GPT4O=gpt-5.4-mini,
     DATABASE_URL=postgresql+asyncpg://postgres:postgres@localhost:5432/agentforge</a:t>
            </a:r>
          </a:p>
        </p:txBody>
      </p:sp>
      <p:sp>
        <p:nvSpPr>
          <p:cNvPr id="27" name="Rectangle 26"/>
          <p:cNvSpPr/>
          <p:nvPr/>
        </p:nvSpPr>
        <p:spPr>
          <a:xfrm>
            <a:off x="457200" y="5367528"/>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367528"/>
            <a:ext cx="292608" cy="292608"/>
          </a:xfrm>
          <a:prstGeom prst="rect">
            <a:avLst/>
          </a:prstGeom>
          <a:noFill/>
        </p:spPr>
        <p:txBody>
          <a:bodyPr wrap="square">
            <a:spAutoFit/>
          </a:bodyPr>
          <a:lstStyle/>
          <a:p>
            <a:pPr algn="ctr"/>
            <a:r>
              <a:rPr sz="1100" b="1">
                <a:solidFill>
                  <a:srgbClr val="FFFFFF"/>
                </a:solidFill>
              </a:rPr>
              <a:t>5</a:t>
            </a:r>
          </a:p>
        </p:txBody>
      </p:sp>
      <p:sp>
        <p:nvSpPr>
          <p:cNvPr id="29" name="TextBox 28"/>
          <p:cNvSpPr txBox="1"/>
          <p:nvPr/>
        </p:nvSpPr>
        <p:spPr>
          <a:xfrm>
            <a:off x="841248" y="5367528"/>
            <a:ext cx="2286000" cy="292608"/>
          </a:xfrm>
          <a:prstGeom prst="rect">
            <a:avLst/>
          </a:prstGeom>
          <a:noFill/>
        </p:spPr>
        <p:txBody>
          <a:bodyPr wrap="square">
            <a:spAutoFit/>
          </a:bodyPr>
          <a:lstStyle/>
          <a:p>
            <a:pPr algn="l"/>
            <a:r>
              <a:rPr sz="1200" b="1">
                <a:solidFill>
                  <a:srgbClr val="FFFFFF"/>
                </a:solidFill>
              </a:rPr>
              <a:t>Create database</a:t>
            </a:r>
          </a:p>
        </p:txBody>
      </p:sp>
      <p:sp>
        <p:nvSpPr>
          <p:cNvPr id="30" name="TextBox 29"/>
          <p:cNvSpPr txBox="1"/>
          <p:nvPr/>
        </p:nvSpPr>
        <p:spPr>
          <a:xfrm>
            <a:off x="3200400" y="5330952"/>
            <a:ext cx="8412480" cy="548640"/>
          </a:xfrm>
          <a:prstGeom prst="rect">
            <a:avLst/>
          </a:prstGeom>
          <a:noFill/>
        </p:spPr>
        <p:txBody>
          <a:bodyPr wrap="square">
            <a:spAutoFit/>
          </a:bodyPr>
          <a:lstStyle/>
          <a:p>
            <a:pPr algn="l"/>
            <a:r>
              <a:rPr sz="1000" b="0">
                <a:solidFill>
                  <a:srgbClr val="86EFAC"/>
                </a:solidFill>
              </a:rPr>
              <a:t>createdb agentforge  (PostgreSQL CLI)
psql -d agentforge -c 'CREATE EXTENSION IF NOT EXISTS vector;'</a:t>
            </a:r>
          </a:p>
        </p:txBody>
      </p:sp>
      <p:sp>
        <p:nvSpPr>
          <p:cNvPr id="31" name="Rectangle 30"/>
          <p:cNvSpPr/>
          <p:nvPr/>
        </p:nvSpPr>
        <p:spPr>
          <a:xfrm>
            <a:off x="457200" y="5980176"/>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980176"/>
            <a:ext cx="292608" cy="292608"/>
          </a:xfrm>
          <a:prstGeom prst="rect">
            <a:avLst/>
          </a:prstGeom>
          <a:noFill/>
        </p:spPr>
        <p:txBody>
          <a:bodyPr wrap="square">
            <a:spAutoFit/>
          </a:bodyPr>
          <a:lstStyle/>
          <a:p>
            <a:pPr algn="ctr"/>
            <a:r>
              <a:rPr sz="1100" b="1">
                <a:solidFill>
                  <a:srgbClr val="FFFFFF"/>
                </a:solidFill>
              </a:rPr>
              <a:t>6</a:t>
            </a:r>
          </a:p>
        </p:txBody>
      </p:sp>
      <p:sp>
        <p:nvSpPr>
          <p:cNvPr id="33" name="TextBox 32"/>
          <p:cNvSpPr txBox="1"/>
          <p:nvPr/>
        </p:nvSpPr>
        <p:spPr>
          <a:xfrm>
            <a:off x="841248" y="5980176"/>
            <a:ext cx="2286000" cy="292608"/>
          </a:xfrm>
          <a:prstGeom prst="rect">
            <a:avLst/>
          </a:prstGeom>
          <a:noFill/>
        </p:spPr>
        <p:txBody>
          <a:bodyPr wrap="square">
            <a:spAutoFit/>
          </a:bodyPr>
          <a:lstStyle/>
          <a:p>
            <a:pPr algn="l"/>
            <a:r>
              <a:rPr sz="1200" b="1">
                <a:solidFill>
                  <a:srgbClr val="FFFFFF"/>
                </a:solidFill>
              </a:rPr>
              <a:t>Run the API server</a:t>
            </a:r>
          </a:p>
        </p:txBody>
      </p:sp>
      <p:sp>
        <p:nvSpPr>
          <p:cNvPr id="34" name="TextBox 33"/>
          <p:cNvSpPr txBox="1"/>
          <p:nvPr/>
        </p:nvSpPr>
        <p:spPr>
          <a:xfrm>
            <a:off x="3200400" y="5943600"/>
            <a:ext cx="8412480" cy="548640"/>
          </a:xfrm>
          <a:prstGeom prst="rect">
            <a:avLst/>
          </a:prstGeom>
          <a:noFill/>
        </p:spPr>
        <p:txBody>
          <a:bodyPr wrap="square">
            <a:spAutoFit/>
          </a:bodyPr>
          <a:lstStyle/>
          <a:p>
            <a:pPr algn="l"/>
            <a:r>
              <a:rPr sz="1000" b="0">
                <a:solidFill>
                  <a:srgbClr val="86EFAC"/>
                </a:solidFill>
              </a:rPr>
              <a:t>uvicorn app.main:app --reload --port 8000
✅  API: http://localhost:8000
✅  Swagger: http://localhost:8000/docs</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55448"/>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41248"/>
            <a:ext cx="10972800" cy="548640"/>
          </a:xfrm>
          <a:prstGeom prst="rect">
            <a:avLst/>
          </a:prstGeom>
          <a:noFill/>
        </p:spPr>
        <p:txBody>
          <a:bodyPr wrap="square">
            <a:spAutoFit/>
          </a:bodyPr>
          <a:lstStyle/>
          <a:p>
            <a:pPr algn="l"/>
            <a:r>
              <a:rPr sz="2200" b="1" dirty="0">
                <a:solidFill>
                  <a:srgbClr val="FFFFFF"/>
                </a:solidFill>
              </a:rPr>
              <a:t>Developer Setup Guide  — Part 2: Frontend, Ports &amp; Verification</a:t>
            </a:r>
          </a:p>
        </p:txBody>
      </p:sp>
      <p:sp>
        <p:nvSpPr>
          <p:cNvPr id="5" name="TextBox 4"/>
          <p:cNvSpPr txBox="1"/>
          <p:nvPr/>
        </p:nvSpPr>
        <p:spPr>
          <a:xfrm>
            <a:off x="457200" y="1344168"/>
            <a:ext cx="5486400" cy="365760"/>
          </a:xfrm>
          <a:prstGeom prst="rect">
            <a:avLst/>
          </a:prstGeom>
          <a:noFill/>
        </p:spPr>
        <p:txBody>
          <a:bodyPr wrap="square">
            <a:spAutoFit/>
          </a:bodyPr>
          <a:lstStyle/>
          <a:p>
            <a:pPr algn="l"/>
            <a:r>
              <a:rPr sz="1500" b="1">
                <a:solidFill>
                  <a:srgbClr val="606EF5"/>
                </a:solidFill>
              </a:rPr>
              <a:t>🖥️  Frontend Setup</a:t>
            </a:r>
          </a:p>
        </p:txBody>
      </p:sp>
      <p:sp>
        <p:nvSpPr>
          <p:cNvPr id="6" name="Rectangle 5"/>
          <p:cNvSpPr/>
          <p:nvPr/>
        </p:nvSpPr>
        <p:spPr>
          <a:xfrm>
            <a:off x="457200" y="1792224"/>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792224"/>
            <a:ext cx="292608" cy="292608"/>
          </a:xfrm>
          <a:prstGeom prst="rect">
            <a:avLst/>
          </a:prstGeom>
          <a:noFill/>
        </p:spPr>
        <p:txBody>
          <a:bodyPr wrap="square">
            <a:spAutoFit/>
          </a:bodyPr>
          <a:lstStyle/>
          <a:p>
            <a:pPr algn="ctr"/>
            <a:r>
              <a:rPr sz="1100" b="1">
                <a:solidFill>
                  <a:srgbClr val="FFFFFF"/>
                </a:solidFill>
              </a:rPr>
              <a:t>15</a:t>
            </a:r>
          </a:p>
        </p:txBody>
      </p:sp>
      <p:sp>
        <p:nvSpPr>
          <p:cNvPr id="8" name="TextBox 7"/>
          <p:cNvSpPr txBox="1"/>
          <p:nvPr/>
        </p:nvSpPr>
        <p:spPr>
          <a:xfrm>
            <a:off x="841248" y="1792224"/>
            <a:ext cx="2286000" cy="292608"/>
          </a:xfrm>
          <a:prstGeom prst="rect">
            <a:avLst/>
          </a:prstGeom>
          <a:noFill/>
        </p:spPr>
        <p:txBody>
          <a:bodyPr wrap="square">
            <a:spAutoFit/>
          </a:bodyPr>
          <a:lstStyle/>
          <a:p>
            <a:pPr algn="l"/>
            <a:r>
              <a:rPr sz="1200" b="1">
                <a:solidFill>
                  <a:srgbClr val="FFFFFF"/>
                </a:solidFill>
              </a:rPr>
              <a:t>Enter frontend dir</a:t>
            </a:r>
          </a:p>
        </p:txBody>
      </p:sp>
      <p:sp>
        <p:nvSpPr>
          <p:cNvPr id="9" name="TextBox 8"/>
          <p:cNvSpPr txBox="1"/>
          <p:nvPr/>
        </p:nvSpPr>
        <p:spPr>
          <a:xfrm>
            <a:off x="3200400" y="1755648"/>
            <a:ext cx="8412480" cy="566928"/>
          </a:xfrm>
          <a:prstGeom prst="rect">
            <a:avLst/>
          </a:prstGeom>
          <a:noFill/>
        </p:spPr>
        <p:txBody>
          <a:bodyPr wrap="square">
            <a:spAutoFit/>
          </a:bodyPr>
          <a:lstStyle/>
          <a:p>
            <a:pPr algn="l"/>
            <a:r>
              <a:rPr sz="1000" b="0">
                <a:solidFill>
                  <a:srgbClr val="86EFAC"/>
                </a:solidFill>
              </a:rPr>
              <a:t>cd AgentForge/frontend</a:t>
            </a:r>
          </a:p>
        </p:txBody>
      </p:sp>
      <p:sp>
        <p:nvSpPr>
          <p:cNvPr id="10" name="Rectangle 9"/>
          <p:cNvSpPr/>
          <p:nvPr/>
        </p:nvSpPr>
        <p:spPr>
          <a:xfrm>
            <a:off x="457200" y="2450592"/>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450592"/>
            <a:ext cx="292608" cy="292608"/>
          </a:xfrm>
          <a:prstGeom prst="rect">
            <a:avLst/>
          </a:prstGeom>
          <a:noFill/>
        </p:spPr>
        <p:txBody>
          <a:bodyPr wrap="square">
            <a:spAutoFit/>
          </a:bodyPr>
          <a:lstStyle/>
          <a:p>
            <a:pPr algn="ctr"/>
            <a:r>
              <a:rPr sz="1100" b="1">
                <a:solidFill>
                  <a:srgbClr val="FFFFFF"/>
                </a:solidFill>
              </a:rPr>
              <a:t>2</a:t>
            </a:r>
          </a:p>
        </p:txBody>
      </p:sp>
      <p:sp>
        <p:nvSpPr>
          <p:cNvPr id="12" name="TextBox 11"/>
          <p:cNvSpPr txBox="1"/>
          <p:nvPr/>
        </p:nvSpPr>
        <p:spPr>
          <a:xfrm>
            <a:off x="841248" y="2450592"/>
            <a:ext cx="2286000" cy="292608"/>
          </a:xfrm>
          <a:prstGeom prst="rect">
            <a:avLst/>
          </a:prstGeom>
          <a:noFill/>
        </p:spPr>
        <p:txBody>
          <a:bodyPr wrap="square">
            <a:spAutoFit/>
          </a:bodyPr>
          <a:lstStyle/>
          <a:p>
            <a:pPr algn="l"/>
            <a:r>
              <a:rPr sz="1200" b="1">
                <a:solidFill>
                  <a:srgbClr val="FFFFFF"/>
                </a:solidFill>
              </a:rPr>
              <a:t>Install packages</a:t>
            </a:r>
          </a:p>
        </p:txBody>
      </p:sp>
      <p:sp>
        <p:nvSpPr>
          <p:cNvPr id="13" name="TextBox 12"/>
          <p:cNvSpPr txBox="1"/>
          <p:nvPr/>
        </p:nvSpPr>
        <p:spPr>
          <a:xfrm>
            <a:off x="3200400" y="2414016"/>
            <a:ext cx="8412480" cy="566928"/>
          </a:xfrm>
          <a:prstGeom prst="rect">
            <a:avLst/>
          </a:prstGeom>
          <a:noFill/>
        </p:spPr>
        <p:txBody>
          <a:bodyPr wrap="square">
            <a:spAutoFit/>
          </a:bodyPr>
          <a:lstStyle/>
          <a:p>
            <a:pPr algn="l"/>
            <a:r>
              <a:rPr sz="1000" b="0">
                <a:solidFill>
                  <a:srgbClr val="86EFAC"/>
                </a:solidFill>
              </a:rPr>
              <a:t>npm install</a:t>
            </a:r>
          </a:p>
        </p:txBody>
      </p:sp>
      <p:sp>
        <p:nvSpPr>
          <p:cNvPr id="14" name="Rectangle 13"/>
          <p:cNvSpPr/>
          <p:nvPr/>
        </p:nvSpPr>
        <p:spPr>
          <a:xfrm>
            <a:off x="457200" y="3108959"/>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108959"/>
            <a:ext cx="292608" cy="292608"/>
          </a:xfrm>
          <a:prstGeom prst="rect">
            <a:avLst/>
          </a:prstGeom>
          <a:noFill/>
        </p:spPr>
        <p:txBody>
          <a:bodyPr wrap="square">
            <a:spAutoFit/>
          </a:bodyPr>
          <a:lstStyle/>
          <a:p>
            <a:pPr algn="ctr"/>
            <a:r>
              <a:rPr sz="1100" b="1">
                <a:solidFill>
                  <a:srgbClr val="FFFFFF"/>
                </a:solidFill>
              </a:rPr>
              <a:t>3</a:t>
            </a:r>
          </a:p>
        </p:txBody>
      </p:sp>
      <p:sp>
        <p:nvSpPr>
          <p:cNvPr id="16" name="TextBox 15"/>
          <p:cNvSpPr txBox="1"/>
          <p:nvPr/>
        </p:nvSpPr>
        <p:spPr>
          <a:xfrm>
            <a:off x="841248" y="3108959"/>
            <a:ext cx="2286000" cy="292608"/>
          </a:xfrm>
          <a:prstGeom prst="rect">
            <a:avLst/>
          </a:prstGeom>
          <a:noFill/>
        </p:spPr>
        <p:txBody>
          <a:bodyPr wrap="square">
            <a:spAutoFit/>
          </a:bodyPr>
          <a:lstStyle/>
          <a:p>
            <a:pPr algn="l"/>
            <a:r>
              <a:rPr sz="1200" b="1">
                <a:solidFill>
                  <a:srgbClr val="FFFFFF"/>
                </a:solidFill>
              </a:rPr>
              <a:t>Start dev server</a:t>
            </a:r>
          </a:p>
        </p:txBody>
      </p:sp>
      <p:sp>
        <p:nvSpPr>
          <p:cNvPr id="17" name="TextBox 16"/>
          <p:cNvSpPr txBox="1"/>
          <p:nvPr/>
        </p:nvSpPr>
        <p:spPr>
          <a:xfrm>
            <a:off x="3200400" y="3072383"/>
            <a:ext cx="8412480" cy="566928"/>
          </a:xfrm>
          <a:prstGeom prst="rect">
            <a:avLst/>
          </a:prstGeom>
          <a:noFill/>
        </p:spPr>
        <p:txBody>
          <a:bodyPr wrap="square">
            <a:spAutoFit/>
          </a:bodyPr>
          <a:lstStyle/>
          <a:p>
            <a:pPr algn="l"/>
            <a:r>
              <a:rPr sz="1000" b="0">
                <a:solidFill>
                  <a:srgbClr val="86EFAC"/>
                </a:solidFill>
              </a:rPr>
              <a:t>npm run dev
✅  Frontend: http://localhost:5173</a:t>
            </a:r>
          </a:p>
        </p:txBody>
      </p:sp>
      <p:sp>
        <p:nvSpPr>
          <p:cNvPr id="18" name="Rectangle 17"/>
          <p:cNvSpPr/>
          <p:nvPr/>
        </p:nvSpPr>
        <p:spPr>
          <a:xfrm>
            <a:off x="457200" y="3767328"/>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67328"/>
            <a:ext cx="292608" cy="292608"/>
          </a:xfrm>
          <a:prstGeom prst="rect">
            <a:avLst/>
          </a:prstGeom>
          <a:noFill/>
        </p:spPr>
        <p:txBody>
          <a:bodyPr wrap="square">
            <a:spAutoFit/>
          </a:bodyPr>
          <a:lstStyle/>
          <a:p>
            <a:pPr algn="ctr"/>
            <a:r>
              <a:rPr sz="1100" b="1">
                <a:solidFill>
                  <a:srgbClr val="FFFFFF"/>
                </a:solidFill>
              </a:rPr>
              <a:t>4</a:t>
            </a:r>
          </a:p>
        </p:txBody>
      </p:sp>
      <p:sp>
        <p:nvSpPr>
          <p:cNvPr id="20" name="TextBox 19"/>
          <p:cNvSpPr txBox="1"/>
          <p:nvPr/>
        </p:nvSpPr>
        <p:spPr>
          <a:xfrm>
            <a:off x="841248" y="3767328"/>
            <a:ext cx="2286000" cy="292608"/>
          </a:xfrm>
          <a:prstGeom prst="rect">
            <a:avLst/>
          </a:prstGeom>
          <a:noFill/>
        </p:spPr>
        <p:txBody>
          <a:bodyPr wrap="square">
            <a:spAutoFit/>
          </a:bodyPr>
          <a:lstStyle/>
          <a:p>
            <a:pPr algn="l"/>
            <a:r>
              <a:rPr sz="1200" b="1">
                <a:solidFill>
                  <a:srgbClr val="FFFFFF"/>
                </a:solidFill>
              </a:rPr>
              <a:t>Login credentials</a:t>
            </a:r>
          </a:p>
        </p:txBody>
      </p:sp>
      <p:sp>
        <p:nvSpPr>
          <p:cNvPr id="21" name="TextBox 20"/>
          <p:cNvSpPr txBox="1"/>
          <p:nvPr/>
        </p:nvSpPr>
        <p:spPr>
          <a:xfrm>
            <a:off x="3200400" y="3730752"/>
            <a:ext cx="8412480" cy="566928"/>
          </a:xfrm>
          <a:prstGeom prst="rect">
            <a:avLst/>
          </a:prstGeom>
          <a:noFill/>
        </p:spPr>
        <p:txBody>
          <a:bodyPr wrap="square">
            <a:spAutoFit/>
          </a:bodyPr>
          <a:lstStyle/>
          <a:p>
            <a:pPr algn="l"/>
            <a:r>
              <a:rPr sz="1000" b="0">
                <a:solidFill>
                  <a:srgbClr val="86EFAC"/>
                </a:solidFill>
              </a:rPr>
              <a:t>Admin: admin@agentforge.ai / admin123
(seeded automatically on first startup)</a:t>
            </a:r>
          </a:p>
        </p:txBody>
      </p:sp>
      <p:sp>
        <p:nvSpPr>
          <p:cNvPr id="22" name="TextBox 21"/>
          <p:cNvSpPr txBox="1"/>
          <p:nvPr/>
        </p:nvSpPr>
        <p:spPr>
          <a:xfrm>
            <a:off x="457200" y="4087368"/>
            <a:ext cx="5486400" cy="365760"/>
          </a:xfrm>
          <a:prstGeom prst="rect">
            <a:avLst/>
          </a:prstGeom>
          <a:noFill/>
        </p:spPr>
        <p:txBody>
          <a:bodyPr wrap="square">
            <a:spAutoFit/>
          </a:bodyPr>
          <a:lstStyle/>
          <a:p>
            <a:pPr algn="l"/>
            <a:r>
              <a:rPr sz="1500" b="1">
                <a:solidFill>
                  <a:srgbClr val="F59E0B"/>
                </a:solidFill>
              </a:rPr>
              <a:t>🔌  Port Assignment</a:t>
            </a:r>
          </a:p>
        </p:txBody>
      </p:sp>
      <p:sp>
        <p:nvSpPr>
          <p:cNvPr id="23" name="Rectangle 22"/>
          <p:cNvSpPr/>
          <p:nvPr/>
        </p:nvSpPr>
        <p:spPr>
          <a:xfrm>
            <a:off x="320040" y="45445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590288"/>
            <a:ext cx="640080" cy="310896"/>
          </a:xfrm>
          <a:prstGeom prst="rect">
            <a:avLst/>
          </a:prstGeom>
          <a:noFill/>
        </p:spPr>
        <p:txBody>
          <a:bodyPr wrap="square">
            <a:spAutoFit/>
          </a:bodyPr>
          <a:lstStyle/>
          <a:p>
            <a:pPr algn="l"/>
            <a:r>
              <a:rPr sz="1200" b="1">
                <a:solidFill>
                  <a:srgbClr val="F59E0B"/>
                </a:solidFill>
              </a:rPr>
              <a:t>8000</a:t>
            </a:r>
          </a:p>
        </p:txBody>
      </p:sp>
      <p:sp>
        <p:nvSpPr>
          <p:cNvPr id="25" name="TextBox 24"/>
          <p:cNvSpPr txBox="1"/>
          <p:nvPr/>
        </p:nvSpPr>
        <p:spPr>
          <a:xfrm>
            <a:off x="1188720" y="4590288"/>
            <a:ext cx="5029200" cy="310896"/>
          </a:xfrm>
          <a:prstGeom prst="rect">
            <a:avLst/>
          </a:prstGeom>
          <a:noFill/>
        </p:spPr>
        <p:txBody>
          <a:bodyPr wrap="square">
            <a:spAutoFit/>
          </a:bodyPr>
          <a:lstStyle/>
          <a:p>
            <a:pPr algn="l"/>
            <a:r>
              <a:rPr sz="1100" b="0" dirty="0" err="1">
                <a:solidFill>
                  <a:srgbClr val="FFFFFF"/>
                </a:solidFill>
              </a:rPr>
              <a:t>AgentForge</a:t>
            </a:r>
            <a:r>
              <a:rPr sz="1100" b="0" dirty="0">
                <a:solidFill>
                  <a:srgbClr val="FFFFFF"/>
                </a:solidFill>
              </a:rPr>
              <a:t> Backend (FastAPI)</a:t>
            </a:r>
          </a:p>
        </p:txBody>
      </p:sp>
      <p:sp>
        <p:nvSpPr>
          <p:cNvPr id="26" name="TextBox 25"/>
          <p:cNvSpPr txBox="1"/>
          <p:nvPr/>
        </p:nvSpPr>
        <p:spPr>
          <a:xfrm>
            <a:off x="6400800" y="4590288"/>
            <a:ext cx="5303520" cy="310896"/>
          </a:xfrm>
          <a:prstGeom prst="rect">
            <a:avLst/>
          </a:prstGeom>
          <a:noFill/>
        </p:spPr>
        <p:txBody>
          <a:bodyPr wrap="square">
            <a:spAutoFit/>
          </a:bodyPr>
          <a:lstStyle/>
          <a:p>
            <a:pPr algn="l"/>
            <a:r>
              <a:rPr sz="1000" b="0">
                <a:solidFill>
                  <a:srgbClr val="CBD5E1"/>
                </a:solidFill>
              </a:rPr>
              <a:t>Main API, Swagger at /docs</a:t>
            </a:r>
          </a:p>
        </p:txBody>
      </p:sp>
      <p:sp>
        <p:nvSpPr>
          <p:cNvPr id="27" name="Rectangle 26"/>
          <p:cNvSpPr/>
          <p:nvPr/>
        </p:nvSpPr>
        <p:spPr>
          <a:xfrm>
            <a:off x="320040" y="429768"/>
            <a:ext cx="11521440" cy="384048"/>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429768"/>
            <a:ext cx="640080" cy="310896"/>
          </a:xfrm>
          <a:prstGeom prst="rect">
            <a:avLst/>
          </a:prstGeom>
          <a:noFill/>
        </p:spPr>
        <p:txBody>
          <a:bodyPr wrap="square">
            <a:spAutoFit/>
          </a:bodyPr>
          <a:lstStyle/>
          <a:p>
            <a:pPr algn="l"/>
            <a:r>
              <a:rPr sz="1200" b="1">
                <a:solidFill>
                  <a:srgbClr val="F59E0B"/>
                </a:solidFill>
              </a:rPr>
              <a:t>5173</a:t>
            </a:r>
          </a:p>
        </p:txBody>
      </p:sp>
      <p:sp>
        <p:nvSpPr>
          <p:cNvPr id="29" name="TextBox 28"/>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AgentForge Frontend (Vite)</a:t>
            </a:r>
          </a:p>
        </p:txBody>
      </p:sp>
      <p:sp>
        <p:nvSpPr>
          <p:cNvPr id="30" name="TextBox 29"/>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React SPA dev server</a:t>
            </a:r>
          </a:p>
        </p:txBody>
      </p:sp>
      <p:sp>
        <p:nvSpPr>
          <p:cNvPr id="31" name="Rectangle 30"/>
          <p:cNvSpPr/>
          <p:nvPr/>
        </p:nvSpPr>
        <p:spPr>
          <a:xfrm>
            <a:off x="320040" y="4297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429768"/>
            <a:ext cx="640080" cy="310896"/>
          </a:xfrm>
          <a:prstGeom prst="rect">
            <a:avLst/>
          </a:prstGeom>
          <a:noFill/>
        </p:spPr>
        <p:txBody>
          <a:bodyPr wrap="square">
            <a:spAutoFit/>
          </a:bodyPr>
          <a:lstStyle/>
          <a:p>
            <a:pPr algn="l"/>
            <a:r>
              <a:rPr sz="1200" b="1">
                <a:solidFill>
                  <a:srgbClr val="F59E0B"/>
                </a:solidFill>
              </a:rPr>
              <a:t>8001</a:t>
            </a:r>
          </a:p>
        </p:txBody>
      </p:sp>
      <p:sp>
        <p:nvSpPr>
          <p:cNvPr id="33" name="TextBox 32"/>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RAG Scaffold Backend (downloaded ZIP)</a:t>
            </a:r>
          </a:p>
        </p:txBody>
      </p:sp>
      <p:sp>
        <p:nvSpPr>
          <p:cNvPr id="34" name="TextBox 33"/>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Routes: /api/chat, /api/documents</a:t>
            </a:r>
          </a:p>
        </p:txBody>
      </p:sp>
      <p:sp>
        <p:nvSpPr>
          <p:cNvPr id="35" name="Rectangle 34"/>
          <p:cNvSpPr/>
          <p:nvPr/>
        </p:nvSpPr>
        <p:spPr>
          <a:xfrm>
            <a:off x="320040" y="429768"/>
            <a:ext cx="11521440" cy="384048"/>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429768"/>
            <a:ext cx="640080" cy="310896"/>
          </a:xfrm>
          <a:prstGeom prst="rect">
            <a:avLst/>
          </a:prstGeom>
          <a:noFill/>
        </p:spPr>
        <p:txBody>
          <a:bodyPr wrap="square">
            <a:spAutoFit/>
          </a:bodyPr>
          <a:lstStyle/>
          <a:p>
            <a:pPr algn="l"/>
            <a:r>
              <a:rPr sz="1200" b="1">
                <a:solidFill>
                  <a:srgbClr val="F59E0B"/>
                </a:solidFill>
              </a:rPr>
              <a:t>8002</a:t>
            </a:r>
          </a:p>
        </p:txBody>
      </p:sp>
      <p:sp>
        <p:nvSpPr>
          <p:cNvPr id="37" name="TextBox 36"/>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Custom Code Backend (downloaded ZIP)</a:t>
            </a:r>
          </a:p>
        </p:txBody>
      </p:sp>
      <p:sp>
        <p:nvSpPr>
          <p:cNvPr id="38" name="TextBox 37"/>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Routes: /api/ask-question, /api/upload-document</a:t>
            </a:r>
          </a:p>
        </p:txBody>
      </p:sp>
      <p:sp>
        <p:nvSpPr>
          <p:cNvPr id="39" name="Rectangle 38"/>
          <p:cNvSpPr/>
          <p:nvPr/>
        </p:nvSpPr>
        <p:spPr>
          <a:xfrm>
            <a:off x="320040" y="4297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429768"/>
            <a:ext cx="640080" cy="310896"/>
          </a:xfrm>
          <a:prstGeom prst="rect">
            <a:avLst/>
          </a:prstGeom>
          <a:noFill/>
        </p:spPr>
        <p:txBody>
          <a:bodyPr wrap="square">
            <a:spAutoFit/>
          </a:bodyPr>
          <a:lstStyle/>
          <a:p>
            <a:pPr algn="l"/>
            <a:r>
              <a:rPr sz="1200" b="1">
                <a:solidFill>
                  <a:srgbClr val="F59E0B"/>
                </a:solidFill>
              </a:rPr>
              <a:t>5176</a:t>
            </a:r>
          </a:p>
        </p:txBody>
      </p:sp>
      <p:sp>
        <p:nvSpPr>
          <p:cNvPr id="41" name="TextBox 40"/>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RAG Scaffold Frontend (downloaded ZIP)</a:t>
            </a:r>
          </a:p>
        </p:txBody>
      </p:sp>
      <p:sp>
        <p:nvSpPr>
          <p:cNvPr id="42" name="TextBox 41"/>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npm run dev in extracted folder</a:t>
            </a:r>
          </a:p>
        </p:txBody>
      </p:sp>
      <p:sp>
        <p:nvSpPr>
          <p:cNvPr id="43" name="Rectangle 42"/>
          <p:cNvSpPr/>
          <p:nvPr/>
        </p:nvSpPr>
        <p:spPr>
          <a:xfrm>
            <a:off x="320040" y="429768"/>
            <a:ext cx="11521440" cy="384048"/>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0" y="429768"/>
            <a:ext cx="640080" cy="310896"/>
          </a:xfrm>
          <a:prstGeom prst="rect">
            <a:avLst/>
          </a:prstGeom>
          <a:noFill/>
        </p:spPr>
        <p:txBody>
          <a:bodyPr wrap="square">
            <a:spAutoFit/>
          </a:bodyPr>
          <a:lstStyle/>
          <a:p>
            <a:pPr algn="l"/>
            <a:r>
              <a:rPr sz="1200" b="1">
                <a:solidFill>
                  <a:srgbClr val="F59E0B"/>
                </a:solidFill>
              </a:rPr>
              <a:t>5177</a:t>
            </a:r>
          </a:p>
        </p:txBody>
      </p:sp>
      <p:sp>
        <p:nvSpPr>
          <p:cNvPr id="45" name="TextBox 44"/>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Custom Code Frontend (downloaded ZIP)</a:t>
            </a:r>
          </a:p>
        </p:txBody>
      </p:sp>
      <p:sp>
        <p:nvSpPr>
          <p:cNvPr id="46" name="TextBox 45"/>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npm run dev in extracted folder</a:t>
            </a:r>
          </a:p>
        </p:txBody>
      </p:sp>
      <p:sp>
        <p:nvSpPr>
          <p:cNvPr id="47" name="Rectangle 46"/>
          <p:cNvSpPr/>
          <p:nvPr/>
        </p:nvSpPr>
        <p:spPr>
          <a:xfrm>
            <a:off x="320040" y="4297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429768"/>
            <a:ext cx="640080" cy="310896"/>
          </a:xfrm>
          <a:prstGeom prst="rect">
            <a:avLst/>
          </a:prstGeom>
          <a:noFill/>
        </p:spPr>
        <p:txBody>
          <a:bodyPr wrap="square">
            <a:spAutoFit/>
          </a:bodyPr>
          <a:lstStyle/>
          <a:p>
            <a:pPr algn="l"/>
            <a:r>
              <a:rPr sz="1200" b="1">
                <a:solidFill>
                  <a:srgbClr val="F59E0B"/>
                </a:solidFill>
              </a:rPr>
              <a:t>4318</a:t>
            </a:r>
          </a:p>
        </p:txBody>
      </p:sp>
      <p:sp>
        <p:nvSpPr>
          <p:cNvPr id="49" name="TextBox 48"/>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OpenTelemetry OTLP/HTTP (optional)</a:t>
            </a:r>
          </a:p>
        </p:txBody>
      </p:sp>
      <p:sp>
        <p:nvSpPr>
          <p:cNvPr id="50" name="TextBox 49"/>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Jaeger / Grafana OTEL collector</a:t>
            </a:r>
          </a:p>
        </p:txBody>
      </p:sp>
      <p:sp>
        <p:nvSpPr>
          <p:cNvPr id="51" name="TextBox 5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FFFFFF"/>
                </a:solidFill>
              </a:rPr>
              <a:t>Planning Architect — Prompt-to-Agent Deep Dive</a:t>
            </a:r>
          </a:p>
        </p:txBody>
      </p:sp>
      <p:sp>
        <p:nvSpPr>
          <p:cNvPr id="5" name="Rectangle 4"/>
          <p:cNvSpPr/>
          <p:nvPr/>
        </p:nvSpPr>
        <p:spPr>
          <a:xfrm>
            <a:off x="320040" y="96012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09728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97280"/>
            <a:ext cx="347472" cy="347472"/>
          </a:xfrm>
          <a:prstGeom prst="rect">
            <a:avLst/>
          </a:prstGeom>
          <a:noFill/>
        </p:spPr>
        <p:txBody>
          <a:bodyPr wrap="square">
            <a:spAutoFit/>
          </a:bodyPr>
          <a:lstStyle/>
          <a:p>
            <a:pPr algn="ctr"/>
            <a:r>
              <a:rPr sz="1300" b="1">
                <a:solidFill>
                  <a:srgbClr val="FFFFFF"/>
                </a:solidFill>
              </a:rPr>
              <a:t>16</a:t>
            </a:r>
          </a:p>
        </p:txBody>
      </p:sp>
      <p:sp>
        <p:nvSpPr>
          <p:cNvPr id="8" name="TextBox 7"/>
          <p:cNvSpPr txBox="1"/>
          <p:nvPr/>
        </p:nvSpPr>
        <p:spPr>
          <a:xfrm>
            <a:off x="914400" y="1069848"/>
            <a:ext cx="5029200" cy="411480"/>
          </a:xfrm>
          <a:prstGeom prst="rect">
            <a:avLst/>
          </a:prstGeom>
          <a:noFill/>
        </p:spPr>
        <p:txBody>
          <a:bodyPr wrap="square">
            <a:spAutoFit/>
          </a:bodyPr>
          <a:lstStyle/>
          <a:p>
            <a:pPr algn="l"/>
            <a:r>
              <a:rPr sz="1300" b="1">
                <a:solidFill>
                  <a:srgbClr val="FFFFFF"/>
                </a:solidFill>
              </a:rPr>
              <a:t>User describes use case in plain English</a:t>
            </a:r>
          </a:p>
        </p:txBody>
      </p:sp>
      <p:sp>
        <p:nvSpPr>
          <p:cNvPr id="9" name="TextBox 8"/>
          <p:cNvSpPr txBox="1"/>
          <p:nvPr/>
        </p:nvSpPr>
        <p:spPr>
          <a:xfrm>
            <a:off x="457200" y="1554480"/>
            <a:ext cx="5486400" cy="594360"/>
          </a:xfrm>
          <a:prstGeom prst="rect">
            <a:avLst/>
          </a:prstGeom>
          <a:noFill/>
        </p:spPr>
        <p:txBody>
          <a:bodyPr wrap="square">
            <a:spAutoFit/>
          </a:bodyPr>
          <a:lstStyle/>
          <a:p>
            <a:pPr algn="l"/>
            <a:r>
              <a:rPr sz="1100" b="0">
                <a:solidFill>
                  <a:srgbClr val="CBD5E1"/>
                </a:solidFill>
              </a:rPr>
              <a:t>e.g. 'Build a policy analysis agent that ingests company documents and answers compliance questions'</a:t>
            </a:r>
          </a:p>
        </p:txBody>
      </p:sp>
      <p:sp>
        <p:nvSpPr>
          <p:cNvPr id="10" name="Rectangle 9"/>
          <p:cNvSpPr/>
          <p:nvPr/>
        </p:nvSpPr>
        <p:spPr>
          <a:xfrm>
            <a:off x="320040" y="237744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51460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514600"/>
            <a:ext cx="347472" cy="347472"/>
          </a:xfrm>
          <a:prstGeom prst="rect">
            <a:avLst/>
          </a:prstGeom>
          <a:noFill/>
        </p:spPr>
        <p:txBody>
          <a:bodyPr wrap="square">
            <a:spAutoFit/>
          </a:bodyPr>
          <a:lstStyle/>
          <a:p>
            <a:pPr algn="ctr"/>
            <a:r>
              <a:rPr sz="1300" b="1">
                <a:solidFill>
                  <a:srgbClr val="FFFFFF"/>
                </a:solidFill>
              </a:rPr>
              <a:t>2</a:t>
            </a:r>
          </a:p>
        </p:txBody>
      </p:sp>
      <p:sp>
        <p:nvSpPr>
          <p:cNvPr id="13" name="TextBox 12"/>
          <p:cNvSpPr txBox="1"/>
          <p:nvPr/>
        </p:nvSpPr>
        <p:spPr>
          <a:xfrm>
            <a:off x="914400" y="2487168"/>
            <a:ext cx="5029200" cy="411480"/>
          </a:xfrm>
          <a:prstGeom prst="rect">
            <a:avLst/>
          </a:prstGeom>
          <a:noFill/>
        </p:spPr>
        <p:txBody>
          <a:bodyPr wrap="square">
            <a:spAutoFit/>
          </a:bodyPr>
          <a:lstStyle/>
          <a:p>
            <a:pPr algn="l"/>
            <a:r>
              <a:rPr sz="1300" b="1">
                <a:solidFill>
                  <a:srgbClr val="FFFFFF"/>
                </a:solidFill>
              </a:rPr>
              <a:t>GPT-5.4-mini generates full project plan</a:t>
            </a:r>
          </a:p>
        </p:txBody>
      </p:sp>
      <p:sp>
        <p:nvSpPr>
          <p:cNvPr id="14" name="TextBox 13"/>
          <p:cNvSpPr txBox="1"/>
          <p:nvPr/>
        </p:nvSpPr>
        <p:spPr>
          <a:xfrm>
            <a:off x="457200" y="2971800"/>
            <a:ext cx="5486400" cy="594360"/>
          </a:xfrm>
          <a:prstGeom prst="rect">
            <a:avLst/>
          </a:prstGeom>
          <a:noFill/>
        </p:spPr>
        <p:txBody>
          <a:bodyPr wrap="square">
            <a:spAutoFit/>
          </a:bodyPr>
          <a:lstStyle/>
          <a:p>
            <a:pPr algn="l"/>
            <a:r>
              <a:rPr sz="1100" b="0">
                <a:solidFill>
                  <a:srgbClr val="CBD5E1"/>
                </a:solidFill>
              </a:rPr>
              <a:t>Architecture · Tech stack · Agent configs · Tool list · DB schema · Security considerations</a:t>
            </a:r>
          </a:p>
        </p:txBody>
      </p:sp>
      <p:sp>
        <p:nvSpPr>
          <p:cNvPr id="15" name="Rectangle 14"/>
          <p:cNvSpPr/>
          <p:nvPr/>
        </p:nvSpPr>
        <p:spPr>
          <a:xfrm>
            <a:off x="320040" y="379476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93192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931920"/>
            <a:ext cx="347472" cy="347472"/>
          </a:xfrm>
          <a:prstGeom prst="rect">
            <a:avLst/>
          </a:prstGeom>
          <a:noFill/>
        </p:spPr>
        <p:txBody>
          <a:bodyPr wrap="square">
            <a:spAutoFit/>
          </a:bodyPr>
          <a:lstStyle/>
          <a:p>
            <a:pPr algn="ctr"/>
            <a:r>
              <a:rPr sz="1300" b="1">
                <a:solidFill>
                  <a:srgbClr val="FFFFFF"/>
                </a:solidFill>
              </a:rPr>
              <a:t>3</a:t>
            </a:r>
          </a:p>
        </p:txBody>
      </p:sp>
      <p:sp>
        <p:nvSpPr>
          <p:cNvPr id="18" name="TextBox 17"/>
          <p:cNvSpPr txBox="1"/>
          <p:nvPr/>
        </p:nvSpPr>
        <p:spPr>
          <a:xfrm>
            <a:off x="914400" y="3904488"/>
            <a:ext cx="5029200" cy="411480"/>
          </a:xfrm>
          <a:prstGeom prst="rect">
            <a:avLst/>
          </a:prstGeom>
          <a:noFill/>
        </p:spPr>
        <p:txBody>
          <a:bodyPr wrap="square">
            <a:spAutoFit/>
          </a:bodyPr>
          <a:lstStyle/>
          <a:p>
            <a:pPr algn="l"/>
            <a:r>
              <a:rPr sz="1300" b="1">
                <a:solidFill>
                  <a:srgbClr val="FFFFFF"/>
                </a:solidFill>
              </a:rPr>
              <a:t>Agents tab — agent cards generated</a:t>
            </a:r>
          </a:p>
        </p:txBody>
      </p:sp>
      <p:sp>
        <p:nvSpPr>
          <p:cNvPr id="19" name="TextBox 18"/>
          <p:cNvSpPr txBox="1"/>
          <p:nvPr/>
        </p:nvSpPr>
        <p:spPr>
          <a:xfrm>
            <a:off x="457200" y="4389120"/>
            <a:ext cx="5486400" cy="594360"/>
          </a:xfrm>
          <a:prstGeom prst="rect">
            <a:avLst/>
          </a:prstGeom>
          <a:noFill/>
        </p:spPr>
        <p:txBody>
          <a:bodyPr wrap="square">
            <a:spAutoFit/>
          </a:bodyPr>
          <a:lstStyle/>
          <a:p>
            <a:pPr algn="l"/>
            <a:r>
              <a:rPr sz="1100" b="0">
                <a:solidFill>
                  <a:srgbClr val="CBD5E1"/>
                </a:solidFill>
              </a:rPr>
              <a:t>Each agent gets: name, type, model, system prompt, tools list, guardrails config</a:t>
            </a:r>
          </a:p>
        </p:txBody>
      </p:sp>
      <p:sp>
        <p:nvSpPr>
          <p:cNvPr id="20" name="Rectangle 19"/>
          <p:cNvSpPr/>
          <p:nvPr/>
        </p:nvSpPr>
        <p:spPr>
          <a:xfrm>
            <a:off x="320040" y="521208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534924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5349240"/>
            <a:ext cx="347472" cy="347472"/>
          </a:xfrm>
          <a:prstGeom prst="rect">
            <a:avLst/>
          </a:prstGeom>
          <a:noFill/>
        </p:spPr>
        <p:txBody>
          <a:bodyPr wrap="square">
            <a:spAutoFit/>
          </a:bodyPr>
          <a:lstStyle/>
          <a:p>
            <a:pPr algn="ctr"/>
            <a:r>
              <a:rPr sz="1300" b="1">
                <a:solidFill>
                  <a:srgbClr val="FFFFFF"/>
                </a:solidFill>
              </a:rPr>
              <a:t>4</a:t>
            </a:r>
          </a:p>
        </p:txBody>
      </p:sp>
      <p:sp>
        <p:nvSpPr>
          <p:cNvPr id="23" name="TextBox 22"/>
          <p:cNvSpPr txBox="1"/>
          <p:nvPr/>
        </p:nvSpPr>
        <p:spPr>
          <a:xfrm>
            <a:off x="914400" y="5321808"/>
            <a:ext cx="5029200" cy="411480"/>
          </a:xfrm>
          <a:prstGeom prst="rect">
            <a:avLst/>
          </a:prstGeom>
          <a:noFill/>
        </p:spPr>
        <p:txBody>
          <a:bodyPr wrap="square">
            <a:spAutoFit/>
          </a:bodyPr>
          <a:lstStyle/>
          <a:p>
            <a:pPr algn="l"/>
            <a:r>
              <a:rPr sz="1300" b="1">
                <a:solidFill>
                  <a:srgbClr val="FFFFFF"/>
                </a:solidFill>
              </a:rPr>
              <a:t>App tab — live sandbox preview</a:t>
            </a:r>
          </a:p>
        </p:txBody>
      </p:sp>
      <p:sp>
        <p:nvSpPr>
          <p:cNvPr id="24" name="TextBox 23"/>
          <p:cNvSpPr txBox="1"/>
          <p:nvPr/>
        </p:nvSpPr>
        <p:spPr>
          <a:xfrm>
            <a:off x="457200" y="5806440"/>
            <a:ext cx="5486400" cy="594360"/>
          </a:xfrm>
          <a:prstGeom prst="rect">
            <a:avLst/>
          </a:prstGeom>
          <a:noFill/>
        </p:spPr>
        <p:txBody>
          <a:bodyPr wrap="square">
            <a:spAutoFit/>
          </a:bodyPr>
          <a:lstStyle/>
          <a:p>
            <a:pPr algn="l"/>
            <a:r>
              <a:rPr sz="1100" b="0">
                <a:solidFill>
                  <a:srgbClr val="CBD5E1"/>
                </a:solidFill>
              </a:rPr>
              <a:t>Interactive 3-panel chat UI rendered immediately: left sidebar (docs), main chat, right panel (KB stats)</a:t>
            </a:r>
          </a:p>
        </p:txBody>
      </p:sp>
      <p:sp>
        <p:nvSpPr>
          <p:cNvPr id="25" name="Rectangle 24"/>
          <p:cNvSpPr/>
          <p:nvPr/>
        </p:nvSpPr>
        <p:spPr>
          <a:xfrm>
            <a:off x="6309359" y="96012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46519" y="109728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19" y="1097280"/>
            <a:ext cx="347472" cy="347472"/>
          </a:xfrm>
          <a:prstGeom prst="rect">
            <a:avLst/>
          </a:prstGeom>
          <a:noFill/>
        </p:spPr>
        <p:txBody>
          <a:bodyPr wrap="square">
            <a:spAutoFit/>
          </a:bodyPr>
          <a:lstStyle/>
          <a:p>
            <a:pPr algn="ctr"/>
            <a:r>
              <a:rPr sz="1300" b="1">
                <a:solidFill>
                  <a:srgbClr val="FFFFFF"/>
                </a:solidFill>
              </a:rPr>
              <a:t>5</a:t>
            </a:r>
          </a:p>
        </p:txBody>
      </p:sp>
      <p:sp>
        <p:nvSpPr>
          <p:cNvPr id="28" name="TextBox 27"/>
          <p:cNvSpPr txBox="1"/>
          <p:nvPr/>
        </p:nvSpPr>
        <p:spPr>
          <a:xfrm>
            <a:off x="6903719" y="1069848"/>
            <a:ext cx="5029200" cy="411480"/>
          </a:xfrm>
          <a:prstGeom prst="rect">
            <a:avLst/>
          </a:prstGeom>
          <a:noFill/>
        </p:spPr>
        <p:txBody>
          <a:bodyPr wrap="square">
            <a:spAutoFit/>
          </a:bodyPr>
          <a:lstStyle/>
          <a:p>
            <a:pPr algn="l"/>
            <a:r>
              <a:rPr sz="1300" b="1">
                <a:solidFill>
                  <a:srgbClr val="FFFFFF"/>
                </a:solidFill>
              </a:rPr>
              <a:t>Download RAG Scaffold ZIP</a:t>
            </a:r>
          </a:p>
        </p:txBody>
      </p:sp>
      <p:sp>
        <p:nvSpPr>
          <p:cNvPr id="29" name="TextBox 28"/>
          <p:cNvSpPr txBox="1"/>
          <p:nvPr/>
        </p:nvSpPr>
        <p:spPr>
          <a:xfrm>
            <a:off x="6446519" y="1554480"/>
            <a:ext cx="5486400" cy="594360"/>
          </a:xfrm>
          <a:prstGeom prst="rect">
            <a:avLst/>
          </a:prstGeom>
          <a:noFill/>
        </p:spPr>
        <p:txBody>
          <a:bodyPr wrap="square">
            <a:spAutoFit/>
          </a:bodyPr>
          <a:lstStyle/>
          <a:p>
            <a:pPr algn="l"/>
            <a:r>
              <a:rPr sz="1100" b="0" dirty="0">
                <a:solidFill>
                  <a:srgbClr val="CBD5E1"/>
                </a:solidFill>
              </a:rPr>
              <a:t>Complete React + FastAPI project using /</a:t>
            </a:r>
            <a:r>
              <a:rPr sz="1100" b="0" dirty="0" err="1">
                <a:solidFill>
                  <a:srgbClr val="CBD5E1"/>
                </a:solidFill>
              </a:rPr>
              <a:t>api</a:t>
            </a:r>
            <a:r>
              <a:rPr sz="1100" b="0" dirty="0">
                <a:solidFill>
                  <a:srgbClr val="CBD5E1"/>
                </a:solidFill>
              </a:rPr>
              <a:t>/chat + /</a:t>
            </a:r>
            <a:r>
              <a:rPr sz="1100" b="0" dirty="0" err="1">
                <a:solidFill>
                  <a:srgbClr val="CBD5E1"/>
                </a:solidFill>
              </a:rPr>
              <a:t>api</a:t>
            </a:r>
            <a:r>
              <a:rPr sz="1100" b="0" dirty="0">
                <a:solidFill>
                  <a:srgbClr val="CBD5E1"/>
                </a:solidFill>
              </a:rPr>
              <a:t>/documents routes → proxy target port 8001</a:t>
            </a:r>
          </a:p>
        </p:txBody>
      </p:sp>
      <p:sp>
        <p:nvSpPr>
          <p:cNvPr id="30" name="Rectangle 29"/>
          <p:cNvSpPr/>
          <p:nvPr/>
        </p:nvSpPr>
        <p:spPr>
          <a:xfrm>
            <a:off x="6309359" y="237744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46519" y="251460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46519" y="2514600"/>
            <a:ext cx="347472" cy="347472"/>
          </a:xfrm>
          <a:prstGeom prst="rect">
            <a:avLst/>
          </a:prstGeom>
          <a:noFill/>
        </p:spPr>
        <p:txBody>
          <a:bodyPr wrap="square">
            <a:spAutoFit/>
          </a:bodyPr>
          <a:lstStyle/>
          <a:p>
            <a:pPr algn="ctr"/>
            <a:r>
              <a:rPr sz="1300" b="1">
                <a:solidFill>
                  <a:srgbClr val="FFFFFF"/>
                </a:solidFill>
              </a:rPr>
              <a:t>6</a:t>
            </a:r>
          </a:p>
        </p:txBody>
      </p:sp>
      <p:sp>
        <p:nvSpPr>
          <p:cNvPr id="33" name="TextBox 32"/>
          <p:cNvSpPr txBox="1"/>
          <p:nvPr/>
        </p:nvSpPr>
        <p:spPr>
          <a:xfrm>
            <a:off x="6903719" y="2487168"/>
            <a:ext cx="5029200" cy="411480"/>
          </a:xfrm>
          <a:prstGeom prst="rect">
            <a:avLst/>
          </a:prstGeom>
          <a:noFill/>
        </p:spPr>
        <p:txBody>
          <a:bodyPr wrap="square">
            <a:spAutoFit/>
          </a:bodyPr>
          <a:lstStyle/>
          <a:p>
            <a:pPr algn="l"/>
            <a:r>
              <a:rPr sz="1300" b="1">
                <a:solidFill>
                  <a:srgbClr val="FFFFFF"/>
                </a:solidFill>
              </a:rPr>
              <a:t>Download Custom Code ZIP</a:t>
            </a:r>
          </a:p>
        </p:txBody>
      </p:sp>
      <p:sp>
        <p:nvSpPr>
          <p:cNvPr id="34" name="TextBox 33"/>
          <p:cNvSpPr txBox="1"/>
          <p:nvPr/>
        </p:nvSpPr>
        <p:spPr>
          <a:xfrm>
            <a:off x="6446519" y="2971800"/>
            <a:ext cx="5486400" cy="594360"/>
          </a:xfrm>
          <a:prstGeom prst="rect">
            <a:avLst/>
          </a:prstGeom>
          <a:noFill/>
        </p:spPr>
        <p:txBody>
          <a:bodyPr wrap="square">
            <a:spAutoFit/>
          </a:bodyPr>
          <a:lstStyle/>
          <a:p>
            <a:pPr algn="l"/>
            <a:r>
              <a:rPr sz="1100" b="0">
                <a:solidFill>
                  <a:srgbClr val="CBD5E1"/>
                </a:solidFill>
              </a:rPr>
              <a:t>GPT-5.4-mini generates bespoke App.tsx → renderMarkdown + /api/ask-question + /api/upload-document → port 8002</a:t>
            </a:r>
          </a:p>
        </p:txBody>
      </p:sp>
      <p:sp>
        <p:nvSpPr>
          <p:cNvPr id="35" name="Rectangle 34"/>
          <p:cNvSpPr/>
          <p:nvPr/>
        </p:nvSpPr>
        <p:spPr>
          <a:xfrm>
            <a:off x="6309359" y="379476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446519" y="393192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46519" y="3931920"/>
            <a:ext cx="347472" cy="347472"/>
          </a:xfrm>
          <a:prstGeom prst="rect">
            <a:avLst/>
          </a:prstGeom>
          <a:noFill/>
        </p:spPr>
        <p:txBody>
          <a:bodyPr wrap="square">
            <a:spAutoFit/>
          </a:bodyPr>
          <a:lstStyle/>
          <a:p>
            <a:pPr algn="ctr"/>
            <a:r>
              <a:rPr sz="1300" b="1">
                <a:solidFill>
                  <a:srgbClr val="FFFFFF"/>
                </a:solidFill>
              </a:rPr>
              <a:t>7</a:t>
            </a:r>
          </a:p>
        </p:txBody>
      </p:sp>
      <p:sp>
        <p:nvSpPr>
          <p:cNvPr id="38" name="TextBox 37"/>
          <p:cNvSpPr txBox="1"/>
          <p:nvPr/>
        </p:nvSpPr>
        <p:spPr>
          <a:xfrm>
            <a:off x="6903719" y="3904488"/>
            <a:ext cx="5029200" cy="411480"/>
          </a:xfrm>
          <a:prstGeom prst="rect">
            <a:avLst/>
          </a:prstGeom>
          <a:noFill/>
        </p:spPr>
        <p:txBody>
          <a:bodyPr wrap="square">
            <a:spAutoFit/>
          </a:bodyPr>
          <a:lstStyle/>
          <a:p>
            <a:pPr algn="l"/>
            <a:r>
              <a:rPr sz="1300" b="1">
                <a:solidFill>
                  <a:srgbClr val="FFFFFF"/>
                </a:solidFill>
              </a:rPr>
              <a:t>Database tab — entity diagram</a:t>
            </a:r>
          </a:p>
        </p:txBody>
      </p:sp>
      <p:sp>
        <p:nvSpPr>
          <p:cNvPr id="39" name="TextBox 38"/>
          <p:cNvSpPr txBox="1"/>
          <p:nvPr/>
        </p:nvSpPr>
        <p:spPr>
          <a:xfrm>
            <a:off x="6446519" y="4389120"/>
            <a:ext cx="5486400" cy="594360"/>
          </a:xfrm>
          <a:prstGeom prst="rect">
            <a:avLst/>
          </a:prstGeom>
          <a:noFill/>
        </p:spPr>
        <p:txBody>
          <a:bodyPr wrap="square">
            <a:spAutoFit/>
          </a:bodyPr>
          <a:lstStyle/>
          <a:p>
            <a:pPr algn="l"/>
            <a:r>
              <a:rPr sz="1100" b="0">
                <a:solidFill>
                  <a:srgbClr val="CBD5E1"/>
                </a:solidFill>
              </a:rPr>
              <a:t>Auto-generated PostgreSQL schema matching the planned agent's data requirements</a:t>
            </a:r>
          </a:p>
        </p:txBody>
      </p:sp>
      <p:sp>
        <p:nvSpPr>
          <p:cNvPr id="40" name="TextBox 3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600" b="1">
                <a:solidFill>
                  <a:srgbClr val="FFFFFF"/>
                </a:solidFill>
              </a:rPr>
              <a:t>Enterprise Guardrails &amp; Safety Engine</a:t>
            </a:r>
          </a:p>
        </p:txBody>
      </p:sp>
      <p:sp>
        <p:nvSpPr>
          <p:cNvPr id="5" name="Rectangle 4"/>
          <p:cNvSpPr/>
          <p:nvPr/>
        </p:nvSpPr>
        <p:spPr>
          <a:xfrm>
            <a:off x="365760" y="1097280"/>
            <a:ext cx="2011680"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143000"/>
            <a:ext cx="1920240" cy="685800"/>
          </a:xfrm>
          <a:prstGeom prst="rect">
            <a:avLst/>
          </a:prstGeom>
          <a:noFill/>
        </p:spPr>
        <p:txBody>
          <a:bodyPr wrap="square">
            <a:spAutoFit/>
          </a:bodyPr>
          <a:lstStyle/>
          <a:p>
            <a:pPr algn="ctr"/>
            <a:r>
              <a:rPr sz="1200" b="1">
                <a:solidFill>
                  <a:srgbClr val="FFFFFF"/>
                </a:solidFill>
              </a:rPr>
              <a:t>User Input</a:t>
            </a:r>
          </a:p>
        </p:txBody>
      </p:sp>
      <p:sp>
        <p:nvSpPr>
          <p:cNvPr id="7" name="TextBox 6"/>
          <p:cNvSpPr txBox="1"/>
          <p:nvPr/>
        </p:nvSpPr>
        <p:spPr>
          <a:xfrm>
            <a:off x="2331720" y="1266444"/>
            <a:ext cx="457200" cy="365760"/>
          </a:xfrm>
          <a:prstGeom prst="rect">
            <a:avLst/>
          </a:prstGeom>
          <a:noFill/>
        </p:spPr>
        <p:txBody>
          <a:bodyPr wrap="square">
            <a:spAutoFit/>
          </a:bodyPr>
          <a:lstStyle/>
          <a:p>
            <a:pPr algn="l"/>
            <a:r>
              <a:rPr sz="2200" b="1" dirty="0">
                <a:solidFill>
                  <a:srgbClr val="606EF5"/>
                </a:solidFill>
              </a:rPr>
              <a:t>→</a:t>
            </a:r>
          </a:p>
        </p:txBody>
      </p:sp>
      <p:sp>
        <p:nvSpPr>
          <p:cNvPr id="8" name="Rectangle 7"/>
          <p:cNvSpPr/>
          <p:nvPr/>
        </p:nvSpPr>
        <p:spPr>
          <a:xfrm>
            <a:off x="2651760" y="109728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97480" y="1143000"/>
            <a:ext cx="1920240" cy="685800"/>
          </a:xfrm>
          <a:prstGeom prst="rect">
            <a:avLst/>
          </a:prstGeom>
          <a:noFill/>
        </p:spPr>
        <p:txBody>
          <a:bodyPr wrap="square">
            <a:spAutoFit/>
          </a:bodyPr>
          <a:lstStyle/>
          <a:p>
            <a:pPr algn="ctr"/>
            <a:r>
              <a:rPr sz="1200" b="1">
                <a:solidFill>
                  <a:srgbClr val="FFFFFF"/>
                </a:solidFill>
              </a:rPr>
              <a:t>Guardrails Check</a:t>
            </a:r>
          </a:p>
        </p:txBody>
      </p:sp>
      <p:sp>
        <p:nvSpPr>
          <p:cNvPr id="10" name="TextBox 9"/>
          <p:cNvSpPr txBox="1"/>
          <p:nvPr/>
        </p:nvSpPr>
        <p:spPr>
          <a:xfrm>
            <a:off x="4617720" y="1266444"/>
            <a:ext cx="457200" cy="365760"/>
          </a:xfrm>
          <a:prstGeom prst="rect">
            <a:avLst/>
          </a:prstGeom>
          <a:noFill/>
        </p:spPr>
        <p:txBody>
          <a:bodyPr wrap="square">
            <a:spAutoFit/>
          </a:bodyPr>
          <a:lstStyle/>
          <a:p>
            <a:pPr algn="l"/>
            <a:r>
              <a:rPr sz="2200" b="1" dirty="0">
                <a:solidFill>
                  <a:srgbClr val="606EF5"/>
                </a:solidFill>
              </a:rPr>
              <a:t>→</a:t>
            </a:r>
          </a:p>
        </p:txBody>
      </p:sp>
      <p:sp>
        <p:nvSpPr>
          <p:cNvPr id="11" name="Rectangle 10"/>
          <p:cNvSpPr/>
          <p:nvPr/>
        </p:nvSpPr>
        <p:spPr>
          <a:xfrm>
            <a:off x="4937760" y="109728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83480" y="1143000"/>
            <a:ext cx="1920240" cy="685800"/>
          </a:xfrm>
          <a:prstGeom prst="rect">
            <a:avLst/>
          </a:prstGeom>
          <a:noFill/>
        </p:spPr>
        <p:txBody>
          <a:bodyPr wrap="square">
            <a:spAutoFit/>
          </a:bodyPr>
          <a:lstStyle/>
          <a:p>
            <a:pPr algn="ctr"/>
            <a:r>
              <a:rPr sz="1200" b="1">
                <a:solidFill>
                  <a:srgbClr val="FFFFFF"/>
                </a:solidFill>
              </a:rPr>
              <a:t>PII Redaction
(Presidio)</a:t>
            </a:r>
          </a:p>
        </p:txBody>
      </p:sp>
      <p:sp>
        <p:nvSpPr>
          <p:cNvPr id="13" name="TextBox 12"/>
          <p:cNvSpPr txBox="1"/>
          <p:nvPr/>
        </p:nvSpPr>
        <p:spPr>
          <a:xfrm>
            <a:off x="6885306" y="1266444"/>
            <a:ext cx="457200" cy="365760"/>
          </a:xfrm>
          <a:prstGeom prst="rect">
            <a:avLst/>
          </a:prstGeom>
          <a:noFill/>
        </p:spPr>
        <p:txBody>
          <a:bodyPr wrap="square">
            <a:spAutoFit/>
          </a:bodyPr>
          <a:lstStyle/>
          <a:p>
            <a:pPr algn="l"/>
            <a:r>
              <a:rPr sz="2200" b="1" dirty="0">
                <a:solidFill>
                  <a:srgbClr val="606EF5"/>
                </a:solidFill>
              </a:rPr>
              <a:t>→</a:t>
            </a:r>
          </a:p>
        </p:txBody>
      </p:sp>
      <p:sp>
        <p:nvSpPr>
          <p:cNvPr id="14" name="Rectangle 13"/>
          <p:cNvSpPr/>
          <p:nvPr/>
        </p:nvSpPr>
        <p:spPr>
          <a:xfrm>
            <a:off x="7223760" y="109728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69480" y="1143000"/>
            <a:ext cx="1920240" cy="685800"/>
          </a:xfrm>
          <a:prstGeom prst="rect">
            <a:avLst/>
          </a:prstGeom>
          <a:noFill/>
        </p:spPr>
        <p:txBody>
          <a:bodyPr wrap="square">
            <a:spAutoFit/>
          </a:bodyPr>
          <a:lstStyle/>
          <a:p>
            <a:pPr algn="ctr"/>
            <a:r>
              <a:rPr sz="1200" b="1">
                <a:solidFill>
                  <a:srgbClr val="FFFFFF"/>
                </a:solidFill>
              </a:rPr>
              <a:t>Hallucination
Detection</a:t>
            </a:r>
          </a:p>
        </p:txBody>
      </p:sp>
      <p:sp>
        <p:nvSpPr>
          <p:cNvPr id="16" name="TextBox 15"/>
          <p:cNvSpPr txBox="1"/>
          <p:nvPr/>
        </p:nvSpPr>
        <p:spPr>
          <a:xfrm>
            <a:off x="9180576" y="1280160"/>
            <a:ext cx="457200" cy="365760"/>
          </a:xfrm>
          <a:prstGeom prst="rect">
            <a:avLst/>
          </a:prstGeom>
          <a:noFill/>
        </p:spPr>
        <p:txBody>
          <a:bodyPr wrap="square">
            <a:spAutoFit/>
          </a:bodyPr>
          <a:lstStyle/>
          <a:p>
            <a:pPr algn="l"/>
            <a:r>
              <a:rPr sz="2200" b="1" dirty="0">
                <a:solidFill>
                  <a:srgbClr val="606EF5"/>
                </a:solidFill>
              </a:rPr>
              <a:t>→</a:t>
            </a:r>
          </a:p>
        </p:txBody>
      </p:sp>
      <p:sp>
        <p:nvSpPr>
          <p:cNvPr id="17" name="Rectangle 16"/>
          <p:cNvSpPr/>
          <p:nvPr/>
        </p:nvSpPr>
        <p:spPr>
          <a:xfrm>
            <a:off x="9509760" y="1097280"/>
            <a:ext cx="20116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55480" y="1143000"/>
            <a:ext cx="1920240" cy="685800"/>
          </a:xfrm>
          <a:prstGeom prst="rect">
            <a:avLst/>
          </a:prstGeom>
          <a:noFill/>
        </p:spPr>
        <p:txBody>
          <a:bodyPr wrap="square">
            <a:spAutoFit/>
          </a:bodyPr>
          <a:lstStyle/>
          <a:p>
            <a:pPr algn="ctr"/>
            <a:r>
              <a:rPr sz="1200" b="1">
                <a:solidFill>
                  <a:srgbClr val="FFFFFF"/>
                </a:solidFill>
              </a:rPr>
              <a:t>Agent Response
(Sanitized)</a:t>
            </a:r>
          </a:p>
        </p:txBody>
      </p:sp>
      <p:sp>
        <p:nvSpPr>
          <p:cNvPr id="19" name="Rectangle 18"/>
          <p:cNvSpPr/>
          <p:nvPr/>
        </p:nvSpPr>
        <p:spPr>
          <a:xfrm>
            <a:off x="320040" y="2194560"/>
            <a:ext cx="3749039" cy="4114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2194560"/>
            <a:ext cx="3749039"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 y="2249424"/>
            <a:ext cx="3657600" cy="320040"/>
          </a:xfrm>
          <a:prstGeom prst="rect">
            <a:avLst/>
          </a:prstGeom>
          <a:noFill/>
        </p:spPr>
        <p:txBody>
          <a:bodyPr wrap="square">
            <a:spAutoFit/>
          </a:bodyPr>
          <a:lstStyle/>
          <a:p>
            <a:pPr algn="l"/>
            <a:r>
              <a:rPr sz="1300" b="1">
                <a:solidFill>
                  <a:srgbClr val="FFFFFF"/>
                </a:solidFill>
              </a:rPr>
              <a:t>🔍 PII Entities Detected</a:t>
            </a:r>
          </a:p>
        </p:txBody>
      </p:sp>
      <p:sp>
        <p:nvSpPr>
          <p:cNvPr id="22" name="TextBox 21"/>
          <p:cNvSpPr txBox="1"/>
          <p:nvPr/>
        </p:nvSpPr>
        <p:spPr>
          <a:xfrm>
            <a:off x="429768" y="2706624"/>
            <a:ext cx="3566160" cy="502920"/>
          </a:xfrm>
          <a:prstGeom prst="rect">
            <a:avLst/>
          </a:prstGeom>
          <a:noFill/>
        </p:spPr>
        <p:txBody>
          <a:bodyPr wrap="square">
            <a:spAutoFit/>
          </a:bodyPr>
          <a:lstStyle/>
          <a:p>
            <a:pPr algn="l"/>
            <a:r>
              <a:rPr sz="1100" b="0">
                <a:solidFill>
                  <a:srgbClr val="CBD5E1"/>
                </a:solidFill>
              </a:rPr>
              <a:t>• EMAIL_ADDRESS — e.g. john@example.com → &lt;EMAIL&gt;</a:t>
            </a:r>
          </a:p>
        </p:txBody>
      </p:sp>
      <p:sp>
        <p:nvSpPr>
          <p:cNvPr id="23" name="TextBox 22"/>
          <p:cNvSpPr txBox="1"/>
          <p:nvPr/>
        </p:nvSpPr>
        <p:spPr>
          <a:xfrm>
            <a:off x="429768" y="3282696"/>
            <a:ext cx="3566160" cy="502920"/>
          </a:xfrm>
          <a:prstGeom prst="rect">
            <a:avLst/>
          </a:prstGeom>
          <a:noFill/>
        </p:spPr>
        <p:txBody>
          <a:bodyPr wrap="square">
            <a:spAutoFit/>
          </a:bodyPr>
          <a:lstStyle/>
          <a:p>
            <a:pPr algn="l"/>
            <a:r>
              <a:rPr sz="1100" b="0">
                <a:solidFill>
                  <a:srgbClr val="CBD5E1"/>
                </a:solidFill>
              </a:rPr>
              <a:t>• PHONE_NUMBER — e.g. 555-123-4567 → &lt;PHONE_NUMBER&gt;</a:t>
            </a:r>
          </a:p>
        </p:txBody>
      </p:sp>
      <p:sp>
        <p:nvSpPr>
          <p:cNvPr id="24" name="TextBox 23"/>
          <p:cNvSpPr txBox="1"/>
          <p:nvPr/>
        </p:nvSpPr>
        <p:spPr>
          <a:xfrm>
            <a:off x="429768" y="3858768"/>
            <a:ext cx="3566160" cy="502920"/>
          </a:xfrm>
          <a:prstGeom prst="rect">
            <a:avLst/>
          </a:prstGeom>
          <a:noFill/>
        </p:spPr>
        <p:txBody>
          <a:bodyPr wrap="square">
            <a:spAutoFit/>
          </a:bodyPr>
          <a:lstStyle/>
          <a:p>
            <a:pPr algn="l"/>
            <a:r>
              <a:rPr sz="1100" b="0">
                <a:solidFill>
                  <a:srgbClr val="CBD5E1"/>
                </a:solidFill>
              </a:rPr>
              <a:t>• PERSON — named entity recognition</a:t>
            </a:r>
          </a:p>
        </p:txBody>
      </p:sp>
      <p:sp>
        <p:nvSpPr>
          <p:cNvPr id="25" name="TextBox 24"/>
          <p:cNvSpPr txBox="1"/>
          <p:nvPr/>
        </p:nvSpPr>
        <p:spPr>
          <a:xfrm>
            <a:off x="429768" y="4434840"/>
            <a:ext cx="3566160" cy="502920"/>
          </a:xfrm>
          <a:prstGeom prst="rect">
            <a:avLst/>
          </a:prstGeom>
          <a:noFill/>
        </p:spPr>
        <p:txBody>
          <a:bodyPr wrap="square">
            <a:spAutoFit/>
          </a:bodyPr>
          <a:lstStyle/>
          <a:p>
            <a:pPr algn="l"/>
            <a:r>
              <a:rPr sz="1100" b="0">
                <a:solidFill>
                  <a:srgbClr val="CBD5E1"/>
                </a:solidFill>
              </a:rPr>
              <a:t>• CREDIT_CARD — 16-digit card patterns</a:t>
            </a:r>
          </a:p>
        </p:txBody>
      </p:sp>
      <p:sp>
        <p:nvSpPr>
          <p:cNvPr id="26" name="TextBox 25"/>
          <p:cNvSpPr txBox="1"/>
          <p:nvPr/>
        </p:nvSpPr>
        <p:spPr>
          <a:xfrm>
            <a:off x="429768" y="5010912"/>
            <a:ext cx="3566160" cy="502920"/>
          </a:xfrm>
          <a:prstGeom prst="rect">
            <a:avLst/>
          </a:prstGeom>
          <a:noFill/>
        </p:spPr>
        <p:txBody>
          <a:bodyPr wrap="square">
            <a:spAutoFit/>
          </a:bodyPr>
          <a:lstStyle/>
          <a:p>
            <a:pPr algn="l"/>
            <a:r>
              <a:rPr sz="1100" b="0">
                <a:solidFill>
                  <a:srgbClr val="CBD5E1"/>
                </a:solidFill>
              </a:rPr>
              <a:t>• US_SSN — Social Security Numbers</a:t>
            </a:r>
          </a:p>
        </p:txBody>
      </p:sp>
      <p:sp>
        <p:nvSpPr>
          <p:cNvPr id="27" name="TextBox 26"/>
          <p:cNvSpPr txBox="1"/>
          <p:nvPr/>
        </p:nvSpPr>
        <p:spPr>
          <a:xfrm>
            <a:off x="429768" y="5586984"/>
            <a:ext cx="3566160" cy="502920"/>
          </a:xfrm>
          <a:prstGeom prst="rect">
            <a:avLst/>
          </a:prstGeom>
          <a:noFill/>
        </p:spPr>
        <p:txBody>
          <a:bodyPr wrap="square">
            <a:spAutoFit/>
          </a:bodyPr>
          <a:lstStyle/>
          <a:p>
            <a:pPr algn="l"/>
            <a:r>
              <a:rPr sz="1100" b="0">
                <a:solidFill>
                  <a:srgbClr val="CBD5E1"/>
                </a:solidFill>
              </a:rPr>
              <a:t>• Powered by Microsoft Presidio Analyzer + Anonymizer</a:t>
            </a:r>
          </a:p>
        </p:txBody>
      </p:sp>
      <p:sp>
        <p:nvSpPr>
          <p:cNvPr id="28" name="Rectangle 27"/>
          <p:cNvSpPr/>
          <p:nvPr/>
        </p:nvSpPr>
        <p:spPr>
          <a:xfrm>
            <a:off x="4297679" y="2194560"/>
            <a:ext cx="3749039" cy="4114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79" y="2194560"/>
            <a:ext cx="3749039" cy="41148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07407" y="2249424"/>
            <a:ext cx="3657600" cy="320040"/>
          </a:xfrm>
          <a:prstGeom prst="rect">
            <a:avLst/>
          </a:prstGeom>
          <a:noFill/>
        </p:spPr>
        <p:txBody>
          <a:bodyPr wrap="square">
            <a:spAutoFit/>
          </a:bodyPr>
          <a:lstStyle/>
          <a:p>
            <a:pPr algn="l"/>
            <a:r>
              <a:rPr sz="1300" b="1">
                <a:solidFill>
                  <a:srgbClr val="FFFFFF"/>
                </a:solidFill>
              </a:rPr>
              <a:t>⚠️ Hallucination Phrases</a:t>
            </a:r>
          </a:p>
        </p:txBody>
      </p:sp>
      <p:sp>
        <p:nvSpPr>
          <p:cNvPr id="31" name="TextBox 30"/>
          <p:cNvSpPr txBox="1"/>
          <p:nvPr/>
        </p:nvSpPr>
        <p:spPr>
          <a:xfrm>
            <a:off x="4407407" y="2706624"/>
            <a:ext cx="3566160" cy="502920"/>
          </a:xfrm>
          <a:prstGeom prst="rect">
            <a:avLst/>
          </a:prstGeom>
          <a:noFill/>
        </p:spPr>
        <p:txBody>
          <a:bodyPr wrap="square">
            <a:spAutoFit/>
          </a:bodyPr>
          <a:lstStyle/>
          <a:p>
            <a:pPr algn="l"/>
            <a:r>
              <a:rPr sz="1100" b="0">
                <a:solidFill>
                  <a:srgbClr val="CBD5E1"/>
                </a:solidFill>
              </a:rPr>
              <a:t>• Uncertainty phrase matching on agent output</a:t>
            </a:r>
          </a:p>
        </p:txBody>
      </p:sp>
      <p:sp>
        <p:nvSpPr>
          <p:cNvPr id="32" name="TextBox 31"/>
          <p:cNvSpPr txBox="1"/>
          <p:nvPr/>
        </p:nvSpPr>
        <p:spPr>
          <a:xfrm>
            <a:off x="4407407" y="3282696"/>
            <a:ext cx="3566160" cy="502920"/>
          </a:xfrm>
          <a:prstGeom prst="rect">
            <a:avLst/>
          </a:prstGeom>
          <a:noFill/>
        </p:spPr>
        <p:txBody>
          <a:bodyPr wrap="square">
            <a:spAutoFit/>
          </a:bodyPr>
          <a:lstStyle/>
          <a:p>
            <a:pPr algn="l"/>
            <a:r>
              <a:rPr sz="1100" b="0">
                <a:solidFill>
                  <a:srgbClr val="CBD5E1"/>
                </a:solidFill>
              </a:rPr>
              <a:t>• Triggers: 'I'm not sure but', 'I think maybe'</a:t>
            </a:r>
          </a:p>
        </p:txBody>
      </p:sp>
      <p:sp>
        <p:nvSpPr>
          <p:cNvPr id="33" name="TextBox 32"/>
          <p:cNvSpPr txBox="1"/>
          <p:nvPr/>
        </p:nvSpPr>
        <p:spPr>
          <a:xfrm>
            <a:off x="4407407" y="3858768"/>
            <a:ext cx="3566160" cy="502920"/>
          </a:xfrm>
          <a:prstGeom prst="rect">
            <a:avLst/>
          </a:prstGeom>
          <a:noFill/>
        </p:spPr>
        <p:txBody>
          <a:bodyPr wrap="square">
            <a:spAutoFit/>
          </a:bodyPr>
          <a:lstStyle/>
          <a:p>
            <a:pPr algn="l"/>
            <a:r>
              <a:rPr sz="1100" b="0">
                <a:solidFill>
                  <a:srgbClr val="CBD5E1"/>
                </a:solidFill>
              </a:rPr>
              <a:t>• Triggers: 'I cannot verify', 'it might be'</a:t>
            </a:r>
          </a:p>
        </p:txBody>
      </p:sp>
      <p:sp>
        <p:nvSpPr>
          <p:cNvPr id="34" name="TextBox 33"/>
          <p:cNvSpPr txBox="1"/>
          <p:nvPr/>
        </p:nvSpPr>
        <p:spPr>
          <a:xfrm>
            <a:off x="4407407" y="4434840"/>
            <a:ext cx="3566160" cy="502920"/>
          </a:xfrm>
          <a:prstGeom prst="rect">
            <a:avLst/>
          </a:prstGeom>
          <a:noFill/>
        </p:spPr>
        <p:txBody>
          <a:bodyPr wrap="square">
            <a:spAutoFit/>
          </a:bodyPr>
          <a:lstStyle/>
          <a:p>
            <a:pPr algn="l"/>
            <a:r>
              <a:rPr sz="1100" b="0">
                <a:solidFill>
                  <a:srgbClr val="CBD5E1"/>
                </a:solidFill>
              </a:rPr>
              <a:t>• Triggers: 'I believe but I'm not certain'</a:t>
            </a:r>
          </a:p>
        </p:txBody>
      </p:sp>
      <p:sp>
        <p:nvSpPr>
          <p:cNvPr id="35" name="TextBox 34"/>
          <p:cNvSpPr txBox="1"/>
          <p:nvPr/>
        </p:nvSpPr>
        <p:spPr>
          <a:xfrm>
            <a:off x="4407407" y="5010912"/>
            <a:ext cx="3566160" cy="502920"/>
          </a:xfrm>
          <a:prstGeom prst="rect">
            <a:avLst/>
          </a:prstGeom>
          <a:noFill/>
        </p:spPr>
        <p:txBody>
          <a:bodyPr wrap="square">
            <a:spAutoFit/>
          </a:bodyPr>
          <a:lstStyle/>
          <a:p>
            <a:pPr algn="l"/>
            <a:r>
              <a:rPr sz="1100" b="0">
                <a:solidFill>
                  <a:srgbClr val="CBD5E1"/>
                </a:solidFill>
              </a:rPr>
              <a:t>• Result: flagged in audit log + response annotated</a:t>
            </a:r>
          </a:p>
        </p:txBody>
      </p:sp>
      <p:sp>
        <p:nvSpPr>
          <p:cNvPr id="36" name="TextBox 35"/>
          <p:cNvSpPr txBox="1"/>
          <p:nvPr/>
        </p:nvSpPr>
        <p:spPr>
          <a:xfrm>
            <a:off x="4407407" y="5586984"/>
            <a:ext cx="3566160" cy="502920"/>
          </a:xfrm>
          <a:prstGeom prst="rect">
            <a:avLst/>
          </a:prstGeom>
          <a:noFill/>
        </p:spPr>
        <p:txBody>
          <a:bodyPr wrap="square">
            <a:spAutoFit/>
          </a:bodyPr>
          <a:lstStyle/>
          <a:p>
            <a:pPr algn="l"/>
            <a:r>
              <a:rPr sz="1100" b="0">
                <a:solidFill>
                  <a:srgbClr val="CBD5E1"/>
                </a:solidFill>
              </a:rPr>
              <a:t>• Per-agent enable/disable via guardrails config</a:t>
            </a:r>
          </a:p>
        </p:txBody>
      </p:sp>
      <p:sp>
        <p:nvSpPr>
          <p:cNvPr id="37" name="Rectangle 36"/>
          <p:cNvSpPr/>
          <p:nvPr/>
        </p:nvSpPr>
        <p:spPr>
          <a:xfrm>
            <a:off x="8275319" y="2194560"/>
            <a:ext cx="3749039" cy="4114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275319" y="2194560"/>
            <a:ext cx="3749039"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85047" y="2249424"/>
            <a:ext cx="3657600" cy="320040"/>
          </a:xfrm>
          <a:prstGeom prst="rect">
            <a:avLst/>
          </a:prstGeom>
          <a:noFill/>
        </p:spPr>
        <p:txBody>
          <a:bodyPr wrap="square">
            <a:spAutoFit/>
          </a:bodyPr>
          <a:lstStyle/>
          <a:p>
            <a:pPr algn="l"/>
            <a:r>
              <a:rPr sz="1300" b="1">
                <a:solidFill>
                  <a:srgbClr val="FFFFFF"/>
                </a:solidFill>
              </a:rPr>
              <a:t>📋 Audit Trail</a:t>
            </a:r>
          </a:p>
        </p:txBody>
      </p:sp>
      <p:sp>
        <p:nvSpPr>
          <p:cNvPr id="40" name="TextBox 39"/>
          <p:cNvSpPr txBox="1"/>
          <p:nvPr/>
        </p:nvSpPr>
        <p:spPr>
          <a:xfrm>
            <a:off x="8385047" y="2706624"/>
            <a:ext cx="3566160" cy="502920"/>
          </a:xfrm>
          <a:prstGeom prst="rect">
            <a:avLst/>
          </a:prstGeom>
          <a:noFill/>
        </p:spPr>
        <p:txBody>
          <a:bodyPr wrap="square">
            <a:spAutoFit/>
          </a:bodyPr>
          <a:lstStyle/>
          <a:p>
            <a:pPr algn="l"/>
            <a:r>
              <a:rPr sz="1100" b="0">
                <a:solidFill>
                  <a:srgbClr val="CBD5E1"/>
                </a:solidFill>
              </a:rPr>
              <a:t>• Every guardrail trigger logged to audit_logs table</a:t>
            </a:r>
          </a:p>
        </p:txBody>
      </p:sp>
      <p:sp>
        <p:nvSpPr>
          <p:cNvPr id="41" name="TextBox 40"/>
          <p:cNvSpPr txBox="1"/>
          <p:nvPr/>
        </p:nvSpPr>
        <p:spPr>
          <a:xfrm>
            <a:off x="8385047" y="3282696"/>
            <a:ext cx="3566160" cy="502920"/>
          </a:xfrm>
          <a:prstGeom prst="rect">
            <a:avLst/>
          </a:prstGeom>
          <a:noFill/>
        </p:spPr>
        <p:txBody>
          <a:bodyPr wrap="square">
            <a:spAutoFit/>
          </a:bodyPr>
          <a:lstStyle/>
          <a:p>
            <a:pPr algn="l"/>
            <a:r>
              <a:rPr sz="1100" b="0">
                <a:solidFill>
                  <a:srgbClr val="CBD5E1"/>
                </a:solidFill>
              </a:rPr>
              <a:t>• Fields: guardrail_triggered (bool), trace_id, latency_ms</a:t>
            </a:r>
          </a:p>
        </p:txBody>
      </p:sp>
      <p:sp>
        <p:nvSpPr>
          <p:cNvPr id="42" name="TextBox 41"/>
          <p:cNvSpPr txBox="1"/>
          <p:nvPr/>
        </p:nvSpPr>
        <p:spPr>
          <a:xfrm>
            <a:off x="8385047" y="3858768"/>
            <a:ext cx="3566160" cy="502920"/>
          </a:xfrm>
          <a:prstGeom prst="rect">
            <a:avLst/>
          </a:prstGeom>
          <a:noFill/>
        </p:spPr>
        <p:txBody>
          <a:bodyPr wrap="square">
            <a:spAutoFit/>
          </a:bodyPr>
          <a:lstStyle/>
          <a:p>
            <a:pPr algn="l"/>
            <a:r>
              <a:rPr sz="1100" b="0">
                <a:solidFill>
                  <a:srgbClr val="CBD5E1"/>
                </a:solidFill>
              </a:rPr>
              <a:t>• Searchable via /api/audit with filter params</a:t>
            </a:r>
          </a:p>
        </p:txBody>
      </p:sp>
      <p:sp>
        <p:nvSpPr>
          <p:cNvPr id="43" name="TextBox 42"/>
          <p:cNvSpPr txBox="1"/>
          <p:nvPr/>
        </p:nvSpPr>
        <p:spPr>
          <a:xfrm>
            <a:off x="8385047" y="4434840"/>
            <a:ext cx="3566160" cy="502920"/>
          </a:xfrm>
          <a:prstGeom prst="rect">
            <a:avLst/>
          </a:prstGeom>
          <a:noFill/>
        </p:spPr>
        <p:txBody>
          <a:bodyPr wrap="square">
            <a:spAutoFit/>
          </a:bodyPr>
          <a:lstStyle/>
          <a:p>
            <a:pPr algn="l"/>
            <a:r>
              <a:rPr sz="1100" b="0">
                <a:solidFill>
                  <a:srgbClr val="CBD5E1"/>
                </a:solidFill>
              </a:rPr>
              <a:t>• Exportable for compliance reporting</a:t>
            </a:r>
          </a:p>
        </p:txBody>
      </p:sp>
      <p:sp>
        <p:nvSpPr>
          <p:cNvPr id="44" name="TextBox 43"/>
          <p:cNvSpPr txBox="1"/>
          <p:nvPr/>
        </p:nvSpPr>
        <p:spPr>
          <a:xfrm>
            <a:off x="8385047" y="5010912"/>
            <a:ext cx="3566160" cy="502920"/>
          </a:xfrm>
          <a:prstGeom prst="rect">
            <a:avLst/>
          </a:prstGeom>
          <a:noFill/>
        </p:spPr>
        <p:txBody>
          <a:bodyPr wrap="square">
            <a:spAutoFit/>
          </a:bodyPr>
          <a:lstStyle/>
          <a:p>
            <a:pPr algn="l"/>
            <a:r>
              <a:rPr sz="1100" b="0">
                <a:solidFill>
                  <a:srgbClr val="CBD5E1"/>
                </a:solidFill>
              </a:rPr>
              <a:t>• OpenTelemetry span attributes: pii_triggered, hallucination_triggered</a:t>
            </a:r>
          </a:p>
        </p:txBody>
      </p:sp>
      <p:sp>
        <p:nvSpPr>
          <p:cNvPr id="45" name="TextBox 44"/>
          <p:cNvSpPr txBox="1"/>
          <p:nvPr/>
        </p:nvSpPr>
        <p:spPr>
          <a:xfrm>
            <a:off x="8385047" y="5586984"/>
            <a:ext cx="3566160" cy="502920"/>
          </a:xfrm>
          <a:prstGeom prst="rect">
            <a:avLst/>
          </a:prstGeom>
          <a:noFill/>
        </p:spPr>
        <p:txBody>
          <a:bodyPr wrap="square">
            <a:spAutoFit/>
          </a:bodyPr>
          <a:lstStyle/>
          <a:p>
            <a:pPr algn="l"/>
            <a:r>
              <a:rPr sz="1100" b="0">
                <a:solidFill>
                  <a:srgbClr val="CBD5E1"/>
                </a:solidFill>
              </a:rPr>
              <a:t>• Zero-trust: logs never omitted even on error</a:t>
            </a:r>
          </a:p>
        </p:txBody>
      </p:sp>
      <p:sp>
        <p:nvSpPr>
          <p:cNvPr id="46" name="TextBox 45"/>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Product Roadmap</a:t>
            </a:r>
          </a:p>
        </p:txBody>
      </p:sp>
      <p:sp>
        <p:nvSpPr>
          <p:cNvPr id="5" name="Rectangle 4"/>
          <p:cNvSpPr/>
          <p:nvPr/>
        </p:nvSpPr>
        <p:spPr>
          <a:xfrm>
            <a:off x="320040"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960120"/>
            <a:ext cx="2834640"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005840"/>
            <a:ext cx="2743200" cy="384048"/>
          </a:xfrm>
          <a:prstGeom prst="rect">
            <a:avLst/>
          </a:prstGeom>
          <a:noFill/>
        </p:spPr>
        <p:txBody>
          <a:bodyPr wrap="square">
            <a:spAutoFit/>
          </a:bodyPr>
          <a:lstStyle/>
          <a:p>
            <a:pPr algn="l"/>
            <a:r>
              <a:rPr sz="1100" b="1">
                <a:solidFill>
                  <a:srgbClr val="FFFFFF"/>
                </a:solidFill>
              </a:rPr>
              <a:t>✅ Phase 1 — Complete  (Q1 2026)</a:t>
            </a:r>
          </a:p>
        </p:txBody>
      </p:sp>
      <p:sp>
        <p:nvSpPr>
          <p:cNvPr id="8" name="TextBox 7"/>
          <p:cNvSpPr txBox="1"/>
          <p:nvPr/>
        </p:nvSpPr>
        <p:spPr>
          <a:xfrm>
            <a:off x="411480" y="1536192"/>
            <a:ext cx="2743200" cy="548640"/>
          </a:xfrm>
          <a:prstGeom prst="rect">
            <a:avLst/>
          </a:prstGeom>
          <a:noFill/>
        </p:spPr>
        <p:txBody>
          <a:bodyPr wrap="square">
            <a:spAutoFit/>
          </a:bodyPr>
          <a:lstStyle/>
          <a:p>
            <a:pPr algn="l"/>
            <a:r>
              <a:rPr sz="1100" b="0">
                <a:solidFill>
                  <a:srgbClr val="CBD5E1"/>
                </a:solidFill>
              </a:rPr>
              <a:t>▸ Core platform: Auth + RBAC + Agent CRUD</a:t>
            </a:r>
          </a:p>
        </p:txBody>
      </p:sp>
      <p:sp>
        <p:nvSpPr>
          <p:cNvPr id="9" name="TextBox 8"/>
          <p:cNvSpPr txBox="1"/>
          <p:nvPr/>
        </p:nvSpPr>
        <p:spPr>
          <a:xfrm>
            <a:off x="411480" y="2157984"/>
            <a:ext cx="2743200" cy="548640"/>
          </a:xfrm>
          <a:prstGeom prst="rect">
            <a:avLst/>
          </a:prstGeom>
          <a:noFill/>
        </p:spPr>
        <p:txBody>
          <a:bodyPr wrap="square">
            <a:spAutoFit/>
          </a:bodyPr>
          <a:lstStyle/>
          <a:p>
            <a:pPr algn="l"/>
            <a:r>
              <a:rPr sz="1100" b="0">
                <a:solidFill>
                  <a:srgbClr val="CBD5E1"/>
                </a:solidFill>
              </a:rPr>
              <a:t>▸ Azure OpenAI integration (GPT-5.4-mini + GPT-5.4-mini)</a:t>
            </a:r>
          </a:p>
        </p:txBody>
      </p:sp>
      <p:sp>
        <p:nvSpPr>
          <p:cNvPr id="10" name="TextBox 9"/>
          <p:cNvSpPr txBox="1"/>
          <p:nvPr/>
        </p:nvSpPr>
        <p:spPr>
          <a:xfrm>
            <a:off x="411480" y="2779776"/>
            <a:ext cx="2743200" cy="548640"/>
          </a:xfrm>
          <a:prstGeom prst="rect">
            <a:avLst/>
          </a:prstGeom>
          <a:noFill/>
        </p:spPr>
        <p:txBody>
          <a:bodyPr wrap="square">
            <a:spAutoFit/>
          </a:bodyPr>
          <a:lstStyle/>
          <a:p>
            <a:pPr algn="l"/>
            <a:r>
              <a:rPr sz="1100" b="0">
                <a:solidFill>
                  <a:srgbClr val="CBD5E1"/>
                </a:solidFill>
              </a:rPr>
              <a:t>▸ RAG pipeline (FAISS + pgvector)</a:t>
            </a:r>
          </a:p>
        </p:txBody>
      </p:sp>
      <p:sp>
        <p:nvSpPr>
          <p:cNvPr id="11" name="TextBox 10"/>
          <p:cNvSpPr txBox="1"/>
          <p:nvPr/>
        </p:nvSpPr>
        <p:spPr>
          <a:xfrm>
            <a:off x="411480" y="3401568"/>
            <a:ext cx="2743200" cy="548640"/>
          </a:xfrm>
          <a:prstGeom prst="rect">
            <a:avLst/>
          </a:prstGeom>
          <a:noFill/>
        </p:spPr>
        <p:txBody>
          <a:bodyPr wrap="square">
            <a:spAutoFit/>
          </a:bodyPr>
          <a:lstStyle/>
          <a:p>
            <a:pPr algn="l"/>
            <a:r>
              <a:rPr sz="1100" b="0">
                <a:solidFill>
                  <a:srgbClr val="CBD5E1"/>
                </a:solidFill>
              </a:rPr>
              <a:t>▸ Guardrails engine (PII + hallucination)</a:t>
            </a:r>
          </a:p>
        </p:txBody>
      </p:sp>
      <p:sp>
        <p:nvSpPr>
          <p:cNvPr id="12" name="TextBox 11"/>
          <p:cNvSpPr txBox="1"/>
          <p:nvPr/>
        </p:nvSpPr>
        <p:spPr>
          <a:xfrm>
            <a:off x="411480" y="4023360"/>
            <a:ext cx="2743200" cy="548640"/>
          </a:xfrm>
          <a:prstGeom prst="rect">
            <a:avLst/>
          </a:prstGeom>
          <a:noFill/>
        </p:spPr>
        <p:txBody>
          <a:bodyPr wrap="square">
            <a:spAutoFit/>
          </a:bodyPr>
          <a:lstStyle/>
          <a:p>
            <a:pPr algn="l"/>
            <a:r>
              <a:rPr sz="1100" b="0">
                <a:solidFill>
                  <a:srgbClr val="CBD5E1"/>
                </a:solidFill>
              </a:rPr>
              <a:t>▸ Multi-agent orchestrator (Manager Agents wired end-to-end this cycle)</a:t>
            </a:r>
          </a:p>
        </p:txBody>
      </p:sp>
      <p:sp>
        <p:nvSpPr>
          <p:cNvPr id="13" name="TextBox 12"/>
          <p:cNvSpPr txBox="1"/>
          <p:nvPr/>
        </p:nvSpPr>
        <p:spPr>
          <a:xfrm>
            <a:off x="411480" y="4645152"/>
            <a:ext cx="2743200" cy="548640"/>
          </a:xfrm>
          <a:prstGeom prst="rect">
            <a:avLst/>
          </a:prstGeom>
          <a:noFill/>
        </p:spPr>
        <p:txBody>
          <a:bodyPr wrap="square">
            <a:spAutoFit/>
          </a:bodyPr>
          <a:lstStyle/>
          <a:p>
            <a:pPr algn="l"/>
            <a:r>
              <a:rPr sz="1100" b="0">
                <a:solidFill>
                  <a:srgbClr val="CBD5E1"/>
                </a:solidFill>
              </a:rPr>
              <a:t>▸ Planning Architect (Prompt-to-Agent + ZIP export)</a:t>
            </a:r>
          </a:p>
        </p:txBody>
      </p:sp>
      <p:sp>
        <p:nvSpPr>
          <p:cNvPr id="14" name="TextBox 13"/>
          <p:cNvSpPr txBox="1"/>
          <p:nvPr/>
        </p:nvSpPr>
        <p:spPr>
          <a:xfrm>
            <a:off x="411480" y="5266944"/>
            <a:ext cx="2743200" cy="548640"/>
          </a:xfrm>
          <a:prstGeom prst="rect">
            <a:avLst/>
          </a:prstGeom>
          <a:noFill/>
        </p:spPr>
        <p:txBody>
          <a:bodyPr wrap="square">
            <a:spAutoFit/>
          </a:bodyPr>
          <a:lstStyle/>
          <a:p>
            <a:pPr algn="l"/>
            <a:r>
              <a:rPr sz="1100" b="0">
                <a:solidFill>
                  <a:srgbClr val="CBD5E1"/>
                </a:solidFill>
              </a:rPr>
              <a:t>▸ OpenTelemetry observability + Audit logs</a:t>
            </a:r>
          </a:p>
        </p:txBody>
      </p:sp>
      <p:sp>
        <p:nvSpPr>
          <p:cNvPr id="15" name="Rectangle 14"/>
          <p:cNvSpPr/>
          <p:nvPr/>
        </p:nvSpPr>
        <p:spPr>
          <a:xfrm>
            <a:off x="3282696"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82696" y="960120"/>
            <a:ext cx="283464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74136" y="1005840"/>
            <a:ext cx="2743200" cy="384048"/>
          </a:xfrm>
          <a:prstGeom prst="rect">
            <a:avLst/>
          </a:prstGeom>
          <a:noFill/>
        </p:spPr>
        <p:txBody>
          <a:bodyPr wrap="square">
            <a:spAutoFit/>
          </a:bodyPr>
          <a:lstStyle/>
          <a:p>
            <a:pPr algn="l"/>
            <a:r>
              <a:rPr sz="1100" b="1">
                <a:solidFill>
                  <a:srgbClr val="FFFFFF"/>
                </a:solidFill>
              </a:rPr>
              <a:t>🚀 Phase 2 — In Progress  (Q2–Q3 2026)</a:t>
            </a:r>
          </a:p>
        </p:txBody>
      </p:sp>
      <p:sp>
        <p:nvSpPr>
          <p:cNvPr id="18" name="TextBox 17"/>
          <p:cNvSpPr txBox="1"/>
          <p:nvPr/>
        </p:nvSpPr>
        <p:spPr>
          <a:xfrm>
            <a:off x="3374136" y="1536192"/>
            <a:ext cx="2743200" cy="548640"/>
          </a:xfrm>
          <a:prstGeom prst="rect">
            <a:avLst/>
          </a:prstGeom>
          <a:noFill/>
        </p:spPr>
        <p:txBody>
          <a:bodyPr wrap="square">
            <a:spAutoFit/>
          </a:bodyPr>
          <a:lstStyle/>
          <a:p>
            <a:pPr algn="l"/>
            <a:r>
              <a:rPr sz="1100" b="0">
                <a:solidFill>
                  <a:srgbClr val="CBD5E1"/>
                </a:solidFill>
              </a:rPr>
              <a:t>▸ Visual Workflow Builder (React Flow canvas)</a:t>
            </a:r>
          </a:p>
        </p:txBody>
      </p:sp>
      <p:sp>
        <p:nvSpPr>
          <p:cNvPr id="19" name="TextBox 18"/>
          <p:cNvSpPr txBox="1"/>
          <p:nvPr/>
        </p:nvSpPr>
        <p:spPr>
          <a:xfrm>
            <a:off x="3374136" y="2157984"/>
            <a:ext cx="2743200" cy="548640"/>
          </a:xfrm>
          <a:prstGeom prst="rect">
            <a:avLst/>
          </a:prstGeom>
          <a:noFill/>
        </p:spPr>
        <p:txBody>
          <a:bodyPr wrap="square">
            <a:spAutoFit/>
          </a:bodyPr>
          <a:lstStyle/>
          <a:p>
            <a:pPr algn="l"/>
            <a:r>
              <a:rPr sz="1100" b="0">
                <a:solidFill>
                  <a:srgbClr val="CBD5E1"/>
                </a:solidFill>
              </a:rPr>
              <a:t>▸ Agent Simulation &amp; Evaluation engine</a:t>
            </a:r>
          </a:p>
        </p:txBody>
      </p:sp>
      <p:sp>
        <p:nvSpPr>
          <p:cNvPr id="20" name="TextBox 19"/>
          <p:cNvSpPr txBox="1"/>
          <p:nvPr/>
        </p:nvSpPr>
        <p:spPr>
          <a:xfrm>
            <a:off x="3374136" y="2779776"/>
            <a:ext cx="2743200" cy="548640"/>
          </a:xfrm>
          <a:prstGeom prst="rect">
            <a:avLst/>
          </a:prstGeom>
          <a:noFill/>
        </p:spPr>
        <p:txBody>
          <a:bodyPr wrap="square">
            <a:spAutoFit/>
          </a:bodyPr>
          <a:lstStyle/>
          <a:p>
            <a:pPr algn="l"/>
            <a:r>
              <a:rPr sz="1100" b="0">
                <a:solidFill>
                  <a:srgbClr val="CBD5E1"/>
                </a:solidFill>
              </a:rPr>
              <a:t>▸ Voice Agent pipeline (Azure Speech STT/TTS)</a:t>
            </a:r>
          </a:p>
        </p:txBody>
      </p:sp>
      <p:sp>
        <p:nvSpPr>
          <p:cNvPr id="21" name="TextBox 20"/>
          <p:cNvSpPr txBox="1"/>
          <p:nvPr/>
        </p:nvSpPr>
        <p:spPr>
          <a:xfrm>
            <a:off x="3374136" y="3401568"/>
            <a:ext cx="2743200" cy="548640"/>
          </a:xfrm>
          <a:prstGeom prst="rect">
            <a:avLst/>
          </a:prstGeom>
          <a:noFill/>
        </p:spPr>
        <p:txBody>
          <a:bodyPr wrap="square">
            <a:spAutoFit/>
          </a:bodyPr>
          <a:lstStyle/>
          <a:p>
            <a:pPr algn="l"/>
            <a:r>
              <a:rPr sz="1100" b="0">
                <a:solidFill>
                  <a:srgbClr val="CBD5E1"/>
                </a:solidFill>
              </a:rPr>
              <a:t>▸ Safety policy configuration UI</a:t>
            </a:r>
          </a:p>
        </p:txBody>
      </p:sp>
      <p:sp>
        <p:nvSpPr>
          <p:cNvPr id="22" name="TextBox 21"/>
          <p:cNvSpPr txBox="1"/>
          <p:nvPr/>
        </p:nvSpPr>
        <p:spPr>
          <a:xfrm>
            <a:off x="3374136" y="4023360"/>
            <a:ext cx="2743200" cy="548640"/>
          </a:xfrm>
          <a:prstGeom prst="rect">
            <a:avLst/>
          </a:prstGeom>
          <a:noFill/>
        </p:spPr>
        <p:txBody>
          <a:bodyPr wrap="square">
            <a:spAutoFit/>
          </a:bodyPr>
          <a:lstStyle/>
          <a:p>
            <a:pPr algn="l"/>
            <a:r>
              <a:rPr sz="1100" b="0">
                <a:solidFill>
                  <a:srgbClr val="CBD5E1"/>
                </a:solidFill>
              </a:rPr>
              <a:t>▸ Blueprints Marketplace (shared templates)</a:t>
            </a:r>
          </a:p>
        </p:txBody>
      </p:sp>
      <p:sp>
        <p:nvSpPr>
          <p:cNvPr id="23" name="TextBox 22"/>
          <p:cNvSpPr txBox="1"/>
          <p:nvPr/>
        </p:nvSpPr>
        <p:spPr>
          <a:xfrm>
            <a:off x="3374136" y="4645152"/>
            <a:ext cx="2743200" cy="548640"/>
          </a:xfrm>
          <a:prstGeom prst="rect">
            <a:avLst/>
          </a:prstGeom>
          <a:noFill/>
        </p:spPr>
        <p:txBody>
          <a:bodyPr wrap="square">
            <a:spAutoFit/>
          </a:bodyPr>
          <a:lstStyle/>
          <a:p>
            <a:pPr algn="l"/>
            <a:r>
              <a:rPr sz="1100" b="0">
                <a:solidFill>
                  <a:srgbClr val="CBD5E1"/>
                </a:solidFill>
              </a:rPr>
              <a:t>▸ Team/API keys · Custom Code production-readiness hardening (tests, CI/CD, migrations, auth, SSRF)</a:t>
            </a:r>
          </a:p>
        </p:txBody>
      </p:sp>
      <p:sp>
        <p:nvSpPr>
          <p:cNvPr id="24" name="TextBox 23"/>
          <p:cNvSpPr txBox="1"/>
          <p:nvPr/>
        </p:nvSpPr>
        <p:spPr>
          <a:xfrm>
            <a:off x="3374136" y="5266944"/>
            <a:ext cx="2743200" cy="548640"/>
          </a:xfrm>
          <a:prstGeom prst="rect">
            <a:avLst/>
          </a:prstGeom>
          <a:noFill/>
        </p:spPr>
        <p:txBody>
          <a:bodyPr wrap="square">
            <a:spAutoFit/>
          </a:bodyPr>
          <a:lstStyle/>
          <a:p>
            <a:pPr algn="l"/>
            <a:r>
              <a:rPr sz="1100" b="0">
                <a:solidFill>
                  <a:srgbClr val="CBD5E1"/>
                </a:solidFill>
              </a:rPr>
              <a:t>▸ Control Plane (live agent modification) + multi-provider LLMs (LM Studio + Google Gemini, per-agent / per-feature)</a:t>
            </a:r>
          </a:p>
        </p:txBody>
      </p:sp>
      <p:sp>
        <p:nvSpPr>
          <p:cNvPr id="25" name="Rectangle 24"/>
          <p:cNvSpPr/>
          <p:nvPr/>
        </p:nvSpPr>
        <p:spPr>
          <a:xfrm>
            <a:off x="6245352"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45352" y="960120"/>
            <a:ext cx="2834640" cy="47548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36792" y="1005840"/>
            <a:ext cx="2743200" cy="384048"/>
          </a:xfrm>
          <a:prstGeom prst="rect">
            <a:avLst/>
          </a:prstGeom>
          <a:noFill/>
        </p:spPr>
        <p:txBody>
          <a:bodyPr wrap="square">
            <a:spAutoFit/>
          </a:bodyPr>
          <a:lstStyle/>
          <a:p>
            <a:pPr algn="l"/>
            <a:r>
              <a:rPr sz="1100" b="1">
                <a:solidFill>
                  <a:srgbClr val="FFFFFF"/>
                </a:solidFill>
              </a:rPr>
              <a:t>🔮 Phase 3 — Planned  (Q4 2026)</a:t>
            </a:r>
          </a:p>
        </p:txBody>
      </p:sp>
      <p:sp>
        <p:nvSpPr>
          <p:cNvPr id="28" name="TextBox 27"/>
          <p:cNvSpPr txBox="1"/>
          <p:nvPr/>
        </p:nvSpPr>
        <p:spPr>
          <a:xfrm>
            <a:off x="6336792" y="1536192"/>
            <a:ext cx="2743200" cy="548640"/>
          </a:xfrm>
          <a:prstGeom prst="rect">
            <a:avLst/>
          </a:prstGeom>
          <a:noFill/>
        </p:spPr>
        <p:txBody>
          <a:bodyPr wrap="square">
            <a:spAutoFit/>
          </a:bodyPr>
          <a:lstStyle/>
          <a:p>
            <a:pPr algn="l"/>
            <a:r>
              <a:rPr sz="1100" b="0">
                <a:solidFill>
                  <a:srgbClr val="CBD5E1"/>
                </a:solidFill>
              </a:rPr>
              <a:t>▸ Multi-modal agents (image + document input)</a:t>
            </a:r>
          </a:p>
        </p:txBody>
      </p:sp>
      <p:sp>
        <p:nvSpPr>
          <p:cNvPr id="29" name="TextBox 28"/>
          <p:cNvSpPr txBox="1"/>
          <p:nvPr/>
        </p:nvSpPr>
        <p:spPr>
          <a:xfrm>
            <a:off x="6336792" y="2157984"/>
            <a:ext cx="2743200" cy="548640"/>
          </a:xfrm>
          <a:prstGeom prst="rect">
            <a:avLst/>
          </a:prstGeom>
          <a:noFill/>
        </p:spPr>
        <p:txBody>
          <a:bodyPr wrap="square">
            <a:spAutoFit/>
          </a:bodyPr>
          <a:lstStyle/>
          <a:p>
            <a:pPr algn="l"/>
            <a:r>
              <a:rPr sz="1100" b="0">
                <a:solidFill>
                  <a:srgbClr val="CBD5E1"/>
                </a:solidFill>
              </a:rPr>
              <a:t>▸ Agent-to-Agent collaboration (A2A protocol)</a:t>
            </a:r>
          </a:p>
        </p:txBody>
      </p:sp>
      <p:sp>
        <p:nvSpPr>
          <p:cNvPr id="30" name="TextBox 29"/>
          <p:cNvSpPr txBox="1"/>
          <p:nvPr/>
        </p:nvSpPr>
        <p:spPr>
          <a:xfrm>
            <a:off x="6336792" y="2779776"/>
            <a:ext cx="2743200" cy="548640"/>
          </a:xfrm>
          <a:prstGeom prst="rect">
            <a:avLst/>
          </a:prstGeom>
          <a:noFill/>
        </p:spPr>
        <p:txBody>
          <a:bodyPr wrap="square">
            <a:spAutoFit/>
          </a:bodyPr>
          <a:lstStyle/>
          <a:p>
            <a:pPr algn="l"/>
            <a:r>
              <a:rPr sz="1100" b="0">
                <a:solidFill>
                  <a:srgbClr val="CBD5E1"/>
                </a:solidFill>
              </a:rPr>
              <a:t>▸ Kubernetes Helm chart deployment</a:t>
            </a:r>
          </a:p>
        </p:txBody>
      </p:sp>
      <p:sp>
        <p:nvSpPr>
          <p:cNvPr id="31" name="TextBox 30"/>
          <p:cNvSpPr txBox="1"/>
          <p:nvPr/>
        </p:nvSpPr>
        <p:spPr>
          <a:xfrm>
            <a:off x="6336792" y="3401568"/>
            <a:ext cx="2743200" cy="548640"/>
          </a:xfrm>
          <a:prstGeom prst="rect">
            <a:avLst/>
          </a:prstGeom>
          <a:noFill/>
        </p:spPr>
        <p:txBody>
          <a:bodyPr wrap="square">
            <a:spAutoFit/>
          </a:bodyPr>
          <a:lstStyle/>
          <a:p>
            <a:pPr algn="l"/>
            <a:r>
              <a:rPr sz="1100" b="0">
                <a:solidFill>
                  <a:srgbClr val="CBD5E1"/>
                </a:solidFill>
              </a:rPr>
              <a:t>▸ SSO / Azure AD integration</a:t>
            </a:r>
          </a:p>
        </p:txBody>
      </p:sp>
      <p:sp>
        <p:nvSpPr>
          <p:cNvPr id="32" name="TextBox 31"/>
          <p:cNvSpPr txBox="1"/>
          <p:nvPr/>
        </p:nvSpPr>
        <p:spPr>
          <a:xfrm>
            <a:off x="6336792" y="4023360"/>
            <a:ext cx="2743200" cy="548640"/>
          </a:xfrm>
          <a:prstGeom prst="rect">
            <a:avLst/>
          </a:prstGeom>
          <a:noFill/>
        </p:spPr>
        <p:txBody>
          <a:bodyPr wrap="square">
            <a:spAutoFit/>
          </a:bodyPr>
          <a:lstStyle/>
          <a:p>
            <a:pPr algn="l"/>
            <a:r>
              <a:rPr sz="1100" b="0">
                <a:solidFill>
                  <a:srgbClr val="CBD5E1"/>
                </a:solidFill>
              </a:rPr>
              <a:t>▸ Fine-tuning pipeline for domain adaptation</a:t>
            </a:r>
          </a:p>
        </p:txBody>
      </p:sp>
      <p:sp>
        <p:nvSpPr>
          <p:cNvPr id="33" name="TextBox 32"/>
          <p:cNvSpPr txBox="1"/>
          <p:nvPr/>
        </p:nvSpPr>
        <p:spPr>
          <a:xfrm>
            <a:off x="6336792" y="4645152"/>
            <a:ext cx="2743200" cy="548640"/>
          </a:xfrm>
          <a:prstGeom prst="rect">
            <a:avLst/>
          </a:prstGeom>
          <a:noFill/>
        </p:spPr>
        <p:txBody>
          <a:bodyPr wrap="square">
            <a:spAutoFit/>
          </a:bodyPr>
          <a:lstStyle/>
          <a:p>
            <a:pPr algn="l"/>
            <a:r>
              <a:rPr sz="1100" b="0">
                <a:solidFill>
                  <a:srgbClr val="CBD5E1"/>
                </a:solidFill>
              </a:rPr>
              <a:t>▸ Cost analytics per agent (token usage billing)</a:t>
            </a:r>
          </a:p>
        </p:txBody>
      </p:sp>
      <p:sp>
        <p:nvSpPr>
          <p:cNvPr id="34" name="TextBox 33"/>
          <p:cNvSpPr txBox="1"/>
          <p:nvPr/>
        </p:nvSpPr>
        <p:spPr>
          <a:xfrm>
            <a:off x="6336792" y="5266944"/>
            <a:ext cx="2743200" cy="548640"/>
          </a:xfrm>
          <a:prstGeom prst="rect">
            <a:avLst/>
          </a:prstGeom>
          <a:noFill/>
        </p:spPr>
        <p:txBody>
          <a:bodyPr wrap="square">
            <a:spAutoFit/>
          </a:bodyPr>
          <a:lstStyle/>
          <a:p>
            <a:pPr algn="l"/>
            <a:r>
              <a:rPr sz="1100" b="0">
                <a:solidFill>
                  <a:srgbClr val="CBD5E1"/>
                </a:solidFill>
              </a:rPr>
              <a:t>▸ Agent performance benchmarking dashboard</a:t>
            </a:r>
          </a:p>
        </p:txBody>
      </p:sp>
      <p:sp>
        <p:nvSpPr>
          <p:cNvPr id="35" name="Rectangle 34"/>
          <p:cNvSpPr/>
          <p:nvPr/>
        </p:nvSpPr>
        <p:spPr>
          <a:xfrm>
            <a:off x="9208008"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08008" y="960120"/>
            <a:ext cx="2834640" cy="475488"/>
          </a:xfrm>
          <a:prstGeom prst="rect">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99448" y="1005840"/>
            <a:ext cx="2743200" cy="384048"/>
          </a:xfrm>
          <a:prstGeom prst="rect">
            <a:avLst/>
          </a:prstGeom>
          <a:noFill/>
        </p:spPr>
        <p:txBody>
          <a:bodyPr wrap="square">
            <a:spAutoFit/>
          </a:bodyPr>
          <a:lstStyle/>
          <a:p>
            <a:pPr algn="l"/>
            <a:r>
              <a:rPr sz="1100" b="1">
                <a:solidFill>
                  <a:srgbClr val="FFFFFF"/>
                </a:solidFill>
              </a:rPr>
              <a:t>💡 Phase 4 — Vision  (2027+)</a:t>
            </a:r>
          </a:p>
        </p:txBody>
      </p:sp>
      <p:sp>
        <p:nvSpPr>
          <p:cNvPr id="38" name="TextBox 37"/>
          <p:cNvSpPr txBox="1"/>
          <p:nvPr/>
        </p:nvSpPr>
        <p:spPr>
          <a:xfrm>
            <a:off x="9299448" y="1536192"/>
            <a:ext cx="2743200" cy="548640"/>
          </a:xfrm>
          <a:prstGeom prst="rect">
            <a:avLst/>
          </a:prstGeom>
          <a:noFill/>
        </p:spPr>
        <p:txBody>
          <a:bodyPr wrap="square">
            <a:spAutoFit/>
          </a:bodyPr>
          <a:lstStyle/>
          <a:p>
            <a:pPr algn="l"/>
            <a:r>
              <a:rPr sz="1100" b="0">
                <a:solidFill>
                  <a:srgbClr val="CBD5E1"/>
                </a:solidFill>
              </a:rPr>
              <a:t>▸ Autonomous agent self-improvement loop</a:t>
            </a:r>
          </a:p>
        </p:txBody>
      </p:sp>
      <p:sp>
        <p:nvSpPr>
          <p:cNvPr id="39" name="TextBox 38"/>
          <p:cNvSpPr txBox="1"/>
          <p:nvPr/>
        </p:nvSpPr>
        <p:spPr>
          <a:xfrm>
            <a:off x="9299448" y="2157984"/>
            <a:ext cx="2743200" cy="548640"/>
          </a:xfrm>
          <a:prstGeom prst="rect">
            <a:avLst/>
          </a:prstGeom>
          <a:noFill/>
        </p:spPr>
        <p:txBody>
          <a:bodyPr wrap="square">
            <a:spAutoFit/>
          </a:bodyPr>
          <a:lstStyle/>
          <a:p>
            <a:pPr algn="l"/>
            <a:r>
              <a:rPr sz="1100" b="0">
                <a:solidFill>
                  <a:srgbClr val="CBD5E1"/>
                </a:solidFill>
              </a:rPr>
              <a:t>▸ Cross-org agent marketplace with licensing</a:t>
            </a:r>
          </a:p>
        </p:txBody>
      </p:sp>
      <p:sp>
        <p:nvSpPr>
          <p:cNvPr id="40" name="TextBox 39"/>
          <p:cNvSpPr txBox="1"/>
          <p:nvPr/>
        </p:nvSpPr>
        <p:spPr>
          <a:xfrm>
            <a:off x="9299448" y="2779776"/>
            <a:ext cx="2743200" cy="548640"/>
          </a:xfrm>
          <a:prstGeom prst="rect">
            <a:avLst/>
          </a:prstGeom>
          <a:noFill/>
        </p:spPr>
        <p:txBody>
          <a:bodyPr wrap="square">
            <a:spAutoFit/>
          </a:bodyPr>
          <a:lstStyle/>
          <a:p>
            <a:pPr algn="l"/>
            <a:r>
              <a:rPr sz="1100" b="0">
                <a:solidFill>
                  <a:srgbClr val="CBD5E1"/>
                </a:solidFill>
              </a:rPr>
              <a:t>▸ Real-time multi-agent collaboration canvas</a:t>
            </a:r>
          </a:p>
        </p:txBody>
      </p:sp>
      <p:sp>
        <p:nvSpPr>
          <p:cNvPr id="41" name="TextBox 40"/>
          <p:cNvSpPr txBox="1"/>
          <p:nvPr/>
        </p:nvSpPr>
        <p:spPr>
          <a:xfrm>
            <a:off x="9299448" y="3401568"/>
            <a:ext cx="2743200" cy="548640"/>
          </a:xfrm>
          <a:prstGeom prst="rect">
            <a:avLst/>
          </a:prstGeom>
          <a:noFill/>
        </p:spPr>
        <p:txBody>
          <a:bodyPr wrap="square">
            <a:spAutoFit/>
          </a:bodyPr>
          <a:lstStyle/>
          <a:p>
            <a:pPr algn="l"/>
            <a:r>
              <a:rPr sz="1100" b="0">
                <a:solidFill>
                  <a:srgbClr val="CBD5E1"/>
                </a:solidFill>
              </a:rPr>
              <a:t>▸ Regulatory compliance packs (HIPAA, GDPR, SOC2)</a:t>
            </a:r>
          </a:p>
        </p:txBody>
      </p:sp>
      <p:sp>
        <p:nvSpPr>
          <p:cNvPr id="42" name="TextBox 41"/>
          <p:cNvSpPr txBox="1"/>
          <p:nvPr/>
        </p:nvSpPr>
        <p:spPr>
          <a:xfrm>
            <a:off x="9299448" y="4023360"/>
            <a:ext cx="2743200" cy="548640"/>
          </a:xfrm>
          <a:prstGeom prst="rect">
            <a:avLst/>
          </a:prstGeom>
          <a:noFill/>
        </p:spPr>
        <p:txBody>
          <a:bodyPr wrap="square">
            <a:spAutoFit/>
          </a:bodyPr>
          <a:lstStyle/>
          <a:p>
            <a:pPr algn="l"/>
            <a:r>
              <a:rPr sz="1100" b="0">
                <a:solidFill>
                  <a:srgbClr val="CBD5E1"/>
                </a:solidFill>
              </a:rPr>
              <a:t>▸ Edge deployment (on-device agents)</a:t>
            </a:r>
          </a:p>
        </p:txBody>
      </p:sp>
      <p:sp>
        <p:nvSpPr>
          <p:cNvPr id="43" name="TextBox 42"/>
          <p:cNvSpPr txBox="1"/>
          <p:nvPr/>
        </p:nvSpPr>
        <p:spPr>
          <a:xfrm>
            <a:off x="9299448" y="4645152"/>
            <a:ext cx="2743200" cy="548640"/>
          </a:xfrm>
          <a:prstGeom prst="rect">
            <a:avLst/>
          </a:prstGeom>
          <a:noFill/>
        </p:spPr>
        <p:txBody>
          <a:bodyPr wrap="square">
            <a:spAutoFit/>
          </a:bodyPr>
          <a:lstStyle/>
          <a:p>
            <a:pPr algn="l"/>
            <a:r>
              <a:rPr sz="1100" b="0">
                <a:solidFill>
                  <a:srgbClr val="CBD5E1"/>
                </a:solidFill>
              </a:rPr>
              <a:t>▸ Federated learning for privacy-preserving training</a:t>
            </a:r>
          </a:p>
        </p:txBody>
      </p:sp>
      <p:sp>
        <p:nvSpPr>
          <p:cNvPr id="44" name="TextBox 43"/>
          <p:cNvSpPr txBox="1"/>
          <p:nvPr/>
        </p:nvSpPr>
        <p:spPr>
          <a:xfrm>
            <a:off x="9299448" y="5266944"/>
            <a:ext cx="2743200" cy="548640"/>
          </a:xfrm>
          <a:prstGeom prst="rect">
            <a:avLst/>
          </a:prstGeom>
          <a:noFill/>
        </p:spPr>
        <p:txBody>
          <a:bodyPr wrap="square">
            <a:spAutoFit/>
          </a:bodyPr>
          <a:lstStyle/>
          <a:p>
            <a:pPr algn="l"/>
            <a:r>
              <a:rPr sz="1100" b="0">
                <a:solidFill>
                  <a:srgbClr val="CBD5E1"/>
                </a:solidFill>
              </a:rPr>
              <a:t>▸ GenAI Operations (GenAIOps) full lifecycle</a:t>
            </a:r>
          </a:p>
        </p:txBody>
      </p:sp>
      <p:sp>
        <p:nvSpPr>
          <p:cNvPr id="45" name="TextBox 4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Enterprise Hardening Pass — What Changed</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The Architect (Prompt-to-Agent) flow was taken from a working prototype to a production-grade generator through five focused workstreams — each independently designed, implemented, live-tested against real Azure OpenAI calls, and code-reviewed.</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Domain-Aware Generation</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a:solidFill>
                  <a:srgbClr val="CBD5E1"/>
                </a:solidFill>
              </a:rPr>
              <a:t>Expanded from 2 hardcoded app types to 10 real domains (HR, Sales, Legal, Support, Marketing, Dev Tool, Analyst, Data, Chatbot, Custom) — each with its own enterprise-grade layout, labels, and 46 upgraded multi-agent prompts.</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Real Data, Not Fabricated Demos</a:t>
            </a: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Sandbox previews and downloadable Custom Code now seed dashboards/tables from real uploaded sample data (CSV/Excel) instead of GPT-4o inventing plausible-looking numbers — verified exact-match against source files.</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  Enterprise Layers 3–5</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Auto-generated PostgreSQL schema + migrations on first run · OpenTelemetry tracing on every LLM call · an AI-scored feedback loop that few-shots top-rated plans back into future generations.</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Real SSO Integration</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Azure AD / Entra ID keyword-detected from the plan → genuine JWT-validation middleware (JWKS, aud/iss/exp checks) + real MSAL frontend login in the Custom Code ZIP, gated by an SSO_ENABLED toggle for local dev.</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Real File Upload Parsing</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Sandbox: real client-side CSV/XLSX parsing (no fake success toasts). Custom Code backend: real PDF (PyPDF2) and DOCX (python-docx) extraction, closing a gap where both libraries were required but never used.</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FFFFFF"/>
                </a:solidFill>
              </a:rPr>
              <a:t>Domain-Aware Generation Across 10 Categories</a:t>
            </a:r>
          </a:p>
        </p:txBody>
      </p:sp>
      <p:sp>
        <p:nvSpPr>
          <p:cNvPr id="5" name="Rectangle 4"/>
          <p:cNvSpPr/>
          <p:nvPr/>
        </p:nvSpPr>
        <p:spPr>
          <a:xfrm>
            <a:off x="365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914400"/>
            <a:ext cx="2194560" cy="502920"/>
          </a:xfrm>
          <a:prstGeom prst="rect">
            <a:avLst/>
          </a:prstGeom>
          <a:noFill/>
        </p:spPr>
        <p:txBody>
          <a:bodyPr wrap="square">
            <a:spAutoFit/>
          </a:bodyPr>
          <a:lstStyle/>
          <a:p>
            <a:pPr algn="ctr"/>
            <a:r>
              <a:rPr sz="1200" b="1">
                <a:solidFill>
                  <a:srgbClr val="FFFFFF"/>
                </a:solidFill>
              </a:rPr>
              <a:t>General</a:t>
            </a:r>
          </a:p>
        </p:txBody>
      </p:sp>
      <p:sp>
        <p:nvSpPr>
          <p:cNvPr id="7" name="Rectangle 6"/>
          <p:cNvSpPr/>
          <p:nvPr/>
        </p:nvSpPr>
        <p:spPr>
          <a:xfrm>
            <a:off x="2651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51760" y="914400"/>
            <a:ext cx="2194560" cy="502920"/>
          </a:xfrm>
          <a:prstGeom prst="rect">
            <a:avLst/>
          </a:prstGeom>
          <a:noFill/>
        </p:spPr>
        <p:txBody>
          <a:bodyPr wrap="square">
            <a:spAutoFit/>
          </a:bodyPr>
          <a:lstStyle/>
          <a:p>
            <a:pPr algn="ctr"/>
            <a:r>
              <a:rPr sz="1200" b="1">
                <a:solidFill>
                  <a:srgbClr val="FFFFFF"/>
                </a:solidFill>
              </a:rPr>
              <a:t>Marketing</a:t>
            </a:r>
          </a:p>
        </p:txBody>
      </p:sp>
      <p:sp>
        <p:nvSpPr>
          <p:cNvPr id="9" name="Rectangle 8"/>
          <p:cNvSpPr/>
          <p:nvPr/>
        </p:nvSpPr>
        <p:spPr>
          <a:xfrm>
            <a:off x="4937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914400"/>
            <a:ext cx="2194560" cy="502920"/>
          </a:xfrm>
          <a:prstGeom prst="rect">
            <a:avLst/>
          </a:prstGeom>
          <a:noFill/>
        </p:spPr>
        <p:txBody>
          <a:bodyPr wrap="square">
            <a:spAutoFit/>
          </a:bodyPr>
          <a:lstStyle/>
          <a:p>
            <a:pPr algn="ctr"/>
            <a:r>
              <a:rPr sz="1200" b="1">
                <a:solidFill>
                  <a:srgbClr val="FFFFFF"/>
                </a:solidFill>
              </a:rPr>
              <a:t>Sales</a:t>
            </a:r>
          </a:p>
        </p:txBody>
      </p:sp>
      <p:sp>
        <p:nvSpPr>
          <p:cNvPr id="11" name="Rectangle 10"/>
          <p:cNvSpPr/>
          <p:nvPr/>
        </p:nvSpPr>
        <p:spPr>
          <a:xfrm>
            <a:off x="7223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0" y="914400"/>
            <a:ext cx="2194560" cy="502920"/>
          </a:xfrm>
          <a:prstGeom prst="rect">
            <a:avLst/>
          </a:prstGeom>
          <a:noFill/>
        </p:spPr>
        <p:txBody>
          <a:bodyPr wrap="square">
            <a:spAutoFit/>
          </a:bodyPr>
          <a:lstStyle/>
          <a:p>
            <a:pPr algn="ctr"/>
            <a:r>
              <a:rPr sz="1200" b="1">
                <a:solidFill>
                  <a:srgbClr val="FFFFFF"/>
                </a:solidFill>
              </a:rPr>
              <a:t>Legal</a:t>
            </a:r>
          </a:p>
        </p:txBody>
      </p:sp>
      <p:sp>
        <p:nvSpPr>
          <p:cNvPr id="13" name="Rectangle 12"/>
          <p:cNvSpPr/>
          <p:nvPr/>
        </p:nvSpPr>
        <p:spPr>
          <a:xfrm>
            <a:off x="9509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0" y="914400"/>
            <a:ext cx="2194560" cy="502920"/>
          </a:xfrm>
          <a:prstGeom prst="rect">
            <a:avLst/>
          </a:prstGeom>
          <a:noFill/>
        </p:spPr>
        <p:txBody>
          <a:bodyPr wrap="square">
            <a:spAutoFit/>
          </a:bodyPr>
          <a:lstStyle/>
          <a:p>
            <a:pPr algn="ctr"/>
            <a:r>
              <a:rPr sz="1200" b="1">
                <a:solidFill>
                  <a:srgbClr val="FFFFFF"/>
                </a:solidFill>
              </a:rPr>
              <a:t>HR</a:t>
            </a:r>
          </a:p>
        </p:txBody>
      </p:sp>
      <p:sp>
        <p:nvSpPr>
          <p:cNvPr id="15" name="Rectangle 14"/>
          <p:cNvSpPr/>
          <p:nvPr/>
        </p:nvSpPr>
        <p:spPr>
          <a:xfrm>
            <a:off x="365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508760"/>
            <a:ext cx="2194560" cy="502920"/>
          </a:xfrm>
          <a:prstGeom prst="rect">
            <a:avLst/>
          </a:prstGeom>
          <a:noFill/>
        </p:spPr>
        <p:txBody>
          <a:bodyPr wrap="square">
            <a:spAutoFit/>
          </a:bodyPr>
          <a:lstStyle/>
          <a:p>
            <a:pPr algn="ctr"/>
            <a:r>
              <a:rPr sz="1200" b="1">
                <a:solidFill>
                  <a:srgbClr val="FFFFFF"/>
                </a:solidFill>
              </a:rPr>
              <a:t>Support</a:t>
            </a:r>
          </a:p>
        </p:txBody>
      </p:sp>
      <p:sp>
        <p:nvSpPr>
          <p:cNvPr id="17" name="Rectangle 16"/>
          <p:cNvSpPr/>
          <p:nvPr/>
        </p:nvSpPr>
        <p:spPr>
          <a:xfrm>
            <a:off x="2651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51760" y="1508760"/>
            <a:ext cx="2194560" cy="502920"/>
          </a:xfrm>
          <a:prstGeom prst="rect">
            <a:avLst/>
          </a:prstGeom>
          <a:noFill/>
        </p:spPr>
        <p:txBody>
          <a:bodyPr wrap="square">
            <a:spAutoFit/>
          </a:bodyPr>
          <a:lstStyle/>
          <a:p>
            <a:pPr algn="ctr"/>
            <a:r>
              <a:rPr sz="1200" b="1">
                <a:solidFill>
                  <a:srgbClr val="FFFFFF"/>
                </a:solidFill>
              </a:rPr>
              <a:t>Productivity</a:t>
            </a:r>
          </a:p>
        </p:txBody>
      </p:sp>
      <p:sp>
        <p:nvSpPr>
          <p:cNvPr id="19" name="Rectangle 18"/>
          <p:cNvSpPr/>
          <p:nvPr/>
        </p:nvSpPr>
        <p:spPr>
          <a:xfrm>
            <a:off x="4937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0" y="1508760"/>
            <a:ext cx="2194560" cy="502920"/>
          </a:xfrm>
          <a:prstGeom prst="rect">
            <a:avLst/>
          </a:prstGeom>
          <a:noFill/>
        </p:spPr>
        <p:txBody>
          <a:bodyPr wrap="square">
            <a:spAutoFit/>
          </a:bodyPr>
          <a:lstStyle/>
          <a:p>
            <a:pPr algn="ctr"/>
            <a:r>
              <a:rPr sz="1200" b="1">
                <a:solidFill>
                  <a:srgbClr val="FFFFFF"/>
                </a:solidFill>
              </a:rPr>
              <a:t>Development</a:t>
            </a:r>
          </a:p>
        </p:txBody>
      </p:sp>
      <p:sp>
        <p:nvSpPr>
          <p:cNvPr id="21" name="Rectangle 20"/>
          <p:cNvSpPr/>
          <p:nvPr/>
        </p:nvSpPr>
        <p:spPr>
          <a:xfrm>
            <a:off x="7223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60" y="1508760"/>
            <a:ext cx="2194560" cy="502920"/>
          </a:xfrm>
          <a:prstGeom prst="rect">
            <a:avLst/>
          </a:prstGeom>
          <a:noFill/>
        </p:spPr>
        <p:txBody>
          <a:bodyPr wrap="square">
            <a:spAutoFit/>
          </a:bodyPr>
          <a:lstStyle/>
          <a:p>
            <a:pPr algn="ctr"/>
            <a:r>
              <a:rPr sz="1200" b="1">
                <a:solidFill>
                  <a:srgbClr val="FFFFFF"/>
                </a:solidFill>
              </a:rPr>
              <a:t>Analysts</a:t>
            </a:r>
          </a:p>
        </p:txBody>
      </p:sp>
      <p:sp>
        <p:nvSpPr>
          <p:cNvPr id="23" name="Rectangle 22"/>
          <p:cNvSpPr/>
          <p:nvPr/>
        </p:nvSpPr>
        <p:spPr>
          <a:xfrm>
            <a:off x="9509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1508760"/>
            <a:ext cx="2194560" cy="502920"/>
          </a:xfrm>
          <a:prstGeom prst="rect">
            <a:avLst/>
          </a:prstGeom>
          <a:noFill/>
        </p:spPr>
        <p:txBody>
          <a:bodyPr wrap="square">
            <a:spAutoFit/>
          </a:bodyPr>
          <a:lstStyle/>
          <a:p>
            <a:pPr algn="ctr"/>
            <a:r>
              <a:rPr sz="1200" b="1">
                <a:solidFill>
                  <a:srgbClr val="FFFFFF"/>
                </a:solidFill>
              </a:rPr>
              <a:t>Data &amp; Analysis</a:t>
            </a:r>
          </a:p>
        </p:txBody>
      </p:sp>
      <p:sp>
        <p:nvSpPr>
          <p:cNvPr id="25" name="TextBox 24"/>
          <p:cNvSpPr txBox="1"/>
          <p:nvPr/>
        </p:nvSpPr>
        <p:spPr>
          <a:xfrm>
            <a:off x="365760" y="2240280"/>
            <a:ext cx="11338560" cy="594360"/>
          </a:xfrm>
          <a:prstGeom prst="rect">
            <a:avLst/>
          </a:prstGeom>
          <a:noFill/>
        </p:spPr>
        <p:txBody>
          <a:bodyPr wrap="square">
            <a:spAutoFit/>
          </a:bodyPr>
          <a:lstStyle/>
          <a:p>
            <a:pPr algn="l"/>
            <a:r>
              <a:rPr sz="1200" b="0">
                <a:solidFill>
                  <a:srgbClr val="CBD5E1"/>
                </a:solidFill>
              </a:rPr>
              <a:t>Each domain gets its own enterprise-standard layout (correct sidebar labels, KPI tiles, charts) instead of a generic one-size-fits-all template — 46 Prompt Library prompts upgraded to multi-agent specs with a matching realistic sample data file per prompt.</a:t>
            </a:r>
          </a:p>
        </p:txBody>
      </p:sp>
      <p:sp>
        <p:nvSpPr>
          <p:cNvPr id="26" name="TextBox 25"/>
          <p:cNvSpPr txBox="1"/>
          <p:nvPr/>
        </p:nvSpPr>
        <p:spPr>
          <a:xfrm>
            <a:off x="365760" y="3017520"/>
            <a:ext cx="7315200" cy="365760"/>
          </a:xfrm>
          <a:prstGeom prst="rect">
            <a:avLst/>
          </a:prstGeom>
          <a:noFill/>
        </p:spPr>
        <p:txBody>
          <a:bodyPr wrap="square">
            <a:spAutoFit/>
          </a:bodyPr>
          <a:lstStyle/>
          <a:p>
            <a:pPr algn="l"/>
            <a:r>
              <a:rPr sz="1500" b="1">
                <a:solidFill>
                  <a:srgbClr val="F59E0B"/>
                </a:solidFill>
              </a:rPr>
              <a:t>Before → After: Real Data Seeding</a:t>
            </a:r>
          </a:p>
        </p:txBody>
      </p:sp>
      <p:sp>
        <p:nvSpPr>
          <p:cNvPr id="27" name="Rectangle 26"/>
          <p:cNvSpPr/>
          <p:nvPr/>
        </p:nvSpPr>
        <p:spPr>
          <a:xfrm>
            <a:off x="365760" y="3429000"/>
            <a:ext cx="5577840" cy="26517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5760" y="3429000"/>
            <a:ext cx="5577840"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3474720"/>
            <a:ext cx="5303520" cy="320040"/>
          </a:xfrm>
          <a:prstGeom prst="rect">
            <a:avLst/>
          </a:prstGeom>
          <a:noFill/>
        </p:spPr>
        <p:txBody>
          <a:bodyPr wrap="square">
            <a:spAutoFit/>
          </a:bodyPr>
          <a:lstStyle/>
          <a:p>
            <a:pPr algn="l"/>
            <a:r>
              <a:rPr sz="1400" b="1">
                <a:solidFill>
                  <a:srgbClr val="FFFFFF"/>
                </a:solidFill>
              </a:rPr>
              <a:t>❌ Before</a:t>
            </a:r>
          </a:p>
        </p:txBody>
      </p:sp>
      <p:sp>
        <p:nvSpPr>
          <p:cNvPr id="30" name="TextBox 29"/>
          <p:cNvSpPr txBox="1"/>
          <p:nvPr/>
        </p:nvSpPr>
        <p:spPr>
          <a:xfrm>
            <a:off x="502920" y="3977639"/>
            <a:ext cx="5303520" cy="457200"/>
          </a:xfrm>
          <a:prstGeom prst="rect">
            <a:avLst/>
          </a:prstGeom>
          <a:noFill/>
        </p:spPr>
        <p:txBody>
          <a:bodyPr wrap="square">
            <a:spAutoFit/>
          </a:bodyPr>
          <a:lstStyle/>
          <a:p>
            <a:pPr algn="l"/>
            <a:r>
              <a:rPr sz="1100" b="0">
                <a:solidFill>
                  <a:srgbClr val="CBD5E1"/>
                </a:solidFill>
              </a:rPr>
              <a:t>"Contracts in Review: 128" — a fabricated round number,</a:t>
            </a:r>
          </a:p>
        </p:txBody>
      </p:sp>
      <p:sp>
        <p:nvSpPr>
          <p:cNvPr id="31" name="TextBox 30"/>
          <p:cNvSpPr txBox="1"/>
          <p:nvPr/>
        </p:nvSpPr>
        <p:spPr>
          <a:xfrm>
            <a:off x="502920" y="4480559"/>
            <a:ext cx="5303520" cy="457200"/>
          </a:xfrm>
          <a:prstGeom prst="rect">
            <a:avLst/>
          </a:prstGeom>
          <a:noFill/>
        </p:spPr>
        <p:txBody>
          <a:bodyPr wrap="square">
            <a:spAutoFit/>
          </a:bodyPr>
          <a:lstStyle/>
          <a:p>
            <a:pPr algn="l"/>
            <a:r>
              <a:rPr sz="1100" b="0">
                <a:solidFill>
                  <a:srgbClr val="CBD5E1"/>
                </a:solidFill>
              </a:rPr>
              <a:t>unrelated to the real uploaded contract data</a:t>
            </a:r>
          </a:p>
        </p:txBody>
      </p:sp>
      <p:sp>
        <p:nvSpPr>
          <p:cNvPr id="32" name="TextBox 31"/>
          <p:cNvSpPr txBox="1"/>
          <p:nvPr/>
        </p:nvSpPr>
        <p:spPr>
          <a:xfrm>
            <a:off x="502920" y="4983479"/>
            <a:ext cx="5303520" cy="457200"/>
          </a:xfrm>
          <a:prstGeom prst="rect">
            <a:avLst/>
          </a:prstGeom>
          <a:noFill/>
        </p:spPr>
        <p:txBody>
          <a:bodyPr wrap="square">
            <a:spAutoFit/>
          </a:bodyPr>
          <a:lstStyle/>
          <a:p>
            <a:pPr algn="l"/>
            <a:r>
              <a:rPr sz="1100" b="0">
                <a:solidFill>
                  <a:srgbClr val="CBD5E1"/>
                </a:solidFill>
              </a:rPr>
              <a:t>"Outlook Reminders Sent: 12" — invented for every render</a:t>
            </a:r>
          </a:p>
        </p:txBody>
      </p:sp>
      <p:sp>
        <p:nvSpPr>
          <p:cNvPr id="33" name="TextBox 32"/>
          <p:cNvSpPr txBox="1"/>
          <p:nvPr/>
        </p:nvSpPr>
        <p:spPr>
          <a:xfrm>
            <a:off x="502920" y="5486400"/>
            <a:ext cx="5303520" cy="457200"/>
          </a:xfrm>
          <a:prstGeom prst="rect">
            <a:avLst/>
          </a:prstGeom>
          <a:noFill/>
        </p:spPr>
        <p:txBody>
          <a:bodyPr wrap="square">
            <a:spAutoFit/>
          </a:bodyPr>
          <a:lstStyle/>
          <a:p>
            <a:pPr algn="l"/>
            <a:r>
              <a:rPr sz="1100" b="0">
                <a:solidFill>
                  <a:srgbClr val="CBD5E1"/>
                </a:solidFill>
              </a:rPr>
              <a:t>Same issue in the Custom Code ZIP's seed data</a:t>
            </a:r>
          </a:p>
        </p:txBody>
      </p:sp>
      <p:sp>
        <p:nvSpPr>
          <p:cNvPr id="34" name="Rectangle 33"/>
          <p:cNvSpPr/>
          <p:nvPr/>
        </p:nvSpPr>
        <p:spPr>
          <a:xfrm>
            <a:off x="6172200" y="3429000"/>
            <a:ext cx="5577840" cy="26517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2200" y="3429000"/>
            <a:ext cx="557784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9360" y="3474720"/>
            <a:ext cx="5303520" cy="320040"/>
          </a:xfrm>
          <a:prstGeom prst="rect">
            <a:avLst/>
          </a:prstGeom>
          <a:noFill/>
        </p:spPr>
        <p:txBody>
          <a:bodyPr wrap="square">
            <a:spAutoFit/>
          </a:bodyPr>
          <a:lstStyle/>
          <a:p>
            <a:pPr algn="l"/>
            <a:r>
              <a:rPr sz="1400" b="1">
                <a:solidFill>
                  <a:srgbClr val="FFFFFF"/>
                </a:solidFill>
              </a:rPr>
              <a:t>✅ After</a:t>
            </a:r>
          </a:p>
        </p:txBody>
      </p:sp>
      <p:sp>
        <p:nvSpPr>
          <p:cNvPr id="37" name="TextBox 36"/>
          <p:cNvSpPr txBox="1"/>
          <p:nvPr/>
        </p:nvSpPr>
        <p:spPr>
          <a:xfrm>
            <a:off x="6309360" y="3977639"/>
            <a:ext cx="5303520" cy="457200"/>
          </a:xfrm>
          <a:prstGeom prst="rect">
            <a:avLst/>
          </a:prstGeom>
          <a:noFill/>
        </p:spPr>
        <p:txBody>
          <a:bodyPr wrap="square">
            <a:spAutoFit/>
          </a:bodyPr>
          <a:lstStyle/>
          <a:p>
            <a:pPr algn="l"/>
            <a:r>
              <a:rPr sz="1100" b="0">
                <a:solidFill>
                  <a:srgbClr val="CBD5E1"/>
                </a:solidFill>
              </a:rPr>
              <a:t>"Contracts in Review: 4" · "High Risk: 3" — verified exact</a:t>
            </a:r>
          </a:p>
        </p:txBody>
      </p:sp>
      <p:sp>
        <p:nvSpPr>
          <p:cNvPr id="38" name="TextBox 37"/>
          <p:cNvSpPr txBox="1"/>
          <p:nvPr/>
        </p:nvSpPr>
        <p:spPr>
          <a:xfrm>
            <a:off x="6309360" y="4480559"/>
            <a:ext cx="5303520" cy="457200"/>
          </a:xfrm>
          <a:prstGeom prst="rect">
            <a:avLst/>
          </a:prstGeom>
          <a:noFill/>
        </p:spPr>
        <p:txBody>
          <a:bodyPr wrap="square">
            <a:spAutoFit/>
          </a:bodyPr>
          <a:lstStyle/>
          <a:p>
            <a:pPr algn="l"/>
            <a:r>
              <a:rPr sz="1100" b="0">
                <a:solidFill>
                  <a:srgbClr val="CBD5E1"/>
                </a:solidFill>
              </a:rPr>
              <a:t>match against the real 10-row sample CSV's actual counts</a:t>
            </a:r>
          </a:p>
        </p:txBody>
      </p:sp>
      <p:sp>
        <p:nvSpPr>
          <p:cNvPr id="39" name="TextBox 38"/>
          <p:cNvSpPr txBox="1"/>
          <p:nvPr/>
        </p:nvSpPr>
        <p:spPr>
          <a:xfrm>
            <a:off x="6309360" y="4983479"/>
            <a:ext cx="5303520" cy="457200"/>
          </a:xfrm>
          <a:prstGeom prst="rect">
            <a:avLst/>
          </a:prstGeom>
          <a:noFill/>
        </p:spPr>
        <p:txBody>
          <a:bodyPr wrap="square">
            <a:spAutoFit/>
          </a:bodyPr>
          <a:lstStyle/>
          <a:p>
            <a:pPr algn="l"/>
            <a:r>
              <a:rPr sz="1100" b="0">
                <a:solidFill>
                  <a:srgbClr val="CBD5E1"/>
                </a:solidFill>
              </a:rPr>
              <a:t>"Total contract value: $9,579,000" — sum of real value_usd</a:t>
            </a:r>
          </a:p>
        </p:txBody>
      </p:sp>
      <p:sp>
        <p:nvSpPr>
          <p:cNvPr id="40" name="TextBox 39"/>
          <p:cNvSpPr txBox="1"/>
          <p:nvPr/>
        </p:nvSpPr>
        <p:spPr>
          <a:xfrm>
            <a:off x="6309360" y="5486400"/>
            <a:ext cx="5303520" cy="457200"/>
          </a:xfrm>
          <a:prstGeom prst="rect">
            <a:avLst/>
          </a:prstGeom>
          <a:noFill/>
        </p:spPr>
        <p:txBody>
          <a:bodyPr wrap="square">
            <a:spAutoFit/>
          </a:bodyPr>
          <a:lstStyle/>
          <a:p>
            <a:pPr algn="l"/>
            <a:r>
              <a:rPr sz="1100" b="0">
                <a:solidFill>
                  <a:srgbClr val="CBD5E1"/>
                </a:solidFill>
              </a:rPr>
              <a:t>column, byte-for-byte traceable to the uploaded file</a:t>
            </a:r>
          </a:p>
        </p:txBody>
      </p:sp>
      <p:sp>
        <p:nvSpPr>
          <p:cNvPr id="41" name="TextBox 4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247120" cy="548640"/>
          </a:xfrm>
          <a:prstGeom prst="rect">
            <a:avLst/>
          </a:prstGeom>
          <a:noFill/>
        </p:spPr>
        <p:txBody>
          <a:bodyPr wrap="square">
            <a:spAutoFit/>
          </a:bodyPr>
          <a:lstStyle/>
          <a:p>
            <a:pPr algn="l"/>
            <a:r>
              <a:rPr sz="2300" b="1">
                <a:solidFill>
                  <a:srgbClr val="FFFFFF"/>
                </a:solidFill>
              </a:rPr>
              <a:t>Enterprise Layers 3–5: DB · Observability · AI Reinforcement</a:t>
            </a:r>
          </a:p>
        </p:txBody>
      </p:sp>
      <p:sp>
        <p:nvSpPr>
          <p:cNvPr id="5" name="Rectangle 4"/>
          <p:cNvSpPr/>
          <p:nvPr/>
        </p:nvSpPr>
        <p:spPr>
          <a:xfrm>
            <a:off x="320040" y="1005840"/>
            <a:ext cx="3703320" cy="42062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005840"/>
            <a:ext cx="370332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97280"/>
            <a:ext cx="3474720" cy="365760"/>
          </a:xfrm>
          <a:prstGeom prst="rect">
            <a:avLst/>
          </a:prstGeom>
          <a:noFill/>
        </p:spPr>
        <p:txBody>
          <a:bodyPr wrap="square">
            <a:spAutoFit/>
          </a:bodyPr>
          <a:lstStyle/>
          <a:p>
            <a:pPr algn="l"/>
            <a:r>
              <a:rPr sz="1300" b="1">
                <a:solidFill>
                  <a:srgbClr val="FFFFFF"/>
                </a:solidFill>
              </a:rPr>
              <a:t>🗄️  Layer 3 — DB Auto-Setup</a:t>
            </a:r>
          </a:p>
        </p:txBody>
      </p:sp>
      <p:sp>
        <p:nvSpPr>
          <p:cNvPr id="8" name="TextBox 7"/>
          <p:cNvSpPr txBox="1"/>
          <p:nvPr/>
        </p:nvSpPr>
        <p:spPr>
          <a:xfrm>
            <a:off x="457200" y="1691640"/>
            <a:ext cx="3474720" cy="502920"/>
          </a:xfrm>
          <a:prstGeom prst="rect">
            <a:avLst/>
          </a:prstGeom>
          <a:noFill/>
        </p:spPr>
        <p:txBody>
          <a:bodyPr wrap="square">
            <a:spAutoFit/>
          </a:bodyPr>
          <a:lstStyle/>
          <a:p>
            <a:pPr algn="l"/>
            <a:r>
              <a:rPr sz="1100" b="0">
                <a:solidFill>
                  <a:srgbClr val="CBD5E1"/>
                </a:solidFill>
              </a:rPr>
              <a:t>Domain-specific PostgreSQL schema (db/init.sql)</a:t>
            </a:r>
          </a:p>
        </p:txBody>
      </p:sp>
      <p:sp>
        <p:nvSpPr>
          <p:cNvPr id="9" name="TextBox 8"/>
          <p:cNvSpPr txBox="1"/>
          <p:nvPr/>
        </p:nvSpPr>
        <p:spPr>
          <a:xfrm>
            <a:off x="457200" y="2258568"/>
            <a:ext cx="3474720" cy="502920"/>
          </a:xfrm>
          <a:prstGeom prst="rect">
            <a:avLst/>
          </a:prstGeom>
          <a:noFill/>
        </p:spPr>
        <p:txBody>
          <a:bodyPr wrap="square">
            <a:spAutoFit/>
          </a:bodyPr>
          <a:lstStyle/>
          <a:p>
            <a:pPr algn="l"/>
            <a:r>
              <a:rPr sz="1100" b="0">
                <a:solidFill>
                  <a:srgbClr val="CBD5E1"/>
                </a:solidFill>
              </a:rPr>
              <a:t>auto-generated for each of the 10 app domains</a:t>
            </a:r>
          </a:p>
        </p:txBody>
      </p:sp>
      <p:sp>
        <p:nvSpPr>
          <p:cNvPr id="10" name="TextBox 9"/>
          <p:cNvSpPr txBox="1"/>
          <p:nvPr/>
        </p:nvSpPr>
        <p:spPr>
          <a:xfrm>
            <a:off x="457200" y="2825496"/>
            <a:ext cx="3474720" cy="502920"/>
          </a:xfrm>
          <a:prstGeom prst="rect">
            <a:avLst/>
          </a:prstGeom>
          <a:noFill/>
        </p:spPr>
        <p:txBody>
          <a:bodyPr wrap="square">
            <a:spAutoFit/>
          </a:bodyPr>
          <a:lstStyle/>
          <a:p>
            <a:pPr algn="l"/>
            <a:r>
              <a:rPr sz="1100" b="0">
                <a:solidFill>
                  <a:srgbClr val="CBD5E1"/>
                </a:solidFill>
              </a:rPr>
              <a:t>Idempotent run_migrations.py runs on first backend</a:t>
            </a:r>
          </a:p>
        </p:txBody>
      </p:sp>
      <p:sp>
        <p:nvSpPr>
          <p:cNvPr id="11" name="TextBox 10"/>
          <p:cNvSpPr txBox="1"/>
          <p:nvPr/>
        </p:nvSpPr>
        <p:spPr>
          <a:xfrm>
            <a:off x="457200" y="3392424"/>
            <a:ext cx="3474720" cy="502920"/>
          </a:xfrm>
          <a:prstGeom prst="rect">
            <a:avLst/>
          </a:prstGeom>
          <a:noFill/>
        </p:spPr>
        <p:txBody>
          <a:bodyPr wrap="square">
            <a:spAutoFit/>
          </a:bodyPr>
          <a:lstStyle/>
          <a:p>
            <a:pPr algn="l"/>
            <a:r>
              <a:rPr sz="1100" b="0">
                <a:solidFill>
                  <a:srgbClr val="CBD5E1"/>
                </a:solidFill>
              </a:rPr>
              <a:t>startup — no manual DB scripting required</a:t>
            </a:r>
          </a:p>
        </p:txBody>
      </p:sp>
      <p:sp>
        <p:nvSpPr>
          <p:cNvPr id="12" name="Rectangle 11"/>
          <p:cNvSpPr/>
          <p:nvPr/>
        </p:nvSpPr>
        <p:spPr>
          <a:xfrm>
            <a:off x="4197096" y="1005840"/>
            <a:ext cx="3703320" cy="42062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97096" y="1005840"/>
            <a:ext cx="370332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34256" y="1097280"/>
            <a:ext cx="3474720" cy="365760"/>
          </a:xfrm>
          <a:prstGeom prst="rect">
            <a:avLst/>
          </a:prstGeom>
          <a:noFill/>
        </p:spPr>
        <p:txBody>
          <a:bodyPr wrap="square">
            <a:spAutoFit/>
          </a:bodyPr>
          <a:lstStyle/>
          <a:p>
            <a:pPr algn="l"/>
            <a:r>
              <a:rPr sz="1300" b="1">
                <a:solidFill>
                  <a:srgbClr val="FFFFFF"/>
                </a:solidFill>
              </a:rPr>
              <a:t>📡  Layer 4 — OpenTelemetry</a:t>
            </a:r>
          </a:p>
        </p:txBody>
      </p:sp>
      <p:sp>
        <p:nvSpPr>
          <p:cNvPr id="15" name="TextBox 14"/>
          <p:cNvSpPr txBox="1"/>
          <p:nvPr/>
        </p:nvSpPr>
        <p:spPr>
          <a:xfrm>
            <a:off x="4334256" y="1691640"/>
            <a:ext cx="3474720" cy="502920"/>
          </a:xfrm>
          <a:prstGeom prst="rect">
            <a:avLst/>
          </a:prstGeom>
          <a:noFill/>
        </p:spPr>
        <p:txBody>
          <a:bodyPr wrap="square">
            <a:spAutoFit/>
          </a:bodyPr>
          <a:lstStyle/>
          <a:p>
            <a:pPr algn="l"/>
            <a:r>
              <a:rPr sz="1100" b="0">
                <a:solidFill>
                  <a:srgbClr val="CBD5E1"/>
                </a:solidFill>
              </a:rPr>
              <a:t>Every LLM call (KB extraction, UI generation,</a:t>
            </a:r>
          </a:p>
        </p:txBody>
      </p:sp>
      <p:sp>
        <p:nvSpPr>
          <p:cNvPr id="16" name="TextBox 15"/>
          <p:cNvSpPr txBox="1"/>
          <p:nvPr/>
        </p:nvSpPr>
        <p:spPr>
          <a:xfrm>
            <a:off x="4334256" y="2258568"/>
            <a:ext cx="3474720" cy="502920"/>
          </a:xfrm>
          <a:prstGeom prst="rect">
            <a:avLst/>
          </a:prstGeom>
          <a:noFill/>
        </p:spPr>
        <p:txBody>
          <a:bodyPr wrap="square">
            <a:spAutoFit/>
          </a:bodyPr>
          <a:lstStyle/>
          <a:p>
            <a:pPr algn="l"/>
            <a:r>
              <a:rPr sz="1100" b="0">
                <a:solidFill>
                  <a:srgbClr val="CBD5E1"/>
                </a:solidFill>
              </a:rPr>
              <a:t>frontend/backend generation) wrapped in a real span</a:t>
            </a:r>
          </a:p>
        </p:txBody>
      </p:sp>
      <p:sp>
        <p:nvSpPr>
          <p:cNvPr id="17" name="TextBox 16"/>
          <p:cNvSpPr txBox="1"/>
          <p:nvPr/>
        </p:nvSpPr>
        <p:spPr>
          <a:xfrm>
            <a:off x="4334256" y="2825496"/>
            <a:ext cx="3474720" cy="502920"/>
          </a:xfrm>
          <a:prstGeom prst="rect">
            <a:avLst/>
          </a:prstGeom>
          <a:noFill/>
        </p:spPr>
        <p:txBody>
          <a:bodyPr wrap="square">
            <a:spAutoFit/>
          </a:bodyPr>
          <a:lstStyle/>
          <a:p>
            <a:pPr algn="l"/>
            <a:r>
              <a:rPr sz="1100" b="0">
                <a:solidFill>
                  <a:srgbClr val="CBD5E1"/>
                </a:solidFill>
              </a:rPr>
              <a:t>telemetry.py + docker-compose.jaeger.yml auto-injected</a:t>
            </a:r>
          </a:p>
        </p:txBody>
      </p:sp>
      <p:sp>
        <p:nvSpPr>
          <p:cNvPr id="18" name="TextBox 17"/>
          <p:cNvSpPr txBox="1"/>
          <p:nvPr/>
        </p:nvSpPr>
        <p:spPr>
          <a:xfrm>
            <a:off x="4334256" y="3392424"/>
            <a:ext cx="3474720" cy="502920"/>
          </a:xfrm>
          <a:prstGeom prst="rect">
            <a:avLst/>
          </a:prstGeom>
          <a:noFill/>
        </p:spPr>
        <p:txBody>
          <a:bodyPr wrap="square">
            <a:spAutoFit/>
          </a:bodyPr>
          <a:lstStyle/>
          <a:p>
            <a:pPr algn="l"/>
            <a:r>
              <a:rPr sz="1100" b="0">
                <a:solidFill>
                  <a:srgbClr val="CBD5E1"/>
                </a:solidFill>
              </a:rPr>
              <a:t>into every downloaded Custom Code ZIP</a:t>
            </a:r>
          </a:p>
        </p:txBody>
      </p:sp>
      <p:sp>
        <p:nvSpPr>
          <p:cNvPr id="19" name="Rectangle 18"/>
          <p:cNvSpPr/>
          <p:nvPr/>
        </p:nvSpPr>
        <p:spPr>
          <a:xfrm>
            <a:off x="8074152" y="1005840"/>
            <a:ext cx="3703320" cy="42062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74152" y="1005840"/>
            <a:ext cx="370332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11312" y="1097280"/>
            <a:ext cx="3474720" cy="365760"/>
          </a:xfrm>
          <a:prstGeom prst="rect">
            <a:avLst/>
          </a:prstGeom>
          <a:noFill/>
        </p:spPr>
        <p:txBody>
          <a:bodyPr wrap="square">
            <a:spAutoFit/>
          </a:bodyPr>
          <a:lstStyle/>
          <a:p>
            <a:pPr algn="l"/>
            <a:r>
              <a:rPr sz="1300" b="1">
                <a:solidFill>
                  <a:srgbClr val="FFFFFF"/>
                </a:solidFill>
              </a:rPr>
              <a:t>🔁  Layer 5 — AI Reinforcement Loop</a:t>
            </a:r>
          </a:p>
        </p:txBody>
      </p:sp>
      <p:sp>
        <p:nvSpPr>
          <p:cNvPr id="22" name="TextBox 21"/>
          <p:cNvSpPr txBox="1"/>
          <p:nvPr/>
        </p:nvSpPr>
        <p:spPr>
          <a:xfrm>
            <a:off x="8211312" y="1691640"/>
            <a:ext cx="3474720" cy="502920"/>
          </a:xfrm>
          <a:prstGeom prst="rect">
            <a:avLst/>
          </a:prstGeom>
          <a:noFill/>
        </p:spPr>
        <p:txBody>
          <a:bodyPr wrap="square">
            <a:spAutoFit/>
          </a:bodyPr>
          <a:lstStyle/>
          <a:p>
            <a:pPr algn="l"/>
            <a:r>
              <a:rPr sz="1100" b="0">
                <a:solidFill>
                  <a:srgbClr val="CBD5E1"/>
                </a:solidFill>
              </a:rPr>
              <a:t>👍 / 👎 feedback widget on every generated plan</a:t>
            </a:r>
          </a:p>
        </p:txBody>
      </p:sp>
      <p:sp>
        <p:nvSpPr>
          <p:cNvPr id="23" name="TextBox 22"/>
          <p:cNvSpPr txBox="1"/>
          <p:nvPr/>
        </p:nvSpPr>
        <p:spPr>
          <a:xfrm>
            <a:off x="8211312" y="2258568"/>
            <a:ext cx="3474720" cy="502920"/>
          </a:xfrm>
          <a:prstGeom prst="rect">
            <a:avLst/>
          </a:prstGeom>
          <a:noFill/>
        </p:spPr>
        <p:txBody>
          <a:bodyPr wrap="square">
            <a:spAutoFit/>
          </a:bodyPr>
          <a:lstStyle/>
          <a:p>
            <a:pPr algn="l"/>
            <a:r>
              <a:rPr sz="1100" b="0">
                <a:solidFill>
                  <a:srgbClr val="CBD5E1"/>
                </a:solidFill>
              </a:rPr>
              <a:t>GPT-4o self-scores plans across 5 quality dimensions</a:t>
            </a:r>
          </a:p>
        </p:txBody>
      </p:sp>
      <p:sp>
        <p:nvSpPr>
          <p:cNvPr id="24" name="TextBox 23"/>
          <p:cNvSpPr txBox="1"/>
          <p:nvPr/>
        </p:nvSpPr>
        <p:spPr>
          <a:xfrm>
            <a:off x="8211312" y="2825496"/>
            <a:ext cx="3474720" cy="502920"/>
          </a:xfrm>
          <a:prstGeom prst="rect">
            <a:avLst/>
          </a:prstGeom>
          <a:noFill/>
        </p:spPr>
        <p:txBody>
          <a:bodyPr wrap="square">
            <a:spAutoFit/>
          </a:bodyPr>
          <a:lstStyle/>
          <a:p>
            <a:pPr algn="l"/>
            <a:r>
              <a:rPr sz="1100" b="0">
                <a:solidFill>
                  <a:srgbClr val="CBD5E1"/>
                </a:solidFill>
              </a:rPr>
              <a:t>Top-rated plans few-shot-injected into future generation</a:t>
            </a:r>
          </a:p>
        </p:txBody>
      </p:sp>
      <p:sp>
        <p:nvSpPr>
          <p:cNvPr id="25" name="TextBox 24"/>
          <p:cNvSpPr txBox="1"/>
          <p:nvPr/>
        </p:nvSpPr>
        <p:spPr>
          <a:xfrm>
            <a:off x="8211312" y="3392424"/>
            <a:ext cx="3474720" cy="502920"/>
          </a:xfrm>
          <a:prstGeom prst="rect">
            <a:avLst/>
          </a:prstGeom>
          <a:noFill/>
        </p:spPr>
        <p:txBody>
          <a:bodyPr wrap="square">
            <a:spAutoFit/>
          </a:bodyPr>
          <a:lstStyle/>
          <a:p>
            <a:pPr algn="l"/>
            <a:r>
              <a:rPr sz="1100" b="0">
                <a:solidFill>
                  <a:srgbClr val="CBD5E1"/>
                </a:solidFill>
              </a:rPr>
              <a:t>prompts — the system improves from its own best output</a:t>
            </a:r>
          </a:p>
        </p:txBody>
      </p:sp>
      <p:sp>
        <p:nvSpPr>
          <p:cNvPr id="26" name="TextBox 25"/>
          <p:cNvSpPr txBox="1"/>
          <p:nvPr/>
        </p:nvSpPr>
        <p:spPr>
          <a:xfrm>
            <a:off x="365760" y="5440680"/>
            <a:ext cx="11338560" cy="457200"/>
          </a:xfrm>
          <a:prstGeom prst="rect">
            <a:avLst/>
          </a:prstGeom>
          <a:noFill/>
        </p:spPr>
        <p:txBody>
          <a:bodyPr wrap="square">
            <a:spAutoFit/>
          </a:bodyPr>
          <a:lstStyle/>
          <a:p>
            <a:pPr algn="l"/>
            <a:r>
              <a:rPr sz="1100" b="0">
                <a:solidFill>
                  <a:srgbClr val="CBD5E1"/>
                </a:solidFill>
              </a:rPr>
              <a:t>All three layers were verified live: real docker-compose migrations, real span data visible in a tracing backend, and a real thumbs-up → /feedback → /feedback/top → few-shot round-trip.</a:t>
            </a:r>
          </a:p>
        </p:txBody>
      </p:sp>
      <p:sp>
        <p:nvSpPr>
          <p:cNvPr id="27" name="TextBox 26"/>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247120" cy="548640"/>
          </a:xfrm>
          <a:prstGeom prst="rect">
            <a:avLst/>
          </a:prstGeom>
          <a:noFill/>
        </p:spPr>
        <p:txBody>
          <a:bodyPr wrap="square">
            <a:spAutoFit/>
          </a:bodyPr>
          <a:lstStyle/>
          <a:p>
            <a:pPr algn="l"/>
            <a:r>
              <a:rPr sz="2300" b="1">
                <a:solidFill>
                  <a:srgbClr val="FFFFFF"/>
                </a:solidFill>
              </a:rPr>
              <a:t>Real SSO Integration &amp; Real File Upload Parsing</a:t>
            </a:r>
          </a:p>
        </p:txBody>
      </p:sp>
      <p:sp>
        <p:nvSpPr>
          <p:cNvPr id="5" name="Rectangle 4"/>
          <p:cNvSpPr/>
          <p:nvPr/>
        </p:nvSpPr>
        <p:spPr>
          <a:xfrm>
            <a:off x="320040" y="960120"/>
            <a:ext cx="5577840" cy="5120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960120"/>
            <a:ext cx="5577840" cy="4572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24128"/>
            <a:ext cx="5303520" cy="365760"/>
          </a:xfrm>
          <a:prstGeom prst="rect">
            <a:avLst/>
          </a:prstGeom>
          <a:noFill/>
        </p:spPr>
        <p:txBody>
          <a:bodyPr wrap="square">
            <a:spAutoFit/>
          </a:bodyPr>
          <a:lstStyle/>
          <a:p>
            <a:pPr algn="l"/>
            <a:r>
              <a:rPr sz="1400" b="1">
                <a:solidFill>
                  <a:srgbClr val="FFFFFF"/>
                </a:solidFill>
              </a:rPr>
              <a:t>🔐 Real SSO Integration</a:t>
            </a:r>
          </a:p>
        </p:txBody>
      </p:sp>
      <p:sp>
        <p:nvSpPr>
          <p:cNvPr id="8" name="TextBox 7"/>
          <p:cNvSpPr txBox="1"/>
          <p:nvPr/>
        </p:nvSpPr>
        <p:spPr>
          <a:xfrm>
            <a:off x="457200" y="1508760"/>
            <a:ext cx="5349240" cy="4480560"/>
          </a:xfrm>
          <a:prstGeom prst="rect">
            <a:avLst/>
          </a:prstGeom>
          <a:noFill/>
        </p:spPr>
        <p:txBody>
          <a:bodyPr wrap="square">
            <a:spAutoFit/>
          </a:bodyPr>
          <a:lstStyle/>
          <a:p>
            <a:pPr algn="l"/>
            <a:r>
              <a:rPr sz="1050" b="0">
                <a:solidFill>
                  <a:srgbClr val="CBD5E1"/>
                </a:solidFill>
              </a:rPr>
              <a:t>Plan answers like "Internal enterprise app with SSO" used to
only affect descriptive text — zero real auth code was generated
Now: keyword-detected from the plan summary (same pattern as
domain detection) → triggers a real backend + frontend scaffold:
• backend/app/auth/sso.py — real JWT validation via Azure AD's
  JWKS endpoint, checks aud/iss/exp, python-jose
• src/auth/msalConfig.ts + useAuth.ts — real @azure/msal-browser
  login flow, attaches real Bearer tokens to API calls
• SSO_ENABLED=false by default — app still runs locally without
  a real Azure AD tenant; flip to true once configured</a:t>
            </a:r>
          </a:p>
        </p:txBody>
      </p:sp>
      <p:sp>
        <p:nvSpPr>
          <p:cNvPr id="9" name="Rectangle 8"/>
          <p:cNvSpPr/>
          <p:nvPr/>
        </p:nvSpPr>
        <p:spPr>
          <a:xfrm>
            <a:off x="6126479" y="960120"/>
            <a:ext cx="5577840" cy="5120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79" y="960120"/>
            <a:ext cx="557784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39" y="1024128"/>
            <a:ext cx="5303520" cy="365760"/>
          </a:xfrm>
          <a:prstGeom prst="rect">
            <a:avLst/>
          </a:prstGeom>
          <a:noFill/>
        </p:spPr>
        <p:txBody>
          <a:bodyPr wrap="square">
            <a:spAutoFit/>
          </a:bodyPr>
          <a:lstStyle/>
          <a:p>
            <a:pPr algn="l"/>
            <a:r>
              <a:rPr sz="1400" b="1">
                <a:solidFill>
                  <a:srgbClr val="FFFFFF"/>
                </a:solidFill>
              </a:rPr>
              <a:t>📁 Real File Upload Parsing</a:t>
            </a:r>
          </a:p>
        </p:txBody>
      </p:sp>
      <p:sp>
        <p:nvSpPr>
          <p:cNvPr id="12" name="TextBox 11"/>
          <p:cNvSpPr txBox="1"/>
          <p:nvPr/>
        </p:nvSpPr>
        <p:spPr>
          <a:xfrm>
            <a:off x="6263639" y="1508760"/>
            <a:ext cx="5349240" cy="4480560"/>
          </a:xfrm>
          <a:prstGeom prst="rect">
            <a:avLst/>
          </a:prstGeom>
          <a:noFill/>
        </p:spPr>
        <p:txBody>
          <a:bodyPr wrap="square">
            <a:spAutoFit/>
          </a:bodyPr>
          <a:lstStyle/>
          <a:p>
            <a:pPr algn="l"/>
            <a:r>
              <a:rPr sz="1050" b="0">
                <a:solidFill>
                  <a:srgbClr val="CBD5E1"/>
                </a:solidFill>
              </a:rPr>
              <a:t>Upload buttons in both the sandbox and downloaded backend were
decorative — a canned success toast regardless of what was picked
Now — Sandbox (client-side, no backend):
• Real &lt;input type="file"&gt; + FileReader + the already-loaded
  SheetJS library — genuine CSV/XLSX parsing, real row preview
Now — Custom Code backend (real Python):
• PyPDF2 for real PDF text extraction, python-docx for real DOCX
• Forbids the "decode raw bytes as UTF-8" anti-pattern found
  live in a custom-named ingest endpoint — would have corrupted
  any real PDF/DOCX upload into garbage text</a:t>
            </a:r>
          </a:p>
        </p:txBody>
      </p:sp>
      <p:sp>
        <p:nvSpPr>
          <p:cNvPr id="13" name="TextBox 1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700" b="1">
                <a:solidFill>
                  <a:srgbClr val="FFFFFF"/>
                </a:solidFill>
              </a:rPr>
              <a:t>Hardening ROI — Risk &amp; Rework Avoided</a:t>
            </a:r>
          </a:p>
        </p:txBody>
      </p:sp>
      <p:sp>
        <p:nvSpPr>
          <p:cNvPr id="5" name="Rectangle 4"/>
          <p:cNvSpPr/>
          <p:nvPr/>
        </p:nvSpPr>
        <p:spPr>
          <a:xfrm>
            <a:off x="36576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69848"/>
            <a:ext cx="3429000" cy="411480"/>
          </a:xfrm>
          <a:prstGeom prst="rect">
            <a:avLst/>
          </a:prstGeom>
          <a:noFill/>
        </p:spPr>
        <p:txBody>
          <a:bodyPr wrap="square">
            <a:spAutoFit/>
          </a:bodyPr>
          <a:lstStyle/>
          <a:p>
            <a:pPr algn="l"/>
            <a:r>
              <a:rPr sz="1300" b="1">
                <a:solidFill>
                  <a:srgbClr val="606EF5"/>
                </a:solidFill>
              </a:rPr>
              <a:t>🎭 Demo Credibility</a:t>
            </a:r>
          </a:p>
        </p:txBody>
      </p:sp>
      <p:sp>
        <p:nvSpPr>
          <p:cNvPr id="7" name="TextBox 6"/>
          <p:cNvSpPr txBox="1"/>
          <p:nvPr/>
        </p:nvSpPr>
        <p:spPr>
          <a:xfrm>
            <a:off x="502920" y="1463040"/>
            <a:ext cx="1463040" cy="640080"/>
          </a:xfrm>
          <a:prstGeom prst="rect">
            <a:avLst/>
          </a:prstGeom>
          <a:noFill/>
        </p:spPr>
        <p:txBody>
          <a:bodyPr wrap="square">
            <a:spAutoFit/>
          </a:bodyPr>
          <a:lstStyle/>
          <a:p>
            <a:pPr algn="l"/>
            <a:r>
              <a:rPr sz="3000" b="1">
                <a:solidFill>
                  <a:srgbClr val="FFFFFF"/>
                </a:solidFill>
              </a:rPr>
              <a:t>100%</a:t>
            </a:r>
          </a:p>
        </p:txBody>
      </p:sp>
      <p:sp>
        <p:nvSpPr>
          <p:cNvPr id="8" name="TextBox 7"/>
          <p:cNvSpPr txBox="1"/>
          <p:nvPr/>
        </p:nvSpPr>
        <p:spPr>
          <a:xfrm>
            <a:off x="502920" y="2039112"/>
            <a:ext cx="3429000" cy="320040"/>
          </a:xfrm>
          <a:prstGeom prst="rect">
            <a:avLst/>
          </a:prstGeom>
          <a:noFill/>
        </p:spPr>
        <p:txBody>
          <a:bodyPr wrap="square">
            <a:spAutoFit/>
          </a:bodyPr>
          <a:lstStyle/>
          <a:p>
            <a:pPr algn="l"/>
            <a:r>
              <a:rPr sz="1100" b="1">
                <a:solidFill>
                  <a:srgbClr val="10B981"/>
                </a:solidFill>
              </a:rPr>
              <a:t>Fabricated → real dashboard data</a:t>
            </a:r>
          </a:p>
        </p:txBody>
      </p:sp>
      <p:sp>
        <p:nvSpPr>
          <p:cNvPr id="9" name="TextBox 8"/>
          <p:cNvSpPr txBox="1"/>
          <p:nvPr/>
        </p:nvSpPr>
        <p:spPr>
          <a:xfrm>
            <a:off x="502920" y="2350008"/>
            <a:ext cx="3474720" cy="1051560"/>
          </a:xfrm>
          <a:prstGeom prst="rect">
            <a:avLst/>
          </a:prstGeom>
          <a:noFill/>
        </p:spPr>
        <p:txBody>
          <a:bodyPr wrap="square">
            <a:spAutoFit/>
          </a:bodyPr>
          <a:lstStyle/>
          <a:p>
            <a:pPr algn="l"/>
            <a:r>
              <a:rPr sz="950" b="0">
                <a:solidFill>
                  <a:srgbClr val="CBD5E1"/>
                </a:solidFill>
              </a:rPr>
              <a:t>Client-facing demos now show numbers traceable to real uploaded data, eliminating a
credibility risk when a stakeholder cross-checks a KPI against source data</a:t>
            </a:r>
          </a:p>
        </p:txBody>
      </p:sp>
      <p:sp>
        <p:nvSpPr>
          <p:cNvPr id="10" name="Rectangle 9"/>
          <p:cNvSpPr/>
          <p:nvPr/>
        </p:nvSpPr>
        <p:spPr>
          <a:xfrm>
            <a:off x="429768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069848"/>
            <a:ext cx="3429000" cy="411480"/>
          </a:xfrm>
          <a:prstGeom prst="rect">
            <a:avLst/>
          </a:prstGeom>
          <a:noFill/>
        </p:spPr>
        <p:txBody>
          <a:bodyPr wrap="square">
            <a:spAutoFit/>
          </a:bodyPr>
          <a:lstStyle/>
          <a:p>
            <a:pPr algn="l"/>
            <a:r>
              <a:rPr sz="1300" b="1">
                <a:solidFill>
                  <a:srgbClr val="F59E0B"/>
                </a:solidFill>
              </a:rPr>
              <a:t>🔓 Security Exposure</a:t>
            </a:r>
          </a:p>
        </p:txBody>
      </p:sp>
      <p:sp>
        <p:nvSpPr>
          <p:cNvPr id="12" name="TextBox 11"/>
          <p:cNvSpPr txBox="1"/>
          <p:nvPr/>
        </p:nvSpPr>
        <p:spPr>
          <a:xfrm>
            <a:off x="4434840" y="1463040"/>
            <a:ext cx="1463040" cy="640080"/>
          </a:xfrm>
          <a:prstGeom prst="rect">
            <a:avLst/>
          </a:prstGeom>
          <a:noFill/>
        </p:spPr>
        <p:txBody>
          <a:bodyPr wrap="square">
            <a:spAutoFit/>
          </a:bodyPr>
          <a:lstStyle/>
          <a:p>
            <a:pPr algn="l"/>
            <a:r>
              <a:rPr sz="3000" b="1">
                <a:solidFill>
                  <a:srgbClr val="FFFFFF"/>
                </a:solidFill>
              </a:rPr>
              <a:t>0→1</a:t>
            </a:r>
          </a:p>
        </p:txBody>
      </p:sp>
      <p:sp>
        <p:nvSpPr>
          <p:cNvPr id="13" name="TextBox 12"/>
          <p:cNvSpPr txBox="1"/>
          <p:nvPr/>
        </p:nvSpPr>
        <p:spPr>
          <a:xfrm>
            <a:off x="4434840" y="2039112"/>
            <a:ext cx="3429000" cy="320040"/>
          </a:xfrm>
          <a:prstGeom prst="rect">
            <a:avLst/>
          </a:prstGeom>
          <a:noFill/>
        </p:spPr>
        <p:txBody>
          <a:bodyPr wrap="square">
            <a:spAutoFit/>
          </a:bodyPr>
          <a:lstStyle/>
          <a:p>
            <a:pPr algn="l"/>
            <a:r>
              <a:rPr sz="1100" b="1">
                <a:solidFill>
                  <a:srgbClr val="10B981"/>
                </a:solidFill>
              </a:rPr>
              <a:t>SSO answer → real auth code</a:t>
            </a:r>
          </a:p>
        </p:txBody>
      </p:sp>
      <p:sp>
        <p:nvSpPr>
          <p:cNvPr id="14" name="TextBox 13"/>
          <p:cNvSpPr txBox="1"/>
          <p:nvPr/>
        </p:nvSpPr>
        <p:spPr>
          <a:xfrm>
            <a:off x="4434840" y="2350008"/>
            <a:ext cx="3474720" cy="1051560"/>
          </a:xfrm>
          <a:prstGeom prst="rect">
            <a:avLst/>
          </a:prstGeom>
          <a:noFill/>
        </p:spPr>
        <p:txBody>
          <a:bodyPr wrap="square">
            <a:spAutoFit/>
          </a:bodyPr>
          <a:lstStyle/>
          <a:p>
            <a:pPr algn="l"/>
            <a:r>
              <a:rPr sz="950" b="0">
                <a:solidFill>
                  <a:srgbClr val="CBD5E1"/>
                </a:solidFill>
              </a:rPr>
              <a:t>Closes a real gap where an "Enterprise app with SSO" answer previously shipped zero
authentication code — a downloaded project would have been deployed wide open</a:t>
            </a:r>
          </a:p>
        </p:txBody>
      </p:sp>
      <p:sp>
        <p:nvSpPr>
          <p:cNvPr id="15" name="Rectangle 14"/>
          <p:cNvSpPr/>
          <p:nvPr/>
        </p:nvSpPr>
        <p:spPr>
          <a:xfrm>
            <a:off x="822960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069848"/>
            <a:ext cx="3429000" cy="411480"/>
          </a:xfrm>
          <a:prstGeom prst="rect">
            <a:avLst/>
          </a:prstGeom>
          <a:noFill/>
        </p:spPr>
        <p:txBody>
          <a:bodyPr wrap="square">
            <a:spAutoFit/>
          </a:bodyPr>
          <a:lstStyle/>
          <a:p>
            <a:pPr algn="l"/>
            <a:r>
              <a:rPr sz="1300" b="1">
                <a:solidFill>
                  <a:srgbClr val="DC2626"/>
                </a:solidFill>
              </a:rPr>
              <a:t>📉 Data-Corruption Risk</a:t>
            </a:r>
          </a:p>
        </p:txBody>
      </p:sp>
      <p:sp>
        <p:nvSpPr>
          <p:cNvPr id="17" name="TextBox 16"/>
          <p:cNvSpPr txBox="1"/>
          <p:nvPr/>
        </p:nvSpPr>
        <p:spPr>
          <a:xfrm>
            <a:off x="8366760" y="1463040"/>
            <a:ext cx="1463040" cy="640080"/>
          </a:xfrm>
          <a:prstGeom prst="rect">
            <a:avLst/>
          </a:prstGeom>
          <a:noFill/>
        </p:spPr>
        <p:txBody>
          <a:bodyPr wrap="square">
            <a:spAutoFit/>
          </a:bodyPr>
          <a:lstStyle/>
          <a:p>
            <a:pPr algn="l"/>
            <a:r>
              <a:rPr sz="3000" b="1">
                <a:solidFill>
                  <a:srgbClr val="FFFFFF"/>
                </a:solidFill>
              </a:rPr>
              <a:t>100%</a:t>
            </a:r>
          </a:p>
        </p:txBody>
      </p:sp>
      <p:sp>
        <p:nvSpPr>
          <p:cNvPr id="18" name="TextBox 17"/>
          <p:cNvSpPr txBox="1"/>
          <p:nvPr/>
        </p:nvSpPr>
        <p:spPr>
          <a:xfrm>
            <a:off x="8366760" y="2039112"/>
            <a:ext cx="3429000" cy="320040"/>
          </a:xfrm>
          <a:prstGeom prst="rect">
            <a:avLst/>
          </a:prstGeom>
          <a:noFill/>
        </p:spPr>
        <p:txBody>
          <a:bodyPr wrap="square">
            <a:spAutoFit/>
          </a:bodyPr>
          <a:lstStyle/>
          <a:p>
            <a:pPr algn="l"/>
            <a:r>
              <a:rPr sz="1100" b="1">
                <a:solidFill>
                  <a:srgbClr val="10B981"/>
                </a:solidFill>
              </a:rPr>
              <a:t>PDF/DOCX handling</a:t>
            </a:r>
          </a:p>
        </p:txBody>
      </p:sp>
      <p:sp>
        <p:nvSpPr>
          <p:cNvPr id="19" name="TextBox 18"/>
          <p:cNvSpPr txBox="1"/>
          <p:nvPr/>
        </p:nvSpPr>
        <p:spPr>
          <a:xfrm>
            <a:off x="8366760" y="2350008"/>
            <a:ext cx="3474720" cy="1051560"/>
          </a:xfrm>
          <a:prstGeom prst="rect">
            <a:avLst/>
          </a:prstGeom>
          <a:noFill/>
        </p:spPr>
        <p:txBody>
          <a:bodyPr wrap="square">
            <a:spAutoFit/>
          </a:bodyPr>
          <a:lstStyle/>
          <a:p>
            <a:pPr algn="l"/>
            <a:r>
              <a:rPr sz="950" b="0">
                <a:solidFill>
                  <a:srgbClr val="CBD5E1"/>
                </a:solidFill>
              </a:rPr>
              <a:t>Forbids a found anti-pattern (raw UTF-8 decode on binary files) that would silently
corrupt any real PDF/DOCX contract, resume, or document a user actually uploads</a:t>
            </a:r>
          </a:p>
        </p:txBody>
      </p:sp>
      <p:sp>
        <p:nvSpPr>
          <p:cNvPr id="20" name="Rectangle 19"/>
          <p:cNvSpPr/>
          <p:nvPr/>
        </p:nvSpPr>
        <p:spPr>
          <a:xfrm>
            <a:off x="36576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767328"/>
            <a:ext cx="3429000" cy="411480"/>
          </a:xfrm>
          <a:prstGeom prst="rect">
            <a:avLst/>
          </a:prstGeom>
          <a:noFill/>
        </p:spPr>
        <p:txBody>
          <a:bodyPr wrap="square">
            <a:spAutoFit/>
          </a:bodyPr>
          <a:lstStyle/>
          <a:p>
            <a:pPr algn="l"/>
            <a:r>
              <a:rPr sz="1300" b="1">
                <a:solidFill>
                  <a:srgbClr val="A855F7"/>
                </a:solidFill>
              </a:rPr>
              <a:t>🧪 Escaped Defects</a:t>
            </a:r>
          </a:p>
        </p:txBody>
      </p:sp>
      <p:sp>
        <p:nvSpPr>
          <p:cNvPr id="22" name="TextBox 21"/>
          <p:cNvSpPr txBox="1"/>
          <p:nvPr/>
        </p:nvSpPr>
        <p:spPr>
          <a:xfrm>
            <a:off x="502920" y="4160520"/>
            <a:ext cx="1463040" cy="640080"/>
          </a:xfrm>
          <a:prstGeom prst="rect">
            <a:avLst/>
          </a:prstGeom>
          <a:noFill/>
        </p:spPr>
        <p:txBody>
          <a:bodyPr wrap="square">
            <a:spAutoFit/>
          </a:bodyPr>
          <a:lstStyle/>
          <a:p>
            <a:pPr algn="l"/>
            <a:r>
              <a:rPr sz="3000" b="1">
                <a:solidFill>
                  <a:srgbClr val="FFFFFF"/>
                </a:solidFill>
              </a:rPr>
              <a:t>9</a:t>
            </a:r>
          </a:p>
        </p:txBody>
      </p:sp>
      <p:sp>
        <p:nvSpPr>
          <p:cNvPr id="23" name="TextBox 22"/>
          <p:cNvSpPr txBox="1"/>
          <p:nvPr/>
        </p:nvSpPr>
        <p:spPr>
          <a:xfrm>
            <a:off x="502920" y="4736592"/>
            <a:ext cx="3429000" cy="320040"/>
          </a:xfrm>
          <a:prstGeom prst="rect">
            <a:avLst/>
          </a:prstGeom>
          <a:noFill/>
        </p:spPr>
        <p:txBody>
          <a:bodyPr wrap="square">
            <a:spAutoFit/>
          </a:bodyPr>
          <a:lstStyle/>
          <a:p>
            <a:pPr algn="l"/>
            <a:r>
              <a:rPr sz="1100" b="1">
                <a:solidFill>
                  <a:srgbClr val="10B981"/>
                </a:solidFill>
              </a:rPr>
              <a:t>Found via live testing, not assumed</a:t>
            </a:r>
          </a:p>
        </p:txBody>
      </p:sp>
      <p:sp>
        <p:nvSpPr>
          <p:cNvPr id="24" name="TextBox 23"/>
          <p:cNvSpPr txBox="1"/>
          <p:nvPr/>
        </p:nvSpPr>
        <p:spPr>
          <a:xfrm>
            <a:off x="502920" y="5047488"/>
            <a:ext cx="3474720" cy="1051560"/>
          </a:xfrm>
          <a:prstGeom prst="rect">
            <a:avLst/>
          </a:prstGeom>
          <a:noFill/>
        </p:spPr>
        <p:txBody>
          <a:bodyPr wrap="square">
            <a:spAutoFit/>
          </a:bodyPr>
          <a:lstStyle/>
          <a:p>
            <a:pPr algn="l"/>
            <a:r>
              <a:rPr sz="950" b="0">
                <a:solidFill>
                  <a:srgbClr val="CBD5E1"/>
                </a:solidFill>
              </a:rPr>
              <a:t>Nine real bugs (session pollution, stale feedback state, false-positive SSO detection,
env-file clobbering, and more) caught by regenerating real apps end-to-end, not just code review</a:t>
            </a:r>
          </a:p>
        </p:txBody>
      </p:sp>
      <p:sp>
        <p:nvSpPr>
          <p:cNvPr id="25" name="Rectangle 24"/>
          <p:cNvSpPr/>
          <p:nvPr/>
        </p:nvSpPr>
        <p:spPr>
          <a:xfrm>
            <a:off x="429768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3767328"/>
            <a:ext cx="3429000" cy="411480"/>
          </a:xfrm>
          <a:prstGeom prst="rect">
            <a:avLst/>
          </a:prstGeom>
          <a:noFill/>
        </p:spPr>
        <p:txBody>
          <a:bodyPr wrap="square">
            <a:spAutoFit/>
          </a:bodyPr>
          <a:lstStyle/>
          <a:p>
            <a:pPr algn="l"/>
            <a:r>
              <a:rPr sz="1300" b="1">
                <a:solidFill>
                  <a:srgbClr val="10B981"/>
                </a:solidFill>
              </a:rPr>
              <a:t>🌐 Domain Coverage</a:t>
            </a:r>
          </a:p>
        </p:txBody>
      </p:sp>
      <p:sp>
        <p:nvSpPr>
          <p:cNvPr id="27" name="TextBox 26"/>
          <p:cNvSpPr txBox="1"/>
          <p:nvPr/>
        </p:nvSpPr>
        <p:spPr>
          <a:xfrm>
            <a:off x="4434840" y="4160520"/>
            <a:ext cx="1463040" cy="640080"/>
          </a:xfrm>
          <a:prstGeom prst="rect">
            <a:avLst/>
          </a:prstGeom>
          <a:noFill/>
        </p:spPr>
        <p:txBody>
          <a:bodyPr wrap="square">
            <a:spAutoFit/>
          </a:bodyPr>
          <a:lstStyle/>
          <a:p>
            <a:pPr algn="l"/>
            <a:r>
              <a:rPr sz="3000" b="1">
                <a:solidFill>
                  <a:srgbClr val="FFFFFF"/>
                </a:solidFill>
              </a:rPr>
              <a:t>5×</a:t>
            </a:r>
          </a:p>
        </p:txBody>
      </p:sp>
      <p:sp>
        <p:nvSpPr>
          <p:cNvPr id="28" name="TextBox 27"/>
          <p:cNvSpPr txBox="1"/>
          <p:nvPr/>
        </p:nvSpPr>
        <p:spPr>
          <a:xfrm>
            <a:off x="4434840" y="4736592"/>
            <a:ext cx="3429000" cy="320040"/>
          </a:xfrm>
          <a:prstGeom prst="rect">
            <a:avLst/>
          </a:prstGeom>
          <a:noFill/>
        </p:spPr>
        <p:txBody>
          <a:bodyPr wrap="square">
            <a:spAutoFit/>
          </a:bodyPr>
          <a:lstStyle/>
          <a:p>
            <a:pPr algn="l"/>
            <a:r>
              <a:rPr sz="1100" b="1">
                <a:solidFill>
                  <a:srgbClr val="10B981"/>
                </a:solidFill>
              </a:rPr>
              <a:t>2 hardcoded types → 10 real domains</a:t>
            </a:r>
          </a:p>
        </p:txBody>
      </p:sp>
      <p:sp>
        <p:nvSpPr>
          <p:cNvPr id="29" name="TextBox 28"/>
          <p:cNvSpPr txBox="1"/>
          <p:nvPr/>
        </p:nvSpPr>
        <p:spPr>
          <a:xfrm>
            <a:off x="4434840" y="5047488"/>
            <a:ext cx="3474720" cy="1051560"/>
          </a:xfrm>
          <a:prstGeom prst="rect">
            <a:avLst/>
          </a:prstGeom>
          <a:noFill/>
        </p:spPr>
        <p:txBody>
          <a:bodyPr wrap="square">
            <a:spAutoFit/>
          </a:bodyPr>
          <a:lstStyle/>
          <a:p>
            <a:pPr algn="l"/>
            <a:r>
              <a:rPr sz="950" b="0">
                <a:solidFill>
                  <a:srgbClr val="CBD5E1"/>
                </a:solidFill>
              </a:rPr>
              <a:t>Every Prompt Library category now gets a correct, enterprise-appropriate layout instead
of a generic template mismatched to the actual business domain</a:t>
            </a:r>
          </a:p>
        </p:txBody>
      </p:sp>
      <p:sp>
        <p:nvSpPr>
          <p:cNvPr id="30" name="Rectangle 29"/>
          <p:cNvSpPr/>
          <p:nvPr/>
        </p:nvSpPr>
        <p:spPr>
          <a:xfrm>
            <a:off x="822960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767328"/>
            <a:ext cx="3429000" cy="411480"/>
          </a:xfrm>
          <a:prstGeom prst="rect">
            <a:avLst/>
          </a:prstGeom>
          <a:noFill/>
        </p:spPr>
        <p:txBody>
          <a:bodyPr wrap="square">
            <a:spAutoFit/>
          </a:bodyPr>
          <a:lstStyle/>
          <a:p>
            <a:pPr algn="l"/>
            <a:r>
              <a:rPr sz="1300" b="1">
                <a:solidFill>
                  <a:srgbClr val="0E79B2"/>
                </a:solidFill>
              </a:rPr>
              <a:t>🔁 Continuous Improvement</a:t>
            </a:r>
          </a:p>
        </p:txBody>
      </p:sp>
      <p:sp>
        <p:nvSpPr>
          <p:cNvPr id="32" name="TextBox 31"/>
          <p:cNvSpPr txBox="1"/>
          <p:nvPr/>
        </p:nvSpPr>
        <p:spPr>
          <a:xfrm>
            <a:off x="8366760" y="4160520"/>
            <a:ext cx="1463040" cy="640080"/>
          </a:xfrm>
          <a:prstGeom prst="rect">
            <a:avLst/>
          </a:prstGeom>
          <a:noFill/>
        </p:spPr>
        <p:txBody>
          <a:bodyPr wrap="square">
            <a:spAutoFit/>
          </a:bodyPr>
          <a:lstStyle/>
          <a:p>
            <a:pPr algn="l"/>
            <a:r>
              <a:rPr sz="3000" b="1">
                <a:solidFill>
                  <a:srgbClr val="FFFFFF"/>
                </a:solidFill>
              </a:rPr>
              <a:t>∞</a:t>
            </a:r>
          </a:p>
        </p:txBody>
      </p:sp>
      <p:sp>
        <p:nvSpPr>
          <p:cNvPr id="33" name="TextBox 32"/>
          <p:cNvSpPr txBox="1"/>
          <p:nvPr/>
        </p:nvSpPr>
        <p:spPr>
          <a:xfrm>
            <a:off x="8366760" y="4736592"/>
            <a:ext cx="3429000" cy="320040"/>
          </a:xfrm>
          <a:prstGeom prst="rect">
            <a:avLst/>
          </a:prstGeom>
          <a:noFill/>
        </p:spPr>
        <p:txBody>
          <a:bodyPr wrap="square">
            <a:spAutoFit/>
          </a:bodyPr>
          <a:lstStyle/>
          <a:p>
            <a:pPr algn="l"/>
            <a:r>
              <a:rPr sz="1100" b="1">
                <a:solidFill>
                  <a:srgbClr val="10B981"/>
                </a:solidFill>
              </a:rPr>
              <a:t>Manual tuning → self-scoring loop</a:t>
            </a:r>
          </a:p>
        </p:txBody>
      </p:sp>
      <p:sp>
        <p:nvSpPr>
          <p:cNvPr id="34" name="TextBox 33"/>
          <p:cNvSpPr txBox="1"/>
          <p:nvPr/>
        </p:nvSpPr>
        <p:spPr>
          <a:xfrm>
            <a:off x="8366760" y="5047488"/>
            <a:ext cx="3474720" cy="1051560"/>
          </a:xfrm>
          <a:prstGeom prst="rect">
            <a:avLst/>
          </a:prstGeom>
          <a:noFill/>
        </p:spPr>
        <p:txBody>
          <a:bodyPr wrap="square">
            <a:spAutoFit/>
          </a:bodyPr>
          <a:lstStyle/>
          <a:p>
            <a:pPr algn="l"/>
            <a:r>
              <a:rPr sz="950" b="0">
                <a:solidFill>
                  <a:srgbClr val="CBD5E1"/>
                </a:solidFill>
              </a:rPr>
              <a:t>The AI reinforcement loop means generation quality compounds over time from real
usage feedback, instead of staying frozen at whatever quality shipped on day one</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338560" cy="548640"/>
          </a:xfrm>
          <a:prstGeom prst="rect">
            <a:avLst/>
          </a:prstGeom>
          <a:noFill/>
        </p:spPr>
        <p:txBody>
          <a:bodyPr wrap="square">
            <a:spAutoFit/>
          </a:bodyPr>
          <a:lstStyle/>
          <a:p>
            <a:pPr algn="l"/>
            <a:r>
              <a:rPr sz="2200" b="1">
                <a:solidFill>
                  <a:srgbClr val="FFFFFF"/>
                </a:solidFill>
              </a:rPr>
              <a:t>Visual Workflow Builder — Conditional Logic, Routing &amp; Integrations</a:t>
            </a:r>
          </a:p>
        </p:txBody>
      </p:sp>
      <p:sp>
        <p:nvSpPr>
          <p:cNvPr id="5" name="TextBox 4"/>
          <p:cNvSpPr txBox="1"/>
          <p:nvPr/>
        </p:nvSpPr>
        <p:spPr>
          <a:xfrm>
            <a:off x="457200" y="841248"/>
            <a:ext cx="11247120" cy="457200"/>
          </a:xfrm>
          <a:prstGeom prst="rect">
            <a:avLst/>
          </a:prstGeom>
          <a:noFill/>
        </p:spPr>
        <p:txBody>
          <a:bodyPr wrap="square">
            <a:spAutoFit/>
          </a:bodyPr>
          <a:lstStyle/>
          <a:p>
            <a:pPr algn="l"/>
            <a:r>
              <a:rPr sz="1250" b="0">
                <a:solidFill>
                  <a:srgbClr val="CBD5E1"/>
                </a:solidFill>
              </a:rPr>
              <a:t>A real decision-making execution engine — not just a flowchart. Every branch below genuinely changes which nodes run, verified against live Azure OpenAI runs.</a:t>
            </a:r>
          </a:p>
        </p:txBody>
      </p:sp>
      <p:sp>
        <p:nvSpPr>
          <p:cNvPr id="6" name="Rectangle 5"/>
          <p:cNvSpPr/>
          <p:nvPr/>
        </p:nvSpPr>
        <p:spPr>
          <a:xfrm>
            <a:off x="320040" y="1371600"/>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4632" y="1508760"/>
            <a:ext cx="5349240" cy="457200"/>
          </a:xfrm>
          <a:prstGeom prst="rect">
            <a:avLst/>
          </a:prstGeom>
          <a:noFill/>
        </p:spPr>
        <p:txBody>
          <a:bodyPr wrap="square">
            <a:spAutoFit/>
          </a:bodyPr>
          <a:lstStyle/>
          <a:p>
            <a:pPr algn="l"/>
            <a:r>
              <a:rPr sz="1500" b="1">
                <a:solidFill>
                  <a:srgbClr val="606EF5"/>
                </a:solidFill>
              </a:rPr>
              <a:t>❓  Condition Nodes</a:t>
            </a:r>
          </a:p>
        </p:txBody>
      </p:sp>
      <p:sp>
        <p:nvSpPr>
          <p:cNvPr id="8" name="TextBox 7"/>
          <p:cNvSpPr txBox="1"/>
          <p:nvPr/>
        </p:nvSpPr>
        <p:spPr>
          <a:xfrm>
            <a:off x="484632" y="1901952"/>
            <a:ext cx="5349240" cy="566928"/>
          </a:xfrm>
          <a:prstGeom prst="rect">
            <a:avLst/>
          </a:prstGeom>
          <a:noFill/>
        </p:spPr>
        <p:txBody>
          <a:bodyPr wrap="square">
            <a:spAutoFit/>
          </a:bodyPr>
          <a:lstStyle/>
          <a:p>
            <a:pPr algn="l"/>
            <a:r>
              <a:rPr sz="1200" b="0">
                <a:solidFill>
                  <a:srgbClr val="CBD5E1"/>
                </a:solidFill>
              </a:rPr>
              <a:t>Rule (e.g. "days &lt;= 2") evaluated safely via simpleeval — never Python's eval() — against variables an LLM extracts from the running text. Only the matching true/false branch executes; the other is fully skipped, including convergent downstream nodes.</a:t>
            </a:r>
          </a:p>
        </p:txBody>
      </p:sp>
      <p:sp>
        <p:nvSpPr>
          <p:cNvPr id="9" name="Rectangle 8"/>
          <p:cNvSpPr/>
          <p:nvPr/>
        </p:nvSpPr>
        <p:spPr>
          <a:xfrm>
            <a:off x="6126479" y="1371600"/>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91071" y="1508760"/>
            <a:ext cx="5349240" cy="457200"/>
          </a:xfrm>
          <a:prstGeom prst="rect">
            <a:avLst/>
          </a:prstGeom>
          <a:noFill/>
        </p:spPr>
        <p:txBody>
          <a:bodyPr wrap="square">
            <a:spAutoFit/>
          </a:bodyPr>
          <a:lstStyle/>
          <a:p>
            <a:pPr algn="l"/>
            <a:r>
              <a:rPr sz="1500" b="1">
                <a:solidFill>
                  <a:srgbClr val="606EF5"/>
                </a:solidFill>
              </a:rPr>
              <a:t>🔀  Router Nodes — Real Branching</a:t>
            </a:r>
          </a:p>
        </p:txBody>
      </p:sp>
      <p:sp>
        <p:nvSpPr>
          <p:cNvPr id="11" name="TextBox 10"/>
          <p:cNvSpPr txBox="1"/>
          <p:nvPr/>
        </p:nvSpPr>
        <p:spPr>
          <a:xfrm>
            <a:off x="6291071" y="1901952"/>
            <a:ext cx="5349240" cy="566928"/>
          </a:xfrm>
          <a:prstGeom prst="rect">
            <a:avLst/>
          </a:prstGeom>
          <a:noFill/>
        </p:spPr>
        <p:txBody>
          <a:bodyPr wrap="square">
            <a:spAutoFit/>
          </a:bodyPr>
          <a:lstStyle/>
          <a:p>
            <a:pPr algn="l"/>
            <a:r>
              <a:rPr sz="1200" b="0">
                <a:solidFill>
                  <a:srgbClr val="CBD5E1"/>
                </a:solidFill>
              </a:rPr>
              <a:t>A router's LLM decision is classified against its labeled outgoing edges (e.g. "Fast"/"Deep") and only ONE branch runs — replacing the previous behavior where every downstream node executed regardless of the routing decision.</a:t>
            </a:r>
          </a:p>
        </p:txBody>
      </p:sp>
      <p:sp>
        <p:nvSpPr>
          <p:cNvPr id="12" name="Rectangle 11"/>
          <p:cNvSpPr/>
          <p:nvPr/>
        </p:nvSpPr>
        <p:spPr>
          <a:xfrm>
            <a:off x="320040" y="2670048"/>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 y="2807208"/>
            <a:ext cx="5349240" cy="457200"/>
          </a:xfrm>
          <a:prstGeom prst="rect">
            <a:avLst/>
          </a:prstGeom>
          <a:noFill/>
        </p:spPr>
        <p:txBody>
          <a:bodyPr wrap="square">
            <a:spAutoFit/>
          </a:bodyPr>
          <a:lstStyle/>
          <a:p>
            <a:pPr algn="l"/>
            <a:r>
              <a:rPr sz="1500" b="1">
                <a:solidFill>
                  <a:srgbClr val="606EF5"/>
                </a:solidFill>
              </a:rPr>
              <a:t>✉️  Human-in-the-Loop Approval</a:t>
            </a:r>
          </a:p>
        </p:txBody>
      </p:sp>
      <p:sp>
        <p:nvSpPr>
          <p:cNvPr id="14" name="TextBox 13"/>
          <p:cNvSpPr txBox="1"/>
          <p:nvPr/>
        </p:nvSpPr>
        <p:spPr>
          <a:xfrm>
            <a:off x="484632" y="3200400"/>
            <a:ext cx="5349240" cy="566928"/>
          </a:xfrm>
          <a:prstGeom prst="rect">
            <a:avLst/>
          </a:prstGeom>
          <a:noFill/>
        </p:spPr>
        <p:txBody>
          <a:bodyPr wrap="square">
            <a:spAutoFit/>
          </a:bodyPr>
          <a:lstStyle/>
          <a:p>
            <a:pPr algn="l"/>
            <a:r>
              <a:rPr sz="1200" b="0">
                <a:solidFill>
                  <a:srgbClr val="CBD5E1"/>
                </a:solidFill>
              </a:rPr>
              <a:t>An approval node genuinely pauses the pipeline, sends a real email via SMTP, and exposes a dedicated /approvals/{run_id} page where a reviewer can Approve or Reject — resuming execution from exactly where it paused — reviewable either via that emailed link or via an in-canvas Approve/Reject banner directly in Workflow Builder.</a:t>
            </a:r>
          </a:p>
        </p:txBody>
      </p:sp>
      <p:sp>
        <p:nvSpPr>
          <p:cNvPr id="15" name="Rectangle 14"/>
          <p:cNvSpPr/>
          <p:nvPr/>
        </p:nvSpPr>
        <p:spPr>
          <a:xfrm>
            <a:off x="6126479" y="2670048"/>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1" y="2807208"/>
            <a:ext cx="5349240" cy="457200"/>
          </a:xfrm>
          <a:prstGeom prst="rect">
            <a:avLst/>
          </a:prstGeom>
          <a:noFill/>
        </p:spPr>
        <p:txBody>
          <a:bodyPr wrap="square">
            <a:spAutoFit/>
          </a:bodyPr>
          <a:lstStyle/>
          <a:p>
            <a:pPr algn="l"/>
            <a:r>
              <a:rPr sz="1500" b="1">
                <a:solidFill>
                  <a:srgbClr val="606EF5"/>
                </a:solidFill>
              </a:rPr>
              <a:t>🌐  HTTP Request Node — Outbound API Calls</a:t>
            </a:r>
          </a:p>
        </p:txBody>
      </p:sp>
      <p:sp>
        <p:nvSpPr>
          <p:cNvPr id="17" name="TextBox 16"/>
          <p:cNvSpPr txBox="1"/>
          <p:nvPr/>
        </p:nvSpPr>
        <p:spPr>
          <a:xfrm>
            <a:off x="6291071" y="3200400"/>
            <a:ext cx="5349240" cy="566928"/>
          </a:xfrm>
          <a:prstGeom prst="rect">
            <a:avLst/>
          </a:prstGeom>
          <a:noFill/>
        </p:spPr>
        <p:txBody>
          <a:bodyPr wrap="square">
            <a:spAutoFit/>
          </a:bodyPr>
          <a:lstStyle/>
          <a:p>
            <a:pPr algn="l"/>
            <a:r>
              <a:rPr sz="1200" b="0">
                <a:solidFill>
                  <a:srgbClr val="CBD5E1"/>
                </a:solidFill>
              </a:rPr>
              <a:t>New node type: configurable method (GET/POST/PUT/PATCH/DELETE), URL, JSON headers and body, with a {{input}} placeholder to inject the previous node's output — giving workflows real external-API integration for the first time.</a:t>
            </a:r>
          </a:p>
        </p:txBody>
      </p:sp>
      <p:sp>
        <p:nvSpPr>
          <p:cNvPr id="18" name="Rectangle 17"/>
          <p:cNvSpPr/>
          <p:nvPr/>
        </p:nvSpPr>
        <p:spPr>
          <a:xfrm>
            <a:off x="320040" y="3968496"/>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 y="4105656"/>
            <a:ext cx="5349240" cy="457200"/>
          </a:xfrm>
          <a:prstGeom prst="rect">
            <a:avLst/>
          </a:prstGeom>
          <a:noFill/>
        </p:spPr>
        <p:txBody>
          <a:bodyPr wrap="square">
            <a:spAutoFit/>
          </a:bodyPr>
          <a:lstStyle/>
          <a:p>
            <a:pPr algn="l"/>
            <a:r>
              <a:rPr sz="1500" b="1">
                <a:solidFill>
                  <a:srgbClr val="606EF5"/>
                </a:solidFill>
              </a:rPr>
              <a:t>🐍  Faithful Python Export</a:t>
            </a:r>
          </a:p>
        </p:txBody>
      </p:sp>
      <p:sp>
        <p:nvSpPr>
          <p:cNvPr id="20" name="TextBox 19"/>
          <p:cNvSpPr txBox="1"/>
          <p:nvPr/>
        </p:nvSpPr>
        <p:spPr>
          <a:xfrm>
            <a:off x="484632" y="4498848"/>
            <a:ext cx="5349240" cy="566928"/>
          </a:xfrm>
          <a:prstGeom prst="rect">
            <a:avLst/>
          </a:prstGeom>
          <a:noFill/>
        </p:spPr>
        <p:txBody>
          <a:bodyPr wrap="square">
            <a:spAutoFit/>
          </a:bodyPr>
          <a:lstStyle/>
          <a:p>
            <a:pPr algn="l"/>
            <a:r>
              <a:rPr sz="1200" b="0">
                <a:solidFill>
                  <a:srgbClr val="CBD5E1"/>
                </a:solidFill>
              </a:rPr>
              <a:t>"Export Code" now generates a script that ports the exact same topological sort, condition/approval/router/http_request logic as the live engine — not a flat linear stub — plus an optional --openai flag to run it against a real LLM.</a:t>
            </a:r>
          </a:p>
        </p:txBody>
      </p:sp>
      <p:sp>
        <p:nvSpPr>
          <p:cNvPr id="21" name="Rectangle 20"/>
          <p:cNvSpPr/>
          <p:nvPr/>
        </p:nvSpPr>
        <p:spPr>
          <a:xfrm>
            <a:off x="6126479" y="3968496"/>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1071" y="4105656"/>
            <a:ext cx="5349240" cy="457200"/>
          </a:xfrm>
          <a:prstGeom prst="rect">
            <a:avLst/>
          </a:prstGeom>
          <a:noFill/>
        </p:spPr>
        <p:txBody>
          <a:bodyPr wrap="square">
            <a:spAutoFit/>
          </a:bodyPr>
          <a:lstStyle/>
          <a:p>
            <a:pPr algn="l"/>
            <a:r>
              <a:rPr sz="1500" b="1">
                <a:solidFill>
                  <a:srgbClr val="606EF5"/>
                </a:solidFill>
              </a:rPr>
              <a:t>📄  Export / Import JSON</a:t>
            </a:r>
          </a:p>
        </p:txBody>
      </p:sp>
      <p:sp>
        <p:nvSpPr>
          <p:cNvPr id="23" name="TextBox 22"/>
          <p:cNvSpPr txBox="1"/>
          <p:nvPr/>
        </p:nvSpPr>
        <p:spPr>
          <a:xfrm>
            <a:off x="6291071" y="4498848"/>
            <a:ext cx="5349240" cy="566928"/>
          </a:xfrm>
          <a:prstGeom prst="rect">
            <a:avLst/>
          </a:prstGeom>
          <a:noFill/>
        </p:spPr>
        <p:txBody>
          <a:bodyPr wrap="square">
            <a:spAutoFit/>
          </a:bodyPr>
          <a:lstStyle/>
          <a:p>
            <a:pPr algn="l"/>
            <a:r>
              <a:rPr sz="1200" b="0">
                <a:solidFill>
                  <a:srgbClr val="CBD5E1"/>
                </a:solidFill>
              </a:rPr>
              <a:t>A lossless, round-trippable workflow backup format — separate from the one-way Python export — with a genuine "browse and load" file picker to restore a canvas exactly as it was, verified after a full wipe-and-reload cycle.</a:t>
            </a:r>
          </a:p>
        </p:txBody>
      </p:sp>
      <p:sp>
        <p:nvSpPr>
          <p:cNvPr id="24" name="Rectangle 23"/>
          <p:cNvSpPr/>
          <p:nvPr/>
        </p:nvSpPr>
        <p:spPr>
          <a:xfrm>
            <a:off x="320040" y="5266944"/>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2" y="5404104"/>
            <a:ext cx="5349240" cy="457200"/>
          </a:xfrm>
          <a:prstGeom prst="rect">
            <a:avLst/>
          </a:prstGeom>
          <a:noFill/>
        </p:spPr>
        <p:txBody>
          <a:bodyPr wrap="square">
            <a:spAutoFit/>
          </a:bodyPr>
          <a:lstStyle/>
          <a:p>
            <a:pPr algn="l"/>
            <a:r>
              <a:rPr sz="1500" b="1">
                <a:solidFill>
                  <a:srgbClr val="606EF5"/>
                </a:solidFill>
              </a:rPr>
              <a:t>📊  Workflow Runs — Approval Tracking</a:t>
            </a:r>
          </a:p>
        </p:txBody>
      </p:sp>
      <p:sp>
        <p:nvSpPr>
          <p:cNvPr id="26" name="TextBox 25"/>
          <p:cNvSpPr txBox="1"/>
          <p:nvPr/>
        </p:nvSpPr>
        <p:spPr>
          <a:xfrm>
            <a:off x="484632" y="5797296"/>
            <a:ext cx="5349240" cy="566928"/>
          </a:xfrm>
          <a:prstGeom prst="rect">
            <a:avLst/>
          </a:prstGeom>
          <a:noFill/>
        </p:spPr>
        <p:txBody>
          <a:bodyPr wrap="square">
            <a:spAutoFit/>
          </a:bodyPr>
          <a:lstStyle/>
          <a:p>
            <a:pPr algn="l"/>
            <a:r>
              <a:rPr sz="1200" b="0">
                <a:solidFill>
                  <a:srgbClr val="CBD5E1"/>
                </a:solidFill>
              </a:rPr>
              <a:t>The observability dashboard now surfaces an "Awaiting Approval" count and a direct "Review →" link on paused runs — closing a gap where there was previously no in-app path to the approval screen at all.</a:t>
            </a:r>
          </a:p>
        </p:txBody>
      </p:sp>
      <p:sp>
        <p:nvSpPr>
          <p:cNvPr id="27" name="Rectangle 26"/>
          <p:cNvSpPr/>
          <p:nvPr/>
        </p:nvSpPr>
        <p:spPr>
          <a:xfrm>
            <a:off x="6126479" y="5266944"/>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91071" y="5404104"/>
            <a:ext cx="5349240" cy="457200"/>
          </a:xfrm>
          <a:prstGeom prst="rect">
            <a:avLst/>
          </a:prstGeom>
          <a:noFill/>
        </p:spPr>
        <p:txBody>
          <a:bodyPr wrap="square">
            <a:spAutoFit/>
          </a:bodyPr>
          <a:lstStyle/>
          <a:p>
            <a:pPr algn="l"/>
            <a:r>
              <a:rPr sz="1500" b="1">
                <a:solidFill>
                  <a:srgbClr val="606EF5"/>
                </a:solidFill>
              </a:rPr>
              <a:t>🎨  Execution-State Visualization</a:t>
            </a:r>
          </a:p>
        </p:txBody>
      </p:sp>
      <p:sp>
        <p:nvSpPr>
          <p:cNvPr id="29" name="TextBox 28"/>
          <p:cNvSpPr txBox="1"/>
          <p:nvPr/>
        </p:nvSpPr>
        <p:spPr>
          <a:xfrm>
            <a:off x="6291071" y="5797296"/>
            <a:ext cx="5349240" cy="566928"/>
          </a:xfrm>
          <a:prstGeom prst="rect">
            <a:avLst/>
          </a:prstGeom>
          <a:noFill/>
        </p:spPr>
        <p:txBody>
          <a:bodyPr wrap="square">
            <a:spAutoFit/>
          </a:bodyPr>
          <a:lstStyle/>
          <a:p>
            <a:pPr algn="l"/>
            <a:r>
              <a:rPr sz="1200" b="0">
                <a:solidFill>
                  <a:srgbClr val="CBD5E1"/>
                </a:solidFill>
              </a:rPr>
              <a:t>Nodes now genuinely pulse amber while running and turn green on completion — the color-coding logic existed in code but was never actually wired to canvas-created nodes until this pass; idle edges are blue, executed edges turn green.</a:t>
            </a:r>
          </a:p>
        </p:txBody>
      </p:sp>
      <p:sp>
        <p:nvSpPr>
          <p:cNvPr id="30" name="TextBox 2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247120" cy="548640"/>
          </a:xfrm>
          <a:prstGeom prst="rect">
            <a:avLst/>
          </a:prstGeom>
          <a:noFill/>
        </p:spPr>
        <p:txBody>
          <a:bodyPr wrap="square">
            <a:spAutoFit/>
          </a:bodyPr>
          <a:lstStyle/>
          <a:p>
            <a:pPr algn="l"/>
            <a:r>
              <a:rPr sz="2500" b="1">
                <a:solidFill>
                  <a:srgbClr val="FFFFFF"/>
                </a:solidFill>
              </a:rPr>
              <a:t>Known Limitations &amp; Next Hardening Targets</a:t>
            </a:r>
          </a:p>
        </p:txBody>
      </p:sp>
      <p:sp>
        <p:nvSpPr>
          <p:cNvPr id="5" name="TextBox 4"/>
          <p:cNvSpPr txBox="1"/>
          <p:nvPr/>
        </p:nvSpPr>
        <p:spPr>
          <a:xfrm>
            <a:off x="457200" y="868680"/>
            <a:ext cx="11247120" cy="457200"/>
          </a:xfrm>
          <a:prstGeom prst="rect">
            <a:avLst/>
          </a:prstGeom>
          <a:noFill/>
        </p:spPr>
        <p:txBody>
          <a:bodyPr wrap="square">
            <a:spAutoFit/>
          </a:bodyPr>
          <a:lstStyle/>
          <a:p>
            <a:pPr algn="l"/>
            <a:r>
              <a:rPr sz="1250" b="0">
                <a:solidFill>
                  <a:srgbClr val="CBD5E1"/>
                </a:solidFill>
              </a:rPr>
              <a:t>Shipping fast means shipping honestly. These are confirmed, currently-open gaps — not hypothetical risks — found and verified during this build cycle.</a:t>
            </a:r>
          </a:p>
        </p:txBody>
      </p:sp>
      <p:sp>
        <p:nvSpPr>
          <p:cNvPr id="6" name="Rectangle 5"/>
          <p:cNvSpPr/>
          <p:nvPr/>
        </p:nvSpPr>
        <p:spPr>
          <a:xfrm>
            <a:off x="365760" y="1536192"/>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350" b="1">
                <a:solidFill>
                  <a:srgbClr val="F59E0B"/>
                </a:solidFill>
              </a:rPr>
              <a:t>🔧  Agent Studio Tools Are Not Wired to Execution</a:t>
            </a:r>
          </a:p>
        </p:txBody>
      </p:sp>
      <p:sp>
        <p:nvSpPr>
          <p:cNvPr id="8" name="TextBox 7"/>
          <p:cNvSpPr txBox="1"/>
          <p:nvPr/>
        </p:nvSpPr>
        <p:spPr>
          <a:xfrm>
            <a:off x="594360" y="1920240"/>
            <a:ext cx="11064240" cy="475488"/>
          </a:xfrm>
          <a:prstGeom prst="rect">
            <a:avLst/>
          </a:prstGeom>
          <a:noFill/>
        </p:spPr>
        <p:txBody>
          <a:bodyPr wrap="square">
            <a:spAutoFit/>
          </a:bodyPr>
          <a:lstStyle/>
          <a:p>
            <a:pPr algn="l"/>
            <a:r>
              <a:rPr sz="1050" b="0">
                <a:solidFill>
                  <a:srgbClr val="CBD5E1"/>
                </a:solidFill>
              </a:rPr>
              <a:t>The tool checkboxes on an Agent (Slack, GitHub, Jira, Google Drive, web search, calculator) are saved to the database but never read at runtime — checking a box today has zero effect. No LLM function/tool-calling is implemented anywhere in the platform yet.</a:t>
            </a:r>
          </a:p>
        </p:txBody>
      </p:sp>
      <p:sp>
        <p:nvSpPr>
          <p:cNvPr id="9" name="Rectangle 8"/>
          <p:cNvSpPr/>
          <p:nvPr/>
        </p:nvSpPr>
        <p:spPr>
          <a:xfrm>
            <a:off x="365760" y="2432304"/>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350" b="1">
                <a:solidFill>
                  <a:srgbClr val="10B981"/>
                </a:solidFill>
              </a:rPr>
              <a:t>✅  RESOLVED — HTTP Request Node Now Has SSRF Guardrails</a:t>
            </a:r>
          </a:p>
        </p:txBody>
      </p:sp>
      <p:sp>
        <p:nvSpPr>
          <p:cNvPr id="11" name="TextBox 10"/>
          <p:cNvSpPr txBox="1"/>
          <p:nvPr/>
        </p:nvSpPr>
        <p:spPr>
          <a:xfrm>
            <a:off x="594360" y="2816352"/>
            <a:ext cx="11064240" cy="475488"/>
          </a:xfrm>
          <a:prstGeom prst="rect">
            <a:avLst/>
          </a:prstGeom>
          <a:noFill/>
        </p:spPr>
        <p:txBody>
          <a:bodyPr wrap="square">
            <a:spAutoFit/>
          </a:bodyPr>
          <a:lstStyle/>
          <a:p>
            <a:pPr algn="l"/>
            <a:r>
              <a:rPr sz="1050" b="0">
                <a:solidFill>
                  <a:srgbClr val="CBD5E1"/>
                </a:solidFill>
              </a:rPr>
              <a:t>_assert_ssrf_safe_url() now resolves the target hostname and blocks private/loopback/link-local/reserved/multicast IPs and the 169.254.169.254 cloud metadata endpoint before any outbound call fires — closing the gap flagged in the previous review cycle.</a:t>
            </a:r>
          </a:p>
        </p:txBody>
      </p:sp>
      <p:sp>
        <p:nvSpPr>
          <p:cNvPr id="12" name="Rectangle 11"/>
          <p:cNvSpPr/>
          <p:nvPr/>
        </p:nvSpPr>
        <p:spPr>
          <a:xfrm>
            <a:off x="365760" y="3328415"/>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350" b="1">
                <a:solidFill>
                  <a:srgbClr val="F59E0B"/>
                </a:solidFill>
              </a:rPr>
              <a:t>⏰  JWT Sessions Expire Without Silent Refresh</a:t>
            </a:r>
          </a:p>
        </p:txBody>
      </p:sp>
      <p:sp>
        <p:nvSpPr>
          <p:cNvPr id="14" name="TextBox 13"/>
          <p:cNvSpPr txBox="1"/>
          <p:nvPr/>
        </p:nvSpPr>
        <p:spPr>
          <a:xfrm>
            <a:off x="594360" y="3712463"/>
            <a:ext cx="11064240" cy="475488"/>
          </a:xfrm>
          <a:prstGeom prst="rect">
            <a:avLst/>
          </a:prstGeom>
          <a:noFill/>
        </p:spPr>
        <p:txBody>
          <a:bodyPr wrap="square">
            <a:spAutoFit/>
          </a:bodyPr>
          <a:lstStyle/>
          <a:p>
            <a:pPr algn="l"/>
            <a:r>
              <a:rPr sz="1050" b="0">
                <a:solidFill>
                  <a:srgbClr val="CBD5E1"/>
                </a:solidFill>
              </a:rPr>
              <a:t>The 8-hour token lifetime has no refresh flow — long sessions eventually fail with a raw "Invalid token" error on any authenticated action until the user logs in again. A refresh-token flow would remove this rough edge.</a:t>
            </a:r>
          </a:p>
        </p:txBody>
      </p:sp>
      <p:sp>
        <p:nvSpPr>
          <p:cNvPr id="15" name="Rectangle 14"/>
          <p:cNvSpPr/>
          <p:nvPr/>
        </p:nvSpPr>
        <p:spPr>
          <a:xfrm>
            <a:off x="365760" y="4224528"/>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350" b="1">
                <a:solidFill>
                  <a:srgbClr val="10B981"/>
                </a:solidFill>
              </a:rPr>
              <a:t>✅  RESOLVED — Alembic Is Now Wired Into Every Generated Project</a:t>
            </a:r>
          </a:p>
        </p:txBody>
      </p:sp>
      <p:sp>
        <p:nvSpPr>
          <p:cNvPr id="17" name="TextBox 16"/>
          <p:cNvSpPr txBox="1"/>
          <p:nvPr/>
        </p:nvSpPr>
        <p:spPr>
          <a:xfrm>
            <a:off x="594360" y="4608576"/>
            <a:ext cx="11064240" cy="475488"/>
          </a:xfrm>
          <a:prstGeom prst="rect">
            <a:avLst/>
          </a:prstGeom>
          <a:noFill/>
        </p:spPr>
        <p:txBody>
          <a:bodyPr wrap="square">
            <a:spAutoFit/>
          </a:bodyPr>
          <a:lstStyle/>
          <a:p>
            <a:pPr algn="l"/>
            <a:r>
              <a:rPr sz="1050" b="0">
                <a:solidFill>
                  <a:srgbClr val="CBD5E1"/>
                </a:solidFill>
              </a:rPr>
              <a:t>Every downloaded project now scaffolds a real async-aware Alembic setup (alembic.ini, env.py, script.py.mako) instead of the ad-hoc ALTER TABLE fixes hit live last cycle — schema changes are tracked, not improvised.</a:t>
            </a:r>
          </a:p>
        </p:txBody>
      </p:sp>
      <p:sp>
        <p:nvSpPr>
          <p:cNvPr id="18" name="Rectangle 17"/>
          <p:cNvSpPr/>
          <p:nvPr/>
        </p:nvSpPr>
        <p:spPr>
          <a:xfrm>
            <a:off x="365760" y="5120640"/>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350" b="1">
                <a:solidFill>
                  <a:srgbClr val="F59E0B"/>
                </a:solidFill>
              </a:rPr>
              <a:t>🧭  Exported Python Uses Canvas Order as a Tiebreaker</a:t>
            </a:r>
          </a:p>
        </p:txBody>
      </p:sp>
      <p:sp>
        <p:nvSpPr>
          <p:cNvPr id="20" name="TextBox 19"/>
          <p:cNvSpPr txBox="1"/>
          <p:nvPr/>
        </p:nvSpPr>
        <p:spPr>
          <a:xfrm>
            <a:off x="594360" y="5504688"/>
            <a:ext cx="11064240" cy="475488"/>
          </a:xfrm>
          <a:prstGeom prst="rect">
            <a:avLst/>
          </a:prstGeom>
          <a:noFill/>
        </p:spPr>
        <p:txBody>
          <a:bodyPr wrap="square">
            <a:spAutoFit/>
          </a:bodyPr>
          <a:lstStyle/>
          <a:p>
            <a:pPr algn="l"/>
            <a:r>
              <a:rPr sz="1050" b="0">
                <a:solidFill>
                  <a:srgbClr val="CBD5E1"/>
                </a:solidFill>
              </a:rPr>
              <a:t>The topological sort ported into Export Code is correct for the graphs tested, but canvas creation order (not a formal secondary sort key) breaks ties — fine in practice, but worth a closer look for pathological or cyclic graphs.</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Latest Platform Updates — Local LLM &amp; Model Flexibility</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This pass added genuine local-model support end-to-end — architecture, agent config, and Playground UX — verified live against a running LM Studio server, not just unit tests.</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Per-Feature LLM Override</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a:solidFill>
                  <a:srgbClr val="CBD5E1"/>
                </a:solidFill>
              </a:rPr>
              <a:t>Architect and Visual Builder can each run on Azure OpenAI or a local LM Studio model (ARCHITECT_LLM_PROVIDER / BUILDER_LLM_PROVIDER) — zero code changes, just env config.</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Real Per-Agent Model Choice</a:t>
            </a: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Agent Studio's model dropdown now offers a genuine “Local Model” vs “Azure GPT-5.4-mini” choice per agent — replacing two fake labels the orchestrator silently ignored.</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  AI-Suggested Example Input</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Playground's new “Suggest” button generates a realistic example message tailored to an agent's own system prompt and tools — no more guessing what to type first.</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Accurate Model Display</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A new /active-model endpoint reflects the model an agent actually runs on, fixing a bug where Playground always showed a hardcoded “GPT-4o” label regardless of provider.</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Five LM Studio Bugs Fixed</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Blocking event loop, a race condition between auto-suggest and Run, system-role rejection by Mistral's chat template, unstructured JSON output, and an infinite question loop.</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700" b="1">
                <a:solidFill>
                  <a:srgbClr val="FFFFFF"/>
                </a:solidFill>
              </a:rPr>
              <a:t>Production-Readiness Hardening — Custom Code Export ROI</a:t>
            </a:r>
          </a:p>
        </p:txBody>
      </p:sp>
      <p:sp>
        <p:nvSpPr>
          <p:cNvPr id="5" name="Rectangle 4"/>
          <p:cNvSpPr/>
          <p:nvPr/>
        </p:nvSpPr>
        <p:spPr>
          <a:xfrm>
            <a:off x="36576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69848"/>
            <a:ext cx="3429000" cy="411480"/>
          </a:xfrm>
          <a:prstGeom prst="rect">
            <a:avLst/>
          </a:prstGeom>
          <a:noFill/>
        </p:spPr>
        <p:txBody>
          <a:bodyPr wrap="square">
            <a:spAutoFit/>
          </a:bodyPr>
          <a:lstStyle/>
          <a:p>
            <a:pPr algn="l"/>
            <a:r>
              <a:rPr sz="1300" b="1">
                <a:solidFill>
                  <a:srgbClr val="606EF5"/>
                </a:solidFill>
              </a:rPr>
              <a:t>🧪 Test Coverage</a:t>
            </a:r>
          </a:p>
        </p:txBody>
      </p:sp>
      <p:sp>
        <p:nvSpPr>
          <p:cNvPr id="7" name="TextBox 6"/>
          <p:cNvSpPr txBox="1"/>
          <p:nvPr/>
        </p:nvSpPr>
        <p:spPr>
          <a:xfrm>
            <a:off x="502920" y="1463040"/>
            <a:ext cx="1463040" cy="640080"/>
          </a:xfrm>
          <a:prstGeom prst="rect">
            <a:avLst/>
          </a:prstGeom>
          <a:noFill/>
        </p:spPr>
        <p:txBody>
          <a:bodyPr wrap="square">
            <a:spAutoFit/>
          </a:bodyPr>
          <a:lstStyle/>
          <a:p>
            <a:pPr algn="l"/>
            <a:r>
              <a:rPr sz="3000" b="1">
                <a:solidFill>
                  <a:srgbClr val="FFFFFF"/>
                </a:solidFill>
              </a:rPr>
              <a:t>100%</a:t>
            </a:r>
          </a:p>
        </p:txBody>
      </p:sp>
      <p:sp>
        <p:nvSpPr>
          <p:cNvPr id="8" name="TextBox 7"/>
          <p:cNvSpPr txBox="1"/>
          <p:nvPr/>
        </p:nvSpPr>
        <p:spPr>
          <a:xfrm>
            <a:off x="502920" y="2039112"/>
            <a:ext cx="3429000" cy="320040"/>
          </a:xfrm>
          <a:prstGeom prst="rect">
            <a:avLst/>
          </a:prstGeom>
          <a:noFill/>
        </p:spPr>
        <p:txBody>
          <a:bodyPr wrap="square">
            <a:spAutoFit/>
          </a:bodyPr>
          <a:lstStyle/>
          <a:p>
            <a:pPr algn="l"/>
            <a:r>
              <a:rPr sz="1100" b="1">
                <a:solidFill>
                  <a:srgbClr val="10B981"/>
                </a:solidFill>
              </a:rPr>
              <a:t>Zero tests → auto-scaffolded suite</a:t>
            </a:r>
          </a:p>
        </p:txBody>
      </p:sp>
      <p:sp>
        <p:nvSpPr>
          <p:cNvPr id="9" name="TextBox 8"/>
          <p:cNvSpPr txBox="1"/>
          <p:nvPr/>
        </p:nvSpPr>
        <p:spPr>
          <a:xfrm>
            <a:off x="502920" y="2350008"/>
            <a:ext cx="3474720" cy="1051560"/>
          </a:xfrm>
          <a:prstGeom prst="rect">
            <a:avLst/>
          </a:prstGeom>
          <a:noFill/>
        </p:spPr>
        <p:txBody>
          <a:bodyPr wrap="square">
            <a:spAutoFit/>
          </a:bodyPr>
          <a:lstStyle/>
          <a:p>
            <a:pPr algn="l"/>
            <a:r>
              <a:rPr sz="950" b="0">
                <a:solidFill>
                  <a:srgbClr val="CBD5E1"/>
                </a:solidFill>
              </a:rPr>
              <a:t>Every generated project now ships pytest + conftest + smoke tests automatically — previously zero test files were generated at all.</a:t>
            </a:r>
          </a:p>
        </p:txBody>
      </p:sp>
      <p:sp>
        <p:nvSpPr>
          <p:cNvPr id="10" name="Rectangle 9"/>
          <p:cNvSpPr/>
          <p:nvPr/>
        </p:nvSpPr>
        <p:spPr>
          <a:xfrm>
            <a:off x="429768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069848"/>
            <a:ext cx="3429000" cy="411480"/>
          </a:xfrm>
          <a:prstGeom prst="rect">
            <a:avLst/>
          </a:prstGeom>
          <a:noFill/>
        </p:spPr>
        <p:txBody>
          <a:bodyPr wrap="square">
            <a:spAutoFit/>
          </a:bodyPr>
          <a:lstStyle/>
          <a:p>
            <a:pPr algn="l"/>
            <a:r>
              <a:rPr sz="1300" b="1">
                <a:solidFill>
                  <a:srgbClr val="F59E0B"/>
                </a:solidFill>
              </a:rPr>
              <a:t>🚀 CI/CD Pipeline</a:t>
            </a:r>
          </a:p>
        </p:txBody>
      </p:sp>
      <p:sp>
        <p:nvSpPr>
          <p:cNvPr id="12" name="TextBox 11"/>
          <p:cNvSpPr txBox="1"/>
          <p:nvPr/>
        </p:nvSpPr>
        <p:spPr>
          <a:xfrm>
            <a:off x="4434840" y="1463040"/>
            <a:ext cx="1463040" cy="640080"/>
          </a:xfrm>
          <a:prstGeom prst="rect">
            <a:avLst/>
          </a:prstGeom>
          <a:noFill/>
        </p:spPr>
        <p:txBody>
          <a:bodyPr wrap="square">
            <a:spAutoFit/>
          </a:bodyPr>
          <a:lstStyle/>
          <a:p>
            <a:pPr algn="l"/>
            <a:r>
              <a:rPr sz="3000" b="1">
                <a:solidFill>
                  <a:srgbClr val="FFFFFF"/>
                </a:solidFill>
              </a:rPr>
              <a:t>0→1</a:t>
            </a:r>
          </a:p>
        </p:txBody>
      </p:sp>
      <p:sp>
        <p:nvSpPr>
          <p:cNvPr id="13" name="TextBox 12"/>
          <p:cNvSpPr txBox="1"/>
          <p:nvPr/>
        </p:nvSpPr>
        <p:spPr>
          <a:xfrm>
            <a:off x="4434840" y="2039112"/>
            <a:ext cx="3429000" cy="320040"/>
          </a:xfrm>
          <a:prstGeom prst="rect">
            <a:avLst/>
          </a:prstGeom>
          <a:noFill/>
        </p:spPr>
        <p:txBody>
          <a:bodyPr wrap="square">
            <a:spAutoFit/>
          </a:bodyPr>
          <a:lstStyle/>
          <a:p>
            <a:pPr algn="l"/>
            <a:r>
              <a:rPr sz="1100" b="1">
                <a:solidFill>
                  <a:srgbClr val="10B981"/>
                </a:solidFill>
              </a:rPr>
              <a:t>GitHub Actions guaranteed</a:t>
            </a:r>
          </a:p>
        </p:txBody>
      </p:sp>
      <p:sp>
        <p:nvSpPr>
          <p:cNvPr id="14" name="TextBox 13"/>
          <p:cNvSpPr txBox="1"/>
          <p:nvPr/>
        </p:nvSpPr>
        <p:spPr>
          <a:xfrm>
            <a:off x="4434840" y="2350008"/>
            <a:ext cx="3474720" cy="1051560"/>
          </a:xfrm>
          <a:prstGeom prst="rect">
            <a:avLst/>
          </a:prstGeom>
          <a:noFill/>
        </p:spPr>
        <p:txBody>
          <a:bodyPr wrap="square">
            <a:spAutoFit/>
          </a:bodyPr>
          <a:lstStyle/>
          <a:p>
            <a:pPr algn="l"/>
            <a:r>
              <a:rPr sz="950" b="0">
                <a:solidFill>
                  <a:srgbClr val="CBD5E1"/>
                </a:solidFill>
              </a:rPr>
              <a:t>A working ci.yml is now guaranteed in every downloaded ZIP, replacing a total absence of any CI/CD configuration in the prior generator.</a:t>
            </a:r>
          </a:p>
        </p:txBody>
      </p:sp>
      <p:sp>
        <p:nvSpPr>
          <p:cNvPr id="15" name="Rectangle 14"/>
          <p:cNvSpPr/>
          <p:nvPr/>
        </p:nvSpPr>
        <p:spPr>
          <a:xfrm>
            <a:off x="822960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069848"/>
            <a:ext cx="3429000" cy="411480"/>
          </a:xfrm>
          <a:prstGeom prst="rect">
            <a:avLst/>
          </a:prstGeom>
          <a:noFill/>
        </p:spPr>
        <p:txBody>
          <a:bodyPr wrap="square">
            <a:spAutoFit/>
          </a:bodyPr>
          <a:lstStyle/>
          <a:p>
            <a:pPr algn="l"/>
            <a:r>
              <a:rPr sz="1300" b="1">
                <a:solidFill>
                  <a:srgbClr val="DC2626"/>
                </a:solidFill>
              </a:rPr>
              <a:t>🗄️ Real Migrations</a:t>
            </a:r>
          </a:p>
        </p:txBody>
      </p:sp>
      <p:sp>
        <p:nvSpPr>
          <p:cNvPr id="17" name="TextBox 16"/>
          <p:cNvSpPr txBox="1"/>
          <p:nvPr/>
        </p:nvSpPr>
        <p:spPr>
          <a:xfrm>
            <a:off x="8366760" y="1463040"/>
            <a:ext cx="1463040" cy="640080"/>
          </a:xfrm>
          <a:prstGeom prst="rect">
            <a:avLst/>
          </a:prstGeom>
          <a:noFill/>
        </p:spPr>
        <p:txBody>
          <a:bodyPr wrap="square">
            <a:spAutoFit/>
          </a:bodyPr>
          <a:lstStyle/>
          <a:p>
            <a:pPr algn="l"/>
            <a:r>
              <a:rPr sz="3000" b="1">
                <a:solidFill>
                  <a:srgbClr val="FFFFFF"/>
                </a:solidFill>
              </a:rPr>
              <a:t>NEW</a:t>
            </a:r>
          </a:p>
        </p:txBody>
      </p:sp>
      <p:sp>
        <p:nvSpPr>
          <p:cNvPr id="18" name="TextBox 17"/>
          <p:cNvSpPr txBox="1"/>
          <p:nvPr/>
        </p:nvSpPr>
        <p:spPr>
          <a:xfrm>
            <a:off x="8366760" y="2039112"/>
            <a:ext cx="3429000" cy="320040"/>
          </a:xfrm>
          <a:prstGeom prst="rect">
            <a:avLst/>
          </a:prstGeom>
          <a:noFill/>
        </p:spPr>
        <p:txBody>
          <a:bodyPr wrap="square">
            <a:spAutoFit/>
          </a:bodyPr>
          <a:lstStyle/>
          <a:p>
            <a:pPr algn="l"/>
            <a:r>
              <a:rPr sz="1100" b="1">
                <a:solidFill>
                  <a:srgbClr val="10B981"/>
                </a:solidFill>
              </a:rPr>
              <a:t>Ad-hoc → tracked Alembic</a:t>
            </a:r>
          </a:p>
        </p:txBody>
      </p:sp>
      <p:sp>
        <p:nvSpPr>
          <p:cNvPr id="19" name="TextBox 18"/>
          <p:cNvSpPr txBox="1"/>
          <p:nvPr/>
        </p:nvSpPr>
        <p:spPr>
          <a:xfrm>
            <a:off x="8366760" y="2350008"/>
            <a:ext cx="3474720" cy="1051560"/>
          </a:xfrm>
          <a:prstGeom prst="rect">
            <a:avLst/>
          </a:prstGeom>
          <a:noFill/>
        </p:spPr>
        <p:txBody>
          <a:bodyPr wrap="square">
            <a:spAutoFit/>
          </a:bodyPr>
          <a:lstStyle/>
          <a:p>
            <a:pPr algn="l"/>
            <a:r>
              <a:rPr sz="950" b="0">
                <a:solidFill>
                  <a:srgbClr val="CBD5E1"/>
                </a:solidFill>
              </a:rPr>
              <a:t>Replaces the manual ALTER TABLE fixes hit live last cycle with a real, tracked Alembic setup wired into every generated backend.</a:t>
            </a:r>
          </a:p>
        </p:txBody>
      </p:sp>
      <p:sp>
        <p:nvSpPr>
          <p:cNvPr id="20" name="Rectangle 19"/>
          <p:cNvSpPr/>
          <p:nvPr/>
        </p:nvSpPr>
        <p:spPr>
          <a:xfrm>
            <a:off x="36576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767328"/>
            <a:ext cx="3429000" cy="411480"/>
          </a:xfrm>
          <a:prstGeom prst="rect">
            <a:avLst/>
          </a:prstGeom>
          <a:noFill/>
        </p:spPr>
        <p:txBody>
          <a:bodyPr wrap="square">
            <a:spAutoFit/>
          </a:bodyPr>
          <a:lstStyle/>
          <a:p>
            <a:pPr algn="l"/>
            <a:r>
              <a:rPr sz="1300" b="1">
                <a:solidFill>
                  <a:srgbClr val="A855F7"/>
                </a:solidFill>
              </a:rPr>
              <a:t>🔐 Auth &amp; Security</a:t>
            </a:r>
          </a:p>
        </p:txBody>
      </p:sp>
      <p:sp>
        <p:nvSpPr>
          <p:cNvPr id="22" name="TextBox 21"/>
          <p:cNvSpPr txBox="1"/>
          <p:nvPr/>
        </p:nvSpPr>
        <p:spPr>
          <a:xfrm>
            <a:off x="502920" y="4160520"/>
            <a:ext cx="1463040" cy="640080"/>
          </a:xfrm>
          <a:prstGeom prst="rect">
            <a:avLst/>
          </a:prstGeom>
          <a:noFill/>
        </p:spPr>
        <p:txBody>
          <a:bodyPr wrap="square">
            <a:spAutoFit/>
          </a:bodyPr>
          <a:lstStyle/>
          <a:p>
            <a:pPr algn="l"/>
            <a:r>
              <a:rPr sz="3000" b="1">
                <a:solidFill>
                  <a:srgbClr val="FFFFFF"/>
                </a:solidFill>
              </a:rPr>
              <a:t>+4</a:t>
            </a:r>
          </a:p>
        </p:txBody>
      </p:sp>
      <p:sp>
        <p:nvSpPr>
          <p:cNvPr id="23" name="TextBox 22"/>
          <p:cNvSpPr txBox="1"/>
          <p:nvPr/>
        </p:nvSpPr>
        <p:spPr>
          <a:xfrm>
            <a:off x="502920" y="4736592"/>
            <a:ext cx="3429000" cy="320040"/>
          </a:xfrm>
          <a:prstGeom prst="rect">
            <a:avLst/>
          </a:prstGeom>
          <a:noFill/>
        </p:spPr>
        <p:txBody>
          <a:bodyPr wrap="square">
            <a:spAutoFit/>
          </a:bodyPr>
          <a:lstStyle/>
          <a:p>
            <a:pPr algn="l"/>
            <a:r>
              <a:rPr sz="1100" b="1">
                <a:solidFill>
                  <a:srgbClr val="10B981"/>
                </a:solidFill>
              </a:rPr>
              <a:t>4/10→8/10 · rate limit + SSRF</a:t>
            </a:r>
          </a:p>
        </p:txBody>
      </p:sp>
      <p:sp>
        <p:nvSpPr>
          <p:cNvPr id="24" name="TextBox 23"/>
          <p:cNvSpPr txBox="1"/>
          <p:nvPr/>
        </p:nvSpPr>
        <p:spPr>
          <a:xfrm>
            <a:off x="502920" y="5047488"/>
            <a:ext cx="3474720" cy="1051560"/>
          </a:xfrm>
          <a:prstGeom prst="rect">
            <a:avLst/>
          </a:prstGeom>
          <a:noFill/>
        </p:spPr>
        <p:txBody>
          <a:bodyPr wrap="square">
            <a:spAutoFit/>
          </a:bodyPr>
          <a:lstStyle/>
          <a:p>
            <a:pPr algn="l"/>
            <a:r>
              <a:rPr sz="950" b="0">
                <a:solidFill>
                  <a:srgbClr val="CBD5E1"/>
                </a:solidFill>
              </a:rPr>
              <a:t>Default JWT auth (bcrypt + python-jose) when SSO isn't requested, slowapi rate limiting, and an SSRF guard on every outbound HTTP call.</a:t>
            </a:r>
          </a:p>
        </p:txBody>
      </p:sp>
      <p:sp>
        <p:nvSpPr>
          <p:cNvPr id="25" name="Rectangle 24"/>
          <p:cNvSpPr/>
          <p:nvPr/>
        </p:nvSpPr>
        <p:spPr>
          <a:xfrm>
            <a:off x="429768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3767328"/>
            <a:ext cx="3429000" cy="411480"/>
          </a:xfrm>
          <a:prstGeom prst="rect">
            <a:avLst/>
          </a:prstGeom>
          <a:noFill/>
        </p:spPr>
        <p:txBody>
          <a:bodyPr wrap="square">
            <a:spAutoFit/>
          </a:bodyPr>
          <a:lstStyle/>
          <a:p>
            <a:pPr algn="l"/>
            <a:r>
              <a:rPr sz="1300" b="1">
                <a:solidFill>
                  <a:srgbClr val="10B981"/>
                </a:solidFill>
              </a:rPr>
              <a:t>📡 Observability</a:t>
            </a:r>
          </a:p>
        </p:txBody>
      </p:sp>
      <p:sp>
        <p:nvSpPr>
          <p:cNvPr id="27" name="TextBox 26"/>
          <p:cNvSpPr txBox="1"/>
          <p:nvPr/>
        </p:nvSpPr>
        <p:spPr>
          <a:xfrm>
            <a:off x="4434840" y="4160520"/>
            <a:ext cx="1463040" cy="640080"/>
          </a:xfrm>
          <a:prstGeom prst="rect">
            <a:avLst/>
          </a:prstGeom>
          <a:noFill/>
        </p:spPr>
        <p:txBody>
          <a:bodyPr wrap="square">
            <a:spAutoFit/>
          </a:bodyPr>
          <a:lstStyle/>
          <a:p>
            <a:pPr algn="l"/>
            <a:r>
              <a:rPr sz="3000" b="1">
                <a:solidFill>
                  <a:srgbClr val="FFFFFF"/>
                </a:solidFill>
              </a:rPr>
              <a:t>+2</a:t>
            </a:r>
          </a:p>
        </p:txBody>
      </p:sp>
      <p:sp>
        <p:nvSpPr>
          <p:cNvPr id="28" name="TextBox 27"/>
          <p:cNvSpPr txBox="1"/>
          <p:nvPr/>
        </p:nvSpPr>
        <p:spPr>
          <a:xfrm>
            <a:off x="4434840" y="4736592"/>
            <a:ext cx="3429000" cy="320040"/>
          </a:xfrm>
          <a:prstGeom prst="rect">
            <a:avLst/>
          </a:prstGeom>
          <a:noFill/>
        </p:spPr>
        <p:txBody>
          <a:bodyPr wrap="square">
            <a:spAutoFit/>
          </a:bodyPr>
          <a:lstStyle/>
          <a:p>
            <a:pPr algn="l"/>
            <a:r>
              <a:rPr sz="1100" b="1">
                <a:solidFill>
                  <a:srgbClr val="10B981"/>
                </a:solidFill>
              </a:rPr>
              <a:t>6/10→8/10 · OTel now actually runs</a:t>
            </a:r>
          </a:p>
        </p:txBody>
      </p:sp>
      <p:sp>
        <p:nvSpPr>
          <p:cNvPr id="29" name="TextBox 28"/>
          <p:cNvSpPr txBox="1"/>
          <p:nvPr/>
        </p:nvSpPr>
        <p:spPr>
          <a:xfrm>
            <a:off x="4434840" y="5047488"/>
            <a:ext cx="3474720" cy="1051560"/>
          </a:xfrm>
          <a:prstGeom prst="rect">
            <a:avLst/>
          </a:prstGeom>
          <a:noFill/>
        </p:spPr>
        <p:txBody>
          <a:bodyPr wrap="square">
            <a:spAutoFit/>
          </a:bodyPr>
          <a:lstStyle/>
          <a:p>
            <a:pPr algn="l"/>
            <a:r>
              <a:rPr sz="950" b="0">
                <a:solidFill>
                  <a:srgbClr val="CBD5E1"/>
                </a:solidFill>
              </a:rPr>
              <a:t>Telemetry setup was generated but never called in the prior version; default exporter switched from silently-no-op Jaeger to zero-config console.</a:t>
            </a:r>
          </a:p>
        </p:txBody>
      </p:sp>
      <p:sp>
        <p:nvSpPr>
          <p:cNvPr id="30" name="Rectangle 29"/>
          <p:cNvSpPr/>
          <p:nvPr/>
        </p:nvSpPr>
        <p:spPr>
          <a:xfrm>
            <a:off x="822960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767328"/>
            <a:ext cx="3429000" cy="411480"/>
          </a:xfrm>
          <a:prstGeom prst="rect">
            <a:avLst/>
          </a:prstGeom>
          <a:noFill/>
        </p:spPr>
        <p:txBody>
          <a:bodyPr wrap="square">
            <a:spAutoFit/>
          </a:bodyPr>
          <a:lstStyle/>
          <a:p>
            <a:pPr algn="l"/>
            <a:r>
              <a:rPr sz="1300" b="1">
                <a:solidFill>
                  <a:srgbClr val="0E79B2"/>
                </a:solidFill>
              </a:rPr>
              <a:t>🛡️ Resilience</a:t>
            </a:r>
          </a:p>
        </p:txBody>
      </p:sp>
      <p:sp>
        <p:nvSpPr>
          <p:cNvPr id="32" name="TextBox 31"/>
          <p:cNvSpPr txBox="1"/>
          <p:nvPr/>
        </p:nvSpPr>
        <p:spPr>
          <a:xfrm>
            <a:off x="8366760" y="4160520"/>
            <a:ext cx="1463040" cy="640080"/>
          </a:xfrm>
          <a:prstGeom prst="rect">
            <a:avLst/>
          </a:prstGeom>
          <a:noFill/>
        </p:spPr>
        <p:txBody>
          <a:bodyPr wrap="square">
            <a:spAutoFit/>
          </a:bodyPr>
          <a:lstStyle/>
          <a:p>
            <a:pPr algn="l"/>
            <a:r>
              <a:rPr sz="3000" b="1">
                <a:solidFill>
                  <a:srgbClr val="FFFFFF"/>
                </a:solidFill>
              </a:rPr>
              <a:t>+2</a:t>
            </a:r>
          </a:p>
        </p:txBody>
      </p:sp>
      <p:sp>
        <p:nvSpPr>
          <p:cNvPr id="33" name="TextBox 32"/>
          <p:cNvSpPr txBox="1"/>
          <p:nvPr/>
        </p:nvSpPr>
        <p:spPr>
          <a:xfrm>
            <a:off x="8366760" y="4736592"/>
            <a:ext cx="3429000" cy="320040"/>
          </a:xfrm>
          <a:prstGeom prst="rect">
            <a:avLst/>
          </a:prstGeom>
          <a:noFill/>
        </p:spPr>
        <p:txBody>
          <a:bodyPr wrap="square">
            <a:spAutoFit/>
          </a:bodyPr>
          <a:lstStyle/>
          <a:p>
            <a:pPr algn="l"/>
            <a:r>
              <a:rPr sz="1100" b="1">
                <a:solidFill>
                  <a:srgbClr val="10B981"/>
                </a:solidFill>
              </a:rPr>
              <a:t>6/10→8/10 · retry + global handler</a:t>
            </a:r>
          </a:p>
        </p:txBody>
      </p:sp>
      <p:sp>
        <p:nvSpPr>
          <p:cNvPr id="34" name="TextBox 33"/>
          <p:cNvSpPr txBox="1"/>
          <p:nvPr/>
        </p:nvSpPr>
        <p:spPr>
          <a:xfrm>
            <a:off x="8366760" y="5047488"/>
            <a:ext cx="3474720" cy="1051560"/>
          </a:xfrm>
          <a:prstGeom prst="rect">
            <a:avLst/>
          </a:prstGeom>
          <a:noFill/>
        </p:spPr>
        <p:txBody>
          <a:bodyPr wrap="square">
            <a:spAutoFit/>
          </a:bodyPr>
          <a:lstStyle/>
          <a:p>
            <a:pPr algn="l"/>
            <a:r>
              <a:rPr sz="950" b="0">
                <a:solidFill>
                  <a:srgbClr val="CBD5E1"/>
                </a:solidFill>
              </a:rPr>
              <a:t>A startup DB connection retry loop and a global exception handler replace unhandled crashes on transient Postgres downtime.</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Custom Code Export — Feature &amp; Production-Readiness Score Journey</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dirty="0">
                <a:solidFill>
                  <a:srgbClr val="CBD5E1"/>
                </a:solidFill>
              </a:rPr>
              <a:t>The Custom Code download is Architect's bespoke React + FastAPI export — this section covers what it is and how its production-readiness score moved from 55 to 89 out of 100 across four focused hardening passes this cycle.</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Custom Code Export, Explained</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dirty="0">
                <a:solidFill>
                  <a:srgbClr val="CBD5E1"/>
                </a:solidFill>
              </a:rPr>
              <a:t>One-click download of a bespoke React + FastAPI app generated from your agent plan — distinct from the RAG Scaffold, tailored to your exact use case.</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07777"/>
          </a:xfrm>
          <a:prstGeom prst="rect">
            <a:avLst/>
          </a:prstGeom>
          <a:noFill/>
        </p:spPr>
        <p:txBody>
          <a:bodyPr wrap="square">
            <a:spAutoFit/>
          </a:bodyPr>
          <a:lstStyle/>
          <a:p>
            <a:pPr algn="l"/>
            <a:r>
              <a:rPr sz="1400" b="1" dirty="0">
                <a:solidFill>
                  <a:srgbClr val="606EF5"/>
                </a:solidFill>
              </a:rPr>
              <a:t>1️⃣  Baseline Audit — 55/100</a:t>
            </a:r>
            <a:r>
              <a:rPr lang="en-US" sz="1400" b="1" dirty="0">
                <a:solidFill>
                  <a:srgbClr val="606EF5"/>
                </a:solidFill>
              </a:rPr>
              <a:t> to 89/100</a:t>
            </a:r>
            <a:endParaRPr sz="1400" b="1" dirty="0">
              <a:solidFill>
                <a:srgbClr val="606EF5"/>
              </a:solidFill>
            </a:endParaRP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Initial production-readiness score: no default authentication, zero tests, no CI/CD pipeline, no real database migrations, and weak observability/resilience wiring.</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2️⃣  Tests, CI/CD &amp; Migrations</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Auto-scaffolded pytest suite, a guaranteed GitHub Actions ci.yml, and a real async-aware Alembic setup closed the three biggest structural gaps.</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3️⃣  Auth &amp; Security Hardening</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Default JWT auth (bcrypt + python-jose) when SSO isn't requested, slowapi rate limiting, and an SSRF guard on outbound HTTP calls closed the remaining security gap.</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4️⃣  Observability &amp; Resilience</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Guaranteed OpenTelemetry wiring plus a startup DB retry loop and global exception handler pushed both dimensions from 6/10 to 8/10, reaching today's 89/100 score.</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10972800" cy="548640"/>
          </a:xfrm>
          <a:prstGeom prst="rect">
            <a:avLst/>
          </a:prstGeom>
          <a:noFill/>
        </p:spPr>
        <p:txBody>
          <a:bodyPr wrap="square">
            <a:spAutoFit/>
          </a:bodyPr>
          <a:lstStyle/>
          <a:p>
            <a:r>
              <a:rPr sz="2700" b="1" dirty="0">
                <a:solidFill>
                  <a:srgbClr val="FFFFFF"/>
                </a:solidFill>
              </a:rPr>
              <a:t>RAG Template Code — Topic-Wise Production-Readiness Score</a:t>
            </a:r>
          </a:p>
        </p:txBody>
      </p:sp>
      <p:sp>
        <p:nvSpPr>
          <p:cNvPr id="5" name="TextBox 4"/>
          <p:cNvSpPr txBox="1"/>
          <p:nvPr/>
        </p:nvSpPr>
        <p:spPr>
          <a:xfrm>
            <a:off x="470852" y="475488"/>
            <a:ext cx="11247120" cy="548640"/>
          </a:xfrm>
          <a:prstGeom prst="rect">
            <a:avLst/>
          </a:prstGeom>
          <a:noFill/>
        </p:spPr>
        <p:txBody>
          <a:bodyPr wrap="square">
            <a:spAutoFit/>
          </a:bodyPr>
          <a:lstStyle/>
          <a:p>
            <a:r>
              <a:rPr sz="1300" b="0" dirty="0">
                <a:solidFill>
                  <a:srgbClr val="CBD5E1"/>
                </a:solidFill>
              </a:rPr>
              <a:t>Overall score moved from 78/100 to 88/100 this pass — Docker Compose support closed the last zero-scoring gap, bringing RAG parity with Custom Code Export (88/100).</a:t>
            </a:r>
          </a:p>
        </p:txBody>
      </p:sp>
      <p:sp>
        <p:nvSpPr>
          <p:cNvPr id="6" name="Rectangle 5"/>
          <p:cNvSpPr/>
          <p:nvPr/>
        </p:nvSpPr>
        <p:spPr>
          <a:xfrm>
            <a:off x="365760" y="104241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52144"/>
            <a:ext cx="3429000" cy="411480"/>
          </a:xfrm>
          <a:prstGeom prst="rect">
            <a:avLst/>
          </a:prstGeom>
          <a:noFill/>
        </p:spPr>
        <p:txBody>
          <a:bodyPr wrap="none">
            <a:spAutoFit/>
          </a:bodyPr>
          <a:lstStyle/>
          <a:p>
            <a:r>
              <a:rPr sz="1300" b="1">
                <a:solidFill>
                  <a:srgbClr val="A855F7"/>
                </a:solidFill>
              </a:rPr>
              <a:t>🔐 Auth / SSO</a:t>
            </a:r>
          </a:p>
        </p:txBody>
      </p:sp>
      <p:sp>
        <p:nvSpPr>
          <p:cNvPr id="8" name="TextBox 7"/>
          <p:cNvSpPr txBox="1"/>
          <p:nvPr/>
        </p:nvSpPr>
        <p:spPr>
          <a:xfrm>
            <a:off x="502920" y="1545336"/>
            <a:ext cx="1463040" cy="640080"/>
          </a:xfrm>
          <a:prstGeom prst="rect">
            <a:avLst/>
          </a:prstGeom>
          <a:noFill/>
        </p:spPr>
        <p:txBody>
          <a:bodyPr wrap="none">
            <a:spAutoFit/>
          </a:bodyPr>
          <a:lstStyle/>
          <a:p>
            <a:r>
              <a:rPr sz="3000" b="1">
                <a:solidFill>
                  <a:srgbClr val="FFFFFF"/>
                </a:solidFill>
              </a:rPr>
              <a:t>14/15</a:t>
            </a:r>
          </a:p>
        </p:txBody>
      </p:sp>
      <p:sp>
        <p:nvSpPr>
          <p:cNvPr id="9" name="TextBox 8"/>
          <p:cNvSpPr txBox="1"/>
          <p:nvPr/>
        </p:nvSpPr>
        <p:spPr>
          <a:xfrm>
            <a:off x="502920" y="2121408"/>
            <a:ext cx="3474720" cy="320040"/>
          </a:xfrm>
          <a:prstGeom prst="rect">
            <a:avLst/>
          </a:prstGeom>
          <a:noFill/>
        </p:spPr>
        <p:txBody>
          <a:bodyPr wrap="none">
            <a:spAutoFit/>
          </a:bodyPr>
          <a:lstStyle/>
          <a:p>
            <a:r>
              <a:rPr sz="1100" b="1">
                <a:solidFill>
                  <a:srgbClr val="10B981"/>
                </a:solidFill>
              </a:rPr>
              <a:t>Entra ID JWKS + JWT fallback</a:t>
            </a:r>
          </a:p>
        </p:txBody>
      </p:sp>
      <p:sp>
        <p:nvSpPr>
          <p:cNvPr id="10" name="TextBox 9"/>
          <p:cNvSpPr txBox="1"/>
          <p:nvPr/>
        </p:nvSpPr>
        <p:spPr>
          <a:xfrm>
            <a:off x="502920" y="2432304"/>
            <a:ext cx="3474720" cy="1051560"/>
          </a:xfrm>
          <a:prstGeom prst="rect">
            <a:avLst/>
          </a:prstGeom>
          <a:noFill/>
        </p:spPr>
        <p:txBody>
          <a:bodyPr wrap="square">
            <a:spAutoFit/>
          </a:bodyPr>
          <a:lstStyle/>
          <a:p>
            <a:r>
              <a:rPr sz="950" b="0">
                <a:solidFill>
                  <a:srgbClr val="CBD5E1"/>
                </a:solidFill>
              </a:rPr>
              <a:t>Real Azure AD SSO when requested, default JWT (bcrypt + python-jose) otherwise. No change this pass.</a:t>
            </a:r>
          </a:p>
        </p:txBody>
      </p:sp>
      <p:sp>
        <p:nvSpPr>
          <p:cNvPr id="11" name="Rectangle 10"/>
          <p:cNvSpPr/>
          <p:nvPr/>
        </p:nvSpPr>
        <p:spPr>
          <a:xfrm>
            <a:off x="4297680" y="104241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1152144"/>
            <a:ext cx="3429000" cy="411480"/>
          </a:xfrm>
          <a:prstGeom prst="rect">
            <a:avLst/>
          </a:prstGeom>
          <a:noFill/>
        </p:spPr>
        <p:txBody>
          <a:bodyPr wrap="none">
            <a:spAutoFit/>
          </a:bodyPr>
          <a:lstStyle/>
          <a:p>
            <a:r>
              <a:rPr sz="1300" b="1">
                <a:solidFill>
                  <a:srgbClr val="F59E0B"/>
                </a:solidFill>
              </a:rPr>
              <a:t>🚦 Rate Limiting</a:t>
            </a:r>
          </a:p>
        </p:txBody>
      </p:sp>
      <p:sp>
        <p:nvSpPr>
          <p:cNvPr id="13" name="TextBox 12"/>
          <p:cNvSpPr txBox="1"/>
          <p:nvPr/>
        </p:nvSpPr>
        <p:spPr>
          <a:xfrm>
            <a:off x="4434840" y="1545336"/>
            <a:ext cx="1463040" cy="640080"/>
          </a:xfrm>
          <a:prstGeom prst="rect">
            <a:avLst/>
          </a:prstGeom>
          <a:noFill/>
        </p:spPr>
        <p:txBody>
          <a:bodyPr wrap="none">
            <a:spAutoFit/>
          </a:bodyPr>
          <a:lstStyle/>
          <a:p>
            <a:r>
              <a:rPr sz="3000" b="1">
                <a:solidFill>
                  <a:srgbClr val="FFFFFF"/>
                </a:solidFill>
              </a:rPr>
              <a:t>10/10</a:t>
            </a:r>
          </a:p>
        </p:txBody>
      </p:sp>
      <p:sp>
        <p:nvSpPr>
          <p:cNvPr id="14" name="TextBox 13"/>
          <p:cNvSpPr txBox="1"/>
          <p:nvPr/>
        </p:nvSpPr>
        <p:spPr>
          <a:xfrm>
            <a:off x="4434840" y="2121408"/>
            <a:ext cx="3474720" cy="320040"/>
          </a:xfrm>
          <a:prstGeom prst="rect">
            <a:avLst/>
          </a:prstGeom>
          <a:noFill/>
        </p:spPr>
        <p:txBody>
          <a:bodyPr wrap="none">
            <a:spAutoFit/>
          </a:bodyPr>
          <a:lstStyle/>
          <a:p>
            <a:r>
              <a:rPr sz="1100" b="1">
                <a:solidFill>
                  <a:srgbClr val="10B981"/>
                </a:solidFill>
              </a:rPr>
              <a:t>slowapi · 100 req/min</a:t>
            </a:r>
          </a:p>
        </p:txBody>
      </p:sp>
      <p:sp>
        <p:nvSpPr>
          <p:cNvPr id="15" name="TextBox 14"/>
          <p:cNvSpPr txBox="1"/>
          <p:nvPr/>
        </p:nvSpPr>
        <p:spPr>
          <a:xfrm>
            <a:off x="4434840" y="2432304"/>
            <a:ext cx="3474720" cy="1051560"/>
          </a:xfrm>
          <a:prstGeom prst="rect">
            <a:avLst/>
          </a:prstGeom>
          <a:noFill/>
        </p:spPr>
        <p:txBody>
          <a:bodyPr wrap="square">
            <a:spAutoFit/>
          </a:bodyPr>
          <a:lstStyle/>
          <a:p>
            <a:r>
              <a:rPr sz="950" b="0">
                <a:solidFill>
                  <a:srgbClr val="CBD5E1"/>
                </a:solidFill>
              </a:rPr>
              <a:t>Per-client rate limiting wired into main.py with a proper 429 exception handler. No change this pass.</a:t>
            </a:r>
          </a:p>
        </p:txBody>
      </p:sp>
      <p:sp>
        <p:nvSpPr>
          <p:cNvPr id="16" name="Rectangle 15"/>
          <p:cNvSpPr/>
          <p:nvPr/>
        </p:nvSpPr>
        <p:spPr>
          <a:xfrm>
            <a:off x="8229600" y="104241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152144"/>
            <a:ext cx="3429000" cy="411480"/>
          </a:xfrm>
          <a:prstGeom prst="rect">
            <a:avLst/>
          </a:prstGeom>
          <a:noFill/>
        </p:spPr>
        <p:txBody>
          <a:bodyPr wrap="none">
            <a:spAutoFit/>
          </a:bodyPr>
          <a:lstStyle/>
          <a:p>
            <a:r>
              <a:rPr sz="1300" b="1">
                <a:solidFill>
                  <a:srgbClr val="10B981"/>
                </a:solidFill>
              </a:rPr>
              <a:t>🐳 Docker</a:t>
            </a:r>
          </a:p>
        </p:txBody>
      </p:sp>
      <p:sp>
        <p:nvSpPr>
          <p:cNvPr id="18" name="TextBox 17"/>
          <p:cNvSpPr txBox="1"/>
          <p:nvPr/>
        </p:nvSpPr>
        <p:spPr>
          <a:xfrm>
            <a:off x="8366760" y="1545336"/>
            <a:ext cx="1463040" cy="640080"/>
          </a:xfrm>
          <a:prstGeom prst="rect">
            <a:avLst/>
          </a:prstGeom>
          <a:noFill/>
        </p:spPr>
        <p:txBody>
          <a:bodyPr wrap="none">
            <a:spAutoFit/>
          </a:bodyPr>
          <a:lstStyle/>
          <a:p>
            <a:r>
              <a:rPr sz="3000" b="1">
                <a:solidFill>
                  <a:srgbClr val="FFFFFF"/>
                </a:solidFill>
              </a:rPr>
              <a:t>10/10</a:t>
            </a:r>
          </a:p>
        </p:txBody>
      </p:sp>
      <p:sp>
        <p:nvSpPr>
          <p:cNvPr id="19" name="TextBox 18"/>
          <p:cNvSpPr txBox="1"/>
          <p:nvPr/>
        </p:nvSpPr>
        <p:spPr>
          <a:xfrm>
            <a:off x="8366760" y="2121408"/>
            <a:ext cx="3474720" cy="320040"/>
          </a:xfrm>
          <a:prstGeom prst="rect">
            <a:avLst/>
          </a:prstGeom>
          <a:noFill/>
        </p:spPr>
        <p:txBody>
          <a:bodyPr wrap="none">
            <a:spAutoFit/>
          </a:bodyPr>
          <a:lstStyle/>
          <a:p>
            <a:r>
              <a:rPr sz="1100" b="1">
                <a:solidFill>
                  <a:srgbClr val="10B981"/>
                </a:solidFill>
              </a:rPr>
              <a:t>0→10 · compose + 2 Dockerfiles</a:t>
            </a:r>
          </a:p>
        </p:txBody>
      </p:sp>
      <p:sp>
        <p:nvSpPr>
          <p:cNvPr id="20" name="TextBox 19"/>
          <p:cNvSpPr txBox="1"/>
          <p:nvPr/>
        </p:nvSpPr>
        <p:spPr>
          <a:xfrm>
            <a:off x="8366760" y="2432304"/>
            <a:ext cx="3474720" cy="1051560"/>
          </a:xfrm>
          <a:prstGeom prst="rect">
            <a:avLst/>
          </a:prstGeom>
          <a:noFill/>
        </p:spPr>
        <p:txBody>
          <a:bodyPr wrap="square">
            <a:spAutoFit/>
          </a:bodyPr>
          <a:lstStyle/>
          <a:p>
            <a:r>
              <a:rPr sz="950" b="0">
                <a:solidFill>
                  <a:srgbClr val="CBD5E1"/>
                </a:solidFill>
              </a:rPr>
              <a:t>docker-compose.yml (backend+frontend, no DB — RAG stays stateless FAISS) plus backend/frontend Dockerfiles now ship in every ZIP.</a:t>
            </a:r>
          </a:p>
        </p:txBody>
      </p:sp>
      <p:sp>
        <p:nvSpPr>
          <p:cNvPr id="21" name="Rectangle 20"/>
          <p:cNvSpPr/>
          <p:nvPr/>
        </p:nvSpPr>
        <p:spPr>
          <a:xfrm>
            <a:off x="365760" y="373989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849624"/>
            <a:ext cx="3429000" cy="411480"/>
          </a:xfrm>
          <a:prstGeom prst="rect">
            <a:avLst/>
          </a:prstGeom>
          <a:noFill/>
        </p:spPr>
        <p:txBody>
          <a:bodyPr wrap="none">
            <a:spAutoFit/>
          </a:bodyPr>
          <a:lstStyle/>
          <a:p>
            <a:r>
              <a:rPr sz="1300" b="1">
                <a:solidFill>
                  <a:srgbClr val="DC2626"/>
                </a:solidFill>
              </a:rPr>
              <a:t>🛡️ Resilience</a:t>
            </a:r>
          </a:p>
        </p:txBody>
      </p:sp>
      <p:sp>
        <p:nvSpPr>
          <p:cNvPr id="23" name="TextBox 22"/>
          <p:cNvSpPr txBox="1"/>
          <p:nvPr/>
        </p:nvSpPr>
        <p:spPr>
          <a:xfrm>
            <a:off x="502920" y="4242816"/>
            <a:ext cx="1463040" cy="640080"/>
          </a:xfrm>
          <a:prstGeom prst="rect">
            <a:avLst/>
          </a:prstGeom>
          <a:noFill/>
        </p:spPr>
        <p:txBody>
          <a:bodyPr wrap="none">
            <a:spAutoFit/>
          </a:bodyPr>
          <a:lstStyle/>
          <a:p>
            <a:r>
              <a:rPr sz="3000" b="1">
                <a:solidFill>
                  <a:srgbClr val="FFFFFF"/>
                </a:solidFill>
              </a:rPr>
              <a:t>3/10</a:t>
            </a:r>
          </a:p>
        </p:txBody>
      </p:sp>
      <p:sp>
        <p:nvSpPr>
          <p:cNvPr id="24" name="TextBox 23"/>
          <p:cNvSpPr txBox="1"/>
          <p:nvPr/>
        </p:nvSpPr>
        <p:spPr>
          <a:xfrm>
            <a:off x="502920" y="4818888"/>
            <a:ext cx="3474720" cy="320040"/>
          </a:xfrm>
          <a:prstGeom prst="rect">
            <a:avLst/>
          </a:prstGeom>
          <a:noFill/>
        </p:spPr>
        <p:txBody>
          <a:bodyPr wrap="none">
            <a:spAutoFit/>
          </a:bodyPr>
          <a:lstStyle/>
          <a:p>
            <a:r>
              <a:rPr sz="1100" b="1">
                <a:solidFill>
                  <a:srgbClr val="10B981"/>
                </a:solidFill>
              </a:rPr>
              <a:t>Still missing retry/backoff</a:t>
            </a:r>
          </a:p>
        </p:txBody>
      </p:sp>
      <p:sp>
        <p:nvSpPr>
          <p:cNvPr id="25" name="TextBox 24"/>
          <p:cNvSpPr txBox="1"/>
          <p:nvPr/>
        </p:nvSpPr>
        <p:spPr>
          <a:xfrm>
            <a:off x="502920" y="5129784"/>
            <a:ext cx="3474720" cy="1051560"/>
          </a:xfrm>
          <a:prstGeom prst="rect">
            <a:avLst/>
          </a:prstGeom>
          <a:noFill/>
        </p:spPr>
        <p:txBody>
          <a:bodyPr wrap="square">
            <a:spAutoFit/>
          </a:bodyPr>
          <a:lstStyle/>
          <a:p>
            <a:r>
              <a:rPr sz="950" b="0">
                <a:solidFill>
                  <a:srgbClr val="CBD5E1"/>
                </a:solidFill>
              </a:rPr>
              <a:t>Azure OpenAI calls in rag.py have no retry wrapper yet — the one remaining gap versus Custom Code's _call_with_retry pattern.</a:t>
            </a:r>
          </a:p>
        </p:txBody>
      </p:sp>
      <p:sp>
        <p:nvSpPr>
          <p:cNvPr id="26" name="Rectangle 25"/>
          <p:cNvSpPr/>
          <p:nvPr/>
        </p:nvSpPr>
        <p:spPr>
          <a:xfrm>
            <a:off x="4297680" y="373989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3849624"/>
            <a:ext cx="3429000" cy="411480"/>
          </a:xfrm>
          <a:prstGeom prst="rect">
            <a:avLst/>
          </a:prstGeom>
          <a:noFill/>
        </p:spPr>
        <p:txBody>
          <a:bodyPr wrap="none">
            <a:spAutoFit/>
          </a:bodyPr>
          <a:lstStyle/>
          <a:p>
            <a:r>
              <a:rPr sz="1300" b="1">
                <a:solidFill>
                  <a:srgbClr val="0E79B2"/>
                </a:solidFill>
              </a:rPr>
              <a:t>🧪 Tests</a:t>
            </a:r>
          </a:p>
        </p:txBody>
      </p:sp>
      <p:sp>
        <p:nvSpPr>
          <p:cNvPr id="28" name="TextBox 27"/>
          <p:cNvSpPr txBox="1"/>
          <p:nvPr/>
        </p:nvSpPr>
        <p:spPr>
          <a:xfrm>
            <a:off x="4434840" y="4242816"/>
            <a:ext cx="1463040" cy="640080"/>
          </a:xfrm>
          <a:prstGeom prst="rect">
            <a:avLst/>
          </a:prstGeom>
          <a:noFill/>
        </p:spPr>
        <p:txBody>
          <a:bodyPr wrap="none">
            <a:spAutoFit/>
          </a:bodyPr>
          <a:lstStyle/>
          <a:p>
            <a:r>
              <a:rPr sz="3000" b="1">
                <a:solidFill>
                  <a:srgbClr val="FFFFFF"/>
                </a:solidFill>
              </a:rPr>
              <a:t>6/15</a:t>
            </a:r>
          </a:p>
        </p:txBody>
      </p:sp>
      <p:sp>
        <p:nvSpPr>
          <p:cNvPr id="29" name="TextBox 28"/>
          <p:cNvSpPr txBox="1"/>
          <p:nvPr/>
        </p:nvSpPr>
        <p:spPr>
          <a:xfrm>
            <a:off x="4434840" y="4818888"/>
            <a:ext cx="3474720" cy="320040"/>
          </a:xfrm>
          <a:prstGeom prst="rect">
            <a:avLst/>
          </a:prstGeom>
          <a:noFill/>
        </p:spPr>
        <p:txBody>
          <a:bodyPr wrap="none">
            <a:spAutoFit/>
          </a:bodyPr>
          <a:lstStyle/>
          <a:p>
            <a:r>
              <a:rPr sz="1100" b="1">
                <a:solidFill>
                  <a:srgbClr val="10B981"/>
                </a:solidFill>
              </a:rPr>
              <a:t>4 files · smoke-level only</a:t>
            </a:r>
          </a:p>
        </p:txBody>
      </p:sp>
      <p:sp>
        <p:nvSpPr>
          <p:cNvPr id="30" name="TextBox 29"/>
          <p:cNvSpPr txBox="1"/>
          <p:nvPr/>
        </p:nvSpPr>
        <p:spPr>
          <a:xfrm>
            <a:off x="4434840" y="5129784"/>
            <a:ext cx="3474720" cy="1051560"/>
          </a:xfrm>
          <a:prstGeom prst="rect">
            <a:avLst/>
          </a:prstGeom>
          <a:noFill/>
        </p:spPr>
        <p:txBody>
          <a:bodyPr wrap="square">
            <a:spAutoFit/>
          </a:bodyPr>
          <a:lstStyle/>
          <a:p>
            <a:r>
              <a:rPr sz="950" b="0">
                <a:solidFill>
                  <a:srgbClr val="CBD5E1"/>
                </a:solidFill>
              </a:rPr>
              <a:t>conftest + test_chat/test_documents/test_smoke cover the happy path; no edge-case or failure-mode coverage yet.</a:t>
            </a:r>
          </a:p>
        </p:txBody>
      </p:sp>
      <p:sp>
        <p:nvSpPr>
          <p:cNvPr id="31" name="Rectangle 30"/>
          <p:cNvSpPr/>
          <p:nvPr/>
        </p:nvSpPr>
        <p:spPr>
          <a:xfrm>
            <a:off x="8229600" y="373989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60" y="3849624"/>
            <a:ext cx="3429000" cy="411480"/>
          </a:xfrm>
          <a:prstGeom prst="rect">
            <a:avLst/>
          </a:prstGeom>
          <a:noFill/>
        </p:spPr>
        <p:txBody>
          <a:bodyPr wrap="none">
            <a:spAutoFit/>
          </a:bodyPr>
          <a:lstStyle/>
          <a:p>
            <a:r>
              <a:rPr sz="1300" b="1">
                <a:solidFill>
                  <a:srgbClr val="606EF5"/>
                </a:solidFill>
              </a:rPr>
              <a:t>🚀 CI/CD</a:t>
            </a:r>
          </a:p>
        </p:txBody>
      </p:sp>
      <p:sp>
        <p:nvSpPr>
          <p:cNvPr id="33" name="TextBox 32"/>
          <p:cNvSpPr txBox="1"/>
          <p:nvPr/>
        </p:nvSpPr>
        <p:spPr>
          <a:xfrm>
            <a:off x="8366760" y="4242816"/>
            <a:ext cx="1463040" cy="640080"/>
          </a:xfrm>
          <a:prstGeom prst="rect">
            <a:avLst/>
          </a:prstGeom>
          <a:noFill/>
        </p:spPr>
        <p:txBody>
          <a:bodyPr wrap="none">
            <a:spAutoFit/>
          </a:bodyPr>
          <a:lstStyle/>
          <a:p>
            <a:r>
              <a:rPr sz="3000" b="1">
                <a:solidFill>
                  <a:srgbClr val="FFFFFF"/>
                </a:solidFill>
              </a:rPr>
              <a:t>9/10</a:t>
            </a:r>
          </a:p>
        </p:txBody>
      </p:sp>
      <p:sp>
        <p:nvSpPr>
          <p:cNvPr id="34" name="TextBox 33"/>
          <p:cNvSpPr txBox="1"/>
          <p:nvPr/>
        </p:nvSpPr>
        <p:spPr>
          <a:xfrm>
            <a:off x="8366760" y="4818888"/>
            <a:ext cx="3474720" cy="320040"/>
          </a:xfrm>
          <a:prstGeom prst="rect">
            <a:avLst/>
          </a:prstGeom>
          <a:noFill/>
        </p:spPr>
        <p:txBody>
          <a:bodyPr wrap="none">
            <a:spAutoFit/>
          </a:bodyPr>
          <a:lstStyle/>
          <a:p>
            <a:r>
              <a:rPr sz="1100" b="1">
                <a:solidFill>
                  <a:srgbClr val="10B981"/>
                </a:solidFill>
              </a:rPr>
              <a:t>2-job GitHub Actions pipeline</a:t>
            </a:r>
          </a:p>
        </p:txBody>
      </p:sp>
      <p:sp>
        <p:nvSpPr>
          <p:cNvPr id="35" name="TextBox 34"/>
          <p:cNvSpPr txBox="1"/>
          <p:nvPr/>
        </p:nvSpPr>
        <p:spPr>
          <a:xfrm>
            <a:off x="8366760" y="5129784"/>
            <a:ext cx="3474720" cy="1051560"/>
          </a:xfrm>
          <a:prstGeom prst="rect">
            <a:avLst/>
          </a:prstGeom>
          <a:noFill/>
        </p:spPr>
        <p:txBody>
          <a:bodyPr wrap="square">
            <a:spAutoFit/>
          </a:bodyPr>
          <a:lstStyle/>
          <a:p>
            <a:r>
              <a:rPr sz="950" b="0">
                <a:solidFill>
                  <a:srgbClr val="CBD5E1"/>
                </a:solidFill>
              </a:rPr>
              <a:t>Backend pytest job + frontend npm run build job, guaranteed in every downloaded ZIP.</a:t>
            </a:r>
          </a:p>
        </p:txBody>
      </p:sp>
      <p:sp>
        <p:nvSpPr>
          <p:cNvPr id="36" name="TextBox 35"/>
          <p:cNvSpPr txBox="1"/>
          <p:nvPr/>
        </p:nvSpPr>
        <p:spPr>
          <a:xfrm>
            <a:off x="11640312" y="6492240"/>
            <a:ext cx="457200" cy="320040"/>
          </a:xfrm>
          <a:prstGeom prst="rect">
            <a:avLst/>
          </a:prstGeom>
          <a:noFill/>
        </p:spPr>
        <p:txBody>
          <a:bodyPr wrap="none">
            <a:spAutoFit/>
          </a:bodyPr>
          <a:lstStyle/>
          <a:p>
            <a:r>
              <a:rPr sz="1100">
                <a:solidFill>
                  <a:srgbClr val="CBD5E1"/>
                </a:solidFill>
              </a:rPr>
              <a:t>28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RAG Template Code — Production-Readiness Score Journey</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The RAG Scaffold download is Architect's zero-LLM-call, instantly-generated FAISS + Azure OpenAI app — this section covers how its production-readiness score moved from 78 to 88 out of 100 while keeping that instant-delivery value prop intact.</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RAG Scaffold, Explained</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dirty="0">
                <a:solidFill>
                  <a:srgbClr val="CBD5E1"/>
                </a:solidFill>
              </a:rPr>
              <a:t>A fully client-side generated React + FastAPI + FAISS app — hardcoded boilerplate, not an LLM call, so delivery stays instant.</a:t>
            </a:r>
          </a:p>
        </p:txBody>
      </p:sp>
      <p:sp>
        <p:nvSpPr>
          <p:cNvPr id="9" name="Rectangle 8"/>
          <p:cNvSpPr/>
          <p:nvPr/>
        </p:nvSpPr>
        <p:spPr>
          <a:xfrm>
            <a:off x="365760" y="2432304"/>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2667718" cy="338554"/>
          </a:xfrm>
          <a:prstGeom prst="rect">
            <a:avLst/>
          </a:prstGeom>
          <a:noFill/>
        </p:spPr>
        <p:txBody>
          <a:bodyPr wrap="none">
            <a:spAutoFit/>
          </a:bodyPr>
          <a:lstStyle/>
          <a:p>
            <a:r>
              <a:rPr sz="1600" b="1" dirty="0">
                <a:solidFill>
                  <a:srgbClr val="FFFFFF"/>
                </a:solidFill>
              </a:rPr>
              <a:t>1️⃣  Baseline Audit </a:t>
            </a:r>
            <a:r>
              <a:rPr sz="1600" b="1">
                <a:solidFill>
                  <a:srgbClr val="FFFFFF"/>
                </a:solidFill>
              </a:rPr>
              <a:t>— 78/100</a:t>
            </a:r>
            <a:endParaRPr sz="1600" b="1" dirty="0">
              <a:solidFill>
                <a:srgbClr val="FFFFFF"/>
              </a:solidFill>
            </a:endParaRPr>
          </a:p>
        </p:txBody>
      </p:sp>
      <p:sp>
        <p:nvSpPr>
          <p:cNvPr id="11" name="TextBox 10"/>
          <p:cNvSpPr txBox="1"/>
          <p:nvPr/>
        </p:nvSpPr>
        <p:spPr>
          <a:xfrm>
            <a:off x="594360" y="2816352"/>
            <a:ext cx="11064240" cy="457200"/>
          </a:xfrm>
          <a:prstGeom prst="rect">
            <a:avLst/>
          </a:prstGeom>
          <a:noFill/>
        </p:spPr>
        <p:txBody>
          <a:bodyPr wrap="square">
            <a:spAutoFit/>
          </a:bodyPr>
          <a:lstStyle/>
          <a:p>
            <a:r>
              <a:rPr sz="1150" b="0" dirty="0">
                <a:solidFill>
                  <a:srgbClr val="CBD5E1"/>
                </a:solidFill>
              </a:rPr>
              <a:t>Auth, rate limiting, telemetry, tests and CI were already in place from prior hardening passes; Docker support and LLM-call retry/backoff were the two gaps identified.</a:t>
            </a:r>
          </a:p>
        </p:txBody>
      </p:sp>
      <p:sp>
        <p:nvSpPr>
          <p:cNvPr id="12" name="Rectangle 11"/>
          <p:cNvSpPr/>
          <p:nvPr/>
        </p:nvSpPr>
        <p:spPr>
          <a:xfrm>
            <a:off x="365760" y="3328415"/>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2️⃣  Docker Compose Added — 0/10 → 10/10</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docker-compose.yml (backend + frontend, no DB service — RAG intentionally stays stateless) plus backend/frontend Dockerfiles now ship in buildRagScaffoldZip(), and the generated README documents both the Docker and manual quick-start paths.</a:t>
            </a:r>
          </a:p>
        </p:txBody>
      </p:sp>
      <p:sp>
        <p:nvSpPr>
          <p:cNvPr id="15" name="Rectangle 14"/>
          <p:cNvSpPr/>
          <p:nvPr/>
        </p:nvSpPr>
        <p:spPr>
          <a:xfrm>
            <a:off x="365760" y="4224528"/>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3️⃣  Result — 88/100, Parity With Custom Code</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Closing the Docker gap alone lifted the score 10 points, bringing the RAG Scaffold to the same overall score as the Custom Code Export (88/100).</a:t>
            </a:r>
          </a:p>
        </p:txBody>
      </p:sp>
      <p:sp>
        <p:nvSpPr>
          <p:cNvPr id="18" name="Rectangle 17"/>
          <p:cNvSpPr/>
          <p:nvPr/>
        </p:nvSpPr>
        <p:spPr>
          <a:xfrm>
            <a:off x="365760" y="5120640"/>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4️⃣  Remaining Gap — Resilience (3/10)</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No retry/backoff wrapper yet around the Azure OpenAI calls in rag.py — the next highest-value hardening target for this template.</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29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Architect → Published Projects — Publish Workflow Fixed</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Projects generated in Architect now reliably reach the org-wide Published Projects page — closing a silent-failure gap where publishing appeared to do nothing.</a:t>
            </a:r>
          </a:p>
        </p:txBody>
      </p:sp>
      <p:sp>
        <p:nvSpPr>
          <p:cNvPr id="6" name="Rectangle 5"/>
          <p:cNvSpPr/>
          <p:nvPr/>
        </p:nvSpPr>
        <p:spPr>
          <a:xfrm>
            <a:off x="365760" y="1536192"/>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The Problem</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a:solidFill>
                  <a:srgbClr val="CBD5E1"/>
                </a:solidFill>
              </a:rPr>
              <a:t>Users reported "Not saving into Architect page to Published Projects" — publishing silently failed with no error shown, and the Delete button on Published Projects wasn't visible after a stale page load.</a:t>
            </a:r>
          </a:p>
        </p:txBody>
      </p:sp>
      <p:sp>
        <p:nvSpPr>
          <p:cNvPr id="9" name="Rectangle 8"/>
          <p:cNvSpPr/>
          <p:nvPr/>
        </p:nvSpPr>
        <p:spPr>
          <a:xfrm>
            <a:off x="365760" y="2432304"/>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none">
            <a:spAutoFit/>
          </a:bodyPr>
          <a:lstStyle/>
          <a:p>
            <a:r>
              <a:rPr sz="1600" b="1">
                <a:solidFill>
                  <a:srgbClr val="FFFFFF"/>
                </a:solidFill>
              </a:rPr>
              <a:t>1️⃣  Root Cause #1 — No Publish Action Existed</a:t>
            </a:r>
          </a:p>
        </p:txBody>
      </p:sp>
      <p:sp>
        <p:nvSpPr>
          <p:cNvPr id="11" name="TextBox 10"/>
          <p:cNvSpPr txBox="1"/>
          <p:nvPr/>
        </p:nvSpPr>
        <p:spPr>
          <a:xfrm>
            <a:off x="594360" y="2816352"/>
            <a:ext cx="11064240" cy="457200"/>
          </a:xfrm>
          <a:prstGeom prst="rect">
            <a:avLst/>
          </a:prstGeom>
          <a:noFill/>
        </p:spPr>
        <p:txBody>
          <a:bodyPr wrap="square">
            <a:spAutoFit/>
          </a:bodyPr>
          <a:lstStyle/>
          <a:p>
            <a:r>
              <a:rPr sz="1150" b="0">
                <a:solidFill>
                  <a:srgbClr val="CBD5E1"/>
                </a:solidFill>
              </a:rPr>
              <a:t>Architect had no UI path to publish a session at all. Added a "Publish" toolbar button that creates the project (if not already saved) and sets its visibility to published via /api/projects/{id}/visibility.</a:t>
            </a:r>
          </a:p>
        </p:txBody>
      </p:sp>
      <p:sp>
        <p:nvSpPr>
          <p:cNvPr id="12" name="Rectangle 11"/>
          <p:cNvSpPr/>
          <p:nvPr/>
        </p:nvSpPr>
        <p:spPr>
          <a:xfrm>
            <a:off x="365760" y="3328415"/>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2️⃣  Root Cause #2 — Silent 401 on Expired JWT</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An expired session token made every /api/projects call fail with a silent 401 that calling code caught and ignored. Added an axios response interceptor that redirects to /login on a genuinely expired session, while tagging requests by token so a stale in-flight 401 can't trigger a false logout loop.</a:t>
            </a:r>
          </a:p>
        </p:txBody>
      </p:sp>
      <p:sp>
        <p:nvSpPr>
          <p:cNvPr id="15" name="Rectangle 14"/>
          <p:cNvSpPr/>
          <p:nvPr/>
        </p:nvSpPr>
        <p:spPr>
          <a:xfrm>
            <a:off x="365760" y="4224528"/>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3️⃣  Published Projects — Delete Button Added</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PublishedProjects.tsx now lists real published projects with an "Open in Architect" action and a Delete (✕) button — owner-only removal with a confirm prompt, refreshing the list on success.</a:t>
            </a:r>
          </a:p>
        </p:txBody>
      </p:sp>
      <p:sp>
        <p:nvSpPr>
          <p:cNvPr id="18" name="Rectangle 17"/>
          <p:cNvSpPr/>
          <p:nvPr/>
        </p:nvSpPr>
        <p:spPr>
          <a:xfrm>
            <a:off x="365760" y="5120640"/>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4️⃣  Verified End-to-End</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Live-tested: publish a session from Architect → confirm it appears in Published Projects → confirm Delete removes it. Test-data pollution from pytest runs (projtest_*@example.com users and duplicate seed rows) was also cleaned from the dev database.</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Manager/Orchestrator Agents — New Feature Deep Dive</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Closes the #1 Lyzr-parity gap identified in this cycle's competitive test pass: dynamic goal decomposition and delegation, not just a fixed pre-drawn workflow.</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What Was Already Half-Built</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a:solidFill>
                  <a:srgbClr val="CBD5E1"/>
                </a:solidFill>
              </a:rPr>
              <a:t>MultiAgentOrchestrator (manager LLM picks which workers to invoke, in what order) already existed in the codebase — but was never wired into any API endpoint. A "Managerial Agent" UI stub in Agent Studio existed too, but only stored free text, never persisted to the backend.</a:t>
            </a:r>
          </a:p>
        </p:txBody>
      </p:sp>
      <p:sp>
        <p:nvSpPr>
          <p:cNvPr id="9" name="Rectangle 8"/>
          <p:cNvSpPr/>
          <p:nvPr/>
        </p:nvSpPr>
        <p:spPr>
          <a:xfrm>
            <a:off x="365760" y="2432304"/>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none">
            <a:spAutoFit/>
          </a:bodyPr>
          <a:lstStyle/>
          <a:p>
            <a:r>
              <a:rPr sz="1600" b="1">
                <a:solidFill>
                  <a:srgbClr val="FFFFFF"/>
                </a:solidFill>
              </a:rPr>
              <a:t>🔗  What We Built — Wiring, Not Reinventing</a:t>
            </a:r>
          </a:p>
        </p:txBody>
      </p:sp>
      <p:sp>
        <p:nvSpPr>
          <p:cNvPr id="11" name="TextBox 10"/>
          <p:cNvSpPr txBox="1"/>
          <p:nvPr/>
        </p:nvSpPr>
        <p:spPr>
          <a:xfrm>
            <a:off x="594360" y="2816352"/>
            <a:ext cx="11064240" cy="457200"/>
          </a:xfrm>
          <a:prstGeom prst="rect">
            <a:avLst/>
          </a:prstGeom>
          <a:noFill/>
        </p:spPr>
        <p:txBody>
          <a:bodyPr wrap="square">
            <a:spAutoFit/>
          </a:bodyPr>
          <a:lstStyle/>
          <a:p>
            <a:r>
              <a:rPr sz="1150" b="0">
                <a:solidFill>
                  <a:srgbClr val="CBD5E1"/>
                </a:solidFill>
              </a:rPr>
              <a:t>Added a worker_agent_ids column + migration, extended the agent run endpoint to branch on agent_type, and replaced the free-text picker with a real dropdown over existing agents. The manager LLM now dynamically selects a subset and order of real workers at runtime.</a:t>
            </a:r>
          </a:p>
        </p:txBody>
      </p:sp>
      <p:sp>
        <p:nvSpPr>
          <p:cNvPr id="12" name="Rectangle 11"/>
          <p:cNvSpPr/>
          <p:nvPr/>
        </p:nvSpPr>
        <p:spPr>
          <a:xfrm>
            <a:off x="365760" y="3328415"/>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  Safety Hardening Found In Review</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Code review caught two real edge cases before merge: a manager could reference itself as a worker, and duplicate worker IDs would silently collapse. Both are now filtered — verified with a dedicated test creating a manager, self-referencing it, and confirming exactly one real worker runs.</a:t>
            </a:r>
          </a:p>
        </p:txBody>
      </p:sp>
      <p:sp>
        <p:nvSpPr>
          <p:cNvPr id="15" name="Rectangle 14"/>
          <p:cNvSpPr/>
          <p:nvPr/>
        </p:nvSpPr>
        <p:spPr>
          <a:xfrm>
            <a:off x="365760" y="4224528"/>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  Visibility Into Delegation</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Agent Studio now shows an expandable "N worker(s) invoked" panel after a manager run, listing each delegated worker's name and output — turning a black-box decision into an auditable trail.</a:t>
            </a:r>
          </a:p>
        </p:txBody>
      </p:sp>
      <p:sp>
        <p:nvSpPr>
          <p:cNvPr id="18" name="Rectangle 17"/>
          <p:cNvSpPr/>
          <p:nvPr/>
        </p:nvSpPr>
        <p:spPr>
          <a:xfrm>
            <a:off x="365760" y="5120640"/>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  Verified End-to-End</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125 backend tests passing (7 new), TypeScript compiling clean, and a live browser run confirmed: manager delegates to a real worker agent, correct output renders, Agent Studio's "Managerial" filter tab count reflects the new agent.</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Manager Agents — ROI &amp; Leadership Narrative</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Why this matters beyond the code: what it changes for build velocity, and how to talk about it with leadership.</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Build-Velocity ROI</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a:solidFill>
                  <a:srgbClr val="CBD5E1"/>
                </a:solidFill>
              </a:rPr>
              <a:t>Multi-step workflows that previously required manually drawing every branch in Visual Builder can now be delegated to a single Manager Agent that decides its own execution path per request — fewer workflows to design, test, and maintain per use case.</a:t>
            </a:r>
          </a:p>
        </p:txBody>
      </p:sp>
      <p:sp>
        <p:nvSpPr>
          <p:cNvPr id="9" name="Rectangle 8"/>
          <p:cNvSpPr/>
          <p:nvPr/>
        </p:nvSpPr>
        <p:spPr>
          <a:xfrm>
            <a:off x="365760" y="2432304"/>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none">
            <a:spAutoFit/>
          </a:bodyPr>
          <a:lstStyle/>
          <a:p>
            <a:r>
              <a:rPr sz="1600" b="1">
                <a:solidFill>
                  <a:srgbClr val="FFFFFF"/>
                </a:solidFill>
              </a:rPr>
              <a:t>🏆  Competitive ROI</a:t>
            </a:r>
          </a:p>
        </p:txBody>
      </p:sp>
      <p:sp>
        <p:nvSpPr>
          <p:cNvPr id="11" name="TextBox 10"/>
          <p:cNvSpPr txBox="1"/>
          <p:nvPr/>
        </p:nvSpPr>
        <p:spPr>
          <a:xfrm>
            <a:off x="594360" y="2816352"/>
            <a:ext cx="11064240" cy="457200"/>
          </a:xfrm>
          <a:prstGeom prst="rect">
            <a:avLst/>
          </a:prstGeom>
          <a:noFill/>
        </p:spPr>
        <p:txBody>
          <a:bodyPr wrap="square">
            <a:spAutoFit/>
          </a:bodyPr>
          <a:lstStyle/>
          <a:p>
            <a:r>
              <a:rPr sz="1150" b="0">
                <a:solidFill>
                  <a:srgbClr val="CBD5E1"/>
                </a:solidFill>
              </a:rPr>
              <a:t>Directly answers Lyzr AI's "Manager Agents" and dynamic-delegation pitch — a capability gap flagged in this cycle's head-to-head test pass is now closed, without adopting Lyzr's SaaS-only lock-in (AgentForge still ships full code export).</a:t>
            </a:r>
          </a:p>
        </p:txBody>
      </p:sp>
      <p:sp>
        <p:nvSpPr>
          <p:cNvPr id="12" name="Rectangle 11"/>
          <p:cNvSpPr/>
          <p:nvPr/>
        </p:nvSpPr>
        <p:spPr>
          <a:xfrm>
            <a:off x="365760" y="3328415"/>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  Leadership Definition — What To Say</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"AgentForge agents can now supervise other agents — a Manager Agent looks at a goal, decides which of its specialist agents are relevant, and runs only those, in the right order. This is the same 'agentic orchestration' capability enterprise buyers ask about when evaluating AI platforms."</a:t>
            </a:r>
          </a:p>
        </p:txBody>
      </p:sp>
      <p:sp>
        <p:nvSpPr>
          <p:cNvPr id="15" name="Rectangle 14"/>
          <p:cNvSpPr/>
          <p:nvPr/>
        </p:nvSpPr>
        <p:spPr>
          <a:xfrm>
            <a:off x="365760" y="4224528"/>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  Honest Scope — What This Is NOT (Yet)</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v1 workers are plain agents only — a manager cannot yet delegate into a full approval-gated Visual Builder workflow. This was a deliberate scope call to ship a safe, tested v1 first rather than take on untested pause/resume complexity on day one.</a:t>
            </a:r>
          </a:p>
        </p:txBody>
      </p:sp>
      <p:sp>
        <p:nvSpPr>
          <p:cNvPr id="18" name="Rectangle 17"/>
          <p:cNvSpPr/>
          <p:nvPr/>
        </p:nvSpPr>
        <p:spPr>
          <a:xfrm>
            <a:off x="365760" y="5120640"/>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  Natural v2</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Once this v1 is proven in real use, the next step is letting a Manager Agent delegate into a full pausable workflow — composing with the already-tested Human-in-the-Loop approval engine (20/20 tests passing) rather than bypassing it.</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Lyzr-Parity Scorecard — Status &amp; Remaining Gaps</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Four gaps were identified in the competitive test pass this cycle. One is closed; three remain open and unscheduled.</a:t>
            </a:r>
          </a:p>
        </p:txBody>
      </p:sp>
      <p:sp>
        <p:nvSpPr>
          <p:cNvPr id="6" name="Rectangle 5"/>
          <p:cNvSpPr/>
          <p:nvPr/>
        </p:nvSpPr>
        <p:spPr>
          <a:xfrm>
            <a:off x="365760" y="96012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69848"/>
            <a:ext cx="3429000" cy="411480"/>
          </a:xfrm>
          <a:prstGeom prst="rect">
            <a:avLst/>
          </a:prstGeom>
          <a:noFill/>
        </p:spPr>
        <p:txBody>
          <a:bodyPr wrap="none">
            <a:spAutoFit/>
          </a:bodyPr>
          <a:lstStyle/>
          <a:p>
            <a:r>
              <a:rPr sz="1300" b="1">
                <a:solidFill>
                  <a:srgbClr val="10B981"/>
                </a:solidFill>
              </a:rPr>
              <a:t>✅ Manager Agents</a:t>
            </a:r>
          </a:p>
        </p:txBody>
      </p:sp>
      <p:sp>
        <p:nvSpPr>
          <p:cNvPr id="8" name="TextBox 7"/>
          <p:cNvSpPr txBox="1"/>
          <p:nvPr/>
        </p:nvSpPr>
        <p:spPr>
          <a:xfrm>
            <a:off x="502920" y="1463040"/>
            <a:ext cx="1463040" cy="640080"/>
          </a:xfrm>
          <a:prstGeom prst="rect">
            <a:avLst/>
          </a:prstGeom>
          <a:noFill/>
        </p:spPr>
        <p:txBody>
          <a:bodyPr wrap="none">
            <a:spAutoFit/>
          </a:bodyPr>
          <a:lstStyle/>
          <a:p>
            <a:r>
              <a:rPr sz="2800" b="1">
                <a:solidFill>
                  <a:srgbClr val="FFFFFF"/>
                </a:solidFill>
              </a:rPr>
              <a:t>DONE</a:t>
            </a:r>
          </a:p>
        </p:txBody>
      </p:sp>
      <p:sp>
        <p:nvSpPr>
          <p:cNvPr id="9" name="TextBox 8"/>
          <p:cNvSpPr txBox="1"/>
          <p:nvPr/>
        </p:nvSpPr>
        <p:spPr>
          <a:xfrm>
            <a:off x="502920" y="2039112"/>
            <a:ext cx="3474720" cy="320040"/>
          </a:xfrm>
          <a:prstGeom prst="rect">
            <a:avLst/>
          </a:prstGeom>
          <a:noFill/>
        </p:spPr>
        <p:txBody>
          <a:bodyPr wrap="none">
            <a:spAutoFit/>
          </a:bodyPr>
          <a:lstStyle/>
          <a:p>
            <a:r>
              <a:rPr sz="1100" b="1">
                <a:solidFill>
                  <a:srgbClr val="10B981"/>
                </a:solidFill>
              </a:rPr>
              <a:t>Dynamic goal decomposition</a:t>
            </a:r>
          </a:p>
        </p:txBody>
      </p:sp>
      <p:sp>
        <p:nvSpPr>
          <p:cNvPr id="10" name="TextBox 9"/>
          <p:cNvSpPr txBox="1"/>
          <p:nvPr/>
        </p:nvSpPr>
        <p:spPr>
          <a:xfrm>
            <a:off x="502920" y="2350008"/>
            <a:ext cx="3474720" cy="1051560"/>
          </a:xfrm>
          <a:prstGeom prst="rect">
            <a:avLst/>
          </a:prstGeom>
          <a:noFill/>
        </p:spPr>
        <p:txBody>
          <a:bodyPr wrap="square">
            <a:spAutoFit/>
          </a:bodyPr>
          <a:lstStyle/>
          <a:p>
            <a:r>
              <a:rPr sz="950" b="0">
                <a:solidFill>
                  <a:srgbClr val="CBD5E1"/>
                </a:solidFill>
              </a:rPr>
              <a:t>MultiAgentOrchestrator wired into a real endpoint + Agent Studio UI. Plain-agent workers only in v1; workflow-worker delegation is a planned v2.</a:t>
            </a:r>
          </a:p>
        </p:txBody>
      </p:sp>
      <p:sp>
        <p:nvSpPr>
          <p:cNvPr id="11" name="Rectangle 10"/>
          <p:cNvSpPr/>
          <p:nvPr/>
        </p:nvSpPr>
        <p:spPr>
          <a:xfrm>
            <a:off x="4297680" y="96012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1069848"/>
            <a:ext cx="3429000" cy="411480"/>
          </a:xfrm>
          <a:prstGeom prst="rect">
            <a:avLst/>
          </a:prstGeom>
          <a:noFill/>
        </p:spPr>
        <p:txBody>
          <a:bodyPr wrap="none">
            <a:spAutoFit/>
          </a:bodyPr>
          <a:lstStyle/>
          <a:p>
            <a:r>
              <a:rPr sz="1300" b="1">
                <a:solidFill>
                  <a:srgbClr val="F59E0B"/>
                </a:solidFill>
              </a:rPr>
              <a:t>📄 Compliance Docs</a:t>
            </a:r>
          </a:p>
        </p:txBody>
      </p:sp>
      <p:sp>
        <p:nvSpPr>
          <p:cNvPr id="13" name="TextBox 12"/>
          <p:cNvSpPr txBox="1"/>
          <p:nvPr/>
        </p:nvSpPr>
        <p:spPr>
          <a:xfrm>
            <a:off x="4434840" y="1463040"/>
            <a:ext cx="1463040" cy="640080"/>
          </a:xfrm>
          <a:prstGeom prst="rect">
            <a:avLst/>
          </a:prstGeom>
          <a:noFill/>
        </p:spPr>
        <p:txBody>
          <a:bodyPr wrap="none">
            <a:spAutoFit/>
          </a:bodyPr>
          <a:lstStyle/>
          <a:p>
            <a:r>
              <a:rPr sz="2800" b="1">
                <a:solidFill>
                  <a:srgbClr val="FFFFFF"/>
                </a:solidFill>
              </a:rPr>
              <a:t>OPEN</a:t>
            </a:r>
          </a:p>
        </p:txBody>
      </p:sp>
      <p:sp>
        <p:nvSpPr>
          <p:cNvPr id="14" name="TextBox 13"/>
          <p:cNvSpPr txBox="1"/>
          <p:nvPr/>
        </p:nvSpPr>
        <p:spPr>
          <a:xfrm>
            <a:off x="4434840" y="2039112"/>
            <a:ext cx="3474720" cy="320040"/>
          </a:xfrm>
          <a:prstGeom prst="rect">
            <a:avLst/>
          </a:prstGeom>
          <a:noFill/>
        </p:spPr>
        <p:txBody>
          <a:bodyPr wrap="none">
            <a:spAutoFit/>
          </a:bodyPr>
          <a:lstStyle/>
          <a:p>
            <a:r>
              <a:rPr sz="1100" b="1">
                <a:solidFill>
                  <a:srgbClr val="10B981"/>
                </a:solidFill>
              </a:rPr>
              <a:t>SOC2/HIPAA control mapping</a:t>
            </a:r>
          </a:p>
        </p:txBody>
      </p:sp>
      <p:sp>
        <p:nvSpPr>
          <p:cNvPr id="15" name="TextBox 14"/>
          <p:cNvSpPr txBox="1"/>
          <p:nvPr/>
        </p:nvSpPr>
        <p:spPr>
          <a:xfrm>
            <a:off x="4434840" y="2350008"/>
            <a:ext cx="3474720" cy="1051560"/>
          </a:xfrm>
          <a:prstGeom prst="rect">
            <a:avLst/>
          </a:prstGeom>
          <a:noFill/>
        </p:spPr>
        <p:txBody>
          <a:bodyPr wrap="square">
            <a:spAutoFit/>
          </a:bodyPr>
          <a:lstStyle/>
          <a:p>
            <a:r>
              <a:rPr sz="950" b="0">
                <a:solidFill>
                  <a:srgbClr val="CBD5E1"/>
                </a:solidFill>
              </a:rPr>
              <a:t>Existing SSO, audit logging, RBAC, and rate limiting already satisfy many controls Lyzr markets as certifications — needs to be written up, not built.</a:t>
            </a:r>
          </a:p>
        </p:txBody>
      </p:sp>
      <p:sp>
        <p:nvSpPr>
          <p:cNvPr id="16" name="Rectangle 15"/>
          <p:cNvSpPr/>
          <p:nvPr/>
        </p:nvSpPr>
        <p:spPr>
          <a:xfrm>
            <a:off x="8229600" y="96012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069848"/>
            <a:ext cx="3429000" cy="411480"/>
          </a:xfrm>
          <a:prstGeom prst="rect">
            <a:avLst/>
          </a:prstGeom>
          <a:noFill/>
        </p:spPr>
        <p:txBody>
          <a:bodyPr wrap="none">
            <a:spAutoFit/>
          </a:bodyPr>
          <a:lstStyle/>
          <a:p>
            <a:r>
              <a:rPr sz="1300" b="1">
                <a:solidFill>
                  <a:srgbClr val="606EF5"/>
                </a:solidFill>
              </a:rPr>
              <a:t>🗄️ Vector Store Choice</a:t>
            </a:r>
          </a:p>
        </p:txBody>
      </p:sp>
      <p:sp>
        <p:nvSpPr>
          <p:cNvPr id="18" name="TextBox 17"/>
          <p:cNvSpPr txBox="1"/>
          <p:nvPr/>
        </p:nvSpPr>
        <p:spPr>
          <a:xfrm>
            <a:off x="8366760" y="1463040"/>
            <a:ext cx="1463040" cy="640080"/>
          </a:xfrm>
          <a:prstGeom prst="rect">
            <a:avLst/>
          </a:prstGeom>
          <a:noFill/>
        </p:spPr>
        <p:txBody>
          <a:bodyPr wrap="none">
            <a:spAutoFit/>
          </a:bodyPr>
          <a:lstStyle/>
          <a:p>
            <a:r>
              <a:rPr sz="2800" b="1">
                <a:solidFill>
                  <a:srgbClr val="FFFFFF"/>
                </a:solidFill>
              </a:rPr>
              <a:t>OPEN</a:t>
            </a:r>
          </a:p>
        </p:txBody>
      </p:sp>
      <p:sp>
        <p:nvSpPr>
          <p:cNvPr id="19" name="TextBox 18"/>
          <p:cNvSpPr txBox="1"/>
          <p:nvPr/>
        </p:nvSpPr>
        <p:spPr>
          <a:xfrm>
            <a:off x="8366760" y="2039112"/>
            <a:ext cx="3474720" cy="320040"/>
          </a:xfrm>
          <a:prstGeom prst="rect">
            <a:avLst/>
          </a:prstGeom>
          <a:noFill/>
        </p:spPr>
        <p:txBody>
          <a:bodyPr wrap="none">
            <a:spAutoFit/>
          </a:bodyPr>
          <a:lstStyle/>
          <a:p>
            <a:r>
              <a:rPr sz="1100" b="1">
                <a:solidFill>
                  <a:srgbClr val="10B981"/>
                </a:solidFill>
              </a:rPr>
              <a:t>FAISS-only today</a:t>
            </a:r>
          </a:p>
        </p:txBody>
      </p:sp>
      <p:sp>
        <p:nvSpPr>
          <p:cNvPr id="20" name="TextBox 19"/>
          <p:cNvSpPr txBox="1"/>
          <p:nvPr/>
        </p:nvSpPr>
        <p:spPr>
          <a:xfrm>
            <a:off x="8366760" y="2350008"/>
            <a:ext cx="3474720" cy="1051560"/>
          </a:xfrm>
          <a:prstGeom prst="rect">
            <a:avLst/>
          </a:prstGeom>
          <a:noFill/>
        </p:spPr>
        <p:txBody>
          <a:bodyPr wrap="square">
            <a:spAutoFit/>
          </a:bodyPr>
          <a:lstStyle/>
          <a:p>
            <a:r>
              <a:rPr sz="950" b="0">
                <a:solidFill>
                  <a:srgbClr val="CBD5E1"/>
                </a:solidFill>
              </a:rPr>
              <a:t>Lyzr offers Weaviate/managed vector store options for scale-out RAG. AgentForge is FAISS-only — relevant once RAG corpora grow beyond single-instance scale.</a:t>
            </a:r>
          </a:p>
        </p:txBody>
      </p:sp>
      <p:sp>
        <p:nvSpPr>
          <p:cNvPr id="21" name="Rectangle 20"/>
          <p:cNvSpPr/>
          <p:nvPr/>
        </p:nvSpPr>
        <p:spPr>
          <a:xfrm>
            <a:off x="365760" y="365760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767328"/>
            <a:ext cx="3429000" cy="411480"/>
          </a:xfrm>
          <a:prstGeom prst="rect">
            <a:avLst/>
          </a:prstGeom>
          <a:noFill/>
        </p:spPr>
        <p:txBody>
          <a:bodyPr wrap="none">
            <a:spAutoFit/>
          </a:bodyPr>
          <a:lstStyle/>
          <a:p>
            <a:r>
              <a:rPr sz="1300" b="1">
                <a:solidFill>
                  <a:srgbClr val="DC2626"/>
                </a:solidFill>
              </a:rPr>
              <a:t>🛍️ Marketplace Audit</a:t>
            </a:r>
          </a:p>
        </p:txBody>
      </p:sp>
      <p:sp>
        <p:nvSpPr>
          <p:cNvPr id="23" name="TextBox 22"/>
          <p:cNvSpPr txBox="1"/>
          <p:nvPr/>
        </p:nvSpPr>
        <p:spPr>
          <a:xfrm>
            <a:off x="502920" y="4160520"/>
            <a:ext cx="1463040" cy="640080"/>
          </a:xfrm>
          <a:prstGeom prst="rect">
            <a:avLst/>
          </a:prstGeom>
          <a:noFill/>
        </p:spPr>
        <p:txBody>
          <a:bodyPr wrap="none">
            <a:spAutoFit/>
          </a:bodyPr>
          <a:lstStyle/>
          <a:p>
            <a:r>
              <a:rPr sz="2800" b="1">
                <a:solidFill>
                  <a:srgbClr val="FFFFFF"/>
                </a:solidFill>
              </a:rPr>
              <a:t>OPEN</a:t>
            </a:r>
          </a:p>
        </p:txBody>
      </p:sp>
      <p:sp>
        <p:nvSpPr>
          <p:cNvPr id="24" name="TextBox 23"/>
          <p:cNvSpPr txBox="1"/>
          <p:nvPr/>
        </p:nvSpPr>
        <p:spPr>
          <a:xfrm>
            <a:off x="502920" y="4736592"/>
            <a:ext cx="3474720" cy="320040"/>
          </a:xfrm>
          <a:prstGeom prst="rect">
            <a:avLst/>
          </a:prstGeom>
          <a:noFill/>
        </p:spPr>
        <p:txBody>
          <a:bodyPr wrap="none">
            <a:spAutoFit/>
          </a:bodyPr>
          <a:lstStyle/>
          <a:p>
            <a:r>
              <a:rPr sz="1100" b="1">
                <a:solidFill>
                  <a:srgbClr val="10B981"/>
                </a:solidFill>
              </a:rPr>
              <a:t>Template-breadth parity</a:t>
            </a:r>
          </a:p>
        </p:txBody>
      </p:sp>
      <p:sp>
        <p:nvSpPr>
          <p:cNvPr id="25" name="TextBox 24"/>
          <p:cNvSpPr txBox="1"/>
          <p:nvPr/>
        </p:nvSpPr>
        <p:spPr>
          <a:xfrm>
            <a:off x="502920" y="5047488"/>
            <a:ext cx="3474720" cy="1051560"/>
          </a:xfrm>
          <a:prstGeom prst="rect">
            <a:avLst/>
          </a:prstGeom>
          <a:noFill/>
        </p:spPr>
        <p:txBody>
          <a:bodyPr wrap="square">
            <a:spAutoFit/>
          </a:bodyPr>
          <a:lstStyle/>
          <a:p>
            <a:r>
              <a:rPr sz="950" b="0">
                <a:solidFill>
                  <a:srgbClr val="CBD5E1"/>
                </a:solidFill>
              </a:rPr>
              <a:t>AgentForge's Marketplace page already exists with integration cards — needs a breadth audit against Lyzr's Agent Marketplace to confirm parity, not necessarily new code.</a:t>
            </a:r>
          </a:p>
        </p:txBody>
      </p:sp>
      <p:sp>
        <p:nvSpPr>
          <p:cNvPr id="26" name="Rectangle 25"/>
          <p:cNvSpPr/>
          <p:nvPr/>
        </p:nvSpPr>
        <p:spPr>
          <a:xfrm>
            <a:off x="4297680" y="365760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3767328"/>
            <a:ext cx="3429000" cy="411480"/>
          </a:xfrm>
          <a:prstGeom prst="rect">
            <a:avLst/>
          </a:prstGeom>
          <a:noFill/>
        </p:spPr>
        <p:txBody>
          <a:bodyPr wrap="none">
            <a:spAutoFit/>
          </a:bodyPr>
          <a:lstStyle/>
          <a:p>
            <a:r>
              <a:rPr sz="1300" b="1">
                <a:solidFill>
                  <a:srgbClr val="0E79B2"/>
                </a:solidFill>
              </a:rPr>
              <a:t>🎯 This Cycle's Priority</a:t>
            </a:r>
          </a:p>
        </p:txBody>
      </p:sp>
      <p:sp>
        <p:nvSpPr>
          <p:cNvPr id="28" name="TextBox 27"/>
          <p:cNvSpPr txBox="1"/>
          <p:nvPr/>
        </p:nvSpPr>
        <p:spPr>
          <a:xfrm>
            <a:off x="4434840" y="4160520"/>
            <a:ext cx="1463040" cy="640080"/>
          </a:xfrm>
          <a:prstGeom prst="rect">
            <a:avLst/>
          </a:prstGeom>
          <a:noFill/>
        </p:spPr>
        <p:txBody>
          <a:bodyPr wrap="none">
            <a:spAutoFit/>
          </a:bodyPr>
          <a:lstStyle/>
          <a:p>
            <a:r>
              <a:rPr sz="2800" b="1">
                <a:solidFill>
                  <a:srgbClr val="FFFFFF"/>
                </a:solidFill>
              </a:rPr>
              <a:t>1 of 4</a:t>
            </a:r>
          </a:p>
        </p:txBody>
      </p:sp>
      <p:sp>
        <p:nvSpPr>
          <p:cNvPr id="29" name="TextBox 28"/>
          <p:cNvSpPr txBox="1"/>
          <p:nvPr/>
        </p:nvSpPr>
        <p:spPr>
          <a:xfrm>
            <a:off x="4434840" y="4736592"/>
            <a:ext cx="3474720" cy="320040"/>
          </a:xfrm>
          <a:prstGeom prst="rect">
            <a:avLst/>
          </a:prstGeom>
          <a:noFill/>
        </p:spPr>
        <p:txBody>
          <a:bodyPr wrap="none">
            <a:spAutoFit/>
          </a:bodyPr>
          <a:lstStyle/>
          <a:p>
            <a:r>
              <a:rPr sz="1100" b="1">
                <a:solidFill>
                  <a:srgbClr val="10B981"/>
                </a:solidFill>
              </a:rPr>
              <a:t>Manager Agents shipped first</a:t>
            </a:r>
          </a:p>
        </p:txBody>
      </p:sp>
      <p:sp>
        <p:nvSpPr>
          <p:cNvPr id="30" name="TextBox 29"/>
          <p:cNvSpPr txBox="1"/>
          <p:nvPr/>
        </p:nvSpPr>
        <p:spPr>
          <a:xfrm>
            <a:off x="4434840" y="5047488"/>
            <a:ext cx="3474720" cy="1051560"/>
          </a:xfrm>
          <a:prstGeom prst="rect">
            <a:avLst/>
          </a:prstGeom>
          <a:noFill/>
        </p:spPr>
        <p:txBody>
          <a:bodyPr wrap="square">
            <a:spAutoFit/>
          </a:bodyPr>
          <a:lstStyle/>
          <a:p>
            <a:r>
              <a:rPr sz="950" b="0">
                <a:solidFill>
                  <a:srgbClr val="CBD5E1"/>
                </a:solidFill>
              </a:rPr>
              <a:t>Chosen as the largest, highest-value gap — directly matches Lyzr's headline "Manager Agents" positioning and required the most engineering (vs. the other 3, which are largely docs/audit work).</a:t>
            </a:r>
          </a:p>
        </p:txBody>
      </p:sp>
      <p:sp>
        <p:nvSpPr>
          <p:cNvPr id="31" name="Rectangle 30"/>
          <p:cNvSpPr/>
          <p:nvPr/>
        </p:nvSpPr>
        <p:spPr>
          <a:xfrm>
            <a:off x="8229600" y="365760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60" y="3767328"/>
            <a:ext cx="3429000" cy="411480"/>
          </a:xfrm>
          <a:prstGeom prst="rect">
            <a:avLst/>
          </a:prstGeom>
          <a:noFill/>
        </p:spPr>
        <p:txBody>
          <a:bodyPr wrap="none">
            <a:spAutoFit/>
          </a:bodyPr>
          <a:lstStyle/>
          <a:p>
            <a:r>
              <a:rPr sz="1300" b="1">
                <a:solidFill>
                  <a:srgbClr val="F59E0B"/>
                </a:solidFill>
              </a:rPr>
              <a:t>📌 Next Recommended</a:t>
            </a:r>
          </a:p>
        </p:txBody>
      </p:sp>
      <p:sp>
        <p:nvSpPr>
          <p:cNvPr id="33" name="TextBox 32"/>
          <p:cNvSpPr txBox="1"/>
          <p:nvPr/>
        </p:nvSpPr>
        <p:spPr>
          <a:xfrm>
            <a:off x="8366760" y="4160520"/>
            <a:ext cx="1463040" cy="640080"/>
          </a:xfrm>
          <a:prstGeom prst="rect">
            <a:avLst/>
          </a:prstGeom>
          <a:noFill/>
        </p:spPr>
        <p:txBody>
          <a:bodyPr wrap="none">
            <a:spAutoFit/>
          </a:bodyPr>
          <a:lstStyle/>
          <a:p>
            <a:r>
              <a:rPr sz="2800" b="1">
                <a:solidFill>
                  <a:srgbClr val="FFFFFF"/>
                </a:solidFill>
              </a:rPr>
              <a:t>Compliance</a:t>
            </a:r>
          </a:p>
        </p:txBody>
      </p:sp>
      <p:sp>
        <p:nvSpPr>
          <p:cNvPr id="34" name="TextBox 33"/>
          <p:cNvSpPr txBox="1"/>
          <p:nvPr/>
        </p:nvSpPr>
        <p:spPr>
          <a:xfrm>
            <a:off x="8366760" y="4736592"/>
            <a:ext cx="3474720" cy="320040"/>
          </a:xfrm>
          <a:prstGeom prst="rect">
            <a:avLst/>
          </a:prstGeom>
          <a:noFill/>
        </p:spPr>
        <p:txBody>
          <a:bodyPr wrap="none">
            <a:spAutoFit/>
          </a:bodyPr>
          <a:lstStyle/>
          <a:p>
            <a:r>
              <a:rPr sz="1100" b="1">
                <a:solidFill>
                  <a:srgbClr val="10B981"/>
                </a:solidFill>
              </a:rPr>
              <a:t>Cheapest next win</a:t>
            </a:r>
          </a:p>
        </p:txBody>
      </p:sp>
      <p:sp>
        <p:nvSpPr>
          <p:cNvPr id="35" name="TextBox 34"/>
          <p:cNvSpPr txBox="1"/>
          <p:nvPr/>
        </p:nvSpPr>
        <p:spPr>
          <a:xfrm>
            <a:off x="8366760" y="5047488"/>
            <a:ext cx="3474720" cy="1051560"/>
          </a:xfrm>
          <a:prstGeom prst="rect">
            <a:avLst/>
          </a:prstGeom>
          <a:noFill/>
        </p:spPr>
        <p:txBody>
          <a:bodyPr wrap="square">
            <a:spAutoFit/>
          </a:bodyPr>
          <a:lstStyle/>
          <a:p>
            <a:r>
              <a:rPr sz="950" b="0">
                <a:solidFill>
                  <a:srgbClr val="CBD5E1"/>
                </a:solidFill>
              </a:rPr>
              <a:t>Compliance documentation requires zero new code — just mapping what already exists (SSO, audit, RBAC, rate limiting) to SOC2/HIPAA control language. Fastest ROI of the 3 remaining items.</a:t>
            </a:r>
          </a:p>
        </p:txBody>
      </p:sp>
      <p:sp>
        <p:nvSpPr>
          <p:cNvPr id="36" name="TextBox 35"/>
          <p:cNvSpPr txBox="1"/>
          <p:nvPr/>
        </p:nvSpPr>
        <p:spPr>
          <a:xfrm>
            <a:off x="11640312" y="6492240"/>
            <a:ext cx="457200" cy="320040"/>
          </a:xfrm>
          <a:prstGeom prst="rect">
            <a:avLst/>
          </a:prstGeom>
          <a:noFill/>
        </p:spPr>
        <p:txBody>
          <a:bodyPr wrap="none">
            <a:spAutoFit/>
          </a:bodyPr>
          <a:lstStyle/>
          <a:p>
            <a:r>
              <a:rPr sz="1100">
                <a:solidFill>
                  <a:srgbClr val="CBD5E1"/>
                </a:solidFill>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Workflow Builder — Testing &amp; Human-in-the-Loop UX</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A tester reported “Save Workflow saved with a junk timestamp name” and “the approval step feels like an error.” Both traced to real gaps, now closed — verified live against a running backend, not just unit tests.</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Save Workflow — Real Names, Not Timestamps</a:t>
            </a:r>
          </a:p>
        </p:txBody>
      </p:sp>
      <p:sp>
        <p:nvSpPr>
          <p:cNvPr id="8" name="TextBox 7"/>
          <p:cNvSpPr txBox="1"/>
          <p:nvPr/>
        </p:nvSpPr>
        <p:spPr>
          <a:xfrm>
            <a:off x="594360" y="1920303"/>
            <a:ext cx="11064240" cy="457200"/>
          </a:xfrm>
          <a:prstGeom prst="rect">
            <a:avLst/>
          </a:prstGeom>
          <a:noFill/>
        </p:spPr>
        <p:txBody>
          <a:bodyPr wrap="square">
            <a:spAutoFit/>
          </a:bodyPr>
          <a:lstStyle/>
          <a:p>
            <a:pPr algn="l"/>
            <a:r>
              <a:rPr sz="1100" b="0">
                <a:solidFill>
                  <a:srgbClr val="CBD5E1"/>
                </a:solidFill>
              </a:rPr>
              <a:t>“Save Workflow” only wrote to browser localStorage and never reached the backend — the junk “Workflow 8:14:41 PM” entries actually came from Run/Deploy auto-saving silently to get a workflow_id. Save Workflow now prompts for a real name and persists it directly.</a:t>
            </a:r>
          </a:p>
        </p:txBody>
      </p:sp>
      <p:sp>
        <p:nvSpPr>
          <p:cNvPr id="9" name="Rectangle 8"/>
          <p:cNvSpPr/>
          <p:nvPr/>
        </p:nvSpPr>
        <p:spPr>
          <a:xfrm>
            <a:off x="365760" y="2432304"/>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Browse &amp; Load Saved Workflows</a:t>
            </a:r>
          </a:p>
        </p:txBody>
      </p:sp>
      <p:sp>
        <p:nvSpPr>
          <p:cNvPr id="11" name="TextBox 10"/>
          <p:cNvSpPr txBox="1"/>
          <p:nvPr/>
        </p:nvSpPr>
        <p:spPr>
          <a:xfrm>
            <a:off x="594360" y="2816415"/>
            <a:ext cx="11064240" cy="457200"/>
          </a:xfrm>
          <a:prstGeom prst="rect">
            <a:avLst/>
          </a:prstGeom>
          <a:noFill/>
        </p:spPr>
        <p:txBody>
          <a:bodyPr wrap="square">
            <a:spAutoFit/>
          </a:bodyPr>
          <a:lstStyle/>
          <a:p>
            <a:pPr algn="l"/>
            <a:r>
              <a:rPr sz="1100" b="0">
                <a:solidFill>
                  <a:srgbClr val="CBD5E1"/>
                </a:solidFill>
              </a:rPr>
              <a:t>Load now opens a searchable picker over every backend-saved workflow (name, node count, last updated) instead of silently reading localStorage — selecting one loads it straight onto the canvas, with legacy flat-format workflows normalized so they render instead of crashing.</a:t>
            </a:r>
          </a:p>
        </p:txBody>
      </p:sp>
      <p:sp>
        <p:nvSpPr>
          <p:cNvPr id="12" name="Rectangle 11"/>
          <p:cNvSpPr/>
          <p:nvPr/>
        </p:nvSpPr>
        <p:spPr>
          <a:xfrm>
            <a:off x="365760" y="3328416"/>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4"/>
            <a:ext cx="10972800" cy="365760"/>
          </a:xfrm>
          <a:prstGeom prst="rect">
            <a:avLst/>
          </a:prstGeom>
          <a:noFill/>
        </p:spPr>
        <p:txBody>
          <a:bodyPr wrap="square">
            <a:spAutoFit/>
          </a:bodyPr>
          <a:lstStyle/>
          <a:p>
            <a:pPr algn="l"/>
            <a:r>
              <a:rPr sz="1400" b="1">
                <a:solidFill>
                  <a:srgbClr val="606EF5"/>
                </a:solidFill>
              </a:rPr>
              <a:t>🔀  Force a Branch — Deterministic Router Testing</a:t>
            </a:r>
          </a:p>
        </p:txBody>
      </p:sp>
      <p:sp>
        <p:nvSpPr>
          <p:cNvPr id="14" name="TextBox 13"/>
          <p:cNvSpPr txBox="1"/>
          <p:nvPr/>
        </p:nvSpPr>
        <p:spPr>
          <a:xfrm>
            <a:off x="594360" y="3712527"/>
            <a:ext cx="11064240" cy="457200"/>
          </a:xfrm>
          <a:prstGeom prst="rect">
            <a:avLst/>
          </a:prstGeom>
          <a:noFill/>
        </p:spPr>
        <p:txBody>
          <a:bodyPr wrap="square">
            <a:spAutoFit/>
          </a:bodyPr>
          <a:lstStyle/>
          <a:p>
            <a:pPr algn="l"/>
            <a:r>
              <a:rPr sz="1100" b="0">
                <a:solidFill>
                  <a:srgbClr val="CBD5E1"/>
                </a:solidFill>
              </a:rPr>
              <a:t>The Run modal now shows a “Force branch” dropdown for every router node — pick Critical/Routine (or any labeled edge) to skip the LLM classification and reliably test one specific path, instead of guessing wording that happens to trigger it.</a:t>
            </a:r>
          </a:p>
        </p:txBody>
      </p:sp>
      <p:sp>
        <p:nvSpPr>
          <p:cNvPr id="15" name="Rectangle 14"/>
          <p:cNvSpPr/>
          <p:nvPr/>
        </p:nvSpPr>
        <p:spPr>
          <a:xfrm>
            <a:off x="365760" y="4224528"/>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In-Canvas Approve/Reject</a:t>
            </a:r>
          </a:p>
        </p:txBody>
      </p:sp>
      <p:sp>
        <p:nvSpPr>
          <p:cNvPr id="17" name="TextBox 16"/>
          <p:cNvSpPr txBox="1"/>
          <p:nvPr/>
        </p:nvSpPr>
        <p:spPr>
          <a:xfrm>
            <a:off x="594360" y="4608639"/>
            <a:ext cx="11064240" cy="457200"/>
          </a:xfrm>
          <a:prstGeom prst="rect">
            <a:avLst/>
          </a:prstGeom>
          <a:noFill/>
        </p:spPr>
        <p:txBody>
          <a:bodyPr wrap="square">
            <a:spAutoFit/>
          </a:bodyPr>
          <a:lstStyle/>
          <a:p>
            <a:pPr algn="l"/>
            <a:r>
              <a:rPr sz="1100" b="0">
                <a:solidFill>
                  <a:srgbClr val="CBD5E1"/>
                </a:solidFill>
              </a:rPr>
              <a:t>A paused run now surfaces an inline “Run paused for approval” banner directly in Workflow Builder with Approve/Reject buttons wired to the existing approval endpoints — testers no longer need the emailed link or a separate /approvals/{run_id} page to finish exercising the Critical path.</a:t>
            </a:r>
          </a:p>
        </p:txBody>
      </p:sp>
      <p:sp>
        <p:nvSpPr>
          <p:cNvPr id="18" name="Rectangle 17"/>
          <p:cNvSpPr/>
          <p:nvPr/>
        </p:nvSpPr>
        <p:spPr>
          <a:xfrm>
            <a:off x="365760" y="5120640"/>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Full-Path Visual Completion &amp; Amber Escalation Color</a:t>
            </a:r>
          </a:p>
        </p:txBody>
      </p:sp>
      <p:sp>
        <p:nvSpPr>
          <p:cNvPr id="20" name="TextBox 19"/>
          <p:cNvSpPr txBox="1"/>
          <p:nvPr/>
        </p:nvSpPr>
        <p:spPr>
          <a:xfrm>
            <a:off x="594360" y="5504751"/>
            <a:ext cx="11064240" cy="457200"/>
          </a:xfrm>
          <a:prstGeom prst="rect">
            <a:avLst/>
          </a:prstGeom>
          <a:noFill/>
        </p:spPr>
        <p:txBody>
          <a:bodyPr wrap="square">
            <a:spAutoFit/>
          </a:bodyPr>
          <a:lstStyle/>
          <a:p>
            <a:pPr algn="l"/>
            <a:r>
              <a:rPr sz="1100" b="0">
                <a:solidFill>
                  <a:srgbClr val="CBD5E1"/>
                </a:solidFill>
              </a:rPr>
              <a:t>Approving a paused run now marks every downstream node and edge as done on the canvas — not just the approval node itself — and the approval role's default color moved from red to amber so a normal paused-for-approval state no longer visually collides with the canvas's “error” red.</a:t>
            </a:r>
          </a:p>
        </p:txBody>
      </p:sp>
      <p:sp>
        <p:nvSpPr>
          <p:cNvPr id="21" name="TextBox 20"/>
          <p:cNvSpPr txBox="1"/>
          <p:nvPr/>
        </p:nvSpPr>
        <p:spPr>
          <a:xfrm>
            <a:off x="11640312" y="6492240"/>
            <a:ext cx="457200" cy="320040"/>
          </a:xfrm>
          <a:prstGeom prst="rect">
            <a:avLst/>
          </a:prstGeom>
          <a:noFill/>
        </p:spPr>
        <p:txBody>
          <a:bodyPr wrap="square">
            <a:spAutoFit/>
          </a:bodyPr>
          <a:lstStyle/>
          <a:p>
            <a:pPr algn="l"/>
            <a:r>
              <a:rPr sz="1100" b="0">
                <a:solidFill>
                  <a:srgbClr val="CBD5E1"/>
                </a:solidFill>
              </a:rPr>
              <a:t>34a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FFFFFF"/>
                </a:solidFill>
              </a:rPr>
              <a:t>Honest UI Audit &amp; a Real Production Bug — What Changed</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200" b="0">
                <a:solidFill>
                  <a:srgbClr val="CBD5E1"/>
                </a:solidFill>
              </a:rPr>
              <a:t>A page-by-page pass asking “is this actually wired to the backend, or does it just look like it is?” — found three independent fake integration surfaces, a fully non-functional publish loop, and one genuine crash silently zeroing out two dashboards.</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Deterministic Branch Input Matching</a:t>
            </a:r>
          </a:p>
        </p:txBody>
      </p:sp>
      <p:sp>
        <p:nvSpPr>
          <p:cNvPr id="8" name="TextBox 7"/>
          <p:cNvSpPr txBox="1"/>
          <p:nvPr/>
        </p:nvSpPr>
        <p:spPr>
          <a:xfrm>
            <a:off x="594360" y="1920303"/>
            <a:ext cx="11064240" cy="457200"/>
          </a:xfrm>
          <a:prstGeom prst="rect">
            <a:avLst/>
          </a:prstGeom>
          <a:noFill/>
        </p:spPr>
        <p:txBody>
          <a:bodyPr wrap="square">
            <a:spAutoFit/>
          </a:bodyPr>
          <a:lstStyle/>
          <a:p>
            <a:pPr algn="l"/>
            <a:r>
              <a:rPr sz="1050" b="0">
                <a:solidFill>
                  <a:srgbClr val="CBD5E1"/>
                </a:solidFill>
              </a:rPr>
              <a:t>The Run modal's example input now regenerates to match whichever router branch is force-selected (e.g. Critical vs Routine) instead of leaving a stale, narratively mismatched example — a new target_label parameter on /suggest-input asks the LLM to write an example that specifically satisfies that router node's own classification criteria.</a:t>
            </a:r>
          </a:p>
        </p:txBody>
      </p:sp>
      <p:sp>
        <p:nvSpPr>
          <p:cNvPr id="9" name="Rectangle 8"/>
          <p:cNvSpPr/>
          <p:nvPr/>
        </p:nvSpPr>
        <p:spPr>
          <a:xfrm>
            <a:off x="365760" y="2432304"/>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Found: 3 Independent Fake “Connect a Tool” Surfaces</a:t>
            </a:r>
          </a:p>
        </p:txBody>
      </p:sp>
      <p:sp>
        <p:nvSpPr>
          <p:cNvPr id="11" name="TextBox 10"/>
          <p:cNvSpPr txBox="1"/>
          <p:nvPr/>
        </p:nvSpPr>
        <p:spPr>
          <a:xfrm>
            <a:off x="594360" y="2816415"/>
            <a:ext cx="11064240" cy="457200"/>
          </a:xfrm>
          <a:prstGeom prst="rect">
            <a:avLst/>
          </a:prstGeom>
          <a:noFill/>
        </p:spPr>
        <p:txBody>
          <a:bodyPr wrap="square">
            <a:spAutoFit/>
          </a:bodyPr>
          <a:lstStyle/>
          <a:p>
            <a:pPr algn="l"/>
            <a:r>
              <a:rPr sz="1050" b="0">
                <a:solidFill>
                  <a:srgbClr val="CBD5E1"/>
                </a:solidFill>
              </a:rPr>
              <a:t>Home's Connect modal, Marketplace's Tool Integrations tab, and Agent Studio's tool checkboxes each silently did nothing — three separate, unsynchronized implementations of the same idea, none wired to any real OAuth flow or API credential. All three now carry an honest “not yet active” label instead of implying real access.</a:t>
            </a:r>
          </a:p>
        </p:txBody>
      </p:sp>
      <p:sp>
        <p:nvSpPr>
          <p:cNvPr id="12" name="Rectangle 11"/>
          <p:cNvSpPr/>
          <p:nvPr/>
        </p:nvSpPr>
        <p:spPr>
          <a:xfrm>
            <a:off x="365760" y="3328416"/>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346704"/>
            <a:ext cx="10972800" cy="365760"/>
          </a:xfrm>
          <a:prstGeom prst="rect">
            <a:avLst/>
          </a:prstGeom>
          <a:noFill/>
        </p:spPr>
        <p:txBody>
          <a:bodyPr wrap="square">
            <a:spAutoFit/>
          </a:bodyPr>
          <a:lstStyle/>
          <a:p>
            <a:pPr algn="l"/>
            <a:r>
              <a:rPr sz="1400" b="1">
                <a:solidFill>
                  <a:srgbClr val="606EF5"/>
                </a:solidFill>
              </a:rPr>
              <a:t>🗑️  Retired the Publish → Marketplace → Install Loop</a:t>
            </a:r>
          </a:p>
        </p:txBody>
      </p:sp>
      <p:sp>
        <p:nvSpPr>
          <p:cNvPr id="14" name="TextBox 13"/>
          <p:cNvSpPr txBox="1"/>
          <p:nvPr/>
        </p:nvSpPr>
        <p:spPr>
          <a:xfrm>
            <a:off x="594360" y="3712527"/>
            <a:ext cx="11064240" cy="457200"/>
          </a:xfrm>
          <a:prstGeom prst="rect">
            <a:avLst/>
          </a:prstGeom>
          <a:noFill/>
        </p:spPr>
        <p:txBody>
          <a:bodyPr wrap="square">
            <a:spAutoFit/>
          </a:bodyPr>
          <a:lstStyle/>
          <a:p>
            <a:pPr algn="l"/>
            <a:r>
              <a:rPr sz="1050" b="0">
                <a:solidFill>
                  <a:srgbClr val="CBD5E1"/>
                </a:solidFill>
              </a:rPr>
              <a:t>Agent Studio's “Publish to Marketplace” button and Marketplace's “Published Agents” tab formed a closed, browser-local loop — both read/wrote the same localStorage key, never touched the backend, and shared nothing across users or even across browsers on the same machine. Removed entirely rather than left half-working.</a:t>
            </a:r>
          </a:p>
        </p:txBody>
      </p:sp>
      <p:sp>
        <p:nvSpPr>
          <p:cNvPr id="15" name="Rectangle 14"/>
          <p:cNvSpPr/>
          <p:nvPr/>
        </p:nvSpPr>
        <p:spPr>
          <a:xfrm>
            <a:off x="365760" y="4224528"/>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Fixed: Control Plane &amp; Usage Showing Zero</a:t>
            </a:r>
          </a:p>
        </p:txBody>
      </p:sp>
      <p:sp>
        <p:nvSpPr>
          <p:cNvPr id="17" name="TextBox 16"/>
          <p:cNvSpPr txBox="1"/>
          <p:nvPr/>
        </p:nvSpPr>
        <p:spPr>
          <a:xfrm>
            <a:off x="594360" y="4608639"/>
            <a:ext cx="11064240" cy="457200"/>
          </a:xfrm>
          <a:prstGeom prst="rect">
            <a:avLst/>
          </a:prstGeom>
          <a:noFill/>
        </p:spPr>
        <p:txBody>
          <a:bodyPr wrap="square">
            <a:spAutoFit/>
          </a:bodyPr>
          <a:lstStyle/>
          <a:p>
            <a:pPr algn="l"/>
            <a:r>
              <a:rPr sz="1050" b="0">
                <a:solidFill>
                  <a:srgbClr val="CBD5E1"/>
                </a:solidFill>
              </a:rPr>
              <a:t>/api/control-plane/stats was silently crashing with a 500 — Postgres returns a float for one average and a Decimal for another, and adding them raised a TypeError. Both dashboards swallowed the error and showed 0/blank stat cards despite real data sitting in the tables directly below them. Cast both averages to float; verified live with real numbers (4 agents, 7 genuine runs).</a:t>
            </a:r>
          </a:p>
        </p:txBody>
      </p:sp>
      <p:sp>
        <p:nvSpPr>
          <p:cNvPr id="18" name="Rectangle 17"/>
          <p:cNvSpPr/>
          <p:nvPr/>
        </p:nvSpPr>
        <p:spPr>
          <a:xfrm>
            <a:off x="365760" y="5120640"/>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Sidebar Naming Consistency</a:t>
            </a:r>
          </a:p>
        </p:txBody>
      </p:sp>
      <p:sp>
        <p:nvSpPr>
          <p:cNvPr id="20" name="TextBox 19"/>
          <p:cNvSpPr txBox="1"/>
          <p:nvPr/>
        </p:nvSpPr>
        <p:spPr>
          <a:xfrm>
            <a:off x="594360" y="5504751"/>
            <a:ext cx="11064240" cy="457200"/>
          </a:xfrm>
          <a:prstGeom prst="rect">
            <a:avLst/>
          </a:prstGeom>
          <a:noFill/>
        </p:spPr>
        <p:txBody>
          <a:bodyPr wrap="square">
            <a:spAutoFit/>
          </a:bodyPr>
          <a:lstStyle/>
          <a:p>
            <a:pPr algn="l"/>
            <a:r>
              <a:rPr sz="1050" b="0">
                <a:solidFill>
                  <a:srgbClr val="CBD5E1"/>
                </a:solidFill>
              </a:rPr>
              <a:t>Sidebar labels now match each page's own on-page title exactly instead of drifting from it — closing a three-way mismatch between the nav label, the page's own heading, and the route/filename that made it unclear which page you'd actually land on.</a:t>
            </a:r>
          </a:p>
        </p:txBody>
      </p:sp>
      <p:sp>
        <p:nvSpPr>
          <p:cNvPr id="21" name="TextBox 20"/>
          <p:cNvSpPr txBox="1"/>
          <p:nvPr/>
        </p:nvSpPr>
        <p:spPr>
          <a:xfrm>
            <a:off x="11640312" y="6492240"/>
            <a:ext cx="457200" cy="320040"/>
          </a:xfrm>
          <a:prstGeom prst="rect">
            <a:avLst/>
          </a:prstGeom>
          <a:noFill/>
        </p:spPr>
        <p:txBody>
          <a:bodyPr wrap="square">
            <a:spAutoFit/>
          </a:bodyPr>
          <a:lstStyle/>
          <a:p>
            <a:pPr algn="l"/>
            <a:r>
              <a:rPr sz="1100" b="0">
                <a:solidFill>
                  <a:srgbClr val="CBD5E1"/>
                </a:solidFill>
              </a:rPr>
              <a:t>35a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Visual Builder — Templates &amp; Auto-Build</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35</a:t>
            </a:r>
          </a:p>
        </p:txBody>
      </p:sp>
      <p:pic>
        <p:nvPicPr>
          <p:cNvPr id="6" name="Picture 5" descr="02_builder_templates.png"/>
          <p:cNvPicPr>
            <a:picLocks noChangeAspect="1"/>
          </p:cNvPicPr>
          <p:nvPr/>
        </p:nvPicPr>
        <p:blipFill>
          <a:blip r:embed="rId2"/>
          <a:stretch>
            <a:fillRect/>
          </a:stretch>
        </p:blipFill>
        <p:spPr>
          <a:xfrm>
            <a:off x="457200" y="1051560"/>
            <a:ext cx="5486400" cy="3086100"/>
          </a:xfrm>
          <a:prstGeom prst="rect">
            <a:avLst/>
          </a:prstGeom>
          <a:ln w="12700">
            <a:solidFill>
              <a:srgbClr val="334155"/>
            </a:solidFill>
          </a:ln>
        </p:spPr>
      </p:pic>
      <p:pic>
        <p:nvPicPr>
          <p:cNvPr id="7" name="Picture 6" descr="03_builder_autobuild.png"/>
          <p:cNvPicPr>
            <a:picLocks noChangeAspect="1"/>
          </p:cNvPicPr>
          <p:nvPr/>
        </p:nvPicPr>
        <p:blipFill>
          <a:blip r:embed="rId3"/>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Templates — pick from 40+ ready-made multi-agent pipelines across 10 categories (Architecture, Sales &amp; Marketing, Customer Support, and more) and load one straight onto the canvas.</a:t>
            </a:r>
          </a:p>
          <a:p>
            <a:pPr>
              <a:spcAft>
                <a:spcPts val="400"/>
              </a:spcAft>
            </a:pPr>
            <a:r>
              <a:rPr sz="1100">
                <a:solidFill>
                  <a:srgbClr val="CBD5E1"/>
                </a:solidFill>
              </a:rPr>
              <a:t>② Auto-Build — describe your pipeline in plain English (“A customer support pipeline that classifies queries, routes to the right responder...”) and GPT-5.4-mini generates a 3–6 role-typed node graph automatically.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Visual Builder — Configure, Export &amp; Import</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36</a:t>
            </a:r>
          </a:p>
        </p:txBody>
      </p:sp>
      <p:pic>
        <p:nvPicPr>
          <p:cNvPr id="6" name="Picture 5" descr="04_builder_agent_config.png"/>
          <p:cNvPicPr>
            <a:picLocks noChangeAspect="1"/>
          </p:cNvPicPr>
          <p:nvPr/>
        </p:nvPicPr>
        <p:blipFill>
          <a:blip r:embed="rId2"/>
          <a:stretch>
            <a:fillRect/>
          </a:stretch>
        </p:blipFill>
        <p:spPr>
          <a:xfrm>
            <a:off x="457200" y="1051560"/>
            <a:ext cx="5486400" cy="3086100"/>
          </a:xfrm>
          <a:prstGeom prst="rect">
            <a:avLst/>
          </a:prstGeom>
          <a:ln w="12700">
            <a:solidFill>
              <a:srgbClr val="334155"/>
            </a:solidFill>
          </a:ln>
        </p:spPr>
      </p:pic>
      <p:pic>
        <p:nvPicPr>
          <p:cNvPr id="7" name="Picture 6" descr="05_builder_export_code.png"/>
          <p:cNvPicPr>
            <a:picLocks noChangeAspect="1"/>
          </p:cNvPicPr>
          <p:nvPr/>
        </p:nvPicPr>
        <p:blipFill>
          <a:blip r:embed="rId3"/>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Configure — click any node to set its Role, System Prompt, Model (Local Model or Azure GPT-5.4-mini, per agent), Tools, and always-on Guardrails, then Save Agent.</a:t>
            </a:r>
          </a:p>
          <a:p>
            <a:pPr>
              <a:spcAft>
                <a:spcPts val="400"/>
              </a:spcAft>
            </a:pPr>
            <a:r>
              <a:rPr sz="1100">
                <a:solidFill>
                  <a:srgbClr val="CBD5E1"/>
                </a:solidFill>
              </a:rPr>
              <a:t>② Export / Import — Export Code generates a faithful Python script with the same execution logic as the live engine; Export JSON / Import JSON give a lossless, round-trippable workflow backup.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Visual Builder — Run &amp; Deploy</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37</a:t>
            </a:r>
          </a:p>
        </p:txBody>
      </p:sp>
      <p:pic>
        <p:nvPicPr>
          <p:cNvPr id="6" name="Picture 5" descr="06_builder_run_dialog.png"/>
          <p:cNvPicPr>
            <a:picLocks noChangeAspect="1"/>
          </p:cNvPicPr>
          <p:nvPr/>
        </p:nvPicPr>
        <p:blipFill>
          <a:blip r:embed="rId2"/>
          <a:stretch>
            <a:fillRect/>
          </a:stretch>
        </p:blipFill>
        <p:spPr>
          <a:xfrm>
            <a:off x="2651760" y="1051560"/>
            <a:ext cx="6858000" cy="3857625"/>
          </a:xfrm>
          <a:prstGeom prst="rect">
            <a:avLst/>
          </a:prstGeom>
          <a:ln w="12700">
            <a:solidFill>
              <a:srgbClr val="334155"/>
            </a:solidFill>
          </a:ln>
        </p:spPr>
      </p:pic>
      <p:sp>
        <p:nvSpPr>
          <p:cNvPr id="7" name="TextBox 6"/>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Run — click Run, and an AI-suggested realistic example input is generated automatically; edit it or keep it, then Execute &amp; Save Trace to watch each node pulse green while running and stay green when done.</a:t>
            </a:r>
          </a:p>
          <a:p>
            <a:pPr>
              <a:spcAft>
                <a:spcPts val="400"/>
              </a:spcAft>
            </a:pPr>
            <a:r>
              <a:rPr sz="1100">
                <a:solidFill>
                  <a:srgbClr val="CBD5E1"/>
                </a:solidFill>
              </a:rPr>
              <a:t>② Deploy — publish the workflow as a live, callable endpoint once you're happy with a run's trace in Workflow Runs / Observability.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Architect, Agent Studio &amp; Playground</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38</a:t>
            </a:r>
          </a:p>
        </p:txBody>
      </p:sp>
      <p:pic>
        <p:nvPicPr>
          <p:cNvPr id="7" name="Picture 6" descr="08_agent_studio.png"/>
          <p:cNvPicPr>
            <a:picLocks noChangeAspect="1"/>
          </p:cNvPicPr>
          <p:nvPr/>
        </p:nvPicPr>
        <p:blipFill>
          <a:blip r:embed="rId2"/>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651460"/>
          </a:xfrm>
          <a:prstGeom prst="rect">
            <a:avLst/>
          </a:prstGeom>
          <a:noFill/>
        </p:spPr>
        <p:txBody>
          <a:bodyPr wrap="square">
            <a:spAutoFit/>
          </a:bodyPr>
          <a:lstStyle/>
          <a:p>
            <a:pPr>
              <a:spcAft>
                <a:spcPts val="400"/>
              </a:spcAft>
            </a:pPr>
            <a:r>
              <a:rPr lang="en-US" sz="1100" dirty="0">
                <a:solidFill>
                  <a:srgbClr val="CBD5E1"/>
                </a:solidFill>
              </a:rPr>
              <a:t>① Home — landing page with quick actions and recent activity; the fastest way back into any agent, project, or workflow you were last working on. </a:t>
            </a:r>
          </a:p>
          <a:p>
            <a:pPr>
              <a:spcAft>
                <a:spcPts val="400"/>
              </a:spcAft>
            </a:pPr>
            <a:r>
              <a:rPr sz="1100" dirty="0">
                <a:solidFill>
                  <a:srgbClr val="CBD5E1"/>
                </a:solidFill>
              </a:rPr>
              <a:t>② Agent Studio — every saved agent lives here: Edit, Test, Deploy, Publish, or ask it something directly. Playground gives each agent its own chat with a one-click “Suggest” example-input button.</a:t>
            </a:r>
          </a:p>
        </p:txBody>
      </p:sp>
      <p:pic>
        <p:nvPicPr>
          <p:cNvPr id="10" name="Picture 9" descr="11_home.png">
            <a:extLst>
              <a:ext uri="{FF2B5EF4-FFF2-40B4-BE49-F238E27FC236}">
                <a16:creationId xmlns:a16="http://schemas.microsoft.com/office/drawing/2014/main" id="{961B9171-039C-BA53-D873-0BDC693AF21D}"/>
              </a:ext>
            </a:extLst>
          </p:cNvPr>
          <p:cNvPicPr>
            <a:picLocks noChangeAspect="1"/>
          </p:cNvPicPr>
          <p:nvPr/>
        </p:nvPicPr>
        <p:blipFill>
          <a:blip r:embed="rId3"/>
          <a:stretch>
            <a:fillRect/>
          </a:stretch>
        </p:blipFill>
        <p:spPr>
          <a:xfrm>
            <a:off x="457200" y="1051560"/>
            <a:ext cx="5486400" cy="3086100"/>
          </a:xfrm>
          <a:prstGeom prst="rect">
            <a:avLst/>
          </a:prstGeom>
          <a:ln w="12700">
            <a:solidFill>
              <a:srgbClr val="334155"/>
            </a:solid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Playground — Test Any Agent Live</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39</a:t>
            </a:r>
          </a:p>
        </p:txBody>
      </p:sp>
      <p:sp>
        <p:nvSpPr>
          <p:cNvPr id="7" name="TextBox 6"/>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Open any agent's Playground to see its System Prompt, Guardrails, Tools, and the exact Model it runs on (accurately resolved per agent — Local Model or Azure GPT-5.4-mini, not a stale label).</a:t>
            </a:r>
          </a:p>
          <a:p>
            <a:pPr>
              <a:spcAft>
                <a:spcPts val="400"/>
              </a:spcAft>
            </a:pPr>
            <a:r>
              <a:rPr sz="1100">
                <a:solidFill>
                  <a:srgbClr val="CBD5E1"/>
                </a:solidFill>
              </a:rPr>
              <a:t>② Click Suggest for an AI-generated realistic example message tailored to that agent, or type your own — then Send to test it live and watch Session Stats (Total Runs, Avg ms) update.</a:t>
            </a:r>
          </a:p>
        </p:txBody>
      </p:sp>
      <p:pic>
        <p:nvPicPr>
          <p:cNvPr id="8" name="Picture 7" descr="10_playground_suggest.png"/>
          <p:cNvPicPr>
            <a:picLocks noChangeAspect="1"/>
          </p:cNvPicPr>
          <p:nvPr/>
        </p:nvPicPr>
        <p:blipFill>
          <a:blip r:embed="rId2"/>
          <a:stretch>
            <a:fillRect/>
          </a:stretch>
        </p:blipFill>
        <p:spPr>
          <a:xfrm>
            <a:off x="2651760" y="1051560"/>
            <a:ext cx="6858000" cy="3857625"/>
          </a:xfrm>
          <a:prstGeom prst="rect">
            <a:avLst/>
          </a:prstGeom>
          <a:ln w="12700">
            <a:solidFill>
              <a:srgbClr val="334155"/>
            </a:solid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492443"/>
          </a:xfrm>
          <a:prstGeom prst="rect">
            <a:avLst/>
          </a:prstGeom>
          <a:noFill/>
        </p:spPr>
        <p:txBody>
          <a:bodyPr wrap="square">
            <a:spAutoFit/>
          </a:bodyPr>
          <a:lstStyle/>
          <a:p>
            <a:r>
              <a:rPr sz="2600" b="1" dirty="0">
                <a:solidFill>
                  <a:srgbClr val="FFFFFF"/>
                </a:solidFill>
              </a:rPr>
              <a:t>How To Use: </a:t>
            </a:r>
            <a:r>
              <a:rPr lang="en-US" sz="2600" b="1" dirty="0">
                <a:solidFill>
                  <a:srgbClr val="FFFFFF"/>
                </a:solidFill>
              </a:rPr>
              <a:t>Architect</a:t>
            </a:r>
            <a:r>
              <a:rPr sz="2600" b="1" dirty="0">
                <a:solidFill>
                  <a:srgbClr val="FFFFFF"/>
                </a:solidFill>
              </a:rPr>
              <a:t> &amp; Prompt Library</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40</a:t>
            </a:r>
          </a:p>
        </p:txBody>
      </p:sp>
      <p:pic>
        <p:nvPicPr>
          <p:cNvPr id="7" name="Picture 6" descr="12_prompt_library.png"/>
          <p:cNvPicPr>
            <a:picLocks noChangeAspect="1"/>
          </p:cNvPicPr>
          <p:nvPr/>
        </p:nvPicPr>
        <p:blipFill>
          <a:blip r:embed="rId2"/>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872034"/>
          </a:xfrm>
          <a:prstGeom prst="rect">
            <a:avLst/>
          </a:prstGeom>
          <a:noFill/>
        </p:spPr>
        <p:txBody>
          <a:bodyPr wrap="square">
            <a:spAutoFit/>
          </a:bodyPr>
          <a:lstStyle/>
          <a:p>
            <a:pPr>
              <a:spcAft>
                <a:spcPts val="400"/>
              </a:spcAft>
            </a:pPr>
            <a:r>
              <a:rPr lang="en-US" sz="1100" dirty="0">
                <a:solidFill>
                  <a:srgbClr val="CBD5E1"/>
                </a:solidFill>
              </a:rPr>
              <a:t>① Architect — describe what you want to build in plain English; it asks clarifying questions, then generates a full Plan / Agents / App / Database, downloadable as a RAG Scaffold or Custom Code ZIP.</a:t>
            </a:r>
          </a:p>
          <a:p>
            <a:pPr>
              <a:spcAft>
                <a:spcPts val="400"/>
              </a:spcAft>
            </a:pPr>
            <a:endParaRPr sz="1100" dirty="0">
              <a:solidFill>
                <a:srgbClr val="CBD5E1"/>
              </a:solidFill>
            </a:endParaRPr>
          </a:p>
          <a:p>
            <a:pPr>
              <a:spcAft>
                <a:spcPts val="400"/>
              </a:spcAft>
            </a:pPr>
            <a:r>
              <a:rPr sz="1100" dirty="0">
                <a:solidFill>
                  <a:srgbClr val="CBD5E1"/>
                </a:solidFill>
              </a:rPr>
              <a:t>② Prompt Library — 46+ curated multi-agent prompts across 10 domains (Support, Sales, Legal, HR, Data, and more); search, preview, and copy straight into Architect or Agent Studio.</a:t>
            </a:r>
          </a:p>
        </p:txBody>
      </p:sp>
      <p:pic>
        <p:nvPicPr>
          <p:cNvPr id="10" name="Picture 9" descr="07_architect.png">
            <a:extLst>
              <a:ext uri="{FF2B5EF4-FFF2-40B4-BE49-F238E27FC236}">
                <a16:creationId xmlns:a16="http://schemas.microsoft.com/office/drawing/2014/main" id="{A6EA2B05-A44A-923C-6A12-9B1083B342D1}"/>
              </a:ext>
            </a:extLst>
          </p:cNvPr>
          <p:cNvPicPr>
            <a:picLocks noChangeAspect="1"/>
          </p:cNvPicPr>
          <p:nvPr/>
        </p:nvPicPr>
        <p:blipFill>
          <a:blip r:embed="rId3"/>
          <a:stretch>
            <a:fillRect/>
          </a:stretch>
        </p:blipFill>
        <p:spPr>
          <a:xfrm>
            <a:off x="457200" y="1051560"/>
            <a:ext cx="5486400" cy="3086100"/>
          </a:xfrm>
          <a:prstGeom prst="rect">
            <a:avLst/>
          </a:prstGeom>
          <a:ln w="12700">
            <a:solidFill>
              <a:srgbClr val="334155"/>
            </a:solid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Control Plane &amp; Audit Traceability</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41</a:t>
            </a:r>
          </a:p>
        </p:txBody>
      </p:sp>
      <p:pic>
        <p:nvPicPr>
          <p:cNvPr id="6" name="Picture 5" descr="13_control_plane.png"/>
          <p:cNvPicPr>
            <a:picLocks noChangeAspect="1"/>
          </p:cNvPicPr>
          <p:nvPr/>
        </p:nvPicPr>
        <p:blipFill>
          <a:blip r:embed="rId2"/>
          <a:stretch>
            <a:fillRect/>
          </a:stretch>
        </p:blipFill>
        <p:spPr>
          <a:xfrm>
            <a:off x="457200" y="1051560"/>
            <a:ext cx="5486400" cy="3086100"/>
          </a:xfrm>
          <a:prstGeom prst="rect">
            <a:avLst/>
          </a:prstGeom>
          <a:ln w="12700">
            <a:solidFill>
              <a:srgbClr val="334155"/>
            </a:solidFill>
          </a:ln>
        </p:spPr>
      </p:pic>
      <p:pic>
        <p:nvPicPr>
          <p:cNvPr id="7" name="Picture 6" descr="14_usage_audit.png"/>
          <p:cNvPicPr>
            <a:picLocks noChangeAspect="1"/>
          </p:cNvPicPr>
          <p:nvPr/>
        </p:nvPicPr>
        <p:blipFill>
          <a:blip r:embed="rId3"/>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Control Plane — live platform health: active agents, runs, guardrail triggers, and average latency in one dashboard, refreshed in real time.</a:t>
            </a:r>
          </a:p>
          <a:p>
            <a:pPr>
              <a:spcAft>
                <a:spcPts val="400"/>
              </a:spcAft>
            </a:pPr>
            <a:r>
              <a:rPr sz="1100">
                <a:solidFill>
                  <a:srgbClr val="CBD5E1"/>
                </a:solidFill>
              </a:rPr>
              <a:t>② Usage &amp; Traceability — full audit-log viewer: every agent action with user, resource, input/output snapshot, guardrail trigger, latency, and trace ID, filterable by action/agent/date.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Workflow Observability — Tracing &amp; Logs</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42</a:t>
            </a:r>
          </a:p>
        </p:txBody>
      </p:sp>
      <p:pic>
        <p:nvPicPr>
          <p:cNvPr id="6" name="Picture 5" descr="15_workflow_observability.png"/>
          <p:cNvPicPr>
            <a:picLocks noChangeAspect="1"/>
          </p:cNvPicPr>
          <p:nvPr/>
        </p:nvPicPr>
        <p:blipFill>
          <a:blip r:embed="rId2"/>
          <a:stretch>
            <a:fillRect/>
          </a:stretch>
        </p:blipFill>
        <p:spPr>
          <a:xfrm>
            <a:off x="1737360" y="1051560"/>
            <a:ext cx="8686800" cy="4886325"/>
          </a:xfrm>
          <a:prstGeom prst="rect">
            <a:avLst/>
          </a:prstGeom>
          <a:ln w="12700">
            <a:solidFill>
              <a:srgbClr val="334155"/>
            </a:solidFill>
          </a:ln>
        </p:spPr>
      </p:pic>
      <p:sp>
        <p:nvSpPr>
          <p:cNvPr id="7" name="TextBox 6"/>
          <p:cNvSpPr txBox="1"/>
          <p:nvPr/>
        </p:nvSpPr>
        <p:spPr>
          <a:xfrm>
            <a:off x="457200" y="6157341"/>
            <a:ext cx="11247120" cy="482183"/>
          </a:xfrm>
          <a:prstGeom prst="rect">
            <a:avLst/>
          </a:prstGeom>
          <a:noFill/>
        </p:spPr>
        <p:txBody>
          <a:bodyPr wrap="square">
            <a:spAutoFit/>
          </a:bodyPr>
          <a:lstStyle/>
          <a:p>
            <a:pPr>
              <a:spcAft>
                <a:spcPts val="400"/>
              </a:spcAft>
            </a:pPr>
            <a:r>
              <a:rPr sz="1100" dirty="0">
                <a:solidFill>
                  <a:srgbClr val="CBD5E1"/>
                </a:solidFill>
              </a:rPr>
              <a:t>① Every workflow run is logged here with per-node execution trace, total duration, and final status — including an “Awaiting Approval” count with a direct “Review →” link for paused runs.</a:t>
            </a:r>
          </a:p>
          <a:p>
            <a:pPr>
              <a:spcAft>
                <a:spcPts val="400"/>
              </a:spcAft>
            </a:pPr>
            <a:r>
              <a:rPr sz="1100" dirty="0">
                <a:solidFill>
                  <a:srgbClr val="CBD5E1"/>
                </a:solidFill>
              </a:rPr>
              <a:t>② Backed by real Open Telemetry spans on every LLM call, so a slow or failed run can be traced back to the exact node, prompt, and latency that caused it — not a black box.</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88952" cy="4114800"/>
          </a:xfrm>
          <a:prstGeom prst="rect">
            <a:avLst/>
          </a:prstGeom>
          <a:solidFill>
            <a:srgbClr val="1A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0"/>
            <a:ext cx="10972800" cy="914400"/>
          </a:xfrm>
          <a:prstGeom prst="rect">
            <a:avLst/>
          </a:prstGeom>
          <a:noFill/>
        </p:spPr>
        <p:txBody>
          <a:bodyPr wrap="square">
            <a:spAutoFit/>
          </a:bodyPr>
          <a:lstStyle/>
          <a:p>
            <a:pPr algn="ctr"/>
            <a:r>
              <a:rPr sz="5400" b="1">
                <a:solidFill>
                  <a:srgbClr val="FFFFFF"/>
                </a:solidFill>
              </a:rPr>
              <a:t>AgentForge</a:t>
            </a:r>
          </a:p>
        </p:txBody>
      </p:sp>
      <p:sp>
        <p:nvSpPr>
          <p:cNvPr id="6" name="TextBox 5"/>
          <p:cNvSpPr txBox="1"/>
          <p:nvPr/>
        </p:nvSpPr>
        <p:spPr>
          <a:xfrm>
            <a:off x="457200" y="2606040"/>
            <a:ext cx="10972800" cy="731520"/>
          </a:xfrm>
          <a:prstGeom prst="rect">
            <a:avLst/>
          </a:prstGeom>
          <a:noFill/>
        </p:spPr>
        <p:txBody>
          <a:bodyPr wrap="square">
            <a:spAutoFit/>
          </a:bodyPr>
          <a:lstStyle/>
          <a:p>
            <a:pPr algn="ctr"/>
            <a:r>
              <a:rPr sz="2200" b="0">
                <a:solidFill>
                  <a:srgbClr val="CBD5E1"/>
                </a:solidFill>
              </a:rPr>
              <a:t>Build the next generation of enterprise AI agents — today.</a:t>
            </a:r>
          </a:p>
        </p:txBody>
      </p:sp>
      <p:sp>
        <p:nvSpPr>
          <p:cNvPr id="7" name="Rectangle 6"/>
          <p:cNvSpPr/>
          <p:nvPr/>
        </p:nvSpPr>
        <p:spPr>
          <a:xfrm>
            <a:off x="1371600" y="3657600"/>
            <a:ext cx="2834640"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3703320"/>
            <a:ext cx="2834640" cy="384048"/>
          </a:xfrm>
          <a:prstGeom prst="rect">
            <a:avLst/>
          </a:prstGeom>
          <a:noFill/>
        </p:spPr>
        <p:txBody>
          <a:bodyPr wrap="square">
            <a:spAutoFit/>
          </a:bodyPr>
          <a:lstStyle/>
          <a:p>
            <a:pPr algn="ctr"/>
            <a:r>
              <a:rPr sz="1400" b="1">
                <a:solidFill>
                  <a:srgbClr val="FFFFFF"/>
                </a:solidFill>
              </a:rPr>
              <a:t>🚀  Start Building</a:t>
            </a:r>
          </a:p>
        </p:txBody>
      </p:sp>
      <p:sp>
        <p:nvSpPr>
          <p:cNvPr id="9" name="TextBox 8"/>
          <p:cNvSpPr txBox="1"/>
          <p:nvPr/>
        </p:nvSpPr>
        <p:spPr>
          <a:xfrm>
            <a:off x="1371600" y="4087368"/>
            <a:ext cx="2834640" cy="320040"/>
          </a:xfrm>
          <a:prstGeom prst="rect">
            <a:avLst/>
          </a:prstGeom>
          <a:noFill/>
        </p:spPr>
        <p:txBody>
          <a:bodyPr wrap="square">
            <a:spAutoFit/>
          </a:bodyPr>
          <a:lstStyle/>
          <a:p>
            <a:pPr algn="ctr"/>
            <a:r>
              <a:rPr sz="1100" b="0">
                <a:solidFill>
                  <a:srgbClr val="FFFFFF"/>
                </a:solidFill>
              </a:rPr>
              <a:t>localhost:5173/architect</a:t>
            </a:r>
          </a:p>
        </p:txBody>
      </p:sp>
      <p:sp>
        <p:nvSpPr>
          <p:cNvPr id="10" name="Rectangle 9"/>
          <p:cNvSpPr/>
          <p:nvPr/>
        </p:nvSpPr>
        <p:spPr>
          <a:xfrm>
            <a:off x="4572000" y="3657600"/>
            <a:ext cx="283464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3703320"/>
            <a:ext cx="2834640" cy="384048"/>
          </a:xfrm>
          <a:prstGeom prst="rect">
            <a:avLst/>
          </a:prstGeom>
          <a:noFill/>
        </p:spPr>
        <p:txBody>
          <a:bodyPr wrap="square">
            <a:spAutoFit/>
          </a:bodyPr>
          <a:lstStyle/>
          <a:p>
            <a:pPr algn="ctr"/>
            <a:r>
              <a:rPr sz="1400" b="1">
                <a:solidFill>
                  <a:srgbClr val="FFFFFF"/>
                </a:solidFill>
              </a:rPr>
              <a:t>📖  API Docs</a:t>
            </a:r>
          </a:p>
        </p:txBody>
      </p:sp>
      <p:sp>
        <p:nvSpPr>
          <p:cNvPr id="12" name="TextBox 11"/>
          <p:cNvSpPr txBox="1"/>
          <p:nvPr/>
        </p:nvSpPr>
        <p:spPr>
          <a:xfrm>
            <a:off x="4572000" y="4087368"/>
            <a:ext cx="2834640" cy="320040"/>
          </a:xfrm>
          <a:prstGeom prst="rect">
            <a:avLst/>
          </a:prstGeom>
          <a:noFill/>
        </p:spPr>
        <p:txBody>
          <a:bodyPr wrap="square">
            <a:spAutoFit/>
          </a:bodyPr>
          <a:lstStyle/>
          <a:p>
            <a:pPr algn="ctr"/>
            <a:r>
              <a:rPr sz="1100" b="0">
                <a:solidFill>
                  <a:srgbClr val="FFFFFF"/>
                </a:solidFill>
              </a:rPr>
              <a:t>localhost:8000/docs</a:t>
            </a:r>
          </a:p>
        </p:txBody>
      </p:sp>
      <p:sp>
        <p:nvSpPr>
          <p:cNvPr id="13" name="Rectangle 12"/>
          <p:cNvSpPr/>
          <p:nvPr/>
        </p:nvSpPr>
        <p:spPr>
          <a:xfrm>
            <a:off x="7772400" y="3657600"/>
            <a:ext cx="28346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3703320"/>
            <a:ext cx="2834640" cy="384048"/>
          </a:xfrm>
          <a:prstGeom prst="rect">
            <a:avLst/>
          </a:prstGeom>
          <a:noFill/>
        </p:spPr>
        <p:txBody>
          <a:bodyPr wrap="square">
            <a:spAutoFit/>
          </a:bodyPr>
          <a:lstStyle/>
          <a:p>
            <a:pPr algn="ctr"/>
            <a:r>
              <a:rPr sz="1400" b="1">
                <a:solidFill>
                  <a:srgbClr val="FFFFFF"/>
                </a:solidFill>
              </a:rPr>
              <a:t>📦  Download ZIP</a:t>
            </a:r>
          </a:p>
        </p:txBody>
      </p:sp>
      <p:sp>
        <p:nvSpPr>
          <p:cNvPr id="15" name="TextBox 14"/>
          <p:cNvSpPr txBox="1"/>
          <p:nvPr/>
        </p:nvSpPr>
        <p:spPr>
          <a:xfrm>
            <a:off x="7772400" y="4087368"/>
            <a:ext cx="2834640" cy="320040"/>
          </a:xfrm>
          <a:prstGeom prst="rect">
            <a:avLst/>
          </a:prstGeom>
          <a:noFill/>
        </p:spPr>
        <p:txBody>
          <a:bodyPr wrap="square">
            <a:spAutoFit/>
          </a:bodyPr>
          <a:lstStyle/>
          <a:p>
            <a:pPr algn="ctr"/>
            <a:r>
              <a:rPr sz="1100" b="0">
                <a:solidFill>
                  <a:srgbClr val="FFFFFF"/>
                </a:solidFill>
              </a:rPr>
              <a:t>Architect → App → Download</a:t>
            </a:r>
          </a:p>
        </p:txBody>
      </p:sp>
      <p:sp>
        <p:nvSpPr>
          <p:cNvPr id="16" name="TextBox 15"/>
          <p:cNvSpPr txBox="1"/>
          <p:nvPr/>
        </p:nvSpPr>
        <p:spPr>
          <a:xfrm>
            <a:off x="457200" y="5760720"/>
            <a:ext cx="10972800" cy="276999"/>
          </a:xfrm>
          <a:prstGeom prst="rect">
            <a:avLst/>
          </a:prstGeom>
          <a:noFill/>
        </p:spPr>
        <p:txBody>
          <a:bodyPr wrap="square">
            <a:spAutoFit/>
          </a:bodyPr>
          <a:lstStyle/>
          <a:p>
            <a:pPr algn="ctr"/>
            <a:r>
              <a:rPr sz="1200" b="0" dirty="0">
                <a:solidFill>
                  <a:srgbClr val="CBD5E1"/>
                </a:solidFill>
              </a:rPr>
              <a:t> Technology  |  n.sureshmanikandan@accenture.com  |  Confidential</a:t>
            </a:r>
          </a:p>
        </p:txBody>
      </p:sp>
      <p:sp>
        <p:nvSpPr>
          <p:cNvPr id="17" name="TextBox 16"/>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37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Latest Platform Updates — Gemini Provider &amp; RAG Overhaul</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This pass added Google Gemini as a genuine third LLM provider and rewrote the RAG pipeline on real vector search — both verified live against running Azure OpenAI, Gemini, and Postgres instances, not just unit tests.</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Google Gemini as a Third Provider</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a:solidFill>
                  <a:srgbClr val="CBD5E1"/>
                </a:solidFill>
              </a:rPr>
              <a:t>Chat, RAG answers, and voice can now run on Gemini via the google-genai SDK (API-key or Vertex AI + ADC) — a genuine third option alongside Azure OpenAI and local LM Studio.</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Per-Feature Provider Overrides</a:t>
            </a: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ARCHITECT_LLM_PROVIDER and BUILDER_LLM_PROVIDER let Architect and everything else run on different providers independently — Architect code-gen and RAG embeddings stay pinned to Azure regardless of the chat provider.</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  Real FAISS Vector Search</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Each knowledge base now gets its own FAISS IndexFlatIP index built from real Azure OpenAI embeddings, with structure-aware DOCX chunking and a real chunks table — replacing the prior naive in-memory RAG.</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Upsert, List &amp; Delete</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Re-uploading a file with the same name replaces its old chunks instead of duplicating them; new endpoints list every KB, fetch one with its documents, and delete a KB and its index cleanly.</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Suggested Questions &amp; Agent Linkage</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A new endpoint generates real, ready-to-ask questions straight from a KB's own indexed content, and any knowledge base can now be linked directly to an agent for automatic retrieval on every run.</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26a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9037</Words>
  <Application>Microsoft Office PowerPoint</Application>
  <PresentationFormat>Custom</PresentationFormat>
  <Paragraphs>876</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Natarajan, Suresh Manikandan</dc:creator>
  <cp:keywords/>
  <dc:description>generated using python-pptx</dc:description>
  <cp:lastModifiedBy>Natarajan, Suresh Manikandan</cp:lastModifiedBy>
  <cp:revision>21</cp:revision>
  <dcterms:created xsi:type="dcterms:W3CDTF">2013-01-27T09:14:16Z</dcterms:created>
  <dcterms:modified xsi:type="dcterms:W3CDTF">2026-07-23T09:51:22Z</dcterms:modified>
  <cp:category/>
</cp:coreProperties>
</file>