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81" r:id="rId2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napToObjects="1">
      <p:cViewPr varScale="1">
        <p:scale>
          <a:sx n="70" d="100"/>
          <a:sy n="70" d="100"/>
        </p:scale>
        <p:origin x="536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9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⚡  AgentForge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377440"/>
            <a:ext cx="8229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</a:rPr>
              <a:t>Enterprise AI Agent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749039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BD5E1"/>
                </a:solidFill>
              </a:rPr>
              <a:t>Build · Orchestrate · Deploy · Govern — AI Agents at Scale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Azure OpenAI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51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FastAPI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937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React 18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23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PostgreSQL + pgvector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09760" y="457200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OpenTelemetry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56692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Version 8.0  |  July 2026  |  Confidential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05840"/>
            <a:ext cx="113385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BD5E1"/>
                </a:solidFill>
              </a:rPr>
              <a:t>AgentForge is an enterprise-grade AI Agent Platform that empowers Accenture developers and clients to design, build, simulate, deploy, and govern intelligent AI agents at scale — without deep ML expertise.
Powered by Azure OpenAI GPT-5.4-mini, it delivers a full-stack solution: a conversational Planning Architect (Prompt-to-Agent), a visual Workflow Builder, a built-in RAG pipeline, enterprise guardrails (PII + hallucination detection), multi-agent orchestration, voice agent support, and a real-time Control Plane — all with RBAC, audit logs, and OpenTelemetry observability baked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75488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16 API Modules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End-to-end coverage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2724912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34640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25 Frontend Pages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Full SPA experience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84064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93792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10 DB Tables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Relational + vector store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43216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52944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Zero ML Setup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52944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Prompt-to-agent in &lt;2 min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802368" y="3246120"/>
            <a:ext cx="2194560" cy="14630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912096" y="3383280"/>
            <a:ext cx="2011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606EF5"/>
                </a:solidFill>
              </a:rPr>
              <a:t>Enterprise 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12096" y="3977639"/>
            <a:ext cx="2011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RBAC · Audit · OTEL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377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0B981"/>
                </a:solidFill>
              </a:rPr>
              <a:t>Designed for Accenture | Delivered with Azure | Governed by Design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 We Solve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3035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🧩  Fragmented Tooling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Teams use disparate tools — LangChain, custom scripts, ad-hoc prompts — with no unified governance or reuse.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46227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⏱️  Slow Time-to-Agent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6227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Building, testing, and deploying even a simple RAG agent takes days of boilerplate coding and infra setup.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0058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94192" y="11430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🔓  No Enterprise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15361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 PII redaction, no hallucination checks, no audit trails — violating compliance and data privacy requirements.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3035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📉  Zero Observability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Once deployed, agents are black boxes. No tracing, no latency metrics, no ability to tune post-deployment.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6227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🔁  No Reusability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6227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Prompts, tools, and agent configs are siloed per project — no marketplace or shared blueprint library.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2834640"/>
            <a:ext cx="3657600" cy="16002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94192" y="29718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🗣️  No Voice/Multi-modal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94192" y="3364992"/>
            <a:ext cx="33832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Enterprises need voice-capable agents and multi-agent pipelines; existing DIY approaches lack this natively.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Platform Architecture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1005840"/>
            <a:ext cx="109728" cy="9144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05156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FRONTEND  (React 18 + Vite + TypeScript + TailwindCSS)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4173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Planning Architect · Agent Studio · Workflow Builder · RAG/KB · Playground · Voice · Safety · Evaluations · Control Plane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5740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2057400"/>
            <a:ext cx="109728" cy="9144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4360" y="210312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C3AED"/>
                </a:solidFill>
              </a:rPr>
              <a:t>API GATEWAY  (FastAPI 0.115 · JWT/RBAC · OpenTelemetry)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688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Auth · Agents · RAG · Tools · Builder · Simulation · Control Plane · Safety · Evaluations · Voice · Architect · Team · API Keys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310896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09728" cy="914400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315468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CORE ENGINE  (Python 3.12)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5204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· Multi-Agent Orchestrator · RAG Engine (FAISS + pgvector) · Guardrails (Presidio) · Simulation · Tool Registry · Telemetry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4160520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109728" cy="9144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420624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AI SERVICES  (Azure OpenAI)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572000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(gpt-5.4-mini) · GPT-5.4-mini (gpt-5.4-mini) · Embeddings · Azure AI Search · Azure Speech (STT/TTS)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212079"/>
            <a:ext cx="11338560" cy="9144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65760" y="5212079"/>
            <a:ext cx="109728" cy="9144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525779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DATA LAYER  (PostgreSQL 16 + pgvector + SQLAlchemy 2.0 async)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623559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users · agents · agent_versions · workflows · workflow_runs · knowledge_bases · documents · audit_logs · api_keys · voice_sessions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Core Feature Set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92608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🧠  Planning Architect (Prompt-to-Agent)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Conversational AI that converts a plain-English description into a complete agent stack — plan, agents, tools, DB schema.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273551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438143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🔧  Visual Workflow Builder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38143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Drag-and-drop canvas (React Flow) to wire manager + worker agents, tools, and conditions into pipelines. Full execution trace.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19088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📚  RAG Pipeline &amp; Knowledge Base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19088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Upload PDF/DOCX/TXT → chunked → FAISS + pgvector → semantic retrieval. Per-agent KB scoping with Azure AI Search fallback.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35440" y="96012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400032" y="109728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🛡️  Enterprise Guardrails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149047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PII redaction (Presidio — SSN, email, CC, phone) + hallucination detection on every agent response. Per-agent toggle.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2608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🤝  Multi-Agent Orchestration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Manager agent fans out to N worker agents concurrently. Aggregates results. Supports sequential &amp; parallel patterns.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73551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438143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🗣️  Voice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8143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Azure Speech STT → GPT-5.4-mini → Azure TTS pipeline. REST API for voice session management. Real-time audio I/O.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54496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19088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🧪  Simulation &amp; Evaluation Engine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Run test scenarios against agents before deployment. Score output quality. Compare versions. Regression test suite.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440" y="274320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400032" y="288036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🔒  RBAC &amp; API Key Management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00032" y="327355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Three roles: Admin · Developer · Viewer. Per-user JWT auth. Scoped API keys for programmatic agent invocation.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57200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Control Plane &amp; Observability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Live workflow status, modify running agents, pause/resume. OpenTelemetry traces + Azure Monitor + custom dashboards.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73551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438143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📝  Audit Logs &amp; Traceability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38143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Every agent action logged: user, action, resource, input/output snapshot, guardrail trigger, latency, trace ID.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54496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19088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🗂️  Prompt Library &amp; Blueprints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Curated prompt templates and reusable agent blueprints for common use cases (support, analytics, RAG Q&amp;A).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35440" y="4526280"/>
            <a:ext cx="2834640" cy="16642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400032" y="4663440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⚡  Architect Download Engine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5056632"/>
            <a:ext cx="256032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One-click export of deployable RAG Scaffold or Custom Code ZIP (React + FastAPI) — production-ready in minutes.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ROI &amp; Business Value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⚡ Time-to-Agent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85%↓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From weeks → &lt;2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converts NL description into full agent stack instantly — no boilerplate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0B981"/>
                </a:solidFill>
              </a:rPr>
              <a:t>💰 Dev Cost Savings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$18K+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~40 hrs/agent saved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Reusable blueprints, templates, and one-click ZIP export eliminate redundant engineering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10058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1155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59E0B"/>
                </a:solidFill>
              </a:rPr>
              <a:t>🔒 Compliance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5087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1031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Automated PII redaction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957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Presidio-powered guardrails eliminate manual data masking effort and audit findings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55F7"/>
                </a:solidFill>
              </a:rPr>
              <a:t>📈 Quality Uplift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Pre-deploy simulation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Test harness catches hallucinations and regressions before production — 3× fewer incidents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E79B2"/>
                </a:solidFill>
              </a:rPr>
              <a:t>🔁 Reuse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60%↑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Shared blueprint library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Marketplace of proven agent patterns reduces rebuild effort across teams and clients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063240"/>
            <a:ext cx="3657600" cy="1828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172968"/>
            <a:ext cx="3383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DC2626"/>
                </a:solidFill>
              </a:rPr>
              <a:t>📊 Observability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3566160"/>
            <a:ext cx="1371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16052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Full trace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4453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OTEL + Audit logs give L1 support full incident context — MTTR reduced by 70%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Competitive Landscape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74904" y="99669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Feature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360" y="960120"/>
            <a:ext cx="1792224" cy="329184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93522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9" name="Rectangle 8"/>
          <p:cNvSpPr/>
          <p:nvPr/>
        </p:nvSpPr>
        <p:spPr>
          <a:xfrm>
            <a:off x="4709160" y="96012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64024" y="99669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Lyzr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994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LangChain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18120" y="96012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872984" y="99669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Microsoft AutoGen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646920" y="96012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701784" y="99669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CrewAI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28930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74904" y="132588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Prompt-to-Agent (NL → Stack)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360" y="128930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293522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Full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09160" y="128930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64024" y="132588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508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994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18120" y="128930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872984" y="132588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46920" y="128930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701784" y="13258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161848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74904" y="165506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Visual Workflow Builder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161848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3522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09160" y="161848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764024" y="165506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994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818120" y="161848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872984" y="165506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46920" y="161848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701784" y="16550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194767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74904" y="198424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Built-in RAG Pipeline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194767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293522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709160" y="194767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764024" y="19842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994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DIY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818120" y="194767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872984" y="198424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646920" y="194767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701784" y="19842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227685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74904" y="231343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PII / Guardrails (Presidio)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880360" y="227685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293522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709160" y="227685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764024" y="231343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35508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0994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818120" y="227685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7872984" y="2313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646920" y="227685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9701784" y="231343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2606040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374904" y="264261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Hallucination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880360" y="260604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293522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709160" y="2606040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TextBox 69"/>
          <p:cNvSpPr txBox="1"/>
          <p:nvPr/>
        </p:nvSpPr>
        <p:spPr>
          <a:xfrm>
            <a:off x="4764024" y="264261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35508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40994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818120" y="2606040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7872984" y="26426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46920" y="2606040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TextBox 75"/>
          <p:cNvSpPr txBox="1"/>
          <p:nvPr/>
        </p:nvSpPr>
        <p:spPr>
          <a:xfrm>
            <a:off x="9701784" y="264261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2935224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374904" y="297180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Multi-Agent Orchestration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880360" y="293522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293522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709160" y="2935224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4764024" y="297180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35508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40994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7818120" y="2935224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7872984" y="29718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46920" y="2935224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9701784" y="29718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320040" y="3264408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TextBox 89"/>
          <p:cNvSpPr txBox="1"/>
          <p:nvPr/>
        </p:nvSpPr>
        <p:spPr>
          <a:xfrm>
            <a:off x="374904" y="330098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Voice Agent (STT/TTS)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880360" y="326440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293522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709160" y="3264408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4764024" y="330098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35508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TextBox 95"/>
          <p:cNvSpPr txBox="1"/>
          <p:nvPr/>
        </p:nvSpPr>
        <p:spPr>
          <a:xfrm>
            <a:off x="640994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7" name="Rectangle 96"/>
          <p:cNvSpPr/>
          <p:nvPr/>
        </p:nvSpPr>
        <p:spPr>
          <a:xfrm>
            <a:off x="7818120" y="3264408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7872984" y="330098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646920" y="3264408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TextBox 99"/>
          <p:cNvSpPr txBox="1"/>
          <p:nvPr/>
        </p:nvSpPr>
        <p:spPr>
          <a:xfrm>
            <a:off x="9701784" y="330098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20040" y="3593592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374904" y="363016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Control Plane (live modify)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880360" y="359359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4" name="TextBox 103"/>
          <p:cNvSpPr txBox="1"/>
          <p:nvPr/>
        </p:nvSpPr>
        <p:spPr>
          <a:xfrm>
            <a:off x="293522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709160" y="3593592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TextBox 105"/>
          <p:cNvSpPr txBox="1"/>
          <p:nvPr/>
        </p:nvSpPr>
        <p:spPr>
          <a:xfrm>
            <a:off x="4764024" y="363016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35508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40994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7818120" y="3593592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0" name="TextBox 109"/>
          <p:cNvSpPr txBox="1"/>
          <p:nvPr/>
        </p:nvSpPr>
        <p:spPr>
          <a:xfrm>
            <a:off x="7872984" y="363016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9646920" y="3593592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9701784" y="363016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320040" y="3922776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/>
          <p:cNvSpPr txBox="1"/>
          <p:nvPr/>
        </p:nvSpPr>
        <p:spPr>
          <a:xfrm>
            <a:off x="374904" y="395935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Audit Logs + RBAC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2880360" y="392277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TextBox 115"/>
          <p:cNvSpPr txBox="1"/>
          <p:nvPr/>
        </p:nvSpPr>
        <p:spPr>
          <a:xfrm>
            <a:off x="293522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709160" y="3922776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8" name="TextBox 117"/>
          <p:cNvSpPr txBox="1"/>
          <p:nvPr/>
        </p:nvSpPr>
        <p:spPr>
          <a:xfrm>
            <a:off x="4764024" y="395935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Partial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635508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TextBox 119"/>
          <p:cNvSpPr txBox="1"/>
          <p:nvPr/>
        </p:nvSpPr>
        <p:spPr>
          <a:xfrm>
            <a:off x="640994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7818120" y="3922776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7872984" y="395935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9646920" y="3922776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/>
          <p:nvPr/>
        </p:nvSpPr>
        <p:spPr>
          <a:xfrm>
            <a:off x="9701784" y="395935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20040" y="4251960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TextBox 125"/>
          <p:cNvSpPr txBox="1"/>
          <p:nvPr/>
        </p:nvSpPr>
        <p:spPr>
          <a:xfrm>
            <a:off x="374904" y="4288536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OpenTelemetry Observability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2880360" y="4251960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8" name="TextBox 127"/>
          <p:cNvSpPr txBox="1"/>
          <p:nvPr/>
        </p:nvSpPr>
        <p:spPr>
          <a:xfrm>
            <a:off x="293522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4709160" y="4251960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TextBox 129"/>
          <p:cNvSpPr txBox="1"/>
          <p:nvPr/>
        </p:nvSpPr>
        <p:spPr>
          <a:xfrm>
            <a:off x="4764024" y="4288536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35508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640994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818120" y="4251960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4" name="TextBox 133"/>
          <p:cNvSpPr txBox="1"/>
          <p:nvPr/>
        </p:nvSpPr>
        <p:spPr>
          <a:xfrm>
            <a:off x="7872984" y="428853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9646920" y="4251960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6" name="TextBox 135"/>
          <p:cNvSpPr txBox="1"/>
          <p:nvPr/>
        </p:nvSpPr>
        <p:spPr>
          <a:xfrm>
            <a:off x="9701784" y="428853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20040" y="4581144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374904" y="46177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One-click Deployable ZIP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2880360" y="4581144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0" name="TextBox 139"/>
          <p:cNvSpPr txBox="1"/>
          <p:nvPr/>
        </p:nvSpPr>
        <p:spPr>
          <a:xfrm>
            <a:off x="293522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4709160" y="4581144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2" name="TextBox 141"/>
          <p:cNvSpPr txBox="1"/>
          <p:nvPr/>
        </p:nvSpPr>
        <p:spPr>
          <a:xfrm>
            <a:off x="4764024" y="4617720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635508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4" name="TextBox 143"/>
          <p:cNvSpPr txBox="1"/>
          <p:nvPr/>
        </p:nvSpPr>
        <p:spPr>
          <a:xfrm>
            <a:off x="640994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818120" y="4581144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6" name="TextBox 145"/>
          <p:cNvSpPr txBox="1"/>
          <p:nvPr/>
        </p:nvSpPr>
        <p:spPr>
          <a:xfrm>
            <a:off x="7872984" y="461772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9646920" y="4581144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8" name="TextBox 147"/>
          <p:cNvSpPr txBox="1"/>
          <p:nvPr/>
        </p:nvSpPr>
        <p:spPr>
          <a:xfrm>
            <a:off x="9701784" y="46177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20040" y="4910328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0" name="TextBox 149"/>
          <p:cNvSpPr txBox="1"/>
          <p:nvPr/>
        </p:nvSpPr>
        <p:spPr>
          <a:xfrm>
            <a:off x="374904" y="4946904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Simulation / Eval Engine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2880360" y="4910328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2" name="TextBox 151"/>
          <p:cNvSpPr txBox="1"/>
          <p:nvPr/>
        </p:nvSpPr>
        <p:spPr>
          <a:xfrm>
            <a:off x="293522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4709160" y="4910328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4" name="TextBox 153"/>
          <p:cNvSpPr txBox="1"/>
          <p:nvPr/>
        </p:nvSpPr>
        <p:spPr>
          <a:xfrm>
            <a:off x="4764024" y="4946904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635508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6" name="TextBox 155"/>
          <p:cNvSpPr txBox="1"/>
          <p:nvPr/>
        </p:nvSpPr>
        <p:spPr>
          <a:xfrm>
            <a:off x="640994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7818120" y="4910328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8" name="TextBox 157"/>
          <p:cNvSpPr txBox="1"/>
          <p:nvPr/>
        </p:nvSpPr>
        <p:spPr>
          <a:xfrm>
            <a:off x="7872984" y="4946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59E0B"/>
                </a:solidFill>
              </a:rPr>
              <a:t>⚡ Basic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9646920" y="4910328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0" name="TextBox 159"/>
          <p:cNvSpPr txBox="1"/>
          <p:nvPr/>
        </p:nvSpPr>
        <p:spPr>
          <a:xfrm>
            <a:off x="9701784" y="494690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No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320040" y="5239512"/>
            <a:ext cx="25237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374904" y="5276088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Azure-native (no vendor lock)</a:t>
            </a:r>
          </a:p>
        </p:txBody>
      </p:sp>
      <p:sp>
        <p:nvSpPr>
          <p:cNvPr id="163" name="Rectangle 162"/>
          <p:cNvSpPr/>
          <p:nvPr/>
        </p:nvSpPr>
        <p:spPr>
          <a:xfrm>
            <a:off x="2880360" y="5239512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4" name="TextBox 163"/>
          <p:cNvSpPr txBox="1"/>
          <p:nvPr/>
        </p:nvSpPr>
        <p:spPr>
          <a:xfrm>
            <a:off x="293522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65" name="Rectangle 164"/>
          <p:cNvSpPr/>
          <p:nvPr/>
        </p:nvSpPr>
        <p:spPr>
          <a:xfrm>
            <a:off x="4709160" y="5239512"/>
            <a:ext cx="160934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6" name="TextBox 165"/>
          <p:cNvSpPr txBox="1"/>
          <p:nvPr/>
        </p:nvSpPr>
        <p:spPr>
          <a:xfrm>
            <a:off x="4764024" y="527608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OpenAI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635508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8" name="TextBox 167"/>
          <p:cNvSpPr txBox="1"/>
          <p:nvPr/>
        </p:nvSpPr>
        <p:spPr>
          <a:xfrm>
            <a:off x="640994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69" name="Rectangle 168"/>
          <p:cNvSpPr/>
          <p:nvPr/>
        </p:nvSpPr>
        <p:spPr>
          <a:xfrm>
            <a:off x="7818120" y="5239512"/>
            <a:ext cx="179222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0" name="TextBox 169"/>
          <p:cNvSpPr txBox="1"/>
          <p:nvPr/>
        </p:nvSpPr>
        <p:spPr>
          <a:xfrm>
            <a:off x="7872984" y="52760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Azure</a:t>
            </a:r>
          </a:p>
        </p:txBody>
      </p:sp>
      <p:sp>
        <p:nvSpPr>
          <p:cNvPr id="171" name="Rectangle 170"/>
          <p:cNvSpPr/>
          <p:nvPr/>
        </p:nvSpPr>
        <p:spPr>
          <a:xfrm>
            <a:off x="9646920" y="5239512"/>
            <a:ext cx="1426464" cy="32918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2" name="TextBox 171"/>
          <p:cNvSpPr txBox="1"/>
          <p:nvPr/>
        </p:nvSpPr>
        <p:spPr>
          <a:xfrm>
            <a:off x="9701784" y="5276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Mix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320040" y="5568696"/>
            <a:ext cx="25237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4" name="TextBox 173"/>
          <p:cNvSpPr txBox="1"/>
          <p:nvPr/>
        </p:nvSpPr>
        <p:spPr>
          <a:xfrm>
            <a:off x="374904" y="5605272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On-prem / Private Deployment</a:t>
            </a:r>
          </a:p>
        </p:txBody>
      </p:sp>
      <p:sp>
        <p:nvSpPr>
          <p:cNvPr id="175" name="Rectangle 174"/>
          <p:cNvSpPr/>
          <p:nvPr/>
        </p:nvSpPr>
        <p:spPr>
          <a:xfrm>
            <a:off x="2880360" y="5568696"/>
            <a:ext cx="1792224" cy="329184"/>
          </a:xfrm>
          <a:prstGeom prst="rect">
            <a:avLst/>
          </a:prstGeom>
          <a:solidFill>
            <a:srgbClr val="1A30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6" name="TextBox 175"/>
          <p:cNvSpPr txBox="1"/>
          <p:nvPr/>
        </p:nvSpPr>
        <p:spPr>
          <a:xfrm>
            <a:off x="293522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77" name="Rectangle 176"/>
          <p:cNvSpPr/>
          <p:nvPr/>
        </p:nvSpPr>
        <p:spPr>
          <a:xfrm>
            <a:off x="4709160" y="5568696"/>
            <a:ext cx="160934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4764024" y="5605272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EF4444"/>
                </a:solidFill>
              </a:rPr>
              <a:t>❌ SaaS</a:t>
            </a:r>
          </a:p>
        </p:txBody>
      </p:sp>
      <p:sp>
        <p:nvSpPr>
          <p:cNvPr id="179" name="Rectangle 178"/>
          <p:cNvSpPr/>
          <p:nvPr/>
        </p:nvSpPr>
        <p:spPr>
          <a:xfrm>
            <a:off x="635508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0" name="TextBox 179"/>
          <p:cNvSpPr txBox="1"/>
          <p:nvPr/>
        </p:nvSpPr>
        <p:spPr>
          <a:xfrm>
            <a:off x="640994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1" name="Rectangle 180"/>
          <p:cNvSpPr/>
          <p:nvPr/>
        </p:nvSpPr>
        <p:spPr>
          <a:xfrm>
            <a:off x="7818120" y="5568696"/>
            <a:ext cx="179222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7872984" y="56052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3" name="Rectangle 182"/>
          <p:cNvSpPr/>
          <p:nvPr/>
        </p:nvSpPr>
        <p:spPr>
          <a:xfrm>
            <a:off x="9646920" y="5568696"/>
            <a:ext cx="1426464" cy="329184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4" name="TextBox 183"/>
          <p:cNvSpPr txBox="1"/>
          <p:nvPr/>
        </p:nvSpPr>
        <p:spPr>
          <a:xfrm>
            <a:off x="9701784" y="56052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10B981"/>
                </a:solidFill>
              </a:rPr>
              <a:t>✅ Yes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Leadership Narrative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0584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05156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🎯 Strategic Alignment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44475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AgentForge directly advances Accenture's AI-first mandate by creating a reusable internal platform that accelerates client delivery of AI agents. Every engagement that uses AgentForge compresses delivery timelines by 60–85%, improving margin and client NPS simultaneously.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3172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94360" y="23774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🏆 Competitive Differentiation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7063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No competitor today combines Prompt-to-Agent generation, built-in enterprise guardrails (PII+hallucination), voice agents, and a full observability stack in a single deployable platform. AgentForge positions Accenture as the go-to partner for enterprise-grade AI agent deployments.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657600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94360" y="3703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💼 Client Value Proposition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09651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Clients receive a production-ready, governable AI agent platform aligned with their Azure investment. They get faster innovation cycles, lower risk (compliance-ready guardrails), and full transparency (audit logs, OTEL) — without needing to build internal AI infrastructure from scratch.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983479"/>
            <a:ext cx="73152" cy="11430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502919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🌱 Platform Network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422391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The Blueprints Marketplace creates a virtuous cycle: every agent built on AgentForge adds to the shared library, reducing future build cost. Over 24 months this compounds into a proprietary IP moat for Accenture's AI practice.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KPIs &amp; Success Metrics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5760" y="960120"/>
            <a:ext cx="5669280" cy="38404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📐 Platform Adoption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Active Users / Month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50+ developers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Auth login events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Agents Created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200+ agents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agents table count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Projects / Blueprints Saved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06EF5"/>
                </a:solidFill>
              </a:rPr>
              <a:t>Target: 100+ projects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workflows 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96012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309360" y="960120"/>
            <a:ext cx="5669280" cy="38404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46520" y="101498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⚡ Developer 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43560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Time-to-First-Agent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0" y="143560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&lt;5 minutes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143560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Architect session duration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20756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ZIP Downloads / Week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0756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20+/week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0756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buildSourceZip calls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7157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Simulation Pass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27157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10B981"/>
                </a:solidFill>
              </a:rPr>
              <a:t>Target: &gt;90%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24160" y="27157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simulation.status=passed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65760" y="3657600"/>
            <a:ext cx="56692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029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🛡️ Governance &amp; 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PII Triggers / 1000 calls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346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&lt;5 incidents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guardrail_triggered=true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Hallucination Rate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8346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&lt;2%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hallucination_triggered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Audit Log Coverage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34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59E0B"/>
                </a:solidFill>
              </a:rPr>
              <a:t>Target: 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805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audit_logs completeness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09360" y="3657600"/>
            <a:ext cx="5669280" cy="246888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309360" y="3657600"/>
            <a:ext cx="5669280" cy="38404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46520" y="3712464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📊 Reliability &amp; Perf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41330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API P95 Latency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13308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&lt;800ms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413308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OTEL latency histograms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46520" y="477316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Workflow Success Rate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773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&gt;98%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24160" y="477316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workflow_runs status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5413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CBD5E1"/>
                </a:solidFill>
              </a:rPr>
              <a:t>• System Uptime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7782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55F7"/>
                </a:solidFill>
              </a:rPr>
              <a:t>Target: 99.9%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24160" y="5413248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</a:rPr>
              <a:t>Track: health endpoint + OTEL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Database Schema (PostgreSQL 16 + pgvector)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3749039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users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email (unique)  ·  hashed_password  ·  full_name
  ·  role (admin|developer|viewer)  ·  is_active  ·  created_at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59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251959" y="960120"/>
            <a:ext cx="3749039" cy="34747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43399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399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system_prompt
  ·  model (gpt-5.4-mini)  ·  tools (JSON)  ·  guardrails (JSON)  ·  created_by (FK→users)  ·  agent_type  ·  current_version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83879" y="96012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183879" y="960120"/>
            <a:ext cx="3749039" cy="347472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75319" y="99669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agent_versions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19" y="134416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version (int)  ·  snapshot (JSON)
  ·  created_at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20040" y="2468880"/>
            <a:ext cx="3749039" cy="3474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11480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nodes (JSON)
  ·  edges (JSON)  ·  created_by (FK→users)  ·  created_at  ·  updated_at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251959" y="2468880"/>
            <a:ext cx="3749039" cy="34747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43399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workflow_runs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43399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workflow_id (FK→workflows)  ·  trigger_input  ·  final_output
  ·  status  ·  node_logs (JSON)  ·  total_duration_ms  ·  triggered_at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79" y="2468880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183879" y="2468880"/>
            <a:ext cx="3749039" cy="347472"/>
          </a:xfrm>
          <a:prstGeom prst="rect">
            <a:avLst/>
          </a:prstGeom>
          <a:solidFill>
            <a:srgbClr val="0E79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275319" y="2505456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knowledge_bases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852928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description  ·  agent_id (FK→agents)
  ·  created_by  ·  created_at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20040" y="3977639"/>
            <a:ext cx="3749039" cy="347472"/>
          </a:xfrm>
          <a:prstGeom prst="rect">
            <a:avLst/>
          </a:prstGeom>
          <a:solidFill>
            <a:srgbClr val="06B6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11480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documents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kb_id (FK→knowledge_bases)  ·  filename  ·  content (TEXT)
  ·  chunk_count  ·  status (processing|ready)  ·  created_at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51959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251959" y="3977639"/>
            <a:ext cx="3749039" cy="347472"/>
          </a:xfrm>
          <a:prstGeom prst="rect">
            <a:avLst/>
          </a:prstGeom>
          <a:solidFill>
            <a:srgbClr val="F43F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4343399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audit_logs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43399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user_id  ·  action  ·  resource_type
  ·  resource_id  ·  input_snapshot (JSON)  ·  output_snapshot (JSON)  ·  guardrail_triggered  ·  latency_ms  ·  trace_id  ·  created_at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83879" y="397763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183879" y="3977639"/>
            <a:ext cx="3749039" cy="347472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275319" y="401421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api_keys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36168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name  ·  key_prefix  ·  hashed_key
  ·  user_id (FK→users)  ·  is_active  ·  created_at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486399"/>
            <a:ext cx="3749039" cy="1371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320040" y="5486399"/>
            <a:ext cx="3749039" cy="347472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11480" y="5522975"/>
            <a:ext cx="361187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⬛ voice_sessions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870447"/>
            <a:ext cx="36118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id (PK)  ·  agent_id (FK→agents)  ·  user_id  ·  transcript (JSON)
  ·  status  ·  created_at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29768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🖥️ 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18.3 + Vite 5 + TypeScript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TailwindCSS 3 (utility-first styling)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 Flow (visual workflow canvas)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TanStack Query v4 (server state)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Lucide React (icon system)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react-hot-toast (notifications)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Axios (API client)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92424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⚙️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92424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FastAPI 0.115 + Uvicorn (ASGI)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92424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 3.12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424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SQLAlchemy 2.0 (async ORM)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2424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Alembic (migrations)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2424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Pydantic v2 (validation)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2424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python-jose (JWT auth)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92424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passlib + bcrypt (password hashing)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55080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🤖 AI / ML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OpenAI GPT-5.4-mini + GPT-5.4-mini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LangChain 0.3 + LangChain-OpenAI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OpenAI SDK 1.84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FAISS (vector similarity)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pgvector 0.3 (PostgreSQL vectors)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55080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Presidio (PII detection/anonymization)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AI Search (enterprise RAG)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572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317736" y="1005840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🗄️ Data &amp; Infra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17736" y="150876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PostgreSQL 16 + pgvector extension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7736" y="213055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asyncpg (async DB driver)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17736" y="2752344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Docker + Docker Compose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17736" y="3374136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Speech (STT + TTS)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17736" y="3995928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OpenTelemetry (traces + metrics)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17736" y="4617720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Azure Monitor (OTEL exporter)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7736" y="5239512"/>
            <a:ext cx="26517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▸ pypdf + python-docx (doc parsing)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API Module Map  (16 Routers · FastAPI)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/api/auth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02412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JWT login, register, me endpoint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636776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/api/agents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700784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CRUD agents, versions, tools, guardrails config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231343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37744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Knowledge bases, document upload &amp; chunking, semantic search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990087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3054095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Tool registry — list, register, invoke native tools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666744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5720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/api/builder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730752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Visual workflow save/load/run (nodes + edges)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343400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/api/simulation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4407408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Run agent test scenarios, score outputs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5020055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/api/architect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5084063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Prompt-to-Agent generation, ZIP export (RAG Scaffold &amp; Custom Code)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5696712"/>
            <a:ext cx="576072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720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06EF5"/>
                </a:solidFill>
              </a:rPr>
              <a:t>/api/control-plane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576072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Live agent status, patch, pause, resume running workflows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55080" y="96012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92240" y="102412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/api/safety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78240" y="102412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Guardrail policy configuration per 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55080" y="1636776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1700784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/api/evaluations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1700784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Batch evaluation runs, scoring metrics, version comparison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231343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92240" y="23774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/api/voice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78240" y="23774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Voice session management, STT→LLM→TTS pipeline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55080" y="2990087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492240" y="3054095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/api/api-keys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78240" y="3054095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Issue, list, revoke programmatic API keys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355080" y="3666744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92240" y="3730752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3730752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User invite, role assignment, team management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4343400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92240" y="4407408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/api/audit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4407408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Query audit logs, filter by user/action/resource/date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355080" y="5020055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92240" y="5084063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/api/telemetry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5084063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OpenTelemetry trace ingestion (OTLP/HTTP)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355080" y="5696712"/>
            <a:ext cx="5486400" cy="5943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6492240" y="576072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0B981"/>
                </a:solidFill>
              </a:rPr>
              <a:t>/api/health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778240" y="57607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Health check endpoint for load balancers and Kubernetes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Frontend Page Map  (25 Pages · React SPA)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🏠 Home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Landing, quick actions, recent activity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3282696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374136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🧠 Planning Architect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Conversational prompt-to-agent, session history, plan/agents/app/db tabs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5352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336792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🔧 Agent Studio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25512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Create, edit, test, deploy, publish agents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08008" y="96012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299448" y="98755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📐 Workflow Builder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88168" y="101498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React Flow drag-drop canvas, node config, trigger &amp; run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11480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📚 Knowledge Bases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Create KB, upload docs, view chunk status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82696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374136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🎮 Playground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2856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Interactive agent testing with streaming responses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45352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36792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🧪 Evaluations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Batch test runs, scoring, version comparison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08008" y="156362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299448" y="159105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🔒 Safety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88168" y="161848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Guardrail policies per agent, PII/hallucination config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11480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📊 Usage &amp; Traceability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00200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Audit log viewer, latency stats, filter by action/agent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82696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374136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🌐 Control Plane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62856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Live platform stats — agents, runs, guardrail triggers, avg latency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45352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36792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🔭 Workflow Observability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525512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Per-run execution trace, "Awaiting Approval" tracking, Review link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08008" y="2167128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299448" y="2194560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✅ Approval Page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88168" y="2221992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Review a paused run's context, Approve/Reject to resume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11480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🗣️ Voice Agents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Voice session management, STT/TTS config, audio test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82696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374136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🗂️ Blueprints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62856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Reusable agent blueprints library, clone to project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52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336792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📝 Prompt Library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25512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Curated prompts across 10 domains, search, copy-to-agent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08008" y="2770632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9299448" y="2798064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💡 What Should I Build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8" y="2825496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AI-guided project ideation based on use-case description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0040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411480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🗺️ My Projects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00200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 cards, download ZIP, open in Architect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82696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374136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🌍 Published Projects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62856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Published agents visible to org members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45352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336792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🤝 Shared Projects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25512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Projects shared with you across the org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208008" y="3374136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299448" y="3401568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🛒 Marketplace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488168" y="3429000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Community agent templates — import &amp; customise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411480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🔑 API Keys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600200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Generate, list, revoke programmatic keys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82696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374136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👥 Team Members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62856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Invite, assign roles, deactivate users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5352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6336792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📅 Agent Versions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25512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Version history, diff, rollback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9208008" y="3977640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9299448" y="4005072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👤 Profile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488168" y="4032504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User profile, password change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20040" y="4581144"/>
            <a:ext cx="2798064" cy="548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411480" y="4608576"/>
            <a:ext cx="118872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606EF5"/>
                </a:solidFill>
              </a:rPr>
              <a:t>⚙️ Settings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600200" y="4636008"/>
            <a:ext cx="142646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CBD5E1"/>
                </a:solidFill>
              </a:rPr>
              <a:t>Org settings, Azure config, notification prefs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1: Prerequisites &amp; Backend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📋  Prerequisites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61872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Python 3.12+  ·  Node.js 20+ &amp; npm  ·  PostgreSQL 16  ·  Git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pgvector extension: CREATE EXTENSION IF NOT EXISTS vector;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847088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Azure OpenAI resource with gpt-5.4-mini + gpt-5.4-mini deployments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139696"/>
            <a:ext cx="11155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  Optional: Azure Speech, Azure AI Search, Azure 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487168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0B981"/>
                </a:solidFill>
              </a:rPr>
              <a:t>⚙️  Backend Setup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91693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91693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Clone &amp; enter backend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88036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git clone &lt;repo&gt;  &amp;&amp;  cd AgentForge/backend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52958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352958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virtual environment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493008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python -m venv venv  &amp;&amp;  .\venv\Scripts\activate  (Windows)
source venv/bin/activate  (Mac/Linux)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41422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14223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dependencies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105656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pip install -r requirements.txt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75488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" y="475488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Configure environment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18304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Copy .env.example → .env
Set: AZURE_OPENAI_ENDPOINT, AZURE_OPENAI_API_KEY,
     AZURE_OPENAI_DEPLOYMENT_GPT4O=gpt-5.4-mini,
     DATABASE_URL=postgresql+asyncpg://postgres:postgres@localhost:5432/agentforge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536752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" y="536752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Create database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330952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createdb agentforge  (PostgreSQL CLI)
psql -d agentforge -c 'CREATE EXTENSION IF NOT EXISTS vector;'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59801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598017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Run the API server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943600"/>
            <a:ext cx="8412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uvicorn app.main:app --reload --port 8000
✅  API: http://localhost:8000
✅  Swagger: http://localhost:8000/docs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Developer Setup Guide  — Part 2: Frontend, Ports &amp; Verification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🖥️  Frontend Setup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62456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36245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36245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Enter frontend dir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1325880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cd AgentForge/frontend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20824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02082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02082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Install packages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984248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install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79191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2679191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2679191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Start dev server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42615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npm run dev
✅  Frontend: http://localhost:5173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37560"/>
            <a:ext cx="292608" cy="292608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33375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33756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Login credentials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300984"/>
            <a:ext cx="84124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6EFAC"/>
                </a:solidFill>
              </a:rPr>
              <a:t>Admin: admin@agentforge.io / admin123
(seeded automatically on first startup)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6576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🔌  Port Assignment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411480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416052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416052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Backend (FastAPI)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416052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Main API, Swagger at /docs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AgentForge Frontend (Vite)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React SPA dev server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Backend (downloaded ZIP)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/api/chat, /api/documents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8002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Backend (downloaded ZIP)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Routes: /api/ask-question, /api/upload-document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RAG Scaffold Frontend (downloaded ZIP)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5177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Custom Code Frontend (downloaded ZIP)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npm run dev in extracted folder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0"/>
            <a:ext cx="11521440" cy="38404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57200" y="0"/>
            <a:ext cx="6400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</a:rPr>
              <a:t>4318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88720" y="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OpenTelemetry OTLP/HTTP (optional)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0"/>
            <a:ext cx="5303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BD5E1"/>
                </a:solidFill>
              </a:rPr>
              <a:t>Jaeger / Grafana OTEL collector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Planning Architect — Prompt-to-Agent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User describes use case in plain English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e.g. 'Build a policy analysis agent that ingests company documents and answers compliance questions'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GPT-5.4-mini generates full project 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Architecture · Tech stack · Agent configs · Tool list · DB schema · Security considerations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7200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Agents tab — agent cards generated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Each agent gets: name, type, model, system prompt, tools list, guardrails config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521208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534924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321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App tab — live sandbox preview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80644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Interactive 3-panel chat UI rendered immediately: left sidebar (docs), main chat, right panel (KB stats)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9359" y="96012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46519" y="109728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03719" y="106984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RAG Scaffold ZIP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19" y="155448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Complete React + FastAPI project using /api/chat + /api/documents routes → proxy target port 8001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59" y="237744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19" y="251460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19" y="248716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Download Custom Code ZIP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46519" y="297180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GPT-5.4-mini generates bespoke App.tsx → renderMarkdown + /api/ask-question + /api/upload-document → port 8002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09359" y="3794760"/>
            <a:ext cx="5760720" cy="12801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46519" y="3931920"/>
            <a:ext cx="3474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19" y="390448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Database tab — entity diagram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46519" y="4389120"/>
            <a:ext cx="5486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matching the planned agent's data requirements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Guardrails &amp; Safety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201168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User Input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77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97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Guardrails Check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983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PII Redaction
(Presidio)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0" y="1097280"/>
            <a:ext cx="201168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69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Hallucination
Detection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32588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606EF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509760" y="1097280"/>
            <a:ext cx="201168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555480" y="1143000"/>
            <a:ext cx="19202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Agent Response
(Sanitized)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20040" y="2194560"/>
            <a:ext cx="3749039" cy="4114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29768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🔍 PII Entities Detected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EMAIL_ADDRESS — e.g. john@example.com → &lt;EMAIL&gt;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PHONE_NUMBER — e.g. 555-123-4567 → &lt;PHONE_NUMBER&gt;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PERSON — named entity recognition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CREDIT_CARD — 16-digit card patterns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US_SSN — Social Security Numbers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Powered by Microsoft Presidio Analyzer + Anonymizer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7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297679" y="2194560"/>
            <a:ext cx="3749039" cy="41148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0740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⚠️ Hallucination Phrases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Uncertainty phrase matching on agent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'I'm not sure but', 'I think maybe'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cannot verify', 'it might be'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Triggers: 'I believe but I'm not certain'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0740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Result: flagged in audit log + response annotated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Per-agent enable/disable via guardrails config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75319" y="2194560"/>
            <a:ext cx="3749039" cy="41148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8275319" y="2194560"/>
            <a:ext cx="3749039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385047" y="224942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📋 Audit Trail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85047" y="270662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Every guardrail trigger logged to audit_logs table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5047" y="3282696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Fields: guardrail_triggered (bool), trace_id, latency_ms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5047" y="3858768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Searchable via /api/audit with filter params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85047" y="44348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Exportable for compliance reporting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7" y="5010912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OpenTelemetry span attributes: pii_triggered, hallucination_triggered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85047" y="5586984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• Zero-trust: logs never omitted even on error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Product Roadmap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2834640" cy="47548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11480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✅ Phase 1 — Complete  (Q1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Core platform: Auth + RBAC + Agent CRUD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Azure OpenAI integration (GPT-5.4-mini + GPT-5.4-mini)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RAG pipeline (FAISS + pgvector)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Guardrails engine (PII + hallucination)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Multi-agent orchestrator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Planning Architect (Prompt-to-Agent + ZIP export)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OpenTelemetry observability + Audit logs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82696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82696" y="960120"/>
            <a:ext cx="2834640" cy="47548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374136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🚀 Phase 2 — In Progress  (Q2–Q3 2026)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4136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Visual Workflow Builder (React Flow canvas)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4136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Simulation &amp; Evaluation engine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4136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Voice Agent pipeline (Azure Speech STT/TTS)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74136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Safety policy configuration UI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74136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Blueprints Marketplace (shared templates)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74136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Team/API keys · Custom Code production-readiness hardening (tests, CI/CD, migrations, auth, SSRF)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74136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Control Plane (live agent modification) + Local LLM support (LM Studio, per-agent)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45352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245352" y="960120"/>
            <a:ext cx="2834640" cy="475488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36792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🔮 Phase 3 — Planned  (Q4 2026)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Multi-modal agents (image + document input)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Agent-to-Agent collaboration (A2A protocol)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Kubernetes Helm chart deployment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SSO / Azure AD integration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Fine-tuning pipeline for domain adaptation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Cost analytics per agent (token usage billing)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36792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Agent performance benchmarking dashboard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208008" y="960120"/>
            <a:ext cx="2834640" cy="530352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208008" y="960120"/>
            <a:ext cx="2834640" cy="475488"/>
          </a:xfrm>
          <a:prstGeom prst="rect">
            <a:avLst/>
          </a:prstGeom>
          <a:solidFill>
            <a:srgbClr val="FDBA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299448" y="100584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</a:rPr>
              <a:t>💡 Phase 4 — Vision  (2027+)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99448" y="153619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Autonomous agent self-improvement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215798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Cross-org agent marketplace with licensing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9448" y="2779776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Real-time multi-agent collaboration canvas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99448" y="3401568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Regulatory compliance packs (HIPAA, GDPR, SOC2)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299448" y="402336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Edge deployment (on-device agents)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99448" y="4645152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Federated learning for privacy-preserving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99448" y="5266944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▸ GenAI Operations (GenAIOps) full lifecycle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Enterprise Hardening Pass — What Changed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The Architect (Prompt-to-Agent) flow was taken from a working prototype to a production-grade generator through five focused workstreams — each independently designed, implemented, live-tested against real Azure OpenAI calls, and code-reviewed.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🎯  Domain-Aware Generation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Expanded from 2 hardcoded app types to 10 real domains (HR, Sales, Legal, Support, Marketing, Dev Tool, Analyst, Data, Chatbot, Custom) — each with its own enterprise-grade layout, labels, and 46 upgraded multi-agent prompts.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📊  Real Data, Not Fabricated Demos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 previews and downloadable Custom Code now seed dashboards/tables from real uploaded sample data (CSV/Excel) instead of GPT-4o inventing plausible-looking numbers — verified exact-match against source files.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🗄️  Enterprise Layers 3–5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PostgreSQL schema + migrations on first run · OpenTelemetry tracing on every LLM call · an AI-scored feedback loop that few-shots top-rated plans back into future generations.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🔐  Real SSO Integration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Azure AD / Entra ID keyword-detected from the plan → genuine JWT-validation middleware (JWKS, aud/iss/exp checks) + real MSAL frontend login in the Custom Code ZIP, gated by an SSO_ENABLED toggle for local dev.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📁  Real File Upload Parsing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Sandbox: real client-side CSV/XLSX parsing (no fake success toasts). Custom Code backend: real PDF (PyPDF2) and DOCX (python-docx) extraction, closing a gap where both libraries were required but never used.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Domain-Aware Generation Across 10 Categories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General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651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Marketing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937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Legal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509760" y="91440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HR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651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Productivity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937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Development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223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Analysts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1508760"/>
            <a:ext cx="2194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Data &amp;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2240280"/>
            <a:ext cx="113385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Each domain gets its own enterprise-standard layout (correct sidebar labels, KPI tiles, charts) instead of a generic one-size-fits-all template — 46 Prompt Library prompts upgraded to multi-agent specs with a matching realistic sample data file per prompt.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30175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59E0B"/>
                </a:solidFill>
              </a:rPr>
              <a:t>Before → After: Real Data Seeding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65760" y="3429000"/>
            <a:ext cx="5577840" cy="41148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0292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❌ Before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128" — a fabricated round number,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unrelated to the real uploaded contract data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"Outlook Reminders Sent: 12" — invented for every render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Same issue in the Custom Code ZIP's seed data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3429000"/>
            <a:ext cx="5577840" cy="265176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172200" y="3429000"/>
            <a:ext cx="5577840" cy="4114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309360" y="3474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✅ After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397763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"Contracts in Review: 4" · "High Risk: 3" — verified exact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448055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match against the real 10-row sample CSV's actual 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983479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"Total contract value: $9,579,000" — sum of real value_usd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4864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column, byte-for-byte traceable to the uploaded file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Enterprise Layers 3–5: DB · Observability · AI Reinforcement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1005840"/>
            <a:ext cx="3703320" cy="5029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🗄️  Layer 3 — DB Auto-Setup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Domain-specific PostgreSQL schema (db/init.sql)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auto-generated for each of the 10 app domains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Idempotent run_migrations.py runs on first backend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startup — no manual DB scripting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97096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97096" y="1005840"/>
            <a:ext cx="3703320" cy="5029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34256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📡  Layer 4 — OpenTelemetry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6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Every LLM call (KB extraction, UI generation,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34256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frontend/backend generation) wrapped in a real span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34256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telemetry.py + docker-compose.jaeger.yml auto-injected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34256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into every downloaded Custom Code ZIP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74152" y="1005840"/>
            <a:ext cx="3703320" cy="42062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074152" y="1005840"/>
            <a:ext cx="370332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11312" y="10972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🔁  Layer 5 — AI Reinforcement Loop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1691640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👍 / 👎 feedback widget on every generated 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11312" y="2258568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GPT-4o self-scores plans across 5 quality dimensions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825496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Top-rated plans few-shot-injected into future generation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2" y="3392424"/>
            <a:ext cx="3474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prompts — the system improves from its own best 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44068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All three layers were verified live: real docker-compose migrations, real span data visible in a tracing backend, and a real thumbs-up → /feedback → /feedback/top → few-shot round-trip.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FFFFFF"/>
                </a:solidFill>
              </a:rPr>
              <a:t>Real SSO Integration &amp; Real File Upload Parsing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20040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20040" y="960120"/>
            <a:ext cx="5577840" cy="45720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🔐 Real SSO 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Plan answers like "Internal enterprise app with SSO" used to
only affect descriptive text — zero real auth code was generated
Now: keyword-detected from the plan summary (same pattern as
domain detection) → triggers a real backend + frontend scaffold:
• backend/app/auth/sso.py — real JWT validation via Azure AD's
  JWKS endpoint, checks aud/iss/exp, python-jose
• src/auth/msalConfig.ts + useAuth.ts — real @azure/msal-browser
  login flow, attaches real Bearer tokens to API calls
• SSO_ENABLED=false by default — app still runs locally without
  a real Azure AD tenant; flip to true once configured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960120"/>
            <a:ext cx="5577840" cy="512064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126479" y="960120"/>
            <a:ext cx="5577840" cy="4572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63639" y="10241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📁 Real File Upload Parsing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39" y="1508760"/>
            <a:ext cx="5349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Upload buttons in both the sandbox and downloaded backend were
decorative — a canned success toast regardless of what was picked
Now — Sandbox (client-side, no backend):
• Real &lt;input type="file"&gt; + FileReader + the already-loaded
  SheetJS library — genuine CSV/XLSX parsing, real row preview
Now — Custom Code backend (real Python):
• PyPDF2 for real PDF text extraction, python-docx for real DOCX
• Forbids the "decode raw bytes as UTF-8" anti-pattern found
  live in a custom-named ingest endpoint — would have corrupted
  any real PDF/DOCX upload into garbage 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Hardening ROI — Risk &amp; Rework Avoided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🎭 Demo Credibility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Fabricated → real dashboard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Client-facing demos now show numbers traceable to real uploaded data, eliminating a
credibility risk when a stakeholder cross-checks a KPI against source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🔓 Security Exposure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SSO answer → real auth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Closes a real gap where an "Enterprise app with SSO" answer previously shipped zero
authentication code — a downloaded project would have been deployed wide open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📉 Data-Corruption Risk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PDF/DOCX handling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Forbids a found anti-pattern (raw UTF-8 decode on binary files) that would silently
corrupt any real PDF/DOCX contract, resume, or document a user actually uploads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🧪 Escaped Defects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Found via live testing, not assumed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Nine real bugs (session pollution, stale feedback state, false-positive SSO detection,
env-file clobbering, and more) caught by regenerating real apps end-to-end, not just code review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🌐 Domain Coverage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5×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2 hardcoded types → 10 real domains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Prompt Library category now gets a correct, enterprise-appropriate layout instead
of a generic template mismatched to the actual business domain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🔁 Continuous Improvement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∞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Manual tuning → self-scoring loop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The AI reinforcement loop means generation quality compounds over time from real
usage feedback, instead of staying frozen at whatever quality shipped on day one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3385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Visual Workflow Builder — Conditional Logic, Routing &amp; Integrations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4124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A real decision-making execution engine — not just a flowchart. Every branch below genuinely changes which nodes run, verified against live Azure OpenAI runs.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84632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❓  Condition Nodes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Rule (e.g. "days &lt;= 2") evaluated safely via simpleeval — never Python's eval() — against variables an LLM extracts from the running text. Only the matching true/false branch executes; the other is fully skipped, including convergent downstream nodes.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79" y="1371600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291071" y="1508760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🔀  Router Nodes — Real Branching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1" y="1901952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router's LLM decision is classified against its labeled outgoing edges (e.g. "Fast"/"Deep") and only ONE branch runs — replacing the previous behavior where every downstream node executed regardless of the routing decision.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4632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✉️  Human-in-the-Loop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An approval node genuinely pauses the pipeline, sends a real email via SMTP, and exposes a dedicated /approvals/{run_id} page where a reviewer can Approve or Reject — resuming execution from exactly where it paused.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2670048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91071" y="2807208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🌐  HTTP Request Node — Outbound API Calls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1071" y="3200400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New node type: configurable method (GET/POST/PUT/PATCH/DELETE), URL, JSON headers and body, with a {{input}} placeholder to inject the previous node's output — giving workflows real external-API integration for the first time.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84632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🐍  Faithful Python Export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"Export Code" now generates a script that ports the exact same topological sort, condition/approval/router/http_request logic as the live engine — not a flat linear stub — plus an optional --openai flag to run it against a real LLM.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79" y="3968496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291071" y="4105656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📄  Export / Import 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91071" y="4498848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A lossless, round-trippable workflow backup format — separate from the one-way Python export — with a genuine "browse and load" file picker to restore a canvas exactly as it was, verified after a full wipe-and-reload cycle.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84632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📊  Workflow Runs — Approval Tracking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The observability dashboard now surfaces an "Awaiting Approval" count and a direct "Review →" link on paused runs — closing a gap where there was previously no in-app path to the approval screen at all.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79" y="5266944"/>
            <a:ext cx="5623560" cy="1207008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291071" y="5404104"/>
            <a:ext cx="5349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606EF5"/>
                </a:solidFill>
              </a:rPr>
              <a:t>🎨  Execution-State Visualization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1071" y="5797296"/>
            <a:ext cx="53492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CBD5E1"/>
                </a:solidFill>
              </a:rPr>
              <a:t>Nodes now genuinely pulse amber while running and turn green on completion — the color-coding logic existed in code but was never actually wired to canvas-created nodes until this pass; idle edges are blue, executed edges turn green.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</a:rPr>
              <a:t>Known Limitations &amp; Next Hardening Targets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CBD5E1"/>
                </a:solidFill>
              </a:rPr>
              <a:t>Shipping fast means shipping honestly. These are confirmed, currently-open gaps — not hypothetical risks — found and verified during this build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🔧  Agent Studio Tools Are Not Wired to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tool checkboxes on an Agent (Slack, GitHub, Jira, Google Drive, web search, calculator) are saved to the database but never read at runtime — checking a box today has zero effect. No LLM function/tool-calling is implemented anywhere in the platform yet.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0B981"/>
                </a:solidFill>
              </a:rPr>
              <a:t>✅  RESOLVED — HTTP Request Node Now Has SSRF Guardrails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_assert_ssrf_safe_url() now resolves the target hostname and blocks private/loopback/link-local/reserved/multicast IPs and the 169.254.169.254 cloud metadata endpoint before any outbound call fires — closing the gap flagged in the previous review cycle.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⏰  JWT Sessions Expire Without Silent Refresh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8-hour token lifetime has no refresh flow — long sessions eventually fail with a raw "Invalid token" error on any authenticated action until the user logs in again. A refresh-token flow would remove this rough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0B981"/>
                </a:solidFill>
              </a:rPr>
              <a:t>✅  RESOLVED — Alembic Is Now Wired Into Every Generated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Every downloaded project now scaffolds a real async-aware Alembic setup (alembic.ini, env.py, script.py.mako) instead of the ad-hoc ALTER TABLE fixes hit live last cycle — schema changes are tracked, not improvised.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80467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F59E0B"/>
                </a:solidFill>
              </a:rPr>
              <a:t>🧭  Exported Python Uses Canvas Order as a Tiebreaker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CBD5E1"/>
                </a:solidFill>
              </a:rPr>
              <a:t>The topological sort ported into Export Code is correct for the graphs tested, but canvas creation order (not a formal secondary sort key) breaks ties — fine in practice, but worth a closer look for pathological or cyclic graphs.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Latest Platform Updates — Local LLM &amp; Model Flexibility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This pass added genuine local-model support end-to-end — architecture, agent config, and Playground UX — verified live against a running LM Studio server, not just unit tests.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🖥️  Per-Feature LLM Override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Architect and Visual Builder can each run on Azure OpenAI or a local LM Studio model (ARCHITECT_LLM_PROVIDER / BUILDER_LLM_PROVIDER) — zero code changes, just env config.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🔀  Real Per-Agent Model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Agent Studio's model dropdown now offers a genuine “Local Model” vs “Azure GPT-5.4-mini” choice per agent — replacing two fake labels the orchestrator silently ignored.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✨  AI-Suggested Example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Playground's new “Suggest” button generates a realistic example message tailored to an agent's own system prompt and tools — no more guessing what to type first.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🩺  Accurate Model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 new /active-model endpoint reflects the model an agent actually runs on, fixing a bug where Playground always showed a hardcoded “GPT-4o” label regardless of provider.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🔧  Five LM Studio Bugs Fixed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Blocking event loop, a race condition between auto-suggest and Run, system-role rejection by Mistral's chat template, unstructured JSON output, and an infinite question loop.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</a:rPr>
              <a:t>Production-Readiness Hardening — Custom Code Export ROI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06EF5"/>
                </a:solidFill>
              </a:rPr>
              <a:t>🧪 Test Coverage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Zero tests → auto-scaffolded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Every generated project now ships pytest + conftest + smoke tests automatically — previously zero test files were generated at all.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768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59E0B"/>
                </a:solidFill>
              </a:rPr>
              <a:t>🚀 CI/CD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0→1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GitHub Actions guaranteed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A working ci.yml is now guaranteed in every downloaded ZIP, replacing a total absence of any CI/CD configuration in the prior generator.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0" y="96012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66760" y="106984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DC2626"/>
                </a:solidFill>
              </a:rPr>
              <a:t>🗄️ Real 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146304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NEW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03911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Ad-hoc → tracked Alembic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35000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Replaces the manual ALTER TABLE fixes hit live last cycle with a real, tracked Alembic setup wired into every generated backend.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292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A855F7"/>
                </a:solidFill>
              </a:rPr>
              <a:t>🔐 Auth &amp; Security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4/10→8/10 · rate limit + SSRF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Default JWT auth (bcrypt + python-jose) when SSO isn't requested, slowapi rate limiting, and an SSRF guard on every outbound HTTP call.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43484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0B981"/>
                </a:solidFill>
              </a:rPr>
              <a:t>📡 Observability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6/10→8/10 · OTel now actually runs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Telemetry setup was generated but never called in the prior version; default exporter switched from silently-no-op Jaeger to zero-config console.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0" y="3657600"/>
            <a:ext cx="3703320" cy="2514600"/>
          </a:xfrm>
          <a:prstGeom prst="rect">
            <a:avLst/>
          </a:prstGeom>
          <a:solidFill>
            <a:srgbClr val="1E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366760" y="3767328"/>
            <a:ext cx="3429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9B2"/>
                </a:solidFill>
              </a:rPr>
              <a:t>🛡️ Resilience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4160520"/>
            <a:ext cx="1463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+2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736592"/>
            <a:ext cx="3429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10B981"/>
                </a:solidFill>
              </a:rPr>
              <a:t>6/10→8/10 · retry + global handler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5047488"/>
            <a:ext cx="34747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CBD5E1"/>
                </a:solidFill>
              </a:rPr>
              <a:t>A startup DB connection retry loop and a global exception handler replace unhandled crashes on transient Postgres downtime.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Custom Code Export — Feature &amp; Production-Readiness Score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CBD5E1"/>
                </a:solidFill>
              </a:rPr>
              <a:t>The Custom Code download is Architect's bespoke React + FastAPI export — this section covers what it is and how its production-readiness score moved from 55 to 89 out of 100 across four focused hardening passes this cycle.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📦  Custom Code Export, Explained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92024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One-click download of a bespoke React + FastAPI app generated from your agent plan — distinct from the RAG Scaffold, tailored to your exact use case.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432304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94360" y="245059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1️⃣  Baseline Audit — 55/100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816352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Initial production-readiness score: no default authentication, zero tests, no CI/CD pipeline, no real database migrations, and weak observability/resilience wiring.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28415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4360" y="3346703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2⃣  Tests, CI/CD &amp; Migrations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712463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Auto-scaffolded pytest suite, a guaranteed GitHub Actions ci.yml, and a real async-aware Alembic setup closed the three biggest structural gaps.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224528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94360" y="4242816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3⃣  Auth &amp; Security Hardening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608576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Default JWT auth (bcrypt + python-jose) when SSO isn't requested, slowapi rate limiting, and an SSRF guard on outbound HTTP calls closed the remaining security gap.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5120640"/>
            <a:ext cx="73152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94360" y="5138928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606EF5"/>
                </a:solidFill>
              </a:rPr>
              <a:t>4⃣  Observability &amp; Resilience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504688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BD5E1"/>
                </a:solidFill>
              </a:rPr>
              <a:t>Guaranteed OpenTelemetry wiring plus a startup DB retry loop and global exception handler pushed both dimensions from 6/10 to 8/10, reaching today's 89/100 score.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371600"/>
            <a:ext cx="12188952" cy="4114800"/>
          </a:xfrm>
          <a:prstGeom prst="rect">
            <a:avLst/>
          </a:prstGeom>
          <a:solidFill>
            <a:srgbClr val="1A24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57200" y="16459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AgentForge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060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CBD5E1"/>
                </a:solidFill>
              </a:rPr>
              <a:t>Build the next generation of enterprise AI agents —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3657600"/>
            <a:ext cx="2834640" cy="777240"/>
          </a:xfrm>
          <a:prstGeom prst="rect">
            <a:avLst/>
          </a:prstGeom>
          <a:solidFill>
            <a:srgbClr val="606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716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🚀  Start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localhost:5173/architect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3657600"/>
            <a:ext cx="2834640" cy="77724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📖  API 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localhost:8000/docs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3657600"/>
            <a:ext cx="2834640" cy="7772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0" y="3703320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📦  Download ZIP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087368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FFFF"/>
                </a:solidFill>
              </a:rPr>
              <a:t>Architect → App → Download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7607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BD5E1"/>
                </a:solidFill>
              </a:rPr>
              <a:t>Accenture Technology  |  n.sureshmanikandan@accenture.com  |  Confidential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40312" y="649224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CBD5E1"/>
                </a:solidFill>
              </a:rPr>
              <a:t>34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Templates &amp; Auto-Build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29</a:t>
            </a:r>
          </a:p>
        </p:txBody>
      </p:sp>
      <p:pic>
        <p:nvPicPr>
          <p:cNvPr id="6" name="Picture 5" descr="02_builder_templ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03_builder_autobui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Templates — pick from 40+ ready-made multi-agent pipelines across 10 categories (Architecture, Sales &amp; Marketing, Customer Support, and more) and load one straight onto the canvas.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Auto-Build — describe your pipeline in plain English (“A customer support pipeline that classifies queries, routes to the right responder...”) and GPT-5.4-mini generates a 3–6 role-typed node graph automatically.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Configure, Export &amp; Import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30</a:t>
            </a:r>
          </a:p>
        </p:txBody>
      </p:sp>
      <p:pic>
        <p:nvPicPr>
          <p:cNvPr id="6" name="Picture 5" descr="04_builder_agent_conf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05_builder_export_c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Configure — click any node to set its Role, System Prompt, Model (Local Model or Azure GPT-5.4-mini, per agent), Tools, and always-on Guardrails, then Save Agent.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Export / Import — Export Code generates a faithful Python script with the same execution logic as the live engine; Export JSON / Import JSON give a lossless, round-trippable workflow backup.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Visual Builder — Run &amp; Deploy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31</a:t>
            </a:r>
          </a:p>
        </p:txBody>
      </p:sp>
      <p:pic>
        <p:nvPicPr>
          <p:cNvPr id="6" name="Picture 5" descr="06_builder_run_d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6858000" cy="38576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Run — click Run, and an AI-suggested realistic example input is generated automatically; edit it or keep it, then Execute &amp; Save Trace to watch each node pulse green while running and stay green when done.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Deploy — publish the workflow as a live, callable endpoint once you're happy with a run's trace in Workflow Runs / Observability.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Architect, Agent Studio &amp; Playground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32</a:t>
            </a:r>
          </a:p>
        </p:txBody>
      </p:sp>
      <p:pic>
        <p:nvPicPr>
          <p:cNvPr id="6" name="Picture 5" descr="07_archit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pic>
        <p:nvPicPr>
          <p:cNvPr id="7" name="Picture 6" descr="08_agent_stud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51560"/>
            <a:ext cx="5486400" cy="3086100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Architect — describe what you want to build in plain English; it asks clarifying questions, then generates a full Plan / Agents / App / Database, downloadable as a RAG Scaffold or Custom Code ZIP.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Agent Studio — every saved agent lives here: Edit, Test, Deploy, Publish, or ask it something directly. Playground gives each agent its own chat with a one-click “Suggest” example-input button.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82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12188825" cy="45720"/>
          </a:xfrm>
          <a:prstGeom prst="rect">
            <a:avLst/>
          </a:prstGeom>
          <a:solidFill>
            <a:srgbClr val="606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How To Use: Playground — Test Any Agent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31752" y="6492240"/>
            <a:ext cx="457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BD5E1"/>
                </a:solidFill>
              </a:rPr>
              <a:t>33</a:t>
            </a:r>
          </a:p>
        </p:txBody>
      </p:sp>
      <p:pic>
        <p:nvPicPr>
          <p:cNvPr id="6" name="Picture 5" descr="10_playground_sugg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051560"/>
            <a:ext cx="6858000" cy="3857625"/>
          </a:xfrm>
          <a:prstGeom prst="rect">
            <a:avLst/>
          </a:prstGeom>
          <a:ln w="12700">
            <a:solidFill>
              <a:srgbClr val="334155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57200" y="544068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① Open any agent's Playground to see its System Prompt, Guardrails, Tools, and the exact Model it runs on (accurately resolved per agent — Local Model or Azure GPT-5.4-mini, not a stale label).</a:t>
            </a:r>
          </a:p>
          <a:p>
            <a:pPr>
              <a:spcAft>
                <a:spcPts val="400"/>
              </a:spcAft>
            </a:pPr>
            <a:r>
              <a:rPr sz="1100">
                <a:solidFill>
                  <a:srgbClr val="CBD5E1"/>
                </a:solidFill>
              </a:rPr>
              <a:t>② Click Suggest for an AI-generated realistic example message tailored to that agent, or type your own — then Send to test it live and watch Session Stats (Total Runs, Avg ms) update.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5608</Words>
  <Application>Microsoft Office PowerPoint</Application>
  <PresentationFormat>Custom</PresentationFormat>
  <Paragraphs>669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Natarajan, Suresh Manikandan</dc:creator>
  <cp:keywords/>
  <dc:description>generated using python-pptx</dc:description>
  <cp:lastModifiedBy>Natarajan, Suresh Manikandan</cp:lastModifiedBy>
  <cp:revision>2</cp:revision>
  <dcterms:created xsi:type="dcterms:W3CDTF">2013-01-27T09:14:16Z</dcterms:created>
  <dcterms:modified xsi:type="dcterms:W3CDTF">2026-07-18T10:41:07Z</dcterms:modified>
  <cp:category/>
</cp:coreProperties>
</file>