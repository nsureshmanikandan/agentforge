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2" r:id="rId32"/>
    <p:sldId id="283" r:id="rId33"/>
    <p:sldId id="284" r:id="rId34"/>
    <p:sldId id="281" r:id="rId27"/>
  </p:sldIdLst>
  <p:sldSz cx="1218882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 snapToObjects="1">
      <p:cViewPr varScale="1">
        <p:scale>
          <a:sx n="70" d="100"/>
          <a:sy n="70" d="100"/>
        </p:scale>
        <p:origin x="536" y="4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9.xml"/><Relationship Id="rId28" Type="http://schemas.openxmlformats.org/officeDocument/2006/relationships/presProps" Target="presProps.xml"/><Relationship Id="rId29" Type="http://schemas.openxmlformats.org/officeDocument/2006/relationships/viewProps" Target="viewProps.xml"/><Relationship Id="rId30" Type="http://schemas.openxmlformats.org/officeDocument/2006/relationships/theme" Target="theme/theme1.xml"/><Relationship Id="rId31" Type="http://schemas.openxmlformats.org/officeDocument/2006/relationships/tableStyles" Target="tableStyles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7/18/2026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45720"/>
          </a:xfrm>
          <a:prstGeom prst="rect">
            <a:avLst/>
          </a:prstGeom>
          <a:solidFill>
            <a:srgbClr val="606E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1371600"/>
            <a:ext cx="12188952" cy="4114800"/>
          </a:xfrm>
          <a:prstGeom prst="rect">
            <a:avLst/>
          </a:prstGeom>
          <a:solidFill>
            <a:srgbClr val="1A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457200" y="1645920"/>
            <a:ext cx="2926080" cy="502920"/>
          </a:xfrm>
          <a:prstGeom prst="rect">
            <a:avLst/>
          </a:prstGeom>
          <a:solidFill>
            <a:srgbClr val="606E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57200" y="1645920"/>
            <a:ext cx="2926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</a:rPr>
              <a:t>⚡  AgentForge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2377440"/>
            <a:ext cx="82296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800" b="1">
                <a:solidFill>
                  <a:srgbClr val="FFFFFF"/>
                </a:solidFill>
              </a:rPr>
              <a:t>Enterprise AI Agent Platform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3749039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>
                <a:solidFill>
                  <a:srgbClr val="CBD5E1"/>
                </a:solidFill>
              </a:rPr>
              <a:t>Build · Orchestrate · Deploy · Govern — AI Agents at Scale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4572000"/>
            <a:ext cx="2103120" cy="347472"/>
          </a:xfrm>
          <a:prstGeom prst="rect">
            <a:avLst/>
          </a:prstGeom>
          <a:solidFill>
            <a:srgbClr val="1E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365760" y="4572000"/>
            <a:ext cx="2103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</a:rPr>
              <a:t>Azure OpenAI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651760" y="4572000"/>
            <a:ext cx="2103120" cy="347472"/>
          </a:xfrm>
          <a:prstGeom prst="rect">
            <a:avLst/>
          </a:prstGeom>
          <a:solidFill>
            <a:srgbClr val="1E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2651760" y="4572000"/>
            <a:ext cx="2103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</a:rPr>
              <a:t>FastAPI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937760" y="4572000"/>
            <a:ext cx="2103120" cy="347472"/>
          </a:xfrm>
          <a:prstGeom prst="rect">
            <a:avLst/>
          </a:prstGeom>
          <a:solidFill>
            <a:srgbClr val="1E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937760" y="4572000"/>
            <a:ext cx="2103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</a:rPr>
              <a:t>React 18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223760" y="4572000"/>
            <a:ext cx="2103120" cy="347472"/>
          </a:xfrm>
          <a:prstGeom prst="rect">
            <a:avLst/>
          </a:prstGeom>
          <a:solidFill>
            <a:srgbClr val="1E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7223760" y="4572000"/>
            <a:ext cx="2103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</a:rPr>
              <a:t>PostgreSQL + pgvector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509760" y="4572000"/>
            <a:ext cx="2103120" cy="347472"/>
          </a:xfrm>
          <a:prstGeom prst="rect">
            <a:avLst/>
          </a:prstGeom>
          <a:solidFill>
            <a:srgbClr val="1E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9509760" y="4572000"/>
            <a:ext cx="2103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</a:rPr>
              <a:t>OpenTelemetry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5760" y="566928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CBD5E1"/>
                </a:solidFill>
              </a:rPr>
              <a:t>Version 8.0  |  July 2026  |  Confidential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640312" y="6492240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CBD5E1"/>
                </a:solidFill>
              </a:rP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73152"/>
            <a:ext cx="12188952" cy="45720"/>
          </a:xfrm>
          <a:prstGeom prst="rect">
            <a:avLst/>
          </a:prstGeom>
          <a:solidFill>
            <a:srgbClr val="606E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Executive Summary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05840"/>
            <a:ext cx="113385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CBD5E1"/>
                </a:solidFill>
              </a:rPr>
              <a:t>AgentForge is an enterprise-grade AI Agent Platform that empowers Accenture developers and clients to design, build, simulate, deploy, and govern intelligent AI agents at scale — without deep ML expertise.
Powered by Azure OpenAI GPT-5.4-mini, it delivers a full-stack solution: a conversational Planning Architect (Prompt-to-Agent), a visual Workflow Builder, a built-in RAG pipeline, enterprise guardrails (PII + hallucination detection), multi-agent orchestration, voice agent support, and a real-time Control Plane — all with RBAC, audit logs, and OpenTelemetry observability baked in.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3246120"/>
            <a:ext cx="2194560" cy="1463040"/>
          </a:xfrm>
          <a:prstGeom prst="rect">
            <a:avLst/>
          </a:prstGeom>
          <a:solidFill>
            <a:srgbClr val="1E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75488" y="3383280"/>
            <a:ext cx="20116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606EF5"/>
                </a:solidFill>
              </a:rPr>
              <a:t>16 API Modules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75488" y="3977639"/>
            <a:ext cx="2011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CBD5E1"/>
                </a:solidFill>
              </a:rPr>
              <a:t>End-to-end coverage</a:t>
            </a:r>
          </a:p>
        </p:txBody>
      </p:sp>
      <p:sp>
        <p:nvSpPr>
          <p:cNvPr id="9" name="Rectangle 8"/>
          <p:cNvSpPr/>
          <p:nvPr/>
        </p:nvSpPr>
        <p:spPr>
          <a:xfrm>
            <a:off x="2724912" y="3246120"/>
            <a:ext cx="2194560" cy="1463040"/>
          </a:xfrm>
          <a:prstGeom prst="rect">
            <a:avLst/>
          </a:prstGeom>
          <a:solidFill>
            <a:srgbClr val="1E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2834640" y="3383280"/>
            <a:ext cx="20116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606EF5"/>
                </a:solidFill>
              </a:rPr>
              <a:t>25 Frontend Pages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834640" y="3977639"/>
            <a:ext cx="2011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CBD5E1"/>
                </a:solidFill>
              </a:rPr>
              <a:t>Full SPA experience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084064" y="3246120"/>
            <a:ext cx="2194560" cy="1463040"/>
          </a:xfrm>
          <a:prstGeom prst="rect">
            <a:avLst/>
          </a:prstGeom>
          <a:solidFill>
            <a:srgbClr val="1E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193792" y="3383280"/>
            <a:ext cx="20116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606EF5"/>
                </a:solidFill>
              </a:rPr>
              <a:t>10 DB Tables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193792" y="3977639"/>
            <a:ext cx="2011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CBD5E1"/>
                </a:solidFill>
              </a:rPr>
              <a:t>Relational + vector store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443216" y="3246120"/>
            <a:ext cx="2194560" cy="1463040"/>
          </a:xfrm>
          <a:prstGeom prst="rect">
            <a:avLst/>
          </a:prstGeom>
          <a:solidFill>
            <a:srgbClr val="1E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7552944" y="3383280"/>
            <a:ext cx="20116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606EF5"/>
                </a:solidFill>
              </a:rPr>
              <a:t>Zero ML Setup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552944" y="3977639"/>
            <a:ext cx="2011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CBD5E1"/>
                </a:solidFill>
              </a:rPr>
              <a:t>Prompt-to-agent in &lt;2 min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802368" y="3246120"/>
            <a:ext cx="2194560" cy="1463040"/>
          </a:xfrm>
          <a:prstGeom prst="rect">
            <a:avLst/>
          </a:prstGeom>
          <a:solidFill>
            <a:srgbClr val="1E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9912096" y="3383280"/>
            <a:ext cx="20116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606EF5"/>
                </a:solidFill>
              </a:rPr>
              <a:t>Enterprise Ready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912096" y="3977639"/>
            <a:ext cx="2011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CBD5E1"/>
                </a:solidFill>
              </a:rPr>
              <a:t>RBAC · Audit · OTEL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493776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10B981"/>
                </a:solidFill>
              </a:rPr>
              <a:t>Designed for Accenture | Delivered with Azure | Governed by Design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640312" y="6492240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CBD5E1"/>
                </a:solidFill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73152"/>
            <a:ext cx="12188952" cy="45720"/>
          </a:xfrm>
          <a:prstGeom prst="rect">
            <a:avLst/>
          </a:prstGeom>
          <a:solidFill>
            <a:srgbClr val="606E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The Problem We Solve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005840"/>
            <a:ext cx="3657600" cy="1600200"/>
          </a:xfrm>
          <a:prstGeom prst="rect">
            <a:avLst/>
          </a:prstGeom>
          <a:solidFill>
            <a:srgbClr val="1E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30352" y="1143000"/>
            <a:ext cx="3383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59E0B"/>
                </a:solidFill>
              </a:rPr>
              <a:t>🧩  Fragmented Tooling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0352" y="1536192"/>
            <a:ext cx="338328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CBD5E1"/>
                </a:solidFill>
              </a:rPr>
              <a:t>Teams use disparate tools — LangChain, custom scripts, ad-hoc prompts — with no unified governance or reuse.</a:t>
            </a:r>
          </a:p>
        </p:txBody>
      </p:sp>
      <p:sp>
        <p:nvSpPr>
          <p:cNvPr id="8" name="Rectangle 7"/>
          <p:cNvSpPr/>
          <p:nvPr/>
        </p:nvSpPr>
        <p:spPr>
          <a:xfrm>
            <a:off x="4297680" y="1005840"/>
            <a:ext cx="3657600" cy="1600200"/>
          </a:xfrm>
          <a:prstGeom prst="rect">
            <a:avLst/>
          </a:prstGeom>
          <a:solidFill>
            <a:srgbClr val="1E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462272" y="1143000"/>
            <a:ext cx="3383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59E0B"/>
                </a:solidFill>
              </a:rPr>
              <a:t>⏱️  Slow Time-to-Agent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62272" y="1536192"/>
            <a:ext cx="338328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CBD5E1"/>
                </a:solidFill>
              </a:rPr>
              <a:t>Building, testing, and deploying even a simple RAG agent takes days of boilerplate coding and infra setup.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29600" y="1005840"/>
            <a:ext cx="3657600" cy="1600200"/>
          </a:xfrm>
          <a:prstGeom prst="rect">
            <a:avLst/>
          </a:prstGeom>
          <a:solidFill>
            <a:srgbClr val="1E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394192" y="1143000"/>
            <a:ext cx="3383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59E0B"/>
                </a:solidFill>
              </a:rPr>
              <a:t>🔓  No Enterprise Controls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94192" y="1536192"/>
            <a:ext cx="338328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CBD5E1"/>
                </a:solidFill>
              </a:rPr>
              <a:t>No PII redaction, no hallucination checks, no audit trails — violating compliance and data privacy requirements.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65760" y="2834640"/>
            <a:ext cx="3657600" cy="1600200"/>
          </a:xfrm>
          <a:prstGeom prst="rect">
            <a:avLst/>
          </a:prstGeom>
          <a:solidFill>
            <a:srgbClr val="1E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30352" y="2971800"/>
            <a:ext cx="3383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59E0B"/>
                </a:solidFill>
              </a:rPr>
              <a:t>📉  Zero Observability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30352" y="3364992"/>
            <a:ext cx="338328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CBD5E1"/>
                </a:solidFill>
              </a:rPr>
              <a:t>Once deployed, agents are black boxes. No tracing, no latency metrics, no ability to tune post-deployment.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297680" y="2834640"/>
            <a:ext cx="3657600" cy="1600200"/>
          </a:xfrm>
          <a:prstGeom prst="rect">
            <a:avLst/>
          </a:prstGeom>
          <a:solidFill>
            <a:srgbClr val="1E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4462272" y="2971800"/>
            <a:ext cx="3383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59E0B"/>
                </a:solidFill>
              </a:rPr>
              <a:t>🔁  No Reusability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462272" y="3364992"/>
            <a:ext cx="338328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CBD5E1"/>
                </a:solidFill>
              </a:rPr>
              <a:t>Prompts, tools, and agent configs are siloed per project — no marketplace or shared blueprint library.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229600" y="2834640"/>
            <a:ext cx="3657600" cy="1600200"/>
          </a:xfrm>
          <a:prstGeom prst="rect">
            <a:avLst/>
          </a:prstGeom>
          <a:solidFill>
            <a:srgbClr val="1E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8394192" y="2971800"/>
            <a:ext cx="3383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59E0B"/>
                </a:solidFill>
              </a:rPr>
              <a:t>🗣️  No Voice/Multi-modal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94192" y="3364992"/>
            <a:ext cx="338328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CBD5E1"/>
                </a:solidFill>
              </a:rPr>
              <a:t>Enterprises need voice-capable agents and multi-agent pipelines; existing DIY approaches lack this natively.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640312" y="6492240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CBD5E1"/>
                </a:solidFill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73152"/>
            <a:ext cx="12188952" cy="45720"/>
          </a:xfrm>
          <a:prstGeom prst="rect">
            <a:avLst/>
          </a:prstGeom>
          <a:solidFill>
            <a:srgbClr val="606E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Platform Architecture Overview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005840"/>
            <a:ext cx="11338560" cy="914400"/>
          </a:xfrm>
          <a:prstGeom prst="rect">
            <a:avLst/>
          </a:prstGeom>
          <a:solidFill>
            <a:srgbClr val="1E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365760" y="1005840"/>
            <a:ext cx="109728" cy="914400"/>
          </a:xfrm>
          <a:prstGeom prst="rect">
            <a:avLst/>
          </a:prstGeom>
          <a:solidFill>
            <a:srgbClr val="606E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94360" y="1051560"/>
            <a:ext cx="10972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606EF5"/>
                </a:solidFill>
              </a:rPr>
              <a:t>FRONTEND  (React 18 + Vite + TypeScript + TailwindCSS)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417320"/>
            <a:ext cx="10972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BD5E1"/>
                </a:solidFill>
              </a:rPr>
              <a:t>Planning Architect · Agent Studio · Workflow Builder · RAG/KB · Playground · Voice · Safety · Evaluations · Control Plane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2057400"/>
            <a:ext cx="11338560" cy="914400"/>
          </a:xfrm>
          <a:prstGeom prst="rect">
            <a:avLst/>
          </a:prstGeom>
          <a:solidFill>
            <a:srgbClr val="1E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365760" y="2057400"/>
            <a:ext cx="109728" cy="91440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94360" y="2103120"/>
            <a:ext cx="10972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7C3AED"/>
                </a:solidFill>
              </a:rPr>
              <a:t>API GATEWAY  (FastAPI 0.115 · JWT/RBAC · OpenTelemetry)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2468880"/>
            <a:ext cx="10972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BD5E1"/>
                </a:solidFill>
              </a:rPr>
              <a:t>Auth · Agents · RAG · Tools · Builder · Simulation · Control Plane · Safety · Evaluations · Voice · Architect · Team · API Keys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5760" y="3108960"/>
            <a:ext cx="11338560" cy="914400"/>
          </a:xfrm>
          <a:prstGeom prst="rect">
            <a:avLst/>
          </a:prstGeom>
          <a:solidFill>
            <a:srgbClr val="1E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365760" y="3108960"/>
            <a:ext cx="109728" cy="914400"/>
          </a:xfrm>
          <a:prstGeom prst="rect">
            <a:avLst/>
          </a:prstGeom>
          <a:solidFill>
            <a:srgbClr val="0E79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94360" y="3154680"/>
            <a:ext cx="10972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E79B2"/>
                </a:solidFill>
              </a:rPr>
              <a:t>CORE ENGINE  (Python 3.12)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4360" y="3520440"/>
            <a:ext cx="10972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BD5E1"/>
                </a:solidFill>
              </a:rPr>
              <a:t>Prompt-to-Agent · Multi-Agent Orchestrator · RAG Engine (FAISS + pgvector) · Guardrails (Presidio) · Simulation · Tool Registry · Telemetry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65760" y="4160520"/>
            <a:ext cx="11338560" cy="914400"/>
          </a:xfrm>
          <a:prstGeom prst="rect">
            <a:avLst/>
          </a:prstGeom>
          <a:solidFill>
            <a:srgbClr val="1E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365760" y="4160520"/>
            <a:ext cx="109728" cy="9144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594360" y="4206240"/>
            <a:ext cx="10972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0B981"/>
                </a:solidFill>
              </a:rPr>
              <a:t>AI SERVICES  (Azure OpenAI)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94360" y="4572000"/>
            <a:ext cx="10972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BD5E1"/>
                </a:solidFill>
              </a:rPr>
              <a:t>GPT-5.4-mini (gpt-5.4-mini) · GPT-5.4-mini (gpt-5.4-mini) · Embeddings · Azure AI Search · Azure Speech (STT/TTS)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65760" y="5212079"/>
            <a:ext cx="11338560" cy="914400"/>
          </a:xfrm>
          <a:prstGeom prst="rect">
            <a:avLst/>
          </a:prstGeom>
          <a:solidFill>
            <a:srgbClr val="1E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365760" y="5212079"/>
            <a:ext cx="109728" cy="91440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594360" y="5257799"/>
            <a:ext cx="10972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DC2626"/>
                </a:solidFill>
              </a:rPr>
              <a:t>DATA LAYER  (PostgreSQL 16 + pgvector + SQLAlchemy 2.0 async)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94360" y="5623559"/>
            <a:ext cx="10972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BD5E1"/>
                </a:solidFill>
              </a:rPr>
              <a:t>users · agents · agent_versions · workflows · workflow_runs · knowledge_bases · documents · audit_logs · api_keys · voice_sessions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640312" y="6492240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CBD5E1"/>
                </a:solidFill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73152"/>
            <a:ext cx="12188952" cy="45720"/>
          </a:xfrm>
          <a:prstGeom prst="rect">
            <a:avLst/>
          </a:prstGeom>
          <a:solidFill>
            <a:srgbClr val="606E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Core Feature Set</a:t>
            </a:r>
          </a:p>
        </p:txBody>
      </p:sp>
      <p:sp>
        <p:nvSpPr>
          <p:cNvPr id="5" name="Rectangle 4"/>
          <p:cNvSpPr/>
          <p:nvPr/>
        </p:nvSpPr>
        <p:spPr>
          <a:xfrm>
            <a:off x="292608" y="960120"/>
            <a:ext cx="2834640" cy="1664208"/>
          </a:xfrm>
          <a:prstGeom prst="rect">
            <a:avLst/>
          </a:prstGeom>
          <a:solidFill>
            <a:srgbClr val="1E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606EF5"/>
                </a:solidFill>
              </a:rPr>
              <a:t>🧠  Planning Architect (Prompt-to-Agent)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490472"/>
            <a:ext cx="2560320" cy="10241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CBD5E1"/>
                </a:solidFill>
              </a:rPr>
              <a:t>Conversational AI that converts a plain-English description into a complete agent stack — plan, agents, tools, DB schema.</a:t>
            </a:r>
          </a:p>
        </p:txBody>
      </p:sp>
      <p:sp>
        <p:nvSpPr>
          <p:cNvPr id="8" name="Rectangle 7"/>
          <p:cNvSpPr/>
          <p:nvPr/>
        </p:nvSpPr>
        <p:spPr>
          <a:xfrm>
            <a:off x="3273551" y="960120"/>
            <a:ext cx="2834640" cy="1664208"/>
          </a:xfrm>
          <a:prstGeom prst="rect">
            <a:avLst/>
          </a:prstGeom>
          <a:solidFill>
            <a:srgbClr val="1E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438143" y="109728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606EF5"/>
                </a:solidFill>
              </a:rPr>
              <a:t>🔧  Visual Workflow Builder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438143" y="1490472"/>
            <a:ext cx="2560320" cy="10241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CBD5E1"/>
                </a:solidFill>
              </a:rPr>
              <a:t>Drag-and-drop canvas (React Flow) to wire manager + worker agents, tools, and conditions into pipelines. Full execution trace.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54496" y="960120"/>
            <a:ext cx="2834640" cy="1664208"/>
          </a:xfrm>
          <a:prstGeom prst="rect">
            <a:avLst/>
          </a:prstGeom>
          <a:solidFill>
            <a:srgbClr val="1E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419088" y="109728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606EF5"/>
                </a:solidFill>
              </a:rPr>
              <a:t>📚  RAG Pipeline &amp; Knowledge Base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19088" y="1490472"/>
            <a:ext cx="2560320" cy="10241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CBD5E1"/>
                </a:solidFill>
              </a:rPr>
              <a:t>Upload PDF/DOCX/TXT → chunked → FAISS + pgvector → semantic retrieval. Per-agent KB scoping with Azure AI Search fallback.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235440" y="960120"/>
            <a:ext cx="2834640" cy="1664208"/>
          </a:xfrm>
          <a:prstGeom prst="rect">
            <a:avLst/>
          </a:prstGeom>
          <a:solidFill>
            <a:srgbClr val="1E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9400032" y="109728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606EF5"/>
                </a:solidFill>
              </a:rPr>
              <a:t>🛡️  Enterprise Guardrails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400032" y="1490472"/>
            <a:ext cx="2560320" cy="10241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CBD5E1"/>
                </a:solidFill>
              </a:rPr>
              <a:t>PII redaction (Presidio — SSN, email, CC, phone) + hallucination detection on every agent response. Per-agent toggle.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92608" y="2743200"/>
            <a:ext cx="2834640" cy="1664208"/>
          </a:xfrm>
          <a:prstGeom prst="rect">
            <a:avLst/>
          </a:prstGeom>
          <a:solidFill>
            <a:srgbClr val="1E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457200" y="288036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606EF5"/>
                </a:solidFill>
              </a:rPr>
              <a:t>🤝  Multi-Agent Orchestration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3273552"/>
            <a:ext cx="2560320" cy="10241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CBD5E1"/>
                </a:solidFill>
              </a:rPr>
              <a:t>Manager agent fans out to N worker agents concurrently. Aggregates results. Supports sequential &amp; parallel patterns.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273551" y="2743200"/>
            <a:ext cx="2834640" cy="1664208"/>
          </a:xfrm>
          <a:prstGeom prst="rect">
            <a:avLst/>
          </a:prstGeom>
          <a:solidFill>
            <a:srgbClr val="1E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3438143" y="288036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606EF5"/>
                </a:solidFill>
              </a:rPr>
              <a:t>🗣️  Voice Agents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438143" y="3273552"/>
            <a:ext cx="2560320" cy="10241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CBD5E1"/>
                </a:solidFill>
              </a:rPr>
              <a:t>Azure Speech STT → GPT-5.4-mini → Azure TTS pipeline. REST API for voice session management. Real-time audio I/O.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254496" y="2743200"/>
            <a:ext cx="2834640" cy="1664208"/>
          </a:xfrm>
          <a:prstGeom prst="rect">
            <a:avLst/>
          </a:prstGeom>
          <a:solidFill>
            <a:srgbClr val="1E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419088" y="288036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606EF5"/>
                </a:solidFill>
              </a:rPr>
              <a:t>🧪  Simulation &amp; Evaluation Engine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19088" y="3273552"/>
            <a:ext cx="2560320" cy="10241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CBD5E1"/>
                </a:solidFill>
              </a:rPr>
              <a:t>Run test scenarios against agents before deployment. Score output quality. Compare versions. Regression test suite.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9235440" y="2743200"/>
            <a:ext cx="2834640" cy="1664208"/>
          </a:xfrm>
          <a:prstGeom prst="rect">
            <a:avLst/>
          </a:prstGeom>
          <a:solidFill>
            <a:srgbClr val="1E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9400032" y="288036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606EF5"/>
                </a:solidFill>
              </a:rPr>
              <a:t>🔒  RBAC &amp; API Key Management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400032" y="3273552"/>
            <a:ext cx="2560320" cy="10241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CBD5E1"/>
                </a:solidFill>
              </a:rPr>
              <a:t>Three roles: Admin · Developer · Viewer. Per-user JWT auth. Scoped API keys for programmatic agent invocation.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92608" y="4526280"/>
            <a:ext cx="2834640" cy="1664208"/>
          </a:xfrm>
          <a:prstGeom prst="rect">
            <a:avLst/>
          </a:prstGeom>
          <a:solidFill>
            <a:srgbClr val="1E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457200" y="466344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606EF5"/>
                </a:solidFill>
              </a:rPr>
              <a:t>📊  Control Plane &amp; Observability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7200" y="5056632"/>
            <a:ext cx="2560320" cy="10241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CBD5E1"/>
                </a:solidFill>
              </a:rPr>
              <a:t>Live workflow status, modify running agents, pause/resume. OpenTelemetry traces + Azure Monitor + custom dashboards.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273551" y="4526280"/>
            <a:ext cx="2834640" cy="1664208"/>
          </a:xfrm>
          <a:prstGeom prst="rect">
            <a:avLst/>
          </a:prstGeom>
          <a:solidFill>
            <a:srgbClr val="1E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3438143" y="466344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606EF5"/>
                </a:solidFill>
              </a:rPr>
              <a:t>📝  Audit Logs &amp; Traceability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438143" y="5056632"/>
            <a:ext cx="2560320" cy="10241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CBD5E1"/>
                </a:solidFill>
              </a:rPr>
              <a:t>Every agent action logged: user, action, resource, input/output snapshot, guardrail trigger, latency, trace ID.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254496" y="4526280"/>
            <a:ext cx="2834640" cy="1664208"/>
          </a:xfrm>
          <a:prstGeom prst="rect">
            <a:avLst/>
          </a:prstGeom>
          <a:solidFill>
            <a:srgbClr val="1E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6419088" y="466344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606EF5"/>
                </a:solidFill>
              </a:rPr>
              <a:t>🗂️  Prompt Library &amp; Blueprints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419088" y="5056632"/>
            <a:ext cx="2560320" cy="10241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CBD5E1"/>
                </a:solidFill>
              </a:rPr>
              <a:t>Curated prompt templates and reusable agent blueprints for common use cases (support, analytics, RAG Q&amp;A).</a:t>
            </a:r>
          </a:p>
        </p:txBody>
      </p:sp>
      <p:sp>
        <p:nvSpPr>
          <p:cNvPr id="38" name="Rectangle 37"/>
          <p:cNvSpPr/>
          <p:nvPr/>
        </p:nvSpPr>
        <p:spPr>
          <a:xfrm>
            <a:off x="9235440" y="4526280"/>
            <a:ext cx="2834640" cy="1664208"/>
          </a:xfrm>
          <a:prstGeom prst="rect">
            <a:avLst/>
          </a:prstGeom>
          <a:solidFill>
            <a:srgbClr val="1E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9400032" y="466344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606EF5"/>
                </a:solidFill>
              </a:rPr>
              <a:t>⚡  Architect Download Engine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400032" y="5056632"/>
            <a:ext cx="2560320" cy="10241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CBD5E1"/>
                </a:solidFill>
              </a:rPr>
              <a:t>One-click export of deployable RAG Scaffold or Custom Code ZIP (React + FastAPI) — production-ready in minutes.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1640312" y="6492240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CBD5E1"/>
                </a:solidFill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73152"/>
            <a:ext cx="12188952" cy="45720"/>
          </a:xfrm>
          <a:prstGeom prst="rect">
            <a:avLst/>
          </a:prstGeom>
          <a:solidFill>
            <a:srgbClr val="606E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ROI &amp; Business Value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005840"/>
            <a:ext cx="3657600" cy="1828800"/>
          </a:xfrm>
          <a:prstGeom prst="rect">
            <a:avLst/>
          </a:prstGeom>
          <a:solidFill>
            <a:srgbClr val="1E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02920" y="1115568"/>
            <a:ext cx="3383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606EF5"/>
                </a:solidFill>
              </a:rPr>
              <a:t>⚡ Time-to-Agent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508760"/>
            <a:ext cx="1371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FFFFFF"/>
                </a:solidFill>
              </a:rPr>
              <a:t>85%↓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2103120"/>
            <a:ext cx="3383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0B981"/>
                </a:solidFill>
              </a:rPr>
              <a:t>From weeks → &lt;2 min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2395728"/>
            <a:ext cx="33832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CBD5E1"/>
                </a:solidFill>
              </a:rPr>
              <a:t>Prompt-to-Agent converts NL description into full agent stack instantly — no boilerplate</a:t>
            </a:r>
          </a:p>
        </p:txBody>
      </p:sp>
      <p:sp>
        <p:nvSpPr>
          <p:cNvPr id="10" name="Rectangle 9"/>
          <p:cNvSpPr/>
          <p:nvPr/>
        </p:nvSpPr>
        <p:spPr>
          <a:xfrm>
            <a:off x="4297680" y="1005840"/>
            <a:ext cx="3657600" cy="1828800"/>
          </a:xfrm>
          <a:prstGeom prst="rect">
            <a:avLst/>
          </a:prstGeom>
          <a:solidFill>
            <a:srgbClr val="1E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434840" y="1115568"/>
            <a:ext cx="3383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0B981"/>
                </a:solidFill>
              </a:rPr>
              <a:t>💰 Dev Cost Savings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34840" y="1508760"/>
            <a:ext cx="1371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FFFFFF"/>
                </a:solidFill>
              </a:rPr>
              <a:t>$18K+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34840" y="2103120"/>
            <a:ext cx="3383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0B981"/>
                </a:solidFill>
              </a:rPr>
              <a:t>~40 hrs/agent saved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34840" y="2395728"/>
            <a:ext cx="33832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CBD5E1"/>
                </a:solidFill>
              </a:rPr>
              <a:t>Reusable blueprints, templates, and one-click ZIP export eliminate redundant engineering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29600" y="1005840"/>
            <a:ext cx="3657600" cy="1828800"/>
          </a:xfrm>
          <a:prstGeom prst="rect">
            <a:avLst/>
          </a:prstGeom>
          <a:solidFill>
            <a:srgbClr val="1E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366760" y="1115568"/>
            <a:ext cx="3383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59E0B"/>
                </a:solidFill>
              </a:rPr>
              <a:t>🔒 Compliance Risk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66760" y="1508760"/>
            <a:ext cx="1371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FFFFFF"/>
                </a:solidFill>
              </a:rPr>
              <a:t>100%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66760" y="2103120"/>
            <a:ext cx="3383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0B981"/>
                </a:solidFill>
              </a:rPr>
              <a:t>Automated PII redaction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66760" y="2395728"/>
            <a:ext cx="33832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CBD5E1"/>
                </a:solidFill>
              </a:rPr>
              <a:t>Presidio-powered guardrails eliminate manual data masking effort and audit findings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65760" y="3063240"/>
            <a:ext cx="3657600" cy="1828800"/>
          </a:xfrm>
          <a:prstGeom prst="rect">
            <a:avLst/>
          </a:prstGeom>
          <a:solidFill>
            <a:srgbClr val="1E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502920" y="3172968"/>
            <a:ext cx="3383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A855F7"/>
                </a:solidFill>
              </a:rPr>
              <a:t>📈 Quality Uplift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" y="3566160"/>
            <a:ext cx="1371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FFFFFF"/>
                </a:solidFill>
              </a:rPr>
              <a:t>3×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2920" y="4160520"/>
            <a:ext cx="3383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0B981"/>
                </a:solidFill>
              </a:rPr>
              <a:t>Pre-deploy simulation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2920" y="4453128"/>
            <a:ext cx="33832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CBD5E1"/>
                </a:solidFill>
              </a:rPr>
              <a:t>Test harness catches hallucinations and regressions before production — 3× fewer incidents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297680" y="3063240"/>
            <a:ext cx="3657600" cy="1828800"/>
          </a:xfrm>
          <a:prstGeom prst="rect">
            <a:avLst/>
          </a:prstGeom>
          <a:solidFill>
            <a:srgbClr val="1E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4434840" y="3172968"/>
            <a:ext cx="3383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E79B2"/>
                </a:solidFill>
              </a:rPr>
              <a:t>🔁 Reuse Rate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434840" y="3566160"/>
            <a:ext cx="1371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FFFFFF"/>
                </a:solidFill>
              </a:rPr>
              <a:t>60%↑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434840" y="4160520"/>
            <a:ext cx="3383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0B981"/>
                </a:solidFill>
              </a:rPr>
              <a:t>Shared blueprint library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434840" y="4453128"/>
            <a:ext cx="33832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CBD5E1"/>
                </a:solidFill>
              </a:rPr>
              <a:t>Marketplace of proven agent patterns reduces rebuild effort across teams and clients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229600" y="3063240"/>
            <a:ext cx="3657600" cy="1828800"/>
          </a:xfrm>
          <a:prstGeom prst="rect">
            <a:avLst/>
          </a:prstGeom>
          <a:solidFill>
            <a:srgbClr val="1E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8366760" y="3172968"/>
            <a:ext cx="3383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DC2626"/>
                </a:solidFill>
              </a:rPr>
              <a:t>📊 Observability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366760" y="3566160"/>
            <a:ext cx="1371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FFFFFF"/>
                </a:solidFill>
              </a:rPr>
              <a:t>100%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366760" y="4160520"/>
            <a:ext cx="3383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0B981"/>
                </a:solidFill>
              </a:rPr>
              <a:t>Full trace coverage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366760" y="4453128"/>
            <a:ext cx="33832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CBD5E1"/>
                </a:solidFill>
              </a:rPr>
              <a:t>OTEL + Audit logs give L1 support full incident context — MTTR reduced by 70%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1640312" y="6492240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CBD5E1"/>
                </a:solidFill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73152"/>
            <a:ext cx="12188952" cy="45720"/>
          </a:xfrm>
          <a:prstGeom prst="rect">
            <a:avLst/>
          </a:prstGeom>
          <a:solidFill>
            <a:srgbClr val="606E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Competitive Landscape</a:t>
            </a:r>
          </a:p>
        </p:txBody>
      </p:sp>
      <p:sp>
        <p:nvSpPr>
          <p:cNvPr id="5" name="Rectangle 4"/>
          <p:cNvSpPr/>
          <p:nvPr/>
        </p:nvSpPr>
        <p:spPr>
          <a:xfrm>
            <a:off x="320040" y="960120"/>
            <a:ext cx="2523744" cy="329184"/>
          </a:xfrm>
          <a:prstGeom prst="rect">
            <a:avLst/>
          </a:prstGeom>
          <a:solidFill>
            <a:srgbClr val="1E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374904" y="996696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</a:rPr>
              <a:t>Feature</a:t>
            </a:r>
          </a:p>
        </p:txBody>
      </p:sp>
      <p:sp>
        <p:nvSpPr>
          <p:cNvPr id="7" name="Rectangle 6"/>
          <p:cNvSpPr/>
          <p:nvPr/>
        </p:nvSpPr>
        <p:spPr>
          <a:xfrm>
            <a:off x="2880360" y="960120"/>
            <a:ext cx="1792224" cy="329184"/>
          </a:xfrm>
          <a:prstGeom prst="rect">
            <a:avLst/>
          </a:prstGeom>
          <a:solidFill>
            <a:srgbClr val="606E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2935224" y="996696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</a:rPr>
              <a:t>AgentForge</a:t>
            </a:r>
          </a:p>
        </p:txBody>
      </p:sp>
      <p:sp>
        <p:nvSpPr>
          <p:cNvPr id="9" name="Rectangle 8"/>
          <p:cNvSpPr/>
          <p:nvPr/>
        </p:nvSpPr>
        <p:spPr>
          <a:xfrm>
            <a:off x="4709160" y="960120"/>
            <a:ext cx="1609344" cy="329184"/>
          </a:xfrm>
          <a:prstGeom prst="rect">
            <a:avLst/>
          </a:prstGeom>
          <a:solidFill>
            <a:srgbClr val="1E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764024" y="996696"/>
            <a:ext cx="155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</a:rPr>
              <a:t>Lyzr AI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355080" y="960120"/>
            <a:ext cx="1426464" cy="329184"/>
          </a:xfrm>
          <a:prstGeom prst="rect">
            <a:avLst/>
          </a:prstGeom>
          <a:solidFill>
            <a:srgbClr val="1E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409944" y="996696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</a:rPr>
              <a:t>LangChain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818120" y="960120"/>
            <a:ext cx="1792224" cy="329184"/>
          </a:xfrm>
          <a:prstGeom prst="rect">
            <a:avLst/>
          </a:prstGeom>
          <a:solidFill>
            <a:srgbClr val="1E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872984" y="996696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</a:rPr>
              <a:t>Microsoft AutoGen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646920" y="960120"/>
            <a:ext cx="1426464" cy="329184"/>
          </a:xfrm>
          <a:prstGeom prst="rect">
            <a:avLst/>
          </a:prstGeom>
          <a:solidFill>
            <a:srgbClr val="1E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9701784" y="996696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</a:rPr>
              <a:t>CrewAI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20040" y="1289304"/>
            <a:ext cx="2523744" cy="329184"/>
          </a:xfrm>
          <a:prstGeom prst="rect">
            <a:avLst/>
          </a:prstGeom>
          <a:solidFill>
            <a:srgbClr val="1620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374904" y="1325880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CBD5E1"/>
                </a:solidFill>
              </a:rPr>
              <a:t>Prompt-to-Agent (NL → Stack)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880360" y="1289304"/>
            <a:ext cx="1792224" cy="329184"/>
          </a:xfrm>
          <a:prstGeom prst="rect">
            <a:avLst/>
          </a:prstGeom>
          <a:solidFill>
            <a:srgbClr val="1A3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2935224" y="1325880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10B981"/>
                </a:solidFill>
              </a:rPr>
              <a:t>✅ Full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709160" y="1289304"/>
            <a:ext cx="1609344" cy="329184"/>
          </a:xfrm>
          <a:prstGeom prst="rect">
            <a:avLst/>
          </a:prstGeom>
          <a:solidFill>
            <a:srgbClr val="1620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4764024" y="1325880"/>
            <a:ext cx="155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10B981"/>
                </a:solidFill>
              </a:rPr>
              <a:t>✅ Yes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355080" y="1289304"/>
            <a:ext cx="1426464" cy="329184"/>
          </a:xfrm>
          <a:prstGeom prst="rect">
            <a:avLst/>
          </a:prstGeom>
          <a:solidFill>
            <a:srgbClr val="1620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409944" y="132588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EF4444"/>
                </a:solidFill>
              </a:rPr>
              <a:t>❌ No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818120" y="1289304"/>
            <a:ext cx="1792224" cy="329184"/>
          </a:xfrm>
          <a:prstGeom prst="rect">
            <a:avLst/>
          </a:prstGeom>
          <a:solidFill>
            <a:srgbClr val="1620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7872984" y="1325880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EF4444"/>
                </a:solidFill>
              </a:rPr>
              <a:t>❌ No</a:t>
            </a:r>
          </a:p>
        </p:txBody>
      </p:sp>
      <p:sp>
        <p:nvSpPr>
          <p:cNvPr id="27" name="Rectangle 26"/>
          <p:cNvSpPr/>
          <p:nvPr/>
        </p:nvSpPr>
        <p:spPr>
          <a:xfrm>
            <a:off x="9646920" y="1289304"/>
            <a:ext cx="1426464" cy="329184"/>
          </a:xfrm>
          <a:prstGeom prst="rect">
            <a:avLst/>
          </a:prstGeom>
          <a:solidFill>
            <a:srgbClr val="1620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9701784" y="132588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EF4444"/>
                </a:solidFill>
              </a:rPr>
              <a:t>❌ No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20040" y="1618488"/>
            <a:ext cx="2523744" cy="329184"/>
          </a:xfrm>
          <a:prstGeom prst="rect">
            <a:avLst/>
          </a:prstGeom>
          <a:solidFill>
            <a:srgbClr val="1E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374904" y="1655064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CBD5E1"/>
                </a:solidFill>
              </a:rPr>
              <a:t>Visual Workflow Builder</a:t>
            </a:r>
          </a:p>
        </p:txBody>
      </p:sp>
      <p:sp>
        <p:nvSpPr>
          <p:cNvPr id="31" name="Rectangle 30"/>
          <p:cNvSpPr/>
          <p:nvPr/>
        </p:nvSpPr>
        <p:spPr>
          <a:xfrm>
            <a:off x="2880360" y="1618488"/>
            <a:ext cx="1792224" cy="329184"/>
          </a:xfrm>
          <a:prstGeom prst="rect">
            <a:avLst/>
          </a:prstGeom>
          <a:solidFill>
            <a:srgbClr val="1A3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2935224" y="1655064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10B981"/>
                </a:solidFill>
              </a:rPr>
              <a:t>✅ Yes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709160" y="1618488"/>
            <a:ext cx="1609344" cy="329184"/>
          </a:xfrm>
          <a:prstGeom prst="rect">
            <a:avLst/>
          </a:prstGeom>
          <a:solidFill>
            <a:srgbClr val="1E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4764024" y="1655064"/>
            <a:ext cx="155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10B981"/>
                </a:solidFill>
              </a:rPr>
              <a:t>✅ Yes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355080" y="1618488"/>
            <a:ext cx="1426464" cy="329184"/>
          </a:xfrm>
          <a:prstGeom prst="rect">
            <a:avLst/>
          </a:prstGeom>
          <a:solidFill>
            <a:srgbClr val="1E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6409944" y="1655064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EF4444"/>
                </a:solidFill>
              </a:rPr>
              <a:t>❌ No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818120" y="1618488"/>
            <a:ext cx="1792224" cy="329184"/>
          </a:xfrm>
          <a:prstGeom prst="rect">
            <a:avLst/>
          </a:prstGeom>
          <a:solidFill>
            <a:srgbClr val="1E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7872984" y="1655064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F59E0B"/>
                </a:solidFill>
              </a:rPr>
              <a:t>⚡ Basic</a:t>
            </a:r>
          </a:p>
        </p:txBody>
      </p:sp>
      <p:sp>
        <p:nvSpPr>
          <p:cNvPr id="39" name="Rectangle 38"/>
          <p:cNvSpPr/>
          <p:nvPr/>
        </p:nvSpPr>
        <p:spPr>
          <a:xfrm>
            <a:off x="9646920" y="1618488"/>
            <a:ext cx="1426464" cy="329184"/>
          </a:xfrm>
          <a:prstGeom prst="rect">
            <a:avLst/>
          </a:prstGeom>
          <a:solidFill>
            <a:srgbClr val="1E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9701784" y="1655064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EF4444"/>
                </a:solidFill>
              </a:rPr>
              <a:t>❌ No</a:t>
            </a:r>
          </a:p>
        </p:txBody>
      </p:sp>
      <p:sp>
        <p:nvSpPr>
          <p:cNvPr id="41" name="Rectangle 40"/>
          <p:cNvSpPr/>
          <p:nvPr/>
        </p:nvSpPr>
        <p:spPr>
          <a:xfrm>
            <a:off x="320040" y="1947672"/>
            <a:ext cx="2523744" cy="329184"/>
          </a:xfrm>
          <a:prstGeom prst="rect">
            <a:avLst/>
          </a:prstGeom>
          <a:solidFill>
            <a:srgbClr val="1620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374904" y="1984248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CBD5E1"/>
                </a:solidFill>
              </a:rPr>
              <a:t>Built-in RAG Pipeline</a:t>
            </a:r>
          </a:p>
        </p:txBody>
      </p:sp>
      <p:sp>
        <p:nvSpPr>
          <p:cNvPr id="43" name="Rectangle 42"/>
          <p:cNvSpPr/>
          <p:nvPr/>
        </p:nvSpPr>
        <p:spPr>
          <a:xfrm>
            <a:off x="2880360" y="1947672"/>
            <a:ext cx="1792224" cy="329184"/>
          </a:xfrm>
          <a:prstGeom prst="rect">
            <a:avLst/>
          </a:prstGeom>
          <a:solidFill>
            <a:srgbClr val="1A3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2935224" y="1984248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10B981"/>
                </a:solidFill>
              </a:rPr>
              <a:t>✅ Yes</a:t>
            </a:r>
          </a:p>
        </p:txBody>
      </p:sp>
      <p:sp>
        <p:nvSpPr>
          <p:cNvPr id="45" name="Rectangle 44"/>
          <p:cNvSpPr/>
          <p:nvPr/>
        </p:nvSpPr>
        <p:spPr>
          <a:xfrm>
            <a:off x="4709160" y="1947672"/>
            <a:ext cx="1609344" cy="329184"/>
          </a:xfrm>
          <a:prstGeom prst="rect">
            <a:avLst/>
          </a:prstGeom>
          <a:solidFill>
            <a:srgbClr val="1620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4764024" y="1984248"/>
            <a:ext cx="155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10B981"/>
                </a:solidFill>
              </a:rPr>
              <a:t>✅ Yes</a:t>
            </a:r>
          </a:p>
        </p:txBody>
      </p:sp>
      <p:sp>
        <p:nvSpPr>
          <p:cNvPr id="47" name="Rectangle 46"/>
          <p:cNvSpPr/>
          <p:nvPr/>
        </p:nvSpPr>
        <p:spPr>
          <a:xfrm>
            <a:off x="6355080" y="1947672"/>
            <a:ext cx="1426464" cy="329184"/>
          </a:xfrm>
          <a:prstGeom prst="rect">
            <a:avLst/>
          </a:prstGeom>
          <a:solidFill>
            <a:srgbClr val="1620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6409944" y="1984248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F59E0B"/>
                </a:solidFill>
              </a:rPr>
              <a:t>⚡ DIY</a:t>
            </a:r>
          </a:p>
        </p:txBody>
      </p:sp>
      <p:sp>
        <p:nvSpPr>
          <p:cNvPr id="49" name="Rectangle 48"/>
          <p:cNvSpPr/>
          <p:nvPr/>
        </p:nvSpPr>
        <p:spPr>
          <a:xfrm>
            <a:off x="7818120" y="1947672"/>
            <a:ext cx="1792224" cy="329184"/>
          </a:xfrm>
          <a:prstGeom prst="rect">
            <a:avLst/>
          </a:prstGeom>
          <a:solidFill>
            <a:srgbClr val="1620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7872984" y="1984248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EF4444"/>
                </a:solidFill>
              </a:rPr>
              <a:t>❌ No</a:t>
            </a:r>
          </a:p>
        </p:txBody>
      </p:sp>
      <p:sp>
        <p:nvSpPr>
          <p:cNvPr id="51" name="Rectangle 50"/>
          <p:cNvSpPr/>
          <p:nvPr/>
        </p:nvSpPr>
        <p:spPr>
          <a:xfrm>
            <a:off x="9646920" y="1947672"/>
            <a:ext cx="1426464" cy="329184"/>
          </a:xfrm>
          <a:prstGeom prst="rect">
            <a:avLst/>
          </a:prstGeom>
          <a:solidFill>
            <a:srgbClr val="1620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9701784" y="1984248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EF4444"/>
                </a:solidFill>
              </a:rPr>
              <a:t>❌ No</a:t>
            </a:r>
          </a:p>
        </p:txBody>
      </p:sp>
      <p:sp>
        <p:nvSpPr>
          <p:cNvPr id="53" name="Rectangle 52"/>
          <p:cNvSpPr/>
          <p:nvPr/>
        </p:nvSpPr>
        <p:spPr>
          <a:xfrm>
            <a:off x="320040" y="2276856"/>
            <a:ext cx="2523744" cy="329184"/>
          </a:xfrm>
          <a:prstGeom prst="rect">
            <a:avLst/>
          </a:prstGeom>
          <a:solidFill>
            <a:srgbClr val="1E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374904" y="2313432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CBD5E1"/>
                </a:solidFill>
              </a:rPr>
              <a:t>PII / Guardrails (Presidio)</a:t>
            </a:r>
          </a:p>
        </p:txBody>
      </p:sp>
      <p:sp>
        <p:nvSpPr>
          <p:cNvPr id="55" name="Rectangle 54"/>
          <p:cNvSpPr/>
          <p:nvPr/>
        </p:nvSpPr>
        <p:spPr>
          <a:xfrm>
            <a:off x="2880360" y="2276856"/>
            <a:ext cx="1792224" cy="329184"/>
          </a:xfrm>
          <a:prstGeom prst="rect">
            <a:avLst/>
          </a:prstGeom>
          <a:solidFill>
            <a:srgbClr val="1A3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TextBox 55"/>
          <p:cNvSpPr txBox="1"/>
          <p:nvPr/>
        </p:nvSpPr>
        <p:spPr>
          <a:xfrm>
            <a:off x="2935224" y="2313432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10B981"/>
                </a:solidFill>
              </a:rPr>
              <a:t>✅ Yes</a:t>
            </a:r>
          </a:p>
        </p:txBody>
      </p:sp>
      <p:sp>
        <p:nvSpPr>
          <p:cNvPr id="57" name="Rectangle 56"/>
          <p:cNvSpPr/>
          <p:nvPr/>
        </p:nvSpPr>
        <p:spPr>
          <a:xfrm>
            <a:off x="4709160" y="2276856"/>
            <a:ext cx="1609344" cy="329184"/>
          </a:xfrm>
          <a:prstGeom prst="rect">
            <a:avLst/>
          </a:prstGeom>
          <a:solidFill>
            <a:srgbClr val="1E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TextBox 57"/>
          <p:cNvSpPr txBox="1"/>
          <p:nvPr/>
        </p:nvSpPr>
        <p:spPr>
          <a:xfrm>
            <a:off x="4764024" y="2313432"/>
            <a:ext cx="155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F59E0B"/>
                </a:solidFill>
              </a:rPr>
              <a:t>⚡ Partial</a:t>
            </a:r>
          </a:p>
        </p:txBody>
      </p:sp>
      <p:sp>
        <p:nvSpPr>
          <p:cNvPr id="59" name="Rectangle 58"/>
          <p:cNvSpPr/>
          <p:nvPr/>
        </p:nvSpPr>
        <p:spPr>
          <a:xfrm>
            <a:off x="6355080" y="2276856"/>
            <a:ext cx="1426464" cy="329184"/>
          </a:xfrm>
          <a:prstGeom prst="rect">
            <a:avLst/>
          </a:prstGeom>
          <a:solidFill>
            <a:srgbClr val="1E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TextBox 59"/>
          <p:cNvSpPr txBox="1"/>
          <p:nvPr/>
        </p:nvSpPr>
        <p:spPr>
          <a:xfrm>
            <a:off x="6409944" y="2313432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EF4444"/>
                </a:solidFill>
              </a:rPr>
              <a:t>❌ No</a:t>
            </a:r>
          </a:p>
        </p:txBody>
      </p:sp>
      <p:sp>
        <p:nvSpPr>
          <p:cNvPr id="61" name="Rectangle 60"/>
          <p:cNvSpPr/>
          <p:nvPr/>
        </p:nvSpPr>
        <p:spPr>
          <a:xfrm>
            <a:off x="7818120" y="2276856"/>
            <a:ext cx="1792224" cy="329184"/>
          </a:xfrm>
          <a:prstGeom prst="rect">
            <a:avLst/>
          </a:prstGeom>
          <a:solidFill>
            <a:srgbClr val="1E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TextBox 61"/>
          <p:cNvSpPr txBox="1"/>
          <p:nvPr/>
        </p:nvSpPr>
        <p:spPr>
          <a:xfrm>
            <a:off x="7872984" y="2313432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EF4444"/>
                </a:solidFill>
              </a:rPr>
              <a:t>❌ No</a:t>
            </a:r>
          </a:p>
        </p:txBody>
      </p:sp>
      <p:sp>
        <p:nvSpPr>
          <p:cNvPr id="63" name="Rectangle 62"/>
          <p:cNvSpPr/>
          <p:nvPr/>
        </p:nvSpPr>
        <p:spPr>
          <a:xfrm>
            <a:off x="9646920" y="2276856"/>
            <a:ext cx="1426464" cy="329184"/>
          </a:xfrm>
          <a:prstGeom prst="rect">
            <a:avLst/>
          </a:prstGeom>
          <a:solidFill>
            <a:srgbClr val="1E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TextBox 63"/>
          <p:cNvSpPr txBox="1"/>
          <p:nvPr/>
        </p:nvSpPr>
        <p:spPr>
          <a:xfrm>
            <a:off x="9701784" y="2313432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EF4444"/>
                </a:solidFill>
              </a:rPr>
              <a:t>❌ No</a:t>
            </a:r>
          </a:p>
        </p:txBody>
      </p:sp>
      <p:sp>
        <p:nvSpPr>
          <p:cNvPr id="65" name="Rectangle 64"/>
          <p:cNvSpPr/>
          <p:nvPr/>
        </p:nvSpPr>
        <p:spPr>
          <a:xfrm>
            <a:off x="320040" y="2606040"/>
            <a:ext cx="2523744" cy="329184"/>
          </a:xfrm>
          <a:prstGeom prst="rect">
            <a:avLst/>
          </a:prstGeom>
          <a:solidFill>
            <a:srgbClr val="1620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6" name="TextBox 65"/>
          <p:cNvSpPr txBox="1"/>
          <p:nvPr/>
        </p:nvSpPr>
        <p:spPr>
          <a:xfrm>
            <a:off x="374904" y="2642616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CBD5E1"/>
                </a:solidFill>
              </a:rPr>
              <a:t>Hallucination Detection</a:t>
            </a:r>
          </a:p>
        </p:txBody>
      </p:sp>
      <p:sp>
        <p:nvSpPr>
          <p:cNvPr id="67" name="Rectangle 66"/>
          <p:cNvSpPr/>
          <p:nvPr/>
        </p:nvSpPr>
        <p:spPr>
          <a:xfrm>
            <a:off x="2880360" y="2606040"/>
            <a:ext cx="1792224" cy="329184"/>
          </a:xfrm>
          <a:prstGeom prst="rect">
            <a:avLst/>
          </a:prstGeom>
          <a:solidFill>
            <a:srgbClr val="1A3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8" name="TextBox 67"/>
          <p:cNvSpPr txBox="1"/>
          <p:nvPr/>
        </p:nvSpPr>
        <p:spPr>
          <a:xfrm>
            <a:off x="2935224" y="2642616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10B981"/>
                </a:solidFill>
              </a:rPr>
              <a:t>✅ Yes</a:t>
            </a:r>
          </a:p>
        </p:txBody>
      </p:sp>
      <p:sp>
        <p:nvSpPr>
          <p:cNvPr id="69" name="Rectangle 68"/>
          <p:cNvSpPr/>
          <p:nvPr/>
        </p:nvSpPr>
        <p:spPr>
          <a:xfrm>
            <a:off x="4709160" y="2606040"/>
            <a:ext cx="1609344" cy="329184"/>
          </a:xfrm>
          <a:prstGeom prst="rect">
            <a:avLst/>
          </a:prstGeom>
          <a:solidFill>
            <a:srgbClr val="1620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0" name="TextBox 69"/>
          <p:cNvSpPr txBox="1"/>
          <p:nvPr/>
        </p:nvSpPr>
        <p:spPr>
          <a:xfrm>
            <a:off x="4764024" y="2642616"/>
            <a:ext cx="155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F59E0B"/>
                </a:solidFill>
              </a:rPr>
              <a:t>⚡ Partial</a:t>
            </a:r>
          </a:p>
        </p:txBody>
      </p:sp>
      <p:sp>
        <p:nvSpPr>
          <p:cNvPr id="71" name="Rectangle 70"/>
          <p:cNvSpPr/>
          <p:nvPr/>
        </p:nvSpPr>
        <p:spPr>
          <a:xfrm>
            <a:off x="6355080" y="2606040"/>
            <a:ext cx="1426464" cy="329184"/>
          </a:xfrm>
          <a:prstGeom prst="rect">
            <a:avLst/>
          </a:prstGeom>
          <a:solidFill>
            <a:srgbClr val="1620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2" name="TextBox 71"/>
          <p:cNvSpPr txBox="1"/>
          <p:nvPr/>
        </p:nvSpPr>
        <p:spPr>
          <a:xfrm>
            <a:off x="6409944" y="2642616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EF4444"/>
                </a:solidFill>
              </a:rPr>
              <a:t>❌ No</a:t>
            </a:r>
          </a:p>
        </p:txBody>
      </p:sp>
      <p:sp>
        <p:nvSpPr>
          <p:cNvPr id="73" name="Rectangle 72"/>
          <p:cNvSpPr/>
          <p:nvPr/>
        </p:nvSpPr>
        <p:spPr>
          <a:xfrm>
            <a:off x="7818120" y="2606040"/>
            <a:ext cx="1792224" cy="329184"/>
          </a:xfrm>
          <a:prstGeom prst="rect">
            <a:avLst/>
          </a:prstGeom>
          <a:solidFill>
            <a:srgbClr val="1620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4" name="TextBox 73"/>
          <p:cNvSpPr txBox="1"/>
          <p:nvPr/>
        </p:nvSpPr>
        <p:spPr>
          <a:xfrm>
            <a:off x="7872984" y="2642616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EF4444"/>
                </a:solidFill>
              </a:rPr>
              <a:t>❌ No</a:t>
            </a:r>
          </a:p>
        </p:txBody>
      </p:sp>
      <p:sp>
        <p:nvSpPr>
          <p:cNvPr id="75" name="Rectangle 74"/>
          <p:cNvSpPr/>
          <p:nvPr/>
        </p:nvSpPr>
        <p:spPr>
          <a:xfrm>
            <a:off x="9646920" y="2606040"/>
            <a:ext cx="1426464" cy="329184"/>
          </a:xfrm>
          <a:prstGeom prst="rect">
            <a:avLst/>
          </a:prstGeom>
          <a:solidFill>
            <a:srgbClr val="1620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6" name="TextBox 75"/>
          <p:cNvSpPr txBox="1"/>
          <p:nvPr/>
        </p:nvSpPr>
        <p:spPr>
          <a:xfrm>
            <a:off x="9701784" y="2642616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EF4444"/>
                </a:solidFill>
              </a:rPr>
              <a:t>❌ No</a:t>
            </a:r>
          </a:p>
        </p:txBody>
      </p:sp>
      <p:sp>
        <p:nvSpPr>
          <p:cNvPr id="77" name="Rectangle 76"/>
          <p:cNvSpPr/>
          <p:nvPr/>
        </p:nvSpPr>
        <p:spPr>
          <a:xfrm>
            <a:off x="320040" y="2935224"/>
            <a:ext cx="2523744" cy="329184"/>
          </a:xfrm>
          <a:prstGeom prst="rect">
            <a:avLst/>
          </a:prstGeom>
          <a:solidFill>
            <a:srgbClr val="1E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8" name="TextBox 77"/>
          <p:cNvSpPr txBox="1"/>
          <p:nvPr/>
        </p:nvSpPr>
        <p:spPr>
          <a:xfrm>
            <a:off x="374904" y="2971800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CBD5E1"/>
                </a:solidFill>
              </a:rPr>
              <a:t>Multi-Agent Orchestration</a:t>
            </a:r>
          </a:p>
        </p:txBody>
      </p:sp>
      <p:sp>
        <p:nvSpPr>
          <p:cNvPr id="79" name="Rectangle 78"/>
          <p:cNvSpPr/>
          <p:nvPr/>
        </p:nvSpPr>
        <p:spPr>
          <a:xfrm>
            <a:off x="2880360" y="2935224"/>
            <a:ext cx="1792224" cy="329184"/>
          </a:xfrm>
          <a:prstGeom prst="rect">
            <a:avLst/>
          </a:prstGeom>
          <a:solidFill>
            <a:srgbClr val="1A3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0" name="TextBox 79"/>
          <p:cNvSpPr txBox="1"/>
          <p:nvPr/>
        </p:nvSpPr>
        <p:spPr>
          <a:xfrm>
            <a:off x="2935224" y="2971800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10B981"/>
                </a:solidFill>
              </a:rPr>
              <a:t>✅ Yes</a:t>
            </a:r>
          </a:p>
        </p:txBody>
      </p:sp>
      <p:sp>
        <p:nvSpPr>
          <p:cNvPr id="81" name="Rectangle 80"/>
          <p:cNvSpPr/>
          <p:nvPr/>
        </p:nvSpPr>
        <p:spPr>
          <a:xfrm>
            <a:off x="4709160" y="2935224"/>
            <a:ext cx="1609344" cy="329184"/>
          </a:xfrm>
          <a:prstGeom prst="rect">
            <a:avLst/>
          </a:prstGeom>
          <a:solidFill>
            <a:srgbClr val="1E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2" name="TextBox 81"/>
          <p:cNvSpPr txBox="1"/>
          <p:nvPr/>
        </p:nvSpPr>
        <p:spPr>
          <a:xfrm>
            <a:off x="4764024" y="2971800"/>
            <a:ext cx="155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10B981"/>
                </a:solidFill>
              </a:rPr>
              <a:t>✅ Yes</a:t>
            </a:r>
          </a:p>
        </p:txBody>
      </p:sp>
      <p:sp>
        <p:nvSpPr>
          <p:cNvPr id="83" name="Rectangle 82"/>
          <p:cNvSpPr/>
          <p:nvPr/>
        </p:nvSpPr>
        <p:spPr>
          <a:xfrm>
            <a:off x="6355080" y="2935224"/>
            <a:ext cx="1426464" cy="329184"/>
          </a:xfrm>
          <a:prstGeom prst="rect">
            <a:avLst/>
          </a:prstGeom>
          <a:solidFill>
            <a:srgbClr val="1E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4" name="TextBox 83"/>
          <p:cNvSpPr txBox="1"/>
          <p:nvPr/>
        </p:nvSpPr>
        <p:spPr>
          <a:xfrm>
            <a:off x="6409944" y="297180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10B981"/>
                </a:solidFill>
              </a:rPr>
              <a:t>✅ Yes</a:t>
            </a:r>
          </a:p>
        </p:txBody>
      </p:sp>
      <p:sp>
        <p:nvSpPr>
          <p:cNvPr id="85" name="Rectangle 84"/>
          <p:cNvSpPr/>
          <p:nvPr/>
        </p:nvSpPr>
        <p:spPr>
          <a:xfrm>
            <a:off x="7818120" y="2935224"/>
            <a:ext cx="1792224" cy="329184"/>
          </a:xfrm>
          <a:prstGeom prst="rect">
            <a:avLst/>
          </a:prstGeom>
          <a:solidFill>
            <a:srgbClr val="1E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6" name="TextBox 85"/>
          <p:cNvSpPr txBox="1"/>
          <p:nvPr/>
        </p:nvSpPr>
        <p:spPr>
          <a:xfrm>
            <a:off x="7872984" y="2971800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10B981"/>
                </a:solidFill>
              </a:rPr>
              <a:t>✅ Yes</a:t>
            </a:r>
          </a:p>
        </p:txBody>
      </p:sp>
      <p:sp>
        <p:nvSpPr>
          <p:cNvPr id="87" name="Rectangle 86"/>
          <p:cNvSpPr/>
          <p:nvPr/>
        </p:nvSpPr>
        <p:spPr>
          <a:xfrm>
            <a:off x="9646920" y="2935224"/>
            <a:ext cx="1426464" cy="329184"/>
          </a:xfrm>
          <a:prstGeom prst="rect">
            <a:avLst/>
          </a:prstGeom>
          <a:solidFill>
            <a:srgbClr val="1E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8" name="TextBox 87"/>
          <p:cNvSpPr txBox="1"/>
          <p:nvPr/>
        </p:nvSpPr>
        <p:spPr>
          <a:xfrm>
            <a:off x="9701784" y="297180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10B981"/>
                </a:solidFill>
              </a:rPr>
              <a:t>✅ Yes</a:t>
            </a:r>
          </a:p>
        </p:txBody>
      </p:sp>
      <p:sp>
        <p:nvSpPr>
          <p:cNvPr id="89" name="Rectangle 88"/>
          <p:cNvSpPr/>
          <p:nvPr/>
        </p:nvSpPr>
        <p:spPr>
          <a:xfrm>
            <a:off x="320040" y="3264408"/>
            <a:ext cx="2523744" cy="329184"/>
          </a:xfrm>
          <a:prstGeom prst="rect">
            <a:avLst/>
          </a:prstGeom>
          <a:solidFill>
            <a:srgbClr val="1620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0" name="TextBox 89"/>
          <p:cNvSpPr txBox="1"/>
          <p:nvPr/>
        </p:nvSpPr>
        <p:spPr>
          <a:xfrm>
            <a:off x="374904" y="3300984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CBD5E1"/>
                </a:solidFill>
              </a:rPr>
              <a:t>Voice Agent (STT/TTS)</a:t>
            </a:r>
          </a:p>
        </p:txBody>
      </p:sp>
      <p:sp>
        <p:nvSpPr>
          <p:cNvPr id="91" name="Rectangle 90"/>
          <p:cNvSpPr/>
          <p:nvPr/>
        </p:nvSpPr>
        <p:spPr>
          <a:xfrm>
            <a:off x="2880360" y="3264408"/>
            <a:ext cx="1792224" cy="329184"/>
          </a:xfrm>
          <a:prstGeom prst="rect">
            <a:avLst/>
          </a:prstGeom>
          <a:solidFill>
            <a:srgbClr val="1A3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2" name="TextBox 91"/>
          <p:cNvSpPr txBox="1"/>
          <p:nvPr/>
        </p:nvSpPr>
        <p:spPr>
          <a:xfrm>
            <a:off x="2935224" y="3300984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10B981"/>
                </a:solidFill>
              </a:rPr>
              <a:t>✅ Yes</a:t>
            </a:r>
          </a:p>
        </p:txBody>
      </p:sp>
      <p:sp>
        <p:nvSpPr>
          <p:cNvPr id="93" name="Rectangle 92"/>
          <p:cNvSpPr/>
          <p:nvPr/>
        </p:nvSpPr>
        <p:spPr>
          <a:xfrm>
            <a:off x="4709160" y="3264408"/>
            <a:ext cx="1609344" cy="329184"/>
          </a:xfrm>
          <a:prstGeom prst="rect">
            <a:avLst/>
          </a:prstGeom>
          <a:solidFill>
            <a:srgbClr val="1620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4" name="TextBox 93"/>
          <p:cNvSpPr txBox="1"/>
          <p:nvPr/>
        </p:nvSpPr>
        <p:spPr>
          <a:xfrm>
            <a:off x="4764024" y="3300984"/>
            <a:ext cx="155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EF4444"/>
                </a:solidFill>
              </a:rPr>
              <a:t>❌ No</a:t>
            </a:r>
          </a:p>
        </p:txBody>
      </p:sp>
      <p:sp>
        <p:nvSpPr>
          <p:cNvPr id="95" name="Rectangle 94"/>
          <p:cNvSpPr/>
          <p:nvPr/>
        </p:nvSpPr>
        <p:spPr>
          <a:xfrm>
            <a:off x="6355080" y="3264408"/>
            <a:ext cx="1426464" cy="329184"/>
          </a:xfrm>
          <a:prstGeom prst="rect">
            <a:avLst/>
          </a:prstGeom>
          <a:solidFill>
            <a:srgbClr val="1620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6" name="TextBox 95"/>
          <p:cNvSpPr txBox="1"/>
          <p:nvPr/>
        </p:nvSpPr>
        <p:spPr>
          <a:xfrm>
            <a:off x="6409944" y="3300984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EF4444"/>
                </a:solidFill>
              </a:rPr>
              <a:t>❌ No</a:t>
            </a:r>
          </a:p>
        </p:txBody>
      </p:sp>
      <p:sp>
        <p:nvSpPr>
          <p:cNvPr id="97" name="Rectangle 96"/>
          <p:cNvSpPr/>
          <p:nvPr/>
        </p:nvSpPr>
        <p:spPr>
          <a:xfrm>
            <a:off x="7818120" y="3264408"/>
            <a:ext cx="1792224" cy="329184"/>
          </a:xfrm>
          <a:prstGeom prst="rect">
            <a:avLst/>
          </a:prstGeom>
          <a:solidFill>
            <a:srgbClr val="1620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8" name="TextBox 97"/>
          <p:cNvSpPr txBox="1"/>
          <p:nvPr/>
        </p:nvSpPr>
        <p:spPr>
          <a:xfrm>
            <a:off x="7872984" y="3300984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EF4444"/>
                </a:solidFill>
              </a:rPr>
              <a:t>❌ No</a:t>
            </a:r>
          </a:p>
        </p:txBody>
      </p:sp>
      <p:sp>
        <p:nvSpPr>
          <p:cNvPr id="99" name="Rectangle 98"/>
          <p:cNvSpPr/>
          <p:nvPr/>
        </p:nvSpPr>
        <p:spPr>
          <a:xfrm>
            <a:off x="9646920" y="3264408"/>
            <a:ext cx="1426464" cy="329184"/>
          </a:xfrm>
          <a:prstGeom prst="rect">
            <a:avLst/>
          </a:prstGeom>
          <a:solidFill>
            <a:srgbClr val="1620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0" name="TextBox 99"/>
          <p:cNvSpPr txBox="1"/>
          <p:nvPr/>
        </p:nvSpPr>
        <p:spPr>
          <a:xfrm>
            <a:off x="9701784" y="3300984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EF4444"/>
                </a:solidFill>
              </a:rPr>
              <a:t>❌ No</a:t>
            </a:r>
          </a:p>
        </p:txBody>
      </p:sp>
      <p:sp>
        <p:nvSpPr>
          <p:cNvPr id="101" name="Rectangle 100"/>
          <p:cNvSpPr/>
          <p:nvPr/>
        </p:nvSpPr>
        <p:spPr>
          <a:xfrm>
            <a:off x="320040" y="3593592"/>
            <a:ext cx="2523744" cy="329184"/>
          </a:xfrm>
          <a:prstGeom prst="rect">
            <a:avLst/>
          </a:prstGeom>
          <a:solidFill>
            <a:srgbClr val="1E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2" name="TextBox 101"/>
          <p:cNvSpPr txBox="1"/>
          <p:nvPr/>
        </p:nvSpPr>
        <p:spPr>
          <a:xfrm>
            <a:off x="374904" y="3630168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CBD5E1"/>
                </a:solidFill>
              </a:rPr>
              <a:t>Control Plane (live modify)</a:t>
            </a:r>
          </a:p>
        </p:txBody>
      </p:sp>
      <p:sp>
        <p:nvSpPr>
          <p:cNvPr id="103" name="Rectangle 102"/>
          <p:cNvSpPr/>
          <p:nvPr/>
        </p:nvSpPr>
        <p:spPr>
          <a:xfrm>
            <a:off x="2880360" y="3593592"/>
            <a:ext cx="1792224" cy="329184"/>
          </a:xfrm>
          <a:prstGeom prst="rect">
            <a:avLst/>
          </a:prstGeom>
          <a:solidFill>
            <a:srgbClr val="1A3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4" name="TextBox 103"/>
          <p:cNvSpPr txBox="1"/>
          <p:nvPr/>
        </p:nvSpPr>
        <p:spPr>
          <a:xfrm>
            <a:off x="2935224" y="3630168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10B981"/>
                </a:solidFill>
              </a:rPr>
              <a:t>✅ Yes</a:t>
            </a:r>
          </a:p>
        </p:txBody>
      </p:sp>
      <p:sp>
        <p:nvSpPr>
          <p:cNvPr id="105" name="Rectangle 104"/>
          <p:cNvSpPr/>
          <p:nvPr/>
        </p:nvSpPr>
        <p:spPr>
          <a:xfrm>
            <a:off x="4709160" y="3593592"/>
            <a:ext cx="1609344" cy="329184"/>
          </a:xfrm>
          <a:prstGeom prst="rect">
            <a:avLst/>
          </a:prstGeom>
          <a:solidFill>
            <a:srgbClr val="1E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6" name="TextBox 105"/>
          <p:cNvSpPr txBox="1"/>
          <p:nvPr/>
        </p:nvSpPr>
        <p:spPr>
          <a:xfrm>
            <a:off x="4764024" y="3630168"/>
            <a:ext cx="155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F59E0B"/>
                </a:solidFill>
              </a:rPr>
              <a:t>⚡ Basic</a:t>
            </a:r>
          </a:p>
        </p:txBody>
      </p:sp>
      <p:sp>
        <p:nvSpPr>
          <p:cNvPr id="107" name="Rectangle 106"/>
          <p:cNvSpPr/>
          <p:nvPr/>
        </p:nvSpPr>
        <p:spPr>
          <a:xfrm>
            <a:off x="6355080" y="3593592"/>
            <a:ext cx="1426464" cy="329184"/>
          </a:xfrm>
          <a:prstGeom prst="rect">
            <a:avLst/>
          </a:prstGeom>
          <a:solidFill>
            <a:srgbClr val="1E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8" name="TextBox 107"/>
          <p:cNvSpPr txBox="1"/>
          <p:nvPr/>
        </p:nvSpPr>
        <p:spPr>
          <a:xfrm>
            <a:off x="6409944" y="3630168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EF4444"/>
                </a:solidFill>
              </a:rPr>
              <a:t>❌ No</a:t>
            </a:r>
          </a:p>
        </p:txBody>
      </p:sp>
      <p:sp>
        <p:nvSpPr>
          <p:cNvPr id="109" name="Rectangle 108"/>
          <p:cNvSpPr/>
          <p:nvPr/>
        </p:nvSpPr>
        <p:spPr>
          <a:xfrm>
            <a:off x="7818120" y="3593592"/>
            <a:ext cx="1792224" cy="329184"/>
          </a:xfrm>
          <a:prstGeom prst="rect">
            <a:avLst/>
          </a:prstGeom>
          <a:solidFill>
            <a:srgbClr val="1E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0" name="TextBox 109"/>
          <p:cNvSpPr txBox="1"/>
          <p:nvPr/>
        </p:nvSpPr>
        <p:spPr>
          <a:xfrm>
            <a:off x="7872984" y="3630168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EF4444"/>
                </a:solidFill>
              </a:rPr>
              <a:t>❌ No</a:t>
            </a:r>
          </a:p>
        </p:txBody>
      </p:sp>
      <p:sp>
        <p:nvSpPr>
          <p:cNvPr id="111" name="Rectangle 110"/>
          <p:cNvSpPr/>
          <p:nvPr/>
        </p:nvSpPr>
        <p:spPr>
          <a:xfrm>
            <a:off x="9646920" y="3593592"/>
            <a:ext cx="1426464" cy="329184"/>
          </a:xfrm>
          <a:prstGeom prst="rect">
            <a:avLst/>
          </a:prstGeom>
          <a:solidFill>
            <a:srgbClr val="1E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2" name="TextBox 111"/>
          <p:cNvSpPr txBox="1"/>
          <p:nvPr/>
        </p:nvSpPr>
        <p:spPr>
          <a:xfrm>
            <a:off x="9701784" y="3630168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EF4444"/>
                </a:solidFill>
              </a:rPr>
              <a:t>❌ No</a:t>
            </a:r>
          </a:p>
        </p:txBody>
      </p:sp>
      <p:sp>
        <p:nvSpPr>
          <p:cNvPr id="113" name="Rectangle 112"/>
          <p:cNvSpPr/>
          <p:nvPr/>
        </p:nvSpPr>
        <p:spPr>
          <a:xfrm>
            <a:off x="320040" y="3922776"/>
            <a:ext cx="2523744" cy="329184"/>
          </a:xfrm>
          <a:prstGeom prst="rect">
            <a:avLst/>
          </a:prstGeom>
          <a:solidFill>
            <a:srgbClr val="1620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4" name="TextBox 113"/>
          <p:cNvSpPr txBox="1"/>
          <p:nvPr/>
        </p:nvSpPr>
        <p:spPr>
          <a:xfrm>
            <a:off x="374904" y="3959352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CBD5E1"/>
                </a:solidFill>
              </a:rPr>
              <a:t>Audit Logs + RBAC</a:t>
            </a:r>
          </a:p>
        </p:txBody>
      </p:sp>
      <p:sp>
        <p:nvSpPr>
          <p:cNvPr id="115" name="Rectangle 114"/>
          <p:cNvSpPr/>
          <p:nvPr/>
        </p:nvSpPr>
        <p:spPr>
          <a:xfrm>
            <a:off x="2880360" y="3922776"/>
            <a:ext cx="1792224" cy="329184"/>
          </a:xfrm>
          <a:prstGeom prst="rect">
            <a:avLst/>
          </a:prstGeom>
          <a:solidFill>
            <a:srgbClr val="1A3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6" name="TextBox 115"/>
          <p:cNvSpPr txBox="1"/>
          <p:nvPr/>
        </p:nvSpPr>
        <p:spPr>
          <a:xfrm>
            <a:off x="2935224" y="3959352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10B981"/>
                </a:solidFill>
              </a:rPr>
              <a:t>✅ Yes</a:t>
            </a:r>
          </a:p>
        </p:txBody>
      </p:sp>
      <p:sp>
        <p:nvSpPr>
          <p:cNvPr id="117" name="Rectangle 116"/>
          <p:cNvSpPr/>
          <p:nvPr/>
        </p:nvSpPr>
        <p:spPr>
          <a:xfrm>
            <a:off x="4709160" y="3922776"/>
            <a:ext cx="1609344" cy="329184"/>
          </a:xfrm>
          <a:prstGeom prst="rect">
            <a:avLst/>
          </a:prstGeom>
          <a:solidFill>
            <a:srgbClr val="1620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8" name="TextBox 117"/>
          <p:cNvSpPr txBox="1"/>
          <p:nvPr/>
        </p:nvSpPr>
        <p:spPr>
          <a:xfrm>
            <a:off x="4764024" y="3959352"/>
            <a:ext cx="155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F59E0B"/>
                </a:solidFill>
              </a:rPr>
              <a:t>⚡ Partial</a:t>
            </a:r>
          </a:p>
        </p:txBody>
      </p:sp>
      <p:sp>
        <p:nvSpPr>
          <p:cNvPr id="119" name="Rectangle 118"/>
          <p:cNvSpPr/>
          <p:nvPr/>
        </p:nvSpPr>
        <p:spPr>
          <a:xfrm>
            <a:off x="6355080" y="3922776"/>
            <a:ext cx="1426464" cy="329184"/>
          </a:xfrm>
          <a:prstGeom prst="rect">
            <a:avLst/>
          </a:prstGeom>
          <a:solidFill>
            <a:srgbClr val="1620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0" name="TextBox 119"/>
          <p:cNvSpPr txBox="1"/>
          <p:nvPr/>
        </p:nvSpPr>
        <p:spPr>
          <a:xfrm>
            <a:off x="6409944" y="3959352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EF4444"/>
                </a:solidFill>
              </a:rPr>
              <a:t>❌ No</a:t>
            </a:r>
          </a:p>
        </p:txBody>
      </p:sp>
      <p:sp>
        <p:nvSpPr>
          <p:cNvPr id="121" name="Rectangle 120"/>
          <p:cNvSpPr/>
          <p:nvPr/>
        </p:nvSpPr>
        <p:spPr>
          <a:xfrm>
            <a:off x="7818120" y="3922776"/>
            <a:ext cx="1792224" cy="329184"/>
          </a:xfrm>
          <a:prstGeom prst="rect">
            <a:avLst/>
          </a:prstGeom>
          <a:solidFill>
            <a:srgbClr val="1620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2" name="TextBox 121"/>
          <p:cNvSpPr txBox="1"/>
          <p:nvPr/>
        </p:nvSpPr>
        <p:spPr>
          <a:xfrm>
            <a:off x="7872984" y="3959352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EF4444"/>
                </a:solidFill>
              </a:rPr>
              <a:t>❌ No</a:t>
            </a:r>
          </a:p>
        </p:txBody>
      </p:sp>
      <p:sp>
        <p:nvSpPr>
          <p:cNvPr id="123" name="Rectangle 122"/>
          <p:cNvSpPr/>
          <p:nvPr/>
        </p:nvSpPr>
        <p:spPr>
          <a:xfrm>
            <a:off x="9646920" y="3922776"/>
            <a:ext cx="1426464" cy="329184"/>
          </a:xfrm>
          <a:prstGeom prst="rect">
            <a:avLst/>
          </a:prstGeom>
          <a:solidFill>
            <a:srgbClr val="1620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4" name="TextBox 123"/>
          <p:cNvSpPr txBox="1"/>
          <p:nvPr/>
        </p:nvSpPr>
        <p:spPr>
          <a:xfrm>
            <a:off x="9701784" y="3959352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EF4444"/>
                </a:solidFill>
              </a:rPr>
              <a:t>❌ No</a:t>
            </a:r>
          </a:p>
        </p:txBody>
      </p:sp>
      <p:sp>
        <p:nvSpPr>
          <p:cNvPr id="125" name="Rectangle 124"/>
          <p:cNvSpPr/>
          <p:nvPr/>
        </p:nvSpPr>
        <p:spPr>
          <a:xfrm>
            <a:off x="320040" y="4251960"/>
            <a:ext cx="2523744" cy="329184"/>
          </a:xfrm>
          <a:prstGeom prst="rect">
            <a:avLst/>
          </a:prstGeom>
          <a:solidFill>
            <a:srgbClr val="1E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6" name="TextBox 125"/>
          <p:cNvSpPr txBox="1"/>
          <p:nvPr/>
        </p:nvSpPr>
        <p:spPr>
          <a:xfrm>
            <a:off x="374904" y="4288536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CBD5E1"/>
                </a:solidFill>
              </a:rPr>
              <a:t>OpenTelemetry Observability</a:t>
            </a:r>
          </a:p>
        </p:txBody>
      </p:sp>
      <p:sp>
        <p:nvSpPr>
          <p:cNvPr id="127" name="Rectangle 126"/>
          <p:cNvSpPr/>
          <p:nvPr/>
        </p:nvSpPr>
        <p:spPr>
          <a:xfrm>
            <a:off x="2880360" y="4251960"/>
            <a:ext cx="1792224" cy="329184"/>
          </a:xfrm>
          <a:prstGeom prst="rect">
            <a:avLst/>
          </a:prstGeom>
          <a:solidFill>
            <a:srgbClr val="1A3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8" name="TextBox 127"/>
          <p:cNvSpPr txBox="1"/>
          <p:nvPr/>
        </p:nvSpPr>
        <p:spPr>
          <a:xfrm>
            <a:off x="2935224" y="4288536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10B981"/>
                </a:solidFill>
              </a:rPr>
              <a:t>✅ Yes</a:t>
            </a:r>
          </a:p>
        </p:txBody>
      </p:sp>
      <p:sp>
        <p:nvSpPr>
          <p:cNvPr id="129" name="Rectangle 128"/>
          <p:cNvSpPr/>
          <p:nvPr/>
        </p:nvSpPr>
        <p:spPr>
          <a:xfrm>
            <a:off x="4709160" y="4251960"/>
            <a:ext cx="1609344" cy="329184"/>
          </a:xfrm>
          <a:prstGeom prst="rect">
            <a:avLst/>
          </a:prstGeom>
          <a:solidFill>
            <a:srgbClr val="1E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0" name="TextBox 129"/>
          <p:cNvSpPr txBox="1"/>
          <p:nvPr/>
        </p:nvSpPr>
        <p:spPr>
          <a:xfrm>
            <a:off x="4764024" y="4288536"/>
            <a:ext cx="155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EF4444"/>
                </a:solidFill>
              </a:rPr>
              <a:t>❌ No</a:t>
            </a:r>
          </a:p>
        </p:txBody>
      </p:sp>
      <p:sp>
        <p:nvSpPr>
          <p:cNvPr id="131" name="Rectangle 130"/>
          <p:cNvSpPr/>
          <p:nvPr/>
        </p:nvSpPr>
        <p:spPr>
          <a:xfrm>
            <a:off x="6355080" y="4251960"/>
            <a:ext cx="1426464" cy="329184"/>
          </a:xfrm>
          <a:prstGeom prst="rect">
            <a:avLst/>
          </a:prstGeom>
          <a:solidFill>
            <a:srgbClr val="1E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2" name="TextBox 131"/>
          <p:cNvSpPr txBox="1"/>
          <p:nvPr/>
        </p:nvSpPr>
        <p:spPr>
          <a:xfrm>
            <a:off x="6409944" y="4288536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EF4444"/>
                </a:solidFill>
              </a:rPr>
              <a:t>❌ No</a:t>
            </a:r>
          </a:p>
        </p:txBody>
      </p:sp>
      <p:sp>
        <p:nvSpPr>
          <p:cNvPr id="133" name="Rectangle 132"/>
          <p:cNvSpPr/>
          <p:nvPr/>
        </p:nvSpPr>
        <p:spPr>
          <a:xfrm>
            <a:off x="7818120" y="4251960"/>
            <a:ext cx="1792224" cy="329184"/>
          </a:xfrm>
          <a:prstGeom prst="rect">
            <a:avLst/>
          </a:prstGeom>
          <a:solidFill>
            <a:srgbClr val="1E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4" name="TextBox 133"/>
          <p:cNvSpPr txBox="1"/>
          <p:nvPr/>
        </p:nvSpPr>
        <p:spPr>
          <a:xfrm>
            <a:off x="7872984" y="4288536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EF4444"/>
                </a:solidFill>
              </a:rPr>
              <a:t>❌ No</a:t>
            </a:r>
          </a:p>
        </p:txBody>
      </p:sp>
      <p:sp>
        <p:nvSpPr>
          <p:cNvPr id="135" name="Rectangle 134"/>
          <p:cNvSpPr/>
          <p:nvPr/>
        </p:nvSpPr>
        <p:spPr>
          <a:xfrm>
            <a:off x="9646920" y="4251960"/>
            <a:ext cx="1426464" cy="329184"/>
          </a:xfrm>
          <a:prstGeom prst="rect">
            <a:avLst/>
          </a:prstGeom>
          <a:solidFill>
            <a:srgbClr val="1E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6" name="TextBox 135"/>
          <p:cNvSpPr txBox="1"/>
          <p:nvPr/>
        </p:nvSpPr>
        <p:spPr>
          <a:xfrm>
            <a:off x="9701784" y="4288536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EF4444"/>
                </a:solidFill>
              </a:rPr>
              <a:t>❌ No</a:t>
            </a:r>
          </a:p>
        </p:txBody>
      </p:sp>
      <p:sp>
        <p:nvSpPr>
          <p:cNvPr id="137" name="Rectangle 136"/>
          <p:cNvSpPr/>
          <p:nvPr/>
        </p:nvSpPr>
        <p:spPr>
          <a:xfrm>
            <a:off x="320040" y="4581144"/>
            <a:ext cx="2523744" cy="329184"/>
          </a:xfrm>
          <a:prstGeom prst="rect">
            <a:avLst/>
          </a:prstGeom>
          <a:solidFill>
            <a:srgbClr val="1620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8" name="TextBox 137"/>
          <p:cNvSpPr txBox="1"/>
          <p:nvPr/>
        </p:nvSpPr>
        <p:spPr>
          <a:xfrm>
            <a:off x="374904" y="4617720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CBD5E1"/>
                </a:solidFill>
              </a:rPr>
              <a:t>One-click Deployable ZIP</a:t>
            </a:r>
          </a:p>
        </p:txBody>
      </p:sp>
      <p:sp>
        <p:nvSpPr>
          <p:cNvPr id="139" name="Rectangle 138"/>
          <p:cNvSpPr/>
          <p:nvPr/>
        </p:nvSpPr>
        <p:spPr>
          <a:xfrm>
            <a:off x="2880360" y="4581144"/>
            <a:ext cx="1792224" cy="329184"/>
          </a:xfrm>
          <a:prstGeom prst="rect">
            <a:avLst/>
          </a:prstGeom>
          <a:solidFill>
            <a:srgbClr val="1A3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0" name="TextBox 139"/>
          <p:cNvSpPr txBox="1"/>
          <p:nvPr/>
        </p:nvSpPr>
        <p:spPr>
          <a:xfrm>
            <a:off x="2935224" y="4617720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10B981"/>
                </a:solidFill>
              </a:rPr>
              <a:t>✅ Yes</a:t>
            </a:r>
          </a:p>
        </p:txBody>
      </p:sp>
      <p:sp>
        <p:nvSpPr>
          <p:cNvPr id="141" name="Rectangle 140"/>
          <p:cNvSpPr/>
          <p:nvPr/>
        </p:nvSpPr>
        <p:spPr>
          <a:xfrm>
            <a:off x="4709160" y="4581144"/>
            <a:ext cx="1609344" cy="329184"/>
          </a:xfrm>
          <a:prstGeom prst="rect">
            <a:avLst/>
          </a:prstGeom>
          <a:solidFill>
            <a:srgbClr val="1620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2" name="TextBox 141"/>
          <p:cNvSpPr txBox="1"/>
          <p:nvPr/>
        </p:nvSpPr>
        <p:spPr>
          <a:xfrm>
            <a:off x="4764024" y="4617720"/>
            <a:ext cx="155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10B981"/>
                </a:solidFill>
              </a:rPr>
              <a:t>✅ Yes</a:t>
            </a:r>
          </a:p>
        </p:txBody>
      </p:sp>
      <p:sp>
        <p:nvSpPr>
          <p:cNvPr id="143" name="Rectangle 142"/>
          <p:cNvSpPr/>
          <p:nvPr/>
        </p:nvSpPr>
        <p:spPr>
          <a:xfrm>
            <a:off x="6355080" y="4581144"/>
            <a:ext cx="1426464" cy="329184"/>
          </a:xfrm>
          <a:prstGeom prst="rect">
            <a:avLst/>
          </a:prstGeom>
          <a:solidFill>
            <a:srgbClr val="1620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4" name="TextBox 143"/>
          <p:cNvSpPr txBox="1"/>
          <p:nvPr/>
        </p:nvSpPr>
        <p:spPr>
          <a:xfrm>
            <a:off x="6409944" y="461772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EF4444"/>
                </a:solidFill>
              </a:rPr>
              <a:t>❌ No</a:t>
            </a:r>
          </a:p>
        </p:txBody>
      </p:sp>
      <p:sp>
        <p:nvSpPr>
          <p:cNvPr id="145" name="Rectangle 144"/>
          <p:cNvSpPr/>
          <p:nvPr/>
        </p:nvSpPr>
        <p:spPr>
          <a:xfrm>
            <a:off x="7818120" y="4581144"/>
            <a:ext cx="1792224" cy="329184"/>
          </a:xfrm>
          <a:prstGeom prst="rect">
            <a:avLst/>
          </a:prstGeom>
          <a:solidFill>
            <a:srgbClr val="1620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6" name="TextBox 145"/>
          <p:cNvSpPr txBox="1"/>
          <p:nvPr/>
        </p:nvSpPr>
        <p:spPr>
          <a:xfrm>
            <a:off x="7872984" y="4617720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EF4444"/>
                </a:solidFill>
              </a:rPr>
              <a:t>❌ No</a:t>
            </a:r>
          </a:p>
        </p:txBody>
      </p:sp>
      <p:sp>
        <p:nvSpPr>
          <p:cNvPr id="147" name="Rectangle 146"/>
          <p:cNvSpPr/>
          <p:nvPr/>
        </p:nvSpPr>
        <p:spPr>
          <a:xfrm>
            <a:off x="9646920" y="4581144"/>
            <a:ext cx="1426464" cy="329184"/>
          </a:xfrm>
          <a:prstGeom prst="rect">
            <a:avLst/>
          </a:prstGeom>
          <a:solidFill>
            <a:srgbClr val="1620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8" name="TextBox 147"/>
          <p:cNvSpPr txBox="1"/>
          <p:nvPr/>
        </p:nvSpPr>
        <p:spPr>
          <a:xfrm>
            <a:off x="9701784" y="461772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EF4444"/>
                </a:solidFill>
              </a:rPr>
              <a:t>❌ No</a:t>
            </a:r>
          </a:p>
        </p:txBody>
      </p:sp>
      <p:sp>
        <p:nvSpPr>
          <p:cNvPr id="149" name="Rectangle 148"/>
          <p:cNvSpPr/>
          <p:nvPr/>
        </p:nvSpPr>
        <p:spPr>
          <a:xfrm>
            <a:off x="320040" y="4910328"/>
            <a:ext cx="2523744" cy="329184"/>
          </a:xfrm>
          <a:prstGeom prst="rect">
            <a:avLst/>
          </a:prstGeom>
          <a:solidFill>
            <a:srgbClr val="1E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0" name="TextBox 149"/>
          <p:cNvSpPr txBox="1"/>
          <p:nvPr/>
        </p:nvSpPr>
        <p:spPr>
          <a:xfrm>
            <a:off x="374904" y="4946904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CBD5E1"/>
                </a:solidFill>
              </a:rPr>
              <a:t>Simulation / Eval Engine</a:t>
            </a:r>
          </a:p>
        </p:txBody>
      </p:sp>
      <p:sp>
        <p:nvSpPr>
          <p:cNvPr id="151" name="Rectangle 150"/>
          <p:cNvSpPr/>
          <p:nvPr/>
        </p:nvSpPr>
        <p:spPr>
          <a:xfrm>
            <a:off x="2880360" y="4910328"/>
            <a:ext cx="1792224" cy="329184"/>
          </a:xfrm>
          <a:prstGeom prst="rect">
            <a:avLst/>
          </a:prstGeom>
          <a:solidFill>
            <a:srgbClr val="1A3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2" name="TextBox 151"/>
          <p:cNvSpPr txBox="1"/>
          <p:nvPr/>
        </p:nvSpPr>
        <p:spPr>
          <a:xfrm>
            <a:off x="2935224" y="4946904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10B981"/>
                </a:solidFill>
              </a:rPr>
              <a:t>✅ Yes</a:t>
            </a:r>
          </a:p>
        </p:txBody>
      </p:sp>
      <p:sp>
        <p:nvSpPr>
          <p:cNvPr id="153" name="Rectangle 152"/>
          <p:cNvSpPr/>
          <p:nvPr/>
        </p:nvSpPr>
        <p:spPr>
          <a:xfrm>
            <a:off x="4709160" y="4910328"/>
            <a:ext cx="1609344" cy="329184"/>
          </a:xfrm>
          <a:prstGeom prst="rect">
            <a:avLst/>
          </a:prstGeom>
          <a:solidFill>
            <a:srgbClr val="1E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4" name="TextBox 153"/>
          <p:cNvSpPr txBox="1"/>
          <p:nvPr/>
        </p:nvSpPr>
        <p:spPr>
          <a:xfrm>
            <a:off x="4764024" y="4946904"/>
            <a:ext cx="155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F59E0B"/>
                </a:solidFill>
              </a:rPr>
              <a:t>⚡ Basic</a:t>
            </a:r>
          </a:p>
        </p:txBody>
      </p:sp>
      <p:sp>
        <p:nvSpPr>
          <p:cNvPr id="155" name="Rectangle 154"/>
          <p:cNvSpPr/>
          <p:nvPr/>
        </p:nvSpPr>
        <p:spPr>
          <a:xfrm>
            <a:off x="6355080" y="4910328"/>
            <a:ext cx="1426464" cy="329184"/>
          </a:xfrm>
          <a:prstGeom prst="rect">
            <a:avLst/>
          </a:prstGeom>
          <a:solidFill>
            <a:srgbClr val="1E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6" name="TextBox 155"/>
          <p:cNvSpPr txBox="1"/>
          <p:nvPr/>
        </p:nvSpPr>
        <p:spPr>
          <a:xfrm>
            <a:off x="6409944" y="4946904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EF4444"/>
                </a:solidFill>
              </a:rPr>
              <a:t>❌ No</a:t>
            </a:r>
          </a:p>
        </p:txBody>
      </p:sp>
      <p:sp>
        <p:nvSpPr>
          <p:cNvPr id="157" name="Rectangle 156"/>
          <p:cNvSpPr/>
          <p:nvPr/>
        </p:nvSpPr>
        <p:spPr>
          <a:xfrm>
            <a:off x="7818120" y="4910328"/>
            <a:ext cx="1792224" cy="329184"/>
          </a:xfrm>
          <a:prstGeom prst="rect">
            <a:avLst/>
          </a:prstGeom>
          <a:solidFill>
            <a:srgbClr val="1E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8" name="TextBox 157"/>
          <p:cNvSpPr txBox="1"/>
          <p:nvPr/>
        </p:nvSpPr>
        <p:spPr>
          <a:xfrm>
            <a:off x="7872984" y="4946904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F59E0B"/>
                </a:solidFill>
              </a:rPr>
              <a:t>⚡ Basic</a:t>
            </a:r>
          </a:p>
        </p:txBody>
      </p:sp>
      <p:sp>
        <p:nvSpPr>
          <p:cNvPr id="159" name="Rectangle 158"/>
          <p:cNvSpPr/>
          <p:nvPr/>
        </p:nvSpPr>
        <p:spPr>
          <a:xfrm>
            <a:off x="9646920" y="4910328"/>
            <a:ext cx="1426464" cy="329184"/>
          </a:xfrm>
          <a:prstGeom prst="rect">
            <a:avLst/>
          </a:prstGeom>
          <a:solidFill>
            <a:srgbClr val="1E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0" name="TextBox 159"/>
          <p:cNvSpPr txBox="1"/>
          <p:nvPr/>
        </p:nvSpPr>
        <p:spPr>
          <a:xfrm>
            <a:off x="9701784" y="4946904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EF4444"/>
                </a:solidFill>
              </a:rPr>
              <a:t>❌ No</a:t>
            </a:r>
          </a:p>
        </p:txBody>
      </p:sp>
      <p:sp>
        <p:nvSpPr>
          <p:cNvPr id="161" name="Rectangle 160"/>
          <p:cNvSpPr/>
          <p:nvPr/>
        </p:nvSpPr>
        <p:spPr>
          <a:xfrm>
            <a:off x="320040" y="5239512"/>
            <a:ext cx="2523744" cy="329184"/>
          </a:xfrm>
          <a:prstGeom prst="rect">
            <a:avLst/>
          </a:prstGeom>
          <a:solidFill>
            <a:srgbClr val="1620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2" name="TextBox 161"/>
          <p:cNvSpPr txBox="1"/>
          <p:nvPr/>
        </p:nvSpPr>
        <p:spPr>
          <a:xfrm>
            <a:off x="374904" y="5276088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CBD5E1"/>
                </a:solidFill>
              </a:rPr>
              <a:t>Azure-native (no vendor lock)</a:t>
            </a:r>
          </a:p>
        </p:txBody>
      </p:sp>
      <p:sp>
        <p:nvSpPr>
          <p:cNvPr id="163" name="Rectangle 162"/>
          <p:cNvSpPr/>
          <p:nvPr/>
        </p:nvSpPr>
        <p:spPr>
          <a:xfrm>
            <a:off x="2880360" y="5239512"/>
            <a:ext cx="1792224" cy="329184"/>
          </a:xfrm>
          <a:prstGeom prst="rect">
            <a:avLst/>
          </a:prstGeom>
          <a:solidFill>
            <a:srgbClr val="1A3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4" name="TextBox 163"/>
          <p:cNvSpPr txBox="1"/>
          <p:nvPr/>
        </p:nvSpPr>
        <p:spPr>
          <a:xfrm>
            <a:off x="2935224" y="5276088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10B981"/>
                </a:solidFill>
              </a:rPr>
              <a:t>✅ Yes</a:t>
            </a:r>
          </a:p>
        </p:txBody>
      </p:sp>
      <p:sp>
        <p:nvSpPr>
          <p:cNvPr id="165" name="Rectangle 164"/>
          <p:cNvSpPr/>
          <p:nvPr/>
        </p:nvSpPr>
        <p:spPr>
          <a:xfrm>
            <a:off x="4709160" y="5239512"/>
            <a:ext cx="1609344" cy="329184"/>
          </a:xfrm>
          <a:prstGeom prst="rect">
            <a:avLst/>
          </a:prstGeom>
          <a:solidFill>
            <a:srgbClr val="1620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6" name="TextBox 165"/>
          <p:cNvSpPr txBox="1"/>
          <p:nvPr/>
        </p:nvSpPr>
        <p:spPr>
          <a:xfrm>
            <a:off x="4764024" y="5276088"/>
            <a:ext cx="155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EF4444"/>
                </a:solidFill>
              </a:rPr>
              <a:t>❌ OpenAI</a:t>
            </a:r>
          </a:p>
        </p:txBody>
      </p:sp>
      <p:sp>
        <p:nvSpPr>
          <p:cNvPr id="167" name="Rectangle 166"/>
          <p:cNvSpPr/>
          <p:nvPr/>
        </p:nvSpPr>
        <p:spPr>
          <a:xfrm>
            <a:off x="6355080" y="5239512"/>
            <a:ext cx="1426464" cy="329184"/>
          </a:xfrm>
          <a:prstGeom prst="rect">
            <a:avLst/>
          </a:prstGeom>
          <a:solidFill>
            <a:srgbClr val="1620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8" name="TextBox 167"/>
          <p:cNvSpPr txBox="1"/>
          <p:nvPr/>
        </p:nvSpPr>
        <p:spPr>
          <a:xfrm>
            <a:off x="6409944" y="5276088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EF4444"/>
                </a:solidFill>
              </a:rPr>
              <a:t>❌ Mix</a:t>
            </a:r>
          </a:p>
        </p:txBody>
      </p:sp>
      <p:sp>
        <p:nvSpPr>
          <p:cNvPr id="169" name="Rectangle 168"/>
          <p:cNvSpPr/>
          <p:nvPr/>
        </p:nvSpPr>
        <p:spPr>
          <a:xfrm>
            <a:off x="7818120" y="5239512"/>
            <a:ext cx="1792224" cy="329184"/>
          </a:xfrm>
          <a:prstGeom prst="rect">
            <a:avLst/>
          </a:prstGeom>
          <a:solidFill>
            <a:srgbClr val="1620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0" name="TextBox 169"/>
          <p:cNvSpPr txBox="1"/>
          <p:nvPr/>
        </p:nvSpPr>
        <p:spPr>
          <a:xfrm>
            <a:off x="7872984" y="5276088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10B981"/>
                </a:solidFill>
              </a:rPr>
              <a:t>✅ Azure</a:t>
            </a:r>
          </a:p>
        </p:txBody>
      </p:sp>
      <p:sp>
        <p:nvSpPr>
          <p:cNvPr id="171" name="Rectangle 170"/>
          <p:cNvSpPr/>
          <p:nvPr/>
        </p:nvSpPr>
        <p:spPr>
          <a:xfrm>
            <a:off x="9646920" y="5239512"/>
            <a:ext cx="1426464" cy="329184"/>
          </a:xfrm>
          <a:prstGeom prst="rect">
            <a:avLst/>
          </a:prstGeom>
          <a:solidFill>
            <a:srgbClr val="1620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2" name="TextBox 171"/>
          <p:cNvSpPr txBox="1"/>
          <p:nvPr/>
        </p:nvSpPr>
        <p:spPr>
          <a:xfrm>
            <a:off x="9701784" y="5276088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EF4444"/>
                </a:solidFill>
              </a:rPr>
              <a:t>❌ Mix</a:t>
            </a:r>
          </a:p>
        </p:txBody>
      </p:sp>
      <p:sp>
        <p:nvSpPr>
          <p:cNvPr id="173" name="Rectangle 172"/>
          <p:cNvSpPr/>
          <p:nvPr/>
        </p:nvSpPr>
        <p:spPr>
          <a:xfrm>
            <a:off x="320040" y="5568696"/>
            <a:ext cx="2523744" cy="329184"/>
          </a:xfrm>
          <a:prstGeom prst="rect">
            <a:avLst/>
          </a:prstGeom>
          <a:solidFill>
            <a:srgbClr val="1E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" name="TextBox 173"/>
          <p:cNvSpPr txBox="1"/>
          <p:nvPr/>
        </p:nvSpPr>
        <p:spPr>
          <a:xfrm>
            <a:off x="374904" y="5605272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CBD5E1"/>
                </a:solidFill>
              </a:rPr>
              <a:t>On-prem / Private Deployment</a:t>
            </a:r>
          </a:p>
        </p:txBody>
      </p:sp>
      <p:sp>
        <p:nvSpPr>
          <p:cNvPr id="175" name="Rectangle 174"/>
          <p:cNvSpPr/>
          <p:nvPr/>
        </p:nvSpPr>
        <p:spPr>
          <a:xfrm>
            <a:off x="2880360" y="5568696"/>
            <a:ext cx="1792224" cy="329184"/>
          </a:xfrm>
          <a:prstGeom prst="rect">
            <a:avLst/>
          </a:prstGeom>
          <a:solidFill>
            <a:srgbClr val="1A3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6" name="TextBox 175"/>
          <p:cNvSpPr txBox="1"/>
          <p:nvPr/>
        </p:nvSpPr>
        <p:spPr>
          <a:xfrm>
            <a:off x="2935224" y="5605272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10B981"/>
                </a:solidFill>
              </a:rPr>
              <a:t>✅ Yes</a:t>
            </a:r>
          </a:p>
        </p:txBody>
      </p:sp>
      <p:sp>
        <p:nvSpPr>
          <p:cNvPr id="177" name="Rectangle 176"/>
          <p:cNvSpPr/>
          <p:nvPr/>
        </p:nvSpPr>
        <p:spPr>
          <a:xfrm>
            <a:off x="4709160" y="5568696"/>
            <a:ext cx="1609344" cy="329184"/>
          </a:xfrm>
          <a:prstGeom prst="rect">
            <a:avLst/>
          </a:prstGeom>
          <a:solidFill>
            <a:srgbClr val="1E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8" name="TextBox 177"/>
          <p:cNvSpPr txBox="1"/>
          <p:nvPr/>
        </p:nvSpPr>
        <p:spPr>
          <a:xfrm>
            <a:off x="4764024" y="5605272"/>
            <a:ext cx="155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EF4444"/>
                </a:solidFill>
              </a:rPr>
              <a:t>❌ SaaS</a:t>
            </a:r>
          </a:p>
        </p:txBody>
      </p:sp>
      <p:sp>
        <p:nvSpPr>
          <p:cNvPr id="179" name="Rectangle 178"/>
          <p:cNvSpPr/>
          <p:nvPr/>
        </p:nvSpPr>
        <p:spPr>
          <a:xfrm>
            <a:off x="6355080" y="5568696"/>
            <a:ext cx="1426464" cy="329184"/>
          </a:xfrm>
          <a:prstGeom prst="rect">
            <a:avLst/>
          </a:prstGeom>
          <a:solidFill>
            <a:srgbClr val="1E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0" name="TextBox 179"/>
          <p:cNvSpPr txBox="1"/>
          <p:nvPr/>
        </p:nvSpPr>
        <p:spPr>
          <a:xfrm>
            <a:off x="6409944" y="5605272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10B981"/>
                </a:solidFill>
              </a:rPr>
              <a:t>✅ Yes</a:t>
            </a:r>
          </a:p>
        </p:txBody>
      </p:sp>
      <p:sp>
        <p:nvSpPr>
          <p:cNvPr id="181" name="Rectangle 180"/>
          <p:cNvSpPr/>
          <p:nvPr/>
        </p:nvSpPr>
        <p:spPr>
          <a:xfrm>
            <a:off x="7818120" y="5568696"/>
            <a:ext cx="1792224" cy="329184"/>
          </a:xfrm>
          <a:prstGeom prst="rect">
            <a:avLst/>
          </a:prstGeom>
          <a:solidFill>
            <a:srgbClr val="1E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2" name="TextBox 181"/>
          <p:cNvSpPr txBox="1"/>
          <p:nvPr/>
        </p:nvSpPr>
        <p:spPr>
          <a:xfrm>
            <a:off x="7872984" y="5605272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10B981"/>
                </a:solidFill>
              </a:rPr>
              <a:t>✅ Yes</a:t>
            </a:r>
          </a:p>
        </p:txBody>
      </p:sp>
      <p:sp>
        <p:nvSpPr>
          <p:cNvPr id="183" name="Rectangle 182"/>
          <p:cNvSpPr/>
          <p:nvPr/>
        </p:nvSpPr>
        <p:spPr>
          <a:xfrm>
            <a:off x="9646920" y="5568696"/>
            <a:ext cx="1426464" cy="329184"/>
          </a:xfrm>
          <a:prstGeom prst="rect">
            <a:avLst/>
          </a:prstGeom>
          <a:solidFill>
            <a:srgbClr val="1E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4" name="TextBox 183"/>
          <p:cNvSpPr txBox="1"/>
          <p:nvPr/>
        </p:nvSpPr>
        <p:spPr>
          <a:xfrm>
            <a:off x="9701784" y="5605272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10B981"/>
                </a:solidFill>
              </a:rPr>
              <a:t>✅ Yes</a:t>
            </a:r>
          </a:p>
        </p:txBody>
      </p:sp>
      <p:sp>
        <p:nvSpPr>
          <p:cNvPr id="185" name="TextBox 184"/>
          <p:cNvSpPr txBox="1"/>
          <p:nvPr/>
        </p:nvSpPr>
        <p:spPr>
          <a:xfrm>
            <a:off x="11640312" y="6492240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CBD5E1"/>
                </a:solidFill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73152"/>
            <a:ext cx="12188952" cy="45720"/>
          </a:xfrm>
          <a:prstGeom prst="rect">
            <a:avLst/>
          </a:prstGeom>
          <a:solidFill>
            <a:srgbClr val="606E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Leadership Narrative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005840"/>
            <a:ext cx="73152" cy="1143000"/>
          </a:xfrm>
          <a:prstGeom prst="rect">
            <a:avLst/>
          </a:prstGeom>
          <a:solidFill>
            <a:srgbClr val="606E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94360" y="105156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606EF5"/>
                </a:solidFill>
              </a:rPr>
              <a:t>🎯 Strategic Alignment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444752"/>
            <a:ext cx="109728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>
                <a:solidFill>
                  <a:srgbClr val="CBD5E1"/>
                </a:solidFill>
              </a:rPr>
              <a:t>AgentForge directly advances Accenture's AI-first mandate by creating a reusable internal platform that accelerates client delivery of AI agents. Every engagement that uses AgentForge compresses delivery timelines by 60–85%, improving margin and client NPS simultaneously.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2331720"/>
            <a:ext cx="73152" cy="1143000"/>
          </a:xfrm>
          <a:prstGeom prst="rect">
            <a:avLst/>
          </a:prstGeom>
          <a:solidFill>
            <a:srgbClr val="606E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94360" y="237744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606EF5"/>
                </a:solidFill>
              </a:rPr>
              <a:t>🏆 Competitive Differentiation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2770632"/>
            <a:ext cx="109728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>
                <a:solidFill>
                  <a:srgbClr val="CBD5E1"/>
                </a:solidFill>
              </a:rPr>
              <a:t>No competitor today combines Prompt-to-Agent generation, built-in enterprise guardrails (PII+hallucination), voice agents, and a full observability stack in a single deployable platform. AgentForge positions Accenture as the go-to partner for enterprise-grade AI agent deployments.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5760" y="3657600"/>
            <a:ext cx="73152" cy="1143000"/>
          </a:xfrm>
          <a:prstGeom prst="rect">
            <a:avLst/>
          </a:prstGeom>
          <a:solidFill>
            <a:srgbClr val="606E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94360" y="370332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606EF5"/>
                </a:solidFill>
              </a:rPr>
              <a:t>💼 Client Value Proposition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4096512"/>
            <a:ext cx="109728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>
                <a:solidFill>
                  <a:srgbClr val="CBD5E1"/>
                </a:solidFill>
              </a:rPr>
              <a:t>Clients receive a production-ready, governable AI agent platform aligned with their Azure investment. They get faster innovation cycles, lower risk (compliance-ready guardrails), and full transparency (audit logs, OTEL) — without needing to build internal AI infrastructure from scratch.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65760" y="4983479"/>
            <a:ext cx="73152" cy="1143000"/>
          </a:xfrm>
          <a:prstGeom prst="rect">
            <a:avLst/>
          </a:prstGeom>
          <a:solidFill>
            <a:srgbClr val="606E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94360" y="5029199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606EF5"/>
                </a:solidFill>
              </a:rPr>
              <a:t>🌱 Platform Network Effect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4360" y="5422391"/>
            <a:ext cx="109728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>
                <a:solidFill>
                  <a:srgbClr val="CBD5E1"/>
                </a:solidFill>
              </a:rPr>
              <a:t>The Blueprints Marketplace creates a virtuous cycle: every agent built on AgentForge adds to the shared library, reducing future build cost. Over 24 months this compounds into a proprietary IP moat for Accenture's AI practice.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640312" y="6492240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CBD5E1"/>
                </a:solidFill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73152"/>
            <a:ext cx="12188952" cy="45720"/>
          </a:xfrm>
          <a:prstGeom prst="rect">
            <a:avLst/>
          </a:prstGeom>
          <a:solidFill>
            <a:srgbClr val="606E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KPIs &amp; Success Metrics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960120"/>
            <a:ext cx="5669280" cy="2468880"/>
          </a:xfrm>
          <a:prstGeom prst="rect">
            <a:avLst/>
          </a:prstGeom>
          <a:solidFill>
            <a:srgbClr val="1E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365760" y="960120"/>
            <a:ext cx="5669280" cy="384048"/>
          </a:xfrm>
          <a:prstGeom prst="rect">
            <a:avLst/>
          </a:prstGeom>
          <a:solidFill>
            <a:srgbClr val="606E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02920" y="1014984"/>
            <a:ext cx="5486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</a:rPr>
              <a:t>📐 Platform Adoption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435608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CBD5E1"/>
                </a:solidFill>
              </a:rPr>
              <a:t>• Active Users / Month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834640" y="1435608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06EF5"/>
                </a:solidFill>
              </a:rPr>
              <a:t>Target: 50+ developers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80560" y="1435608"/>
            <a:ext cx="1554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94A3B8"/>
                </a:solidFill>
              </a:rPr>
              <a:t>Track: Auth login events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2075688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CBD5E1"/>
                </a:solidFill>
              </a:rPr>
              <a:t>• Agents Created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834640" y="2075688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06EF5"/>
                </a:solidFill>
              </a:rPr>
              <a:t>Target: 200+ agents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80560" y="2075688"/>
            <a:ext cx="1554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94A3B8"/>
                </a:solidFill>
              </a:rPr>
              <a:t>Track: agents table count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2715768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CBD5E1"/>
                </a:solidFill>
              </a:rPr>
              <a:t>• Projects / Blueprints Saved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834640" y="2715768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06EF5"/>
                </a:solidFill>
              </a:rPr>
              <a:t>Target: 100+ projects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80560" y="2715768"/>
            <a:ext cx="1554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94A3B8"/>
                </a:solidFill>
              </a:rPr>
              <a:t>Track: workflows count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309360" y="960120"/>
            <a:ext cx="5669280" cy="2468880"/>
          </a:xfrm>
          <a:prstGeom prst="rect">
            <a:avLst/>
          </a:prstGeom>
          <a:solidFill>
            <a:srgbClr val="1E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6309360" y="960120"/>
            <a:ext cx="5669280" cy="38404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446520" y="1014984"/>
            <a:ext cx="5486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</a:rPr>
              <a:t>⚡ Developer Velocity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46520" y="1435608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CBD5E1"/>
                </a:solidFill>
              </a:rPr>
              <a:t>• Time-to-First-Agent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778240" y="1435608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0B981"/>
                </a:solidFill>
              </a:rPr>
              <a:t>Target: &lt;5 minutes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424160" y="1435608"/>
            <a:ext cx="1554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94A3B8"/>
                </a:solidFill>
              </a:rPr>
              <a:t>Track: Architect session duration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46520" y="2075688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CBD5E1"/>
                </a:solidFill>
              </a:rPr>
              <a:t>• ZIP Downloads / Week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778240" y="2075688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0B981"/>
                </a:solidFill>
              </a:rPr>
              <a:t>Target: 20+/week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424160" y="2075688"/>
            <a:ext cx="1554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94A3B8"/>
                </a:solidFill>
              </a:rPr>
              <a:t>Track: buildSourceZip calls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46520" y="2715768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CBD5E1"/>
                </a:solidFill>
              </a:rPr>
              <a:t>• Simulation Pass Rate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778240" y="2715768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0B981"/>
                </a:solidFill>
              </a:rPr>
              <a:t>Target: &gt;90%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424160" y="2715768"/>
            <a:ext cx="1554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94A3B8"/>
                </a:solidFill>
              </a:rPr>
              <a:t>Track: simulation.status=passed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65760" y="3657600"/>
            <a:ext cx="5669280" cy="2468880"/>
          </a:xfrm>
          <a:prstGeom prst="rect">
            <a:avLst/>
          </a:prstGeom>
          <a:solidFill>
            <a:srgbClr val="1E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365760" y="3657600"/>
            <a:ext cx="5669280" cy="384048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502920" y="3712464"/>
            <a:ext cx="5486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</a:rPr>
              <a:t>🛡️ Governance &amp; Safety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02920" y="4133088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CBD5E1"/>
                </a:solidFill>
              </a:rPr>
              <a:t>• PII Triggers / 1000 calls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834640" y="4133088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59E0B"/>
                </a:solidFill>
              </a:rPr>
              <a:t>Target: &lt;5 incidents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480560" y="4133088"/>
            <a:ext cx="1554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94A3B8"/>
                </a:solidFill>
              </a:rPr>
              <a:t>Track: guardrail_triggered=true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02920" y="4773168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CBD5E1"/>
                </a:solidFill>
              </a:rPr>
              <a:t>• Hallucination Rate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834640" y="4773168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59E0B"/>
                </a:solidFill>
              </a:rPr>
              <a:t>Target: &lt;2%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480560" y="4773168"/>
            <a:ext cx="1554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94A3B8"/>
                </a:solidFill>
              </a:rPr>
              <a:t>Track: hallucination_triggered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02920" y="5413248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CBD5E1"/>
                </a:solidFill>
              </a:rPr>
              <a:t>• Audit Log Coverage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2834640" y="5413248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59E0B"/>
                </a:solidFill>
              </a:rPr>
              <a:t>Target: 100%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480560" y="5413248"/>
            <a:ext cx="1554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94A3B8"/>
                </a:solidFill>
              </a:rPr>
              <a:t>Track: audit_logs completeness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309360" y="3657600"/>
            <a:ext cx="5669280" cy="2468880"/>
          </a:xfrm>
          <a:prstGeom prst="rect">
            <a:avLst/>
          </a:prstGeom>
          <a:solidFill>
            <a:srgbClr val="1E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Rectangle 41"/>
          <p:cNvSpPr/>
          <p:nvPr/>
        </p:nvSpPr>
        <p:spPr>
          <a:xfrm>
            <a:off x="6309360" y="3657600"/>
            <a:ext cx="5669280" cy="384048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6446520" y="3712464"/>
            <a:ext cx="5486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</a:rPr>
              <a:t>📊 Reliability &amp; Perf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446520" y="4133088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CBD5E1"/>
                </a:solidFill>
              </a:rPr>
              <a:t>• API P95 Latency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778240" y="4133088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A855F7"/>
                </a:solidFill>
              </a:rPr>
              <a:t>Target: &lt;800ms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0424160" y="4133088"/>
            <a:ext cx="1554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94A3B8"/>
                </a:solidFill>
              </a:rPr>
              <a:t>Track: OTEL latency histograms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446520" y="4773168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CBD5E1"/>
                </a:solidFill>
              </a:rPr>
              <a:t>• Workflow Success Rate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778240" y="4773168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A855F7"/>
                </a:solidFill>
              </a:rPr>
              <a:t>Target: &gt;98%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0424160" y="4773168"/>
            <a:ext cx="1554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94A3B8"/>
                </a:solidFill>
              </a:rPr>
              <a:t>Track: workflow_runs status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446520" y="5413248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CBD5E1"/>
                </a:solidFill>
              </a:rPr>
              <a:t>• System Uptime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778240" y="5413248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A855F7"/>
                </a:solidFill>
              </a:rPr>
              <a:t>Target: 99.9%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0424160" y="5413248"/>
            <a:ext cx="1554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94A3B8"/>
                </a:solidFill>
              </a:rPr>
              <a:t>Track: health endpoint + OTEL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11640312" y="6492240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CBD5E1"/>
                </a:solidFill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73152"/>
            <a:ext cx="12188952" cy="45720"/>
          </a:xfrm>
          <a:prstGeom prst="rect">
            <a:avLst/>
          </a:prstGeom>
          <a:solidFill>
            <a:srgbClr val="606E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Database Schema (PostgreSQL 16 + pgvector)</a:t>
            </a:r>
          </a:p>
        </p:txBody>
      </p:sp>
      <p:sp>
        <p:nvSpPr>
          <p:cNvPr id="5" name="Rectangle 4"/>
          <p:cNvSpPr/>
          <p:nvPr/>
        </p:nvSpPr>
        <p:spPr>
          <a:xfrm>
            <a:off x="320040" y="960120"/>
            <a:ext cx="3749039" cy="1371600"/>
          </a:xfrm>
          <a:prstGeom prst="rect">
            <a:avLst/>
          </a:prstGeom>
          <a:solidFill>
            <a:srgbClr val="1E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320040" y="960120"/>
            <a:ext cx="3749039" cy="347472"/>
          </a:xfrm>
          <a:prstGeom prst="rect">
            <a:avLst/>
          </a:prstGeom>
          <a:solidFill>
            <a:srgbClr val="606E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11480" y="996696"/>
            <a:ext cx="361187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</a:rPr>
              <a:t>⬛ users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1344168"/>
            <a:ext cx="3611879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CBD5E1"/>
                </a:solidFill>
              </a:rPr>
              <a:t>id (PK)  ·  email (unique)  ·  hashed_password  ·  full_name
  ·  role (admin|developer|viewer)  ·  is_active  ·  created_at</a:t>
            </a:r>
          </a:p>
        </p:txBody>
      </p:sp>
      <p:sp>
        <p:nvSpPr>
          <p:cNvPr id="9" name="Rectangle 8"/>
          <p:cNvSpPr/>
          <p:nvPr/>
        </p:nvSpPr>
        <p:spPr>
          <a:xfrm>
            <a:off x="4251959" y="960120"/>
            <a:ext cx="3749039" cy="1371600"/>
          </a:xfrm>
          <a:prstGeom prst="rect">
            <a:avLst/>
          </a:prstGeom>
          <a:solidFill>
            <a:srgbClr val="1E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4251959" y="960120"/>
            <a:ext cx="3749039" cy="347472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343399" y="996696"/>
            <a:ext cx="361187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</a:rPr>
              <a:t>⬛ agents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43399" y="1344168"/>
            <a:ext cx="3611879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CBD5E1"/>
                </a:solidFill>
              </a:rPr>
              <a:t>id (PK)  ·  name  ·  description  ·  system_prompt
  ·  model (gpt-5.4-mini)  ·  tools (JSON)  ·  guardrails (JSON)  ·  created_by (FK→users)  ·  agent_type  ·  current_version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183879" y="960120"/>
            <a:ext cx="3749039" cy="1371600"/>
          </a:xfrm>
          <a:prstGeom prst="rect">
            <a:avLst/>
          </a:prstGeom>
          <a:solidFill>
            <a:srgbClr val="1E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8183879" y="960120"/>
            <a:ext cx="3749039" cy="347472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275319" y="996696"/>
            <a:ext cx="361187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</a:rPr>
              <a:t>⬛ agent_versions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75319" y="1344168"/>
            <a:ext cx="3611879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CBD5E1"/>
                </a:solidFill>
              </a:rPr>
              <a:t>id (PK)  ·  agent_id (FK→agents)  ·  version (int)  ·  snapshot (JSON)
  ·  created_at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20040" y="2468880"/>
            <a:ext cx="3749039" cy="1371600"/>
          </a:xfrm>
          <a:prstGeom prst="rect">
            <a:avLst/>
          </a:prstGeom>
          <a:solidFill>
            <a:srgbClr val="1E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320040" y="2468880"/>
            <a:ext cx="3749039" cy="347472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411480" y="2505456"/>
            <a:ext cx="361187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</a:rPr>
              <a:t>⬛ workflows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11480" y="2852928"/>
            <a:ext cx="3611879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CBD5E1"/>
                </a:solidFill>
              </a:rPr>
              <a:t>id (PK)  ·  name  ·  description  ·  nodes (JSON)
  ·  edges (JSON)  ·  created_by (FK→users)  ·  created_at  ·  updated_at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251959" y="2468880"/>
            <a:ext cx="3749039" cy="1371600"/>
          </a:xfrm>
          <a:prstGeom prst="rect">
            <a:avLst/>
          </a:prstGeom>
          <a:solidFill>
            <a:srgbClr val="1E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4251959" y="2468880"/>
            <a:ext cx="3749039" cy="347472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4343399" y="2505456"/>
            <a:ext cx="361187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</a:rPr>
              <a:t>⬛ workflow_runs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343399" y="2852928"/>
            <a:ext cx="3611879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CBD5E1"/>
                </a:solidFill>
              </a:rPr>
              <a:t>id (PK)  ·  workflow_id (FK→workflows)  ·  trigger_input  ·  final_output
  ·  status  ·  node_logs (JSON)  ·  total_duration_ms  ·  triggered_at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183879" y="2468880"/>
            <a:ext cx="3749039" cy="1371600"/>
          </a:xfrm>
          <a:prstGeom prst="rect">
            <a:avLst/>
          </a:prstGeom>
          <a:solidFill>
            <a:srgbClr val="1E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8183879" y="2468880"/>
            <a:ext cx="3749039" cy="347472"/>
          </a:xfrm>
          <a:prstGeom prst="rect">
            <a:avLst/>
          </a:prstGeom>
          <a:solidFill>
            <a:srgbClr val="0E79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8275319" y="2505456"/>
            <a:ext cx="361187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</a:rPr>
              <a:t>⬛ knowledge_bases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75319" y="2852928"/>
            <a:ext cx="3611879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CBD5E1"/>
                </a:solidFill>
              </a:rPr>
              <a:t>id (PK)  ·  name  ·  description  ·  agent_id (FK→agents)
  ·  created_by  ·  created_at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20040" y="3977639"/>
            <a:ext cx="3749039" cy="1371600"/>
          </a:xfrm>
          <a:prstGeom prst="rect">
            <a:avLst/>
          </a:prstGeom>
          <a:solidFill>
            <a:srgbClr val="1E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320040" y="3977639"/>
            <a:ext cx="3749039" cy="347472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411480" y="4014215"/>
            <a:ext cx="361187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</a:rPr>
              <a:t>⬛ documents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11480" y="4361687"/>
            <a:ext cx="3611879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CBD5E1"/>
                </a:solidFill>
              </a:rPr>
              <a:t>id (PK)  ·  kb_id (FK→knowledge_bases)  ·  filename  ·  content (TEXT)
  ·  chunk_count  ·  status (processing|ready)  ·  created_at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251959" y="3977639"/>
            <a:ext cx="3749039" cy="1371600"/>
          </a:xfrm>
          <a:prstGeom prst="rect">
            <a:avLst/>
          </a:prstGeom>
          <a:solidFill>
            <a:srgbClr val="1E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ectangle 33"/>
          <p:cNvSpPr/>
          <p:nvPr/>
        </p:nvSpPr>
        <p:spPr>
          <a:xfrm>
            <a:off x="4251959" y="3977639"/>
            <a:ext cx="3749039" cy="347472"/>
          </a:xfrm>
          <a:prstGeom prst="rect">
            <a:avLst/>
          </a:prstGeom>
          <a:solidFill>
            <a:srgbClr val="F43F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4343399" y="4014215"/>
            <a:ext cx="361187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</a:rPr>
              <a:t>⬛ audit_logs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343399" y="4361687"/>
            <a:ext cx="3611879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CBD5E1"/>
                </a:solidFill>
              </a:rPr>
              <a:t>id (PK)  ·  user_id  ·  action  ·  resource_type
  ·  resource_id  ·  input_snapshot (JSON)  ·  output_snapshot (JSON)  ·  guardrail_triggered  ·  latency_ms  ·  trace_id  ·  created_at</a:t>
            </a:r>
          </a:p>
        </p:txBody>
      </p:sp>
      <p:sp>
        <p:nvSpPr>
          <p:cNvPr id="37" name="Rectangle 36"/>
          <p:cNvSpPr/>
          <p:nvPr/>
        </p:nvSpPr>
        <p:spPr>
          <a:xfrm>
            <a:off x="8183879" y="3977639"/>
            <a:ext cx="3749039" cy="1371600"/>
          </a:xfrm>
          <a:prstGeom prst="rect">
            <a:avLst/>
          </a:prstGeom>
          <a:solidFill>
            <a:srgbClr val="1E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Rectangle 37"/>
          <p:cNvSpPr/>
          <p:nvPr/>
        </p:nvSpPr>
        <p:spPr>
          <a:xfrm>
            <a:off x="8183879" y="3977639"/>
            <a:ext cx="3749039" cy="347472"/>
          </a:xfrm>
          <a:prstGeom prst="rect">
            <a:avLst/>
          </a:prstGeom>
          <a:solidFill>
            <a:srgbClr val="84CC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8275319" y="4014215"/>
            <a:ext cx="361187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</a:rPr>
              <a:t>⬛ api_keys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275319" y="4361687"/>
            <a:ext cx="3611879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CBD5E1"/>
                </a:solidFill>
              </a:rPr>
              <a:t>id (PK)  ·  name  ·  key_prefix  ·  hashed_key
  ·  user_id (FK→users)  ·  is_active  ·  created_at</a:t>
            </a:r>
          </a:p>
        </p:txBody>
      </p:sp>
      <p:sp>
        <p:nvSpPr>
          <p:cNvPr id="41" name="Rectangle 40"/>
          <p:cNvSpPr/>
          <p:nvPr/>
        </p:nvSpPr>
        <p:spPr>
          <a:xfrm>
            <a:off x="320040" y="5486399"/>
            <a:ext cx="3749039" cy="1371600"/>
          </a:xfrm>
          <a:prstGeom prst="rect">
            <a:avLst/>
          </a:prstGeom>
          <a:solidFill>
            <a:srgbClr val="1E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Rectangle 41"/>
          <p:cNvSpPr/>
          <p:nvPr/>
        </p:nvSpPr>
        <p:spPr>
          <a:xfrm>
            <a:off x="320040" y="5486399"/>
            <a:ext cx="3749039" cy="347472"/>
          </a:xfrm>
          <a:prstGeom prst="rect">
            <a:avLst/>
          </a:prstGeom>
          <a:solidFill>
            <a:srgbClr val="FDBA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411480" y="5522975"/>
            <a:ext cx="361187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</a:rPr>
              <a:t>⬛ voice_sessions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11480" y="5870447"/>
            <a:ext cx="3611879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CBD5E1"/>
                </a:solidFill>
              </a:rPr>
              <a:t>id (PK)  ·  agent_id (FK→agents)  ·  user_id  ·  transcript (JSON)
  ·  status  ·  created_at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1640312" y="6492240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CBD5E1"/>
                </a:solidFill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73152"/>
            <a:ext cx="12188952" cy="45720"/>
          </a:xfrm>
          <a:prstGeom prst="rect">
            <a:avLst/>
          </a:prstGeom>
          <a:solidFill>
            <a:srgbClr val="606E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Technology Stack</a:t>
            </a:r>
          </a:p>
        </p:txBody>
      </p:sp>
      <p:sp>
        <p:nvSpPr>
          <p:cNvPr id="5" name="Rectangle 4"/>
          <p:cNvSpPr/>
          <p:nvPr/>
        </p:nvSpPr>
        <p:spPr>
          <a:xfrm>
            <a:off x="320040" y="960120"/>
            <a:ext cx="2834640" cy="5303520"/>
          </a:xfrm>
          <a:prstGeom prst="rect">
            <a:avLst/>
          </a:prstGeom>
          <a:solidFill>
            <a:srgbClr val="1E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320040" y="960120"/>
            <a:ext cx="2834640" cy="457200"/>
          </a:xfrm>
          <a:prstGeom prst="rect">
            <a:avLst/>
          </a:prstGeom>
          <a:solidFill>
            <a:srgbClr val="606E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29768" y="1005840"/>
            <a:ext cx="26517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</a:rPr>
              <a:t>🖥️ Frontend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1508760"/>
            <a:ext cx="265176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CBD5E1"/>
                </a:solidFill>
              </a:rPr>
              <a:t>▸ React 18.3 + Vite 5 + TypeScript 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29768" y="2130552"/>
            <a:ext cx="265176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CBD5E1"/>
                </a:solidFill>
              </a:rPr>
              <a:t>▸ TailwindCSS 3 (utility-first styling)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" y="2752344"/>
            <a:ext cx="265176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CBD5E1"/>
                </a:solidFill>
              </a:rPr>
              <a:t>▸ React Flow (visual workflow canvas)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9768" y="3374136"/>
            <a:ext cx="265176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CBD5E1"/>
                </a:solidFill>
              </a:rPr>
              <a:t>▸ TanStack Query v4 (server state)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29768" y="3995928"/>
            <a:ext cx="265176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CBD5E1"/>
                </a:solidFill>
              </a:rPr>
              <a:t>▸ Lucide React (icon system)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9768" y="4617720"/>
            <a:ext cx="265176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CBD5E1"/>
                </a:solidFill>
              </a:rPr>
              <a:t>▸ react-hot-toast (notifications)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29768" y="5239512"/>
            <a:ext cx="265176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CBD5E1"/>
                </a:solidFill>
              </a:rPr>
              <a:t>▸ Axios (API client)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282696" y="960120"/>
            <a:ext cx="2834640" cy="5303520"/>
          </a:xfrm>
          <a:prstGeom prst="rect">
            <a:avLst/>
          </a:prstGeom>
          <a:solidFill>
            <a:srgbClr val="1E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3282696" y="960120"/>
            <a:ext cx="2834640" cy="4572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3392424" y="1005840"/>
            <a:ext cx="26517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</a:rPr>
              <a:t>⚙️ Backend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392424" y="1508760"/>
            <a:ext cx="265176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CBD5E1"/>
                </a:solidFill>
              </a:rPr>
              <a:t>▸ FastAPI 0.115 + Uvicorn (ASGI)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392424" y="2130552"/>
            <a:ext cx="265176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CBD5E1"/>
                </a:solidFill>
              </a:rPr>
              <a:t>▸ Python 3.12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392424" y="2752344"/>
            <a:ext cx="265176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CBD5E1"/>
                </a:solidFill>
              </a:rPr>
              <a:t>▸ SQLAlchemy 2.0 (async ORM)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392424" y="3374136"/>
            <a:ext cx="265176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CBD5E1"/>
                </a:solidFill>
              </a:rPr>
              <a:t>▸ Alembic (migrations)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392424" y="3995928"/>
            <a:ext cx="265176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CBD5E1"/>
                </a:solidFill>
              </a:rPr>
              <a:t>▸ Pydantic v2 (validation)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392424" y="4617720"/>
            <a:ext cx="265176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CBD5E1"/>
                </a:solidFill>
              </a:rPr>
              <a:t>▸ python-jose (JWT auth)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392424" y="5239512"/>
            <a:ext cx="265176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CBD5E1"/>
                </a:solidFill>
              </a:rPr>
              <a:t>▸ passlib + bcrypt (password hashing)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245352" y="960120"/>
            <a:ext cx="2834640" cy="5303520"/>
          </a:xfrm>
          <a:prstGeom prst="rect">
            <a:avLst/>
          </a:prstGeom>
          <a:solidFill>
            <a:srgbClr val="1E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6245352" y="960120"/>
            <a:ext cx="2834640" cy="4572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6355080" y="1005840"/>
            <a:ext cx="26517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</a:rPr>
              <a:t>🤖 AI / ML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55080" y="1508760"/>
            <a:ext cx="265176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CBD5E1"/>
                </a:solidFill>
              </a:rPr>
              <a:t>▸ Azure OpenAI GPT-5.4-mini + GPT-5.4-mini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355080" y="2130552"/>
            <a:ext cx="265176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CBD5E1"/>
                </a:solidFill>
              </a:rPr>
              <a:t>▸ LangChain 0.3 + LangChain-OpenAI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355080" y="2752344"/>
            <a:ext cx="265176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CBD5E1"/>
                </a:solidFill>
              </a:rPr>
              <a:t>▸ OpenAI SDK 1.84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355080" y="3374136"/>
            <a:ext cx="265176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CBD5E1"/>
                </a:solidFill>
              </a:rPr>
              <a:t>▸ FAISS (vector similarity)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355080" y="3995928"/>
            <a:ext cx="265176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CBD5E1"/>
                </a:solidFill>
              </a:rPr>
              <a:t>▸ pgvector 0.3 (PostgreSQL vectors)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355080" y="4617720"/>
            <a:ext cx="265176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CBD5E1"/>
                </a:solidFill>
              </a:rPr>
              <a:t>▸ Presidio (PII detection/anonymization)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355080" y="5239512"/>
            <a:ext cx="265176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CBD5E1"/>
                </a:solidFill>
              </a:rPr>
              <a:t>▸ Azure AI Search (enterprise RAG)</a:t>
            </a:r>
          </a:p>
        </p:txBody>
      </p:sp>
      <p:sp>
        <p:nvSpPr>
          <p:cNvPr id="35" name="Rectangle 34"/>
          <p:cNvSpPr/>
          <p:nvPr/>
        </p:nvSpPr>
        <p:spPr>
          <a:xfrm>
            <a:off x="9208008" y="960120"/>
            <a:ext cx="2834640" cy="5303520"/>
          </a:xfrm>
          <a:prstGeom prst="rect">
            <a:avLst/>
          </a:prstGeom>
          <a:solidFill>
            <a:srgbClr val="1E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Rectangle 35"/>
          <p:cNvSpPr/>
          <p:nvPr/>
        </p:nvSpPr>
        <p:spPr>
          <a:xfrm>
            <a:off x="9208008" y="960120"/>
            <a:ext cx="2834640" cy="457200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9317736" y="1005840"/>
            <a:ext cx="26517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</a:rPr>
              <a:t>🗄️ Data &amp; Infra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317736" y="1508760"/>
            <a:ext cx="265176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CBD5E1"/>
                </a:solidFill>
              </a:rPr>
              <a:t>▸ PostgreSQL 16 + pgvector extension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317736" y="2130552"/>
            <a:ext cx="265176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CBD5E1"/>
                </a:solidFill>
              </a:rPr>
              <a:t>▸ asyncpg (async DB driver)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317736" y="2752344"/>
            <a:ext cx="265176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CBD5E1"/>
                </a:solidFill>
              </a:rPr>
              <a:t>▸ Docker + Docker Compose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317736" y="3374136"/>
            <a:ext cx="265176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CBD5E1"/>
                </a:solidFill>
              </a:rPr>
              <a:t>▸ Azure Speech (STT + TTS)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317736" y="3995928"/>
            <a:ext cx="265176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CBD5E1"/>
                </a:solidFill>
              </a:rPr>
              <a:t>▸ OpenTelemetry (traces + metrics)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317736" y="4617720"/>
            <a:ext cx="265176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CBD5E1"/>
                </a:solidFill>
              </a:rPr>
              <a:t>▸ Azure Monitor (OTEL exporter)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317736" y="5239512"/>
            <a:ext cx="265176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CBD5E1"/>
                </a:solidFill>
              </a:rPr>
              <a:t>▸ pypdf + python-docx (doc parsing)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1640312" y="6492240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CBD5E1"/>
                </a:solidFill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73152"/>
            <a:ext cx="12188952" cy="45720"/>
          </a:xfrm>
          <a:prstGeom prst="rect">
            <a:avLst/>
          </a:prstGeom>
          <a:solidFill>
            <a:srgbClr val="606E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API Module Map  (16 Routers · FastAPI)</a:t>
            </a:r>
          </a:p>
        </p:txBody>
      </p:sp>
      <p:sp>
        <p:nvSpPr>
          <p:cNvPr id="5" name="Rectangle 4"/>
          <p:cNvSpPr/>
          <p:nvPr/>
        </p:nvSpPr>
        <p:spPr>
          <a:xfrm>
            <a:off x="320040" y="960120"/>
            <a:ext cx="5760720" cy="594360"/>
          </a:xfrm>
          <a:prstGeom prst="rect">
            <a:avLst/>
          </a:prstGeom>
          <a:solidFill>
            <a:srgbClr val="1E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57200" y="1024128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606EF5"/>
                </a:solidFill>
              </a:rPr>
              <a:t>/api/auth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0" y="1024128"/>
            <a:ext cx="3383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BD5E1"/>
                </a:solidFill>
              </a:rPr>
              <a:t>JWT login, register, me endpoint</a:t>
            </a:r>
          </a:p>
        </p:txBody>
      </p:sp>
      <p:sp>
        <p:nvSpPr>
          <p:cNvPr id="8" name="Rectangle 7"/>
          <p:cNvSpPr/>
          <p:nvPr/>
        </p:nvSpPr>
        <p:spPr>
          <a:xfrm>
            <a:off x="320040" y="1636776"/>
            <a:ext cx="5760720" cy="594360"/>
          </a:xfrm>
          <a:prstGeom prst="rect">
            <a:avLst/>
          </a:prstGeom>
          <a:solidFill>
            <a:srgbClr val="1E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57200" y="1700784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606EF5"/>
                </a:solidFill>
              </a:rPr>
              <a:t>/api/agents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43200" y="1700784"/>
            <a:ext cx="3383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BD5E1"/>
                </a:solidFill>
              </a:rPr>
              <a:t>CRUD agents, versions, tools, guardrails config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0040" y="2313432"/>
            <a:ext cx="5760720" cy="594360"/>
          </a:xfrm>
          <a:prstGeom prst="rect">
            <a:avLst/>
          </a:prstGeom>
          <a:solidFill>
            <a:srgbClr val="1E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57200" y="237744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606EF5"/>
                </a:solidFill>
              </a:rPr>
              <a:t>/api/rag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43200" y="2377440"/>
            <a:ext cx="3383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BD5E1"/>
                </a:solidFill>
              </a:rPr>
              <a:t>Knowledge bases, document upload &amp; chunking, semantic search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20040" y="2990087"/>
            <a:ext cx="5760720" cy="594360"/>
          </a:xfrm>
          <a:prstGeom prst="rect">
            <a:avLst/>
          </a:prstGeom>
          <a:solidFill>
            <a:srgbClr val="1E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57200" y="3054095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606EF5"/>
                </a:solidFill>
              </a:rPr>
              <a:t>/api/tools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743200" y="3054095"/>
            <a:ext cx="3383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BD5E1"/>
                </a:solidFill>
              </a:rPr>
              <a:t>Tool registry — list, register, invoke native tools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20040" y="3666744"/>
            <a:ext cx="5760720" cy="594360"/>
          </a:xfrm>
          <a:prstGeom prst="rect">
            <a:avLst/>
          </a:prstGeom>
          <a:solidFill>
            <a:srgbClr val="1E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457200" y="3730752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606EF5"/>
                </a:solidFill>
              </a:rPr>
              <a:t>/api/builder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743200" y="3730752"/>
            <a:ext cx="3383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BD5E1"/>
                </a:solidFill>
              </a:rPr>
              <a:t>Visual workflow save/load/run (nodes + edges)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20040" y="4343400"/>
            <a:ext cx="5760720" cy="594360"/>
          </a:xfrm>
          <a:prstGeom prst="rect">
            <a:avLst/>
          </a:prstGeom>
          <a:solidFill>
            <a:srgbClr val="1E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457200" y="4407408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606EF5"/>
                </a:solidFill>
              </a:rPr>
              <a:t>/api/simulation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743200" y="4407408"/>
            <a:ext cx="3383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BD5E1"/>
                </a:solidFill>
              </a:rPr>
              <a:t>Run agent test scenarios, score outputs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20040" y="5020055"/>
            <a:ext cx="5760720" cy="594360"/>
          </a:xfrm>
          <a:prstGeom prst="rect">
            <a:avLst/>
          </a:prstGeom>
          <a:solidFill>
            <a:srgbClr val="1E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457200" y="5084063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606EF5"/>
                </a:solidFill>
              </a:rPr>
              <a:t>/api/architect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743200" y="5084063"/>
            <a:ext cx="3383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BD5E1"/>
                </a:solidFill>
              </a:rPr>
              <a:t>Prompt-to-Agent generation, ZIP export (RAG Scaffold &amp; Custom Code)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20040" y="5696712"/>
            <a:ext cx="5760720" cy="594360"/>
          </a:xfrm>
          <a:prstGeom prst="rect">
            <a:avLst/>
          </a:prstGeom>
          <a:solidFill>
            <a:srgbClr val="1E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457200" y="576072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606EF5"/>
                </a:solidFill>
              </a:rPr>
              <a:t>/api/control-plane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743200" y="5760720"/>
            <a:ext cx="3383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BD5E1"/>
                </a:solidFill>
              </a:rPr>
              <a:t>Live agent status, patch, pause, resume running workflows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355080" y="960120"/>
            <a:ext cx="5486400" cy="594360"/>
          </a:xfrm>
          <a:prstGeom prst="rect">
            <a:avLst/>
          </a:prstGeom>
          <a:solidFill>
            <a:srgbClr val="1E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6492240" y="1024128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0B981"/>
                </a:solidFill>
              </a:rPr>
              <a:t>/api/safety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778240" y="1024128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BD5E1"/>
                </a:solidFill>
              </a:rPr>
              <a:t>Guardrail policy configuration per agent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355080" y="1636776"/>
            <a:ext cx="5486400" cy="594360"/>
          </a:xfrm>
          <a:prstGeom prst="rect">
            <a:avLst/>
          </a:prstGeom>
          <a:solidFill>
            <a:srgbClr val="1E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6492240" y="1700784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0B981"/>
                </a:solidFill>
              </a:rPr>
              <a:t>/api/evaluations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778240" y="1700784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BD5E1"/>
                </a:solidFill>
              </a:rPr>
              <a:t>Batch evaluation runs, scoring metrics, version comparison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355080" y="2313432"/>
            <a:ext cx="5486400" cy="594360"/>
          </a:xfrm>
          <a:prstGeom prst="rect">
            <a:avLst/>
          </a:prstGeom>
          <a:solidFill>
            <a:srgbClr val="1E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6492240" y="237744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0B981"/>
                </a:solidFill>
              </a:rPr>
              <a:t>/api/voice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778240" y="2377440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BD5E1"/>
                </a:solidFill>
              </a:rPr>
              <a:t>Voice session management, STT→LLM→TTS pipeline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355080" y="2990087"/>
            <a:ext cx="5486400" cy="594360"/>
          </a:xfrm>
          <a:prstGeom prst="rect">
            <a:avLst/>
          </a:prstGeom>
          <a:solidFill>
            <a:srgbClr val="1E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6492240" y="3054095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0B981"/>
                </a:solidFill>
              </a:rPr>
              <a:t>/api/api-keys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778240" y="3054095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BD5E1"/>
                </a:solidFill>
              </a:rPr>
              <a:t>Issue, list, revoke programmatic API keys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355080" y="3666744"/>
            <a:ext cx="5486400" cy="594360"/>
          </a:xfrm>
          <a:prstGeom prst="rect">
            <a:avLst/>
          </a:prstGeom>
          <a:solidFill>
            <a:srgbClr val="1E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6492240" y="3730752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0B981"/>
                </a:solidFill>
              </a:rPr>
              <a:t>/api/team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778240" y="3730752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BD5E1"/>
                </a:solidFill>
              </a:rPr>
              <a:t>User invite, role assignment, team management</a:t>
            </a:r>
          </a:p>
        </p:txBody>
      </p:sp>
      <p:sp>
        <p:nvSpPr>
          <p:cNvPr id="44" name="Rectangle 43"/>
          <p:cNvSpPr/>
          <p:nvPr/>
        </p:nvSpPr>
        <p:spPr>
          <a:xfrm>
            <a:off x="6355080" y="4343400"/>
            <a:ext cx="5486400" cy="594360"/>
          </a:xfrm>
          <a:prstGeom prst="rect">
            <a:avLst/>
          </a:prstGeom>
          <a:solidFill>
            <a:srgbClr val="1E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6492240" y="4407408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0B981"/>
                </a:solidFill>
              </a:rPr>
              <a:t>/api/audit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778240" y="4407408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BD5E1"/>
                </a:solidFill>
              </a:rPr>
              <a:t>Query audit logs, filter by user/action/resource/date</a:t>
            </a:r>
          </a:p>
        </p:txBody>
      </p:sp>
      <p:sp>
        <p:nvSpPr>
          <p:cNvPr id="47" name="Rectangle 46"/>
          <p:cNvSpPr/>
          <p:nvPr/>
        </p:nvSpPr>
        <p:spPr>
          <a:xfrm>
            <a:off x="6355080" y="5020055"/>
            <a:ext cx="5486400" cy="594360"/>
          </a:xfrm>
          <a:prstGeom prst="rect">
            <a:avLst/>
          </a:prstGeom>
          <a:solidFill>
            <a:srgbClr val="1E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6492240" y="5084063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0B981"/>
                </a:solidFill>
              </a:rPr>
              <a:t>/api/telemetry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778240" y="5084063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BD5E1"/>
                </a:solidFill>
              </a:rPr>
              <a:t>OpenTelemetry trace ingestion (OTLP/HTTP)</a:t>
            </a:r>
          </a:p>
        </p:txBody>
      </p:sp>
      <p:sp>
        <p:nvSpPr>
          <p:cNvPr id="50" name="Rectangle 49"/>
          <p:cNvSpPr/>
          <p:nvPr/>
        </p:nvSpPr>
        <p:spPr>
          <a:xfrm>
            <a:off x="6355080" y="5696712"/>
            <a:ext cx="5486400" cy="594360"/>
          </a:xfrm>
          <a:prstGeom prst="rect">
            <a:avLst/>
          </a:prstGeom>
          <a:solidFill>
            <a:srgbClr val="1E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6492240" y="576072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0B981"/>
                </a:solidFill>
              </a:rPr>
              <a:t>/api/health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778240" y="5760720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BD5E1"/>
                </a:solidFill>
              </a:rPr>
              <a:t>Health check endpoint for load balancers and Kubernetes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11640312" y="6492240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CBD5E1"/>
                </a:solidFill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73152"/>
            <a:ext cx="12188952" cy="45720"/>
          </a:xfrm>
          <a:prstGeom prst="rect">
            <a:avLst/>
          </a:prstGeom>
          <a:solidFill>
            <a:srgbClr val="606E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Frontend Page Map  (25 Pages · React SPA)</a:t>
            </a:r>
          </a:p>
        </p:txBody>
      </p:sp>
      <p:sp>
        <p:nvSpPr>
          <p:cNvPr id="5" name="Rectangle 4"/>
          <p:cNvSpPr/>
          <p:nvPr/>
        </p:nvSpPr>
        <p:spPr>
          <a:xfrm>
            <a:off x="320040" y="960120"/>
            <a:ext cx="2798064" cy="548640"/>
          </a:xfrm>
          <a:prstGeom prst="rect">
            <a:avLst/>
          </a:prstGeom>
          <a:solidFill>
            <a:srgbClr val="1E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11480" y="987552"/>
            <a:ext cx="11887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>
                <a:solidFill>
                  <a:srgbClr val="606EF5"/>
                </a:solidFill>
              </a:rPr>
              <a:t>🏠 Home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00200" y="1014984"/>
            <a:ext cx="1426464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CBD5E1"/>
                </a:solidFill>
              </a:rPr>
              <a:t>Landing, quick actions, recent activity</a:t>
            </a:r>
          </a:p>
        </p:txBody>
      </p:sp>
      <p:sp>
        <p:nvSpPr>
          <p:cNvPr id="8" name="Rectangle 7"/>
          <p:cNvSpPr/>
          <p:nvPr/>
        </p:nvSpPr>
        <p:spPr>
          <a:xfrm>
            <a:off x="3282696" y="960120"/>
            <a:ext cx="2798064" cy="548640"/>
          </a:xfrm>
          <a:prstGeom prst="rect">
            <a:avLst/>
          </a:prstGeom>
          <a:solidFill>
            <a:srgbClr val="1E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374136" y="987552"/>
            <a:ext cx="11887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>
                <a:solidFill>
                  <a:srgbClr val="606EF5"/>
                </a:solidFill>
              </a:rPr>
              <a:t>🧠 Planning Architect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62856" y="1014984"/>
            <a:ext cx="1426464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CBD5E1"/>
                </a:solidFill>
              </a:rPr>
              <a:t>Conversational prompt-to-agent, session history, plan/agents/app/db tabs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45352" y="960120"/>
            <a:ext cx="2798064" cy="548640"/>
          </a:xfrm>
          <a:prstGeom prst="rect">
            <a:avLst/>
          </a:prstGeom>
          <a:solidFill>
            <a:srgbClr val="1E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336792" y="987552"/>
            <a:ext cx="11887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>
                <a:solidFill>
                  <a:srgbClr val="606EF5"/>
                </a:solidFill>
              </a:rPr>
              <a:t>🔧 Agent Studio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525512" y="1014984"/>
            <a:ext cx="1426464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CBD5E1"/>
                </a:solidFill>
              </a:rPr>
              <a:t>Create, edit, test, deploy, publish agents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208008" y="960120"/>
            <a:ext cx="2798064" cy="548640"/>
          </a:xfrm>
          <a:prstGeom prst="rect">
            <a:avLst/>
          </a:prstGeom>
          <a:solidFill>
            <a:srgbClr val="1E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9299448" y="987552"/>
            <a:ext cx="11887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>
                <a:solidFill>
                  <a:srgbClr val="606EF5"/>
                </a:solidFill>
              </a:rPr>
              <a:t>📐 Workflow Builder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488168" y="1014984"/>
            <a:ext cx="1426464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CBD5E1"/>
                </a:solidFill>
              </a:rPr>
              <a:t>React Flow drag-drop canvas, node config, trigger &amp; run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20040" y="1563624"/>
            <a:ext cx="2798064" cy="548640"/>
          </a:xfrm>
          <a:prstGeom prst="rect">
            <a:avLst/>
          </a:prstGeom>
          <a:solidFill>
            <a:srgbClr val="1E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411480" y="1591056"/>
            <a:ext cx="11887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>
                <a:solidFill>
                  <a:srgbClr val="606EF5"/>
                </a:solidFill>
              </a:rPr>
              <a:t>📚 Knowledge Bases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600200" y="1618488"/>
            <a:ext cx="1426464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CBD5E1"/>
                </a:solidFill>
              </a:rPr>
              <a:t>Create KB, upload docs, view chunk status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282696" y="1563624"/>
            <a:ext cx="2798064" cy="548640"/>
          </a:xfrm>
          <a:prstGeom prst="rect">
            <a:avLst/>
          </a:prstGeom>
          <a:solidFill>
            <a:srgbClr val="1E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3374136" y="1591056"/>
            <a:ext cx="11887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>
                <a:solidFill>
                  <a:srgbClr val="606EF5"/>
                </a:solidFill>
              </a:rPr>
              <a:t>🎮 Playground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62856" y="1618488"/>
            <a:ext cx="1426464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CBD5E1"/>
                </a:solidFill>
              </a:rPr>
              <a:t>Interactive agent testing with streaming responses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245352" y="1563624"/>
            <a:ext cx="2798064" cy="548640"/>
          </a:xfrm>
          <a:prstGeom prst="rect">
            <a:avLst/>
          </a:prstGeom>
          <a:solidFill>
            <a:srgbClr val="1E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336792" y="1591056"/>
            <a:ext cx="11887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>
                <a:solidFill>
                  <a:srgbClr val="606EF5"/>
                </a:solidFill>
              </a:rPr>
              <a:t>🧪 Evaluations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525512" y="1618488"/>
            <a:ext cx="1426464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CBD5E1"/>
                </a:solidFill>
              </a:rPr>
              <a:t>Batch test runs, scoring, version comparison</a:t>
            </a:r>
          </a:p>
        </p:txBody>
      </p:sp>
      <p:sp>
        <p:nvSpPr>
          <p:cNvPr id="26" name="Rectangle 25"/>
          <p:cNvSpPr/>
          <p:nvPr/>
        </p:nvSpPr>
        <p:spPr>
          <a:xfrm>
            <a:off x="9208008" y="1563624"/>
            <a:ext cx="2798064" cy="548640"/>
          </a:xfrm>
          <a:prstGeom prst="rect">
            <a:avLst/>
          </a:prstGeom>
          <a:solidFill>
            <a:srgbClr val="1E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9299448" y="1591056"/>
            <a:ext cx="11887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>
                <a:solidFill>
                  <a:srgbClr val="606EF5"/>
                </a:solidFill>
              </a:rPr>
              <a:t>🔒 Safety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488168" y="1618488"/>
            <a:ext cx="1426464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CBD5E1"/>
                </a:solidFill>
              </a:rPr>
              <a:t>Guardrail policies per agent, PII/hallucination config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20040" y="2167128"/>
            <a:ext cx="2798064" cy="548640"/>
          </a:xfrm>
          <a:prstGeom prst="rect">
            <a:avLst/>
          </a:prstGeom>
          <a:solidFill>
            <a:srgbClr val="1E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411480" y="2194560"/>
            <a:ext cx="11887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>
                <a:solidFill>
                  <a:srgbClr val="606EF5"/>
                </a:solidFill>
              </a:rPr>
              <a:t>📊 Usage &amp; Traceability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600200" y="2221992"/>
            <a:ext cx="1426464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CBD5E1"/>
                </a:solidFill>
              </a:rPr>
              <a:t>Audit log viewer, latency stats, filter by action/agent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282696" y="2167128"/>
            <a:ext cx="2798064" cy="548640"/>
          </a:xfrm>
          <a:prstGeom prst="rect">
            <a:avLst/>
          </a:prstGeom>
          <a:solidFill>
            <a:srgbClr val="1E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3374136" y="2194560"/>
            <a:ext cx="11887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>
                <a:solidFill>
                  <a:srgbClr val="606EF5"/>
                </a:solidFill>
              </a:rPr>
              <a:t>🌐 Control Plane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562856" y="2221992"/>
            <a:ext cx="1426464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CBD5E1"/>
                </a:solidFill>
              </a:rPr>
              <a:t>Live platform stats — agents, runs, guardrail triggers, avg latency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245352" y="2167128"/>
            <a:ext cx="2798064" cy="548640"/>
          </a:xfrm>
          <a:prstGeom prst="rect">
            <a:avLst/>
          </a:prstGeom>
          <a:solidFill>
            <a:srgbClr val="1E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6336792" y="2194560"/>
            <a:ext cx="11887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>
                <a:solidFill>
                  <a:srgbClr val="606EF5"/>
                </a:solidFill>
              </a:rPr>
              <a:t>🔭 Workflow Observability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525512" y="2221992"/>
            <a:ext cx="1426464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CBD5E1"/>
                </a:solidFill>
              </a:rPr>
              <a:t>Per-run execution trace, "Awaiting Approval" tracking, Review link</a:t>
            </a:r>
          </a:p>
        </p:txBody>
      </p:sp>
      <p:sp>
        <p:nvSpPr>
          <p:cNvPr id="38" name="Rectangle 37"/>
          <p:cNvSpPr/>
          <p:nvPr/>
        </p:nvSpPr>
        <p:spPr>
          <a:xfrm>
            <a:off x="9208008" y="2167128"/>
            <a:ext cx="2798064" cy="548640"/>
          </a:xfrm>
          <a:prstGeom prst="rect">
            <a:avLst/>
          </a:prstGeom>
          <a:solidFill>
            <a:srgbClr val="1E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9299448" y="2194560"/>
            <a:ext cx="11887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>
                <a:solidFill>
                  <a:srgbClr val="606EF5"/>
                </a:solidFill>
              </a:rPr>
              <a:t>✅ Approval Page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488168" y="2221992"/>
            <a:ext cx="1426464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CBD5E1"/>
                </a:solidFill>
              </a:rPr>
              <a:t>Review a paused run's context, Approve/Reject to resume</a:t>
            </a:r>
          </a:p>
        </p:txBody>
      </p:sp>
      <p:sp>
        <p:nvSpPr>
          <p:cNvPr id="41" name="Rectangle 40"/>
          <p:cNvSpPr/>
          <p:nvPr/>
        </p:nvSpPr>
        <p:spPr>
          <a:xfrm>
            <a:off x="320040" y="2770632"/>
            <a:ext cx="2798064" cy="548640"/>
          </a:xfrm>
          <a:prstGeom prst="rect">
            <a:avLst/>
          </a:prstGeom>
          <a:solidFill>
            <a:srgbClr val="1E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411480" y="2798064"/>
            <a:ext cx="11887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>
                <a:solidFill>
                  <a:srgbClr val="606EF5"/>
                </a:solidFill>
              </a:rPr>
              <a:t>🗣️ Voice Agents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600200" y="2825496"/>
            <a:ext cx="1426464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CBD5E1"/>
                </a:solidFill>
              </a:rPr>
              <a:t>Voice session management, STT/TTS config, audio test</a:t>
            </a:r>
          </a:p>
        </p:txBody>
      </p:sp>
      <p:sp>
        <p:nvSpPr>
          <p:cNvPr id="44" name="Rectangle 43"/>
          <p:cNvSpPr/>
          <p:nvPr/>
        </p:nvSpPr>
        <p:spPr>
          <a:xfrm>
            <a:off x="3282696" y="2770632"/>
            <a:ext cx="2798064" cy="548640"/>
          </a:xfrm>
          <a:prstGeom prst="rect">
            <a:avLst/>
          </a:prstGeom>
          <a:solidFill>
            <a:srgbClr val="1E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3374136" y="2798064"/>
            <a:ext cx="11887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>
                <a:solidFill>
                  <a:srgbClr val="606EF5"/>
                </a:solidFill>
              </a:rPr>
              <a:t>🗂️ Blueprints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562856" y="2825496"/>
            <a:ext cx="1426464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CBD5E1"/>
                </a:solidFill>
              </a:rPr>
              <a:t>Reusable agent blueprints library, clone to project</a:t>
            </a:r>
          </a:p>
        </p:txBody>
      </p:sp>
      <p:sp>
        <p:nvSpPr>
          <p:cNvPr id="47" name="Rectangle 46"/>
          <p:cNvSpPr/>
          <p:nvPr/>
        </p:nvSpPr>
        <p:spPr>
          <a:xfrm>
            <a:off x="6245352" y="2770632"/>
            <a:ext cx="2798064" cy="548640"/>
          </a:xfrm>
          <a:prstGeom prst="rect">
            <a:avLst/>
          </a:prstGeom>
          <a:solidFill>
            <a:srgbClr val="1E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6336792" y="2798064"/>
            <a:ext cx="11887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>
                <a:solidFill>
                  <a:srgbClr val="606EF5"/>
                </a:solidFill>
              </a:rPr>
              <a:t>📝 Prompt Library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525512" y="2825496"/>
            <a:ext cx="1426464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CBD5E1"/>
                </a:solidFill>
              </a:rPr>
              <a:t>Curated prompts across 10 domains, search, copy-to-agent</a:t>
            </a:r>
          </a:p>
        </p:txBody>
      </p:sp>
      <p:sp>
        <p:nvSpPr>
          <p:cNvPr id="50" name="Rectangle 49"/>
          <p:cNvSpPr/>
          <p:nvPr/>
        </p:nvSpPr>
        <p:spPr>
          <a:xfrm>
            <a:off x="9208008" y="2770632"/>
            <a:ext cx="2798064" cy="548640"/>
          </a:xfrm>
          <a:prstGeom prst="rect">
            <a:avLst/>
          </a:prstGeom>
          <a:solidFill>
            <a:srgbClr val="1E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9299448" y="2798064"/>
            <a:ext cx="11887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>
                <a:solidFill>
                  <a:srgbClr val="606EF5"/>
                </a:solidFill>
              </a:rPr>
              <a:t>💡 What Should I Build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0488168" y="2825496"/>
            <a:ext cx="1426464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CBD5E1"/>
                </a:solidFill>
              </a:rPr>
              <a:t>AI-guided project ideation based on use-case description</a:t>
            </a:r>
          </a:p>
        </p:txBody>
      </p:sp>
      <p:sp>
        <p:nvSpPr>
          <p:cNvPr id="53" name="Rectangle 52"/>
          <p:cNvSpPr/>
          <p:nvPr/>
        </p:nvSpPr>
        <p:spPr>
          <a:xfrm>
            <a:off x="320040" y="3374136"/>
            <a:ext cx="2798064" cy="548640"/>
          </a:xfrm>
          <a:prstGeom prst="rect">
            <a:avLst/>
          </a:prstGeom>
          <a:solidFill>
            <a:srgbClr val="1E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411480" y="3401568"/>
            <a:ext cx="11887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>
                <a:solidFill>
                  <a:srgbClr val="606EF5"/>
                </a:solidFill>
              </a:rPr>
              <a:t>🗺️ My Projects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1600200" y="3429000"/>
            <a:ext cx="1426464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CBD5E1"/>
                </a:solidFill>
              </a:rPr>
              <a:t>Project cards, download ZIP, open in Architect</a:t>
            </a:r>
          </a:p>
        </p:txBody>
      </p:sp>
      <p:sp>
        <p:nvSpPr>
          <p:cNvPr id="56" name="Rectangle 55"/>
          <p:cNvSpPr/>
          <p:nvPr/>
        </p:nvSpPr>
        <p:spPr>
          <a:xfrm>
            <a:off x="3282696" y="3374136"/>
            <a:ext cx="2798064" cy="548640"/>
          </a:xfrm>
          <a:prstGeom prst="rect">
            <a:avLst/>
          </a:prstGeom>
          <a:solidFill>
            <a:srgbClr val="1E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TextBox 56"/>
          <p:cNvSpPr txBox="1"/>
          <p:nvPr/>
        </p:nvSpPr>
        <p:spPr>
          <a:xfrm>
            <a:off x="3374136" y="3401568"/>
            <a:ext cx="11887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>
                <a:solidFill>
                  <a:srgbClr val="606EF5"/>
                </a:solidFill>
              </a:rPr>
              <a:t>🌍 Published Projects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4562856" y="3429000"/>
            <a:ext cx="1426464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CBD5E1"/>
                </a:solidFill>
              </a:rPr>
              <a:t>Published agents visible to org members</a:t>
            </a:r>
          </a:p>
        </p:txBody>
      </p:sp>
      <p:sp>
        <p:nvSpPr>
          <p:cNvPr id="59" name="Rectangle 58"/>
          <p:cNvSpPr/>
          <p:nvPr/>
        </p:nvSpPr>
        <p:spPr>
          <a:xfrm>
            <a:off x="6245352" y="3374136"/>
            <a:ext cx="2798064" cy="548640"/>
          </a:xfrm>
          <a:prstGeom prst="rect">
            <a:avLst/>
          </a:prstGeom>
          <a:solidFill>
            <a:srgbClr val="1E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TextBox 59"/>
          <p:cNvSpPr txBox="1"/>
          <p:nvPr/>
        </p:nvSpPr>
        <p:spPr>
          <a:xfrm>
            <a:off x="6336792" y="3401568"/>
            <a:ext cx="11887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>
                <a:solidFill>
                  <a:srgbClr val="606EF5"/>
                </a:solidFill>
              </a:rPr>
              <a:t>🤝 Shared Projects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7525512" y="3429000"/>
            <a:ext cx="1426464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CBD5E1"/>
                </a:solidFill>
              </a:rPr>
              <a:t>Projects shared with you across the org</a:t>
            </a:r>
          </a:p>
        </p:txBody>
      </p:sp>
      <p:sp>
        <p:nvSpPr>
          <p:cNvPr id="62" name="Rectangle 61"/>
          <p:cNvSpPr/>
          <p:nvPr/>
        </p:nvSpPr>
        <p:spPr>
          <a:xfrm>
            <a:off x="9208008" y="3374136"/>
            <a:ext cx="2798064" cy="548640"/>
          </a:xfrm>
          <a:prstGeom prst="rect">
            <a:avLst/>
          </a:prstGeom>
          <a:solidFill>
            <a:srgbClr val="1E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TextBox 62"/>
          <p:cNvSpPr txBox="1"/>
          <p:nvPr/>
        </p:nvSpPr>
        <p:spPr>
          <a:xfrm>
            <a:off x="9299448" y="3401568"/>
            <a:ext cx="11887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>
                <a:solidFill>
                  <a:srgbClr val="606EF5"/>
                </a:solidFill>
              </a:rPr>
              <a:t>🛒 Marketplace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10488168" y="3429000"/>
            <a:ext cx="1426464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CBD5E1"/>
                </a:solidFill>
              </a:rPr>
              <a:t>Community agent templates — import &amp; customise</a:t>
            </a:r>
          </a:p>
        </p:txBody>
      </p:sp>
      <p:sp>
        <p:nvSpPr>
          <p:cNvPr id="65" name="Rectangle 64"/>
          <p:cNvSpPr/>
          <p:nvPr/>
        </p:nvSpPr>
        <p:spPr>
          <a:xfrm>
            <a:off x="320040" y="3977640"/>
            <a:ext cx="2798064" cy="548640"/>
          </a:xfrm>
          <a:prstGeom prst="rect">
            <a:avLst/>
          </a:prstGeom>
          <a:solidFill>
            <a:srgbClr val="1E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6" name="TextBox 65"/>
          <p:cNvSpPr txBox="1"/>
          <p:nvPr/>
        </p:nvSpPr>
        <p:spPr>
          <a:xfrm>
            <a:off x="411480" y="4005072"/>
            <a:ext cx="11887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>
                <a:solidFill>
                  <a:srgbClr val="606EF5"/>
                </a:solidFill>
              </a:rPr>
              <a:t>🔑 API Keys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1600200" y="4032504"/>
            <a:ext cx="1426464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CBD5E1"/>
                </a:solidFill>
              </a:rPr>
              <a:t>Generate, list, revoke programmatic keys</a:t>
            </a:r>
          </a:p>
        </p:txBody>
      </p:sp>
      <p:sp>
        <p:nvSpPr>
          <p:cNvPr id="68" name="Rectangle 67"/>
          <p:cNvSpPr/>
          <p:nvPr/>
        </p:nvSpPr>
        <p:spPr>
          <a:xfrm>
            <a:off x="3282696" y="3977640"/>
            <a:ext cx="2798064" cy="548640"/>
          </a:xfrm>
          <a:prstGeom prst="rect">
            <a:avLst/>
          </a:prstGeom>
          <a:solidFill>
            <a:srgbClr val="1E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9" name="TextBox 68"/>
          <p:cNvSpPr txBox="1"/>
          <p:nvPr/>
        </p:nvSpPr>
        <p:spPr>
          <a:xfrm>
            <a:off x="3374136" y="4005072"/>
            <a:ext cx="11887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>
                <a:solidFill>
                  <a:srgbClr val="606EF5"/>
                </a:solidFill>
              </a:rPr>
              <a:t>👥 Team Members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4562856" y="4032504"/>
            <a:ext cx="1426464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CBD5E1"/>
                </a:solidFill>
              </a:rPr>
              <a:t>Invite, assign roles, deactivate users</a:t>
            </a:r>
          </a:p>
        </p:txBody>
      </p:sp>
      <p:sp>
        <p:nvSpPr>
          <p:cNvPr id="71" name="Rectangle 70"/>
          <p:cNvSpPr/>
          <p:nvPr/>
        </p:nvSpPr>
        <p:spPr>
          <a:xfrm>
            <a:off x="6245352" y="3977640"/>
            <a:ext cx="2798064" cy="548640"/>
          </a:xfrm>
          <a:prstGeom prst="rect">
            <a:avLst/>
          </a:prstGeom>
          <a:solidFill>
            <a:srgbClr val="1E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2" name="TextBox 71"/>
          <p:cNvSpPr txBox="1"/>
          <p:nvPr/>
        </p:nvSpPr>
        <p:spPr>
          <a:xfrm>
            <a:off x="6336792" y="4005072"/>
            <a:ext cx="11887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>
                <a:solidFill>
                  <a:srgbClr val="606EF5"/>
                </a:solidFill>
              </a:rPr>
              <a:t>📅 Agent Versions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7525512" y="4032504"/>
            <a:ext cx="1426464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CBD5E1"/>
                </a:solidFill>
              </a:rPr>
              <a:t>Version history, diff, rollback</a:t>
            </a:r>
          </a:p>
        </p:txBody>
      </p:sp>
      <p:sp>
        <p:nvSpPr>
          <p:cNvPr id="74" name="Rectangle 73"/>
          <p:cNvSpPr/>
          <p:nvPr/>
        </p:nvSpPr>
        <p:spPr>
          <a:xfrm>
            <a:off x="9208008" y="3977640"/>
            <a:ext cx="2798064" cy="548640"/>
          </a:xfrm>
          <a:prstGeom prst="rect">
            <a:avLst/>
          </a:prstGeom>
          <a:solidFill>
            <a:srgbClr val="1E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5" name="TextBox 74"/>
          <p:cNvSpPr txBox="1"/>
          <p:nvPr/>
        </p:nvSpPr>
        <p:spPr>
          <a:xfrm>
            <a:off x="9299448" y="4005072"/>
            <a:ext cx="11887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>
                <a:solidFill>
                  <a:srgbClr val="606EF5"/>
                </a:solidFill>
              </a:rPr>
              <a:t>👤 Profile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10488168" y="4032504"/>
            <a:ext cx="1426464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CBD5E1"/>
                </a:solidFill>
              </a:rPr>
              <a:t>User profile, password change</a:t>
            </a:r>
          </a:p>
        </p:txBody>
      </p:sp>
      <p:sp>
        <p:nvSpPr>
          <p:cNvPr id="77" name="Rectangle 76"/>
          <p:cNvSpPr/>
          <p:nvPr/>
        </p:nvSpPr>
        <p:spPr>
          <a:xfrm>
            <a:off x="320040" y="4581144"/>
            <a:ext cx="2798064" cy="548640"/>
          </a:xfrm>
          <a:prstGeom prst="rect">
            <a:avLst/>
          </a:prstGeom>
          <a:solidFill>
            <a:srgbClr val="1E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8" name="TextBox 77"/>
          <p:cNvSpPr txBox="1"/>
          <p:nvPr/>
        </p:nvSpPr>
        <p:spPr>
          <a:xfrm>
            <a:off x="411480" y="4608576"/>
            <a:ext cx="11887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>
                <a:solidFill>
                  <a:srgbClr val="606EF5"/>
                </a:solidFill>
              </a:rPr>
              <a:t>⚙️ Settings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1600200" y="4636008"/>
            <a:ext cx="1426464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CBD5E1"/>
                </a:solidFill>
              </a:rPr>
              <a:t>Org settings, Azure config, notification prefs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11640312" y="6492240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CBD5E1"/>
                </a:solidFill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73152"/>
            <a:ext cx="12188952" cy="45720"/>
          </a:xfrm>
          <a:prstGeom prst="rect">
            <a:avLst/>
          </a:prstGeom>
          <a:solidFill>
            <a:srgbClr val="606E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</a:rPr>
              <a:t>Developer Setup Guide  — Part 1: Prerequisites &amp; Backend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86868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606EF5"/>
                </a:solidFill>
              </a:rPr>
              <a:t>📋  Prerequisites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261872"/>
            <a:ext cx="11155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BD5E1"/>
                </a:solidFill>
              </a:rPr>
              <a:t>  Python 3.12+  ·  Node.js 20+ &amp; npm  ·  PostgreSQL 16  ·  Git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554480"/>
            <a:ext cx="11155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BD5E1"/>
                </a:solidFill>
              </a:rPr>
              <a:t>  pgvector extension: CREATE EXTENSION IF NOT EXISTS vector;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847088"/>
            <a:ext cx="11155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BD5E1"/>
                </a:solidFill>
              </a:rPr>
              <a:t>  Azure OpenAI resource with gpt-5.4-mini + gpt-5.4-mini deployments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139696"/>
            <a:ext cx="11155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BD5E1"/>
                </a:solidFill>
              </a:rPr>
              <a:t>  Optional: Azure Speech, Azure AI Search, Azure Monitor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2487168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0B981"/>
                </a:solidFill>
              </a:rPr>
              <a:t>⚙️  Backend Setup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2916936"/>
            <a:ext cx="292608" cy="29260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57200" y="2916936"/>
            <a:ext cx="29260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1248" y="2916936"/>
            <a:ext cx="2286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</a:rPr>
              <a:t>Clone &amp; enter backend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00400" y="2880360"/>
            <a:ext cx="8412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86EFAC"/>
                </a:solidFill>
              </a:rPr>
              <a:t>git clone &lt;repo&gt;  &amp;&amp;  cd AgentForge/backend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3529584"/>
            <a:ext cx="292608" cy="29260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57200" y="3529584"/>
            <a:ext cx="29260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1248" y="3529584"/>
            <a:ext cx="2286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</a:rPr>
              <a:t>Create virtual environment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200400" y="3493008"/>
            <a:ext cx="8412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86EFAC"/>
                </a:solidFill>
              </a:rPr>
              <a:t>python -m venv venv  &amp;&amp;  .\venv\Scripts\activate  (Windows)
source venv/bin/activate  (Mac/Linux)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7200" y="4142232"/>
            <a:ext cx="292608" cy="29260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457200" y="4142232"/>
            <a:ext cx="29260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1248" y="4142232"/>
            <a:ext cx="2286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</a:rPr>
              <a:t>Install dependencies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200400" y="4105656"/>
            <a:ext cx="8412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86EFAC"/>
                </a:solidFill>
              </a:rPr>
              <a:t>pip install -r requirements.txt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57200" y="4754880"/>
            <a:ext cx="292608" cy="29260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457200" y="4754880"/>
            <a:ext cx="29260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41248" y="4754880"/>
            <a:ext cx="2286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</a:rPr>
              <a:t>Configure environment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200400" y="4718304"/>
            <a:ext cx="8412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86EFAC"/>
                </a:solidFill>
              </a:rPr>
              <a:t>Copy .env.example → .env
Set: AZURE_OPENAI_ENDPOINT, AZURE_OPENAI_API_KEY,
     AZURE_OPENAI_DEPLOYMENT_GPT4O=gpt-5.4-mini,
     DATABASE_URL=postgresql+asyncpg://postgres:postgres@localhost:5432/agentforge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57200" y="5367528"/>
            <a:ext cx="292608" cy="29260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457200" y="5367528"/>
            <a:ext cx="29260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41248" y="5367528"/>
            <a:ext cx="2286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</a:rPr>
              <a:t>Create database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200400" y="5330952"/>
            <a:ext cx="8412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86EFAC"/>
                </a:solidFill>
              </a:rPr>
              <a:t>createdb agentforge  (PostgreSQL CLI)
psql -d agentforge -c 'CREATE EXTENSION IF NOT EXISTS vector;'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57200" y="5980176"/>
            <a:ext cx="292608" cy="29260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457200" y="5980176"/>
            <a:ext cx="29260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</a:rPr>
              <a:t>6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41248" y="5980176"/>
            <a:ext cx="2286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</a:rPr>
              <a:t>Run the API server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200400" y="5943600"/>
            <a:ext cx="8412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86EFAC"/>
                </a:solidFill>
              </a:rPr>
              <a:t>uvicorn app.main:app --reload --port 8000
✅  API: http://localhost:8000
✅  Swagger: http://localhost:8000/docs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1640312" y="6492240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CBD5E1"/>
                </a:solidFill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73152"/>
            <a:ext cx="12188952" cy="45720"/>
          </a:xfrm>
          <a:prstGeom prst="rect">
            <a:avLst/>
          </a:prstGeom>
          <a:solidFill>
            <a:srgbClr val="606E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</a:rPr>
              <a:t>Developer Setup Guide  — Part 2: Frontend, Ports &amp; Verification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1440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606EF5"/>
                </a:solidFill>
              </a:rPr>
              <a:t>🖥️  Frontend Setup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362456"/>
            <a:ext cx="292608" cy="292608"/>
          </a:xfrm>
          <a:prstGeom prst="rect">
            <a:avLst/>
          </a:prstGeom>
          <a:solidFill>
            <a:srgbClr val="606E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57200" y="1362456"/>
            <a:ext cx="29260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8" y="1362456"/>
            <a:ext cx="2286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</a:rPr>
              <a:t>Enter frontend dir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00400" y="1325880"/>
            <a:ext cx="84124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86EFAC"/>
                </a:solidFill>
              </a:rPr>
              <a:t>cd AgentForge/frontend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2020824"/>
            <a:ext cx="292608" cy="292608"/>
          </a:xfrm>
          <a:prstGeom prst="rect">
            <a:avLst/>
          </a:prstGeom>
          <a:solidFill>
            <a:srgbClr val="606E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57200" y="2020824"/>
            <a:ext cx="29260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1248" y="2020824"/>
            <a:ext cx="2286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</a:rPr>
              <a:t>Install packages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00400" y="1984248"/>
            <a:ext cx="84124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86EFAC"/>
                </a:solidFill>
              </a:rPr>
              <a:t>npm install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2679191"/>
            <a:ext cx="292608" cy="292608"/>
          </a:xfrm>
          <a:prstGeom prst="rect">
            <a:avLst/>
          </a:prstGeom>
          <a:solidFill>
            <a:srgbClr val="606E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57200" y="2679191"/>
            <a:ext cx="29260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1248" y="2679191"/>
            <a:ext cx="2286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</a:rPr>
              <a:t>Start dev server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200400" y="2642615"/>
            <a:ext cx="84124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86EFAC"/>
                </a:solidFill>
              </a:rPr>
              <a:t>npm run dev
✅  Frontend: http://localhost:5173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3337560"/>
            <a:ext cx="292608" cy="292608"/>
          </a:xfrm>
          <a:prstGeom prst="rect">
            <a:avLst/>
          </a:prstGeom>
          <a:solidFill>
            <a:srgbClr val="606E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457200" y="3337560"/>
            <a:ext cx="29260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1248" y="3337560"/>
            <a:ext cx="2286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</a:rPr>
              <a:t>Login credentials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200400" y="3300984"/>
            <a:ext cx="84124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86EFAC"/>
                </a:solidFill>
              </a:rPr>
              <a:t>Admin: admin@agentforge.io / admin123
(seeded automatically on first startup)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" y="365760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59E0B"/>
                </a:solidFill>
              </a:rPr>
              <a:t>🔌  Port Assignment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20040" y="4114800"/>
            <a:ext cx="11521440" cy="384048"/>
          </a:xfrm>
          <a:prstGeom prst="rect">
            <a:avLst/>
          </a:prstGeom>
          <a:solidFill>
            <a:srgbClr val="1E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457200" y="4160520"/>
            <a:ext cx="6400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59E0B"/>
                </a:solidFill>
              </a:rPr>
              <a:t>8000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88720" y="4160520"/>
            <a:ext cx="50292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</a:rPr>
              <a:t>AgentForge Backend (FastAPI)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0" y="4160520"/>
            <a:ext cx="53035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CBD5E1"/>
                </a:solidFill>
              </a:rPr>
              <a:t>Main API, Swagger at /docs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20040" y="0"/>
            <a:ext cx="11521440" cy="384048"/>
          </a:xfrm>
          <a:prstGeom prst="rect">
            <a:avLst/>
          </a:prstGeom>
          <a:solidFill>
            <a:srgbClr val="1620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457200" y="0"/>
            <a:ext cx="6400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59E0B"/>
                </a:solidFill>
              </a:rPr>
              <a:t>5173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88720" y="0"/>
            <a:ext cx="50292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</a:rPr>
              <a:t>AgentForge Frontend (Vite)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00800" y="0"/>
            <a:ext cx="53035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CBD5E1"/>
                </a:solidFill>
              </a:rPr>
              <a:t>React SPA dev server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20040" y="0"/>
            <a:ext cx="11521440" cy="384048"/>
          </a:xfrm>
          <a:prstGeom prst="rect">
            <a:avLst/>
          </a:prstGeom>
          <a:solidFill>
            <a:srgbClr val="1E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457200" y="0"/>
            <a:ext cx="6400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59E0B"/>
                </a:solidFill>
              </a:rPr>
              <a:t>8001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88720" y="0"/>
            <a:ext cx="50292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</a:rPr>
              <a:t>RAG Scaffold Backend (downloaded ZIP)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00800" y="0"/>
            <a:ext cx="53035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CBD5E1"/>
                </a:solidFill>
              </a:rPr>
              <a:t>Routes: /api/chat, /api/documents</a:t>
            </a:r>
          </a:p>
        </p:txBody>
      </p:sp>
      <p:sp>
        <p:nvSpPr>
          <p:cNvPr id="35" name="Rectangle 34"/>
          <p:cNvSpPr/>
          <p:nvPr/>
        </p:nvSpPr>
        <p:spPr>
          <a:xfrm>
            <a:off x="320040" y="0"/>
            <a:ext cx="11521440" cy="384048"/>
          </a:xfrm>
          <a:prstGeom prst="rect">
            <a:avLst/>
          </a:prstGeom>
          <a:solidFill>
            <a:srgbClr val="1620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457200" y="0"/>
            <a:ext cx="6400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59E0B"/>
                </a:solidFill>
              </a:rPr>
              <a:t>8002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188720" y="0"/>
            <a:ext cx="50292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</a:rPr>
              <a:t>Custom Code Backend (downloaded ZIP)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400800" y="0"/>
            <a:ext cx="53035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CBD5E1"/>
                </a:solidFill>
              </a:rPr>
              <a:t>Routes: /api/ask-question, /api/upload-document</a:t>
            </a:r>
          </a:p>
        </p:txBody>
      </p:sp>
      <p:sp>
        <p:nvSpPr>
          <p:cNvPr id="39" name="Rectangle 38"/>
          <p:cNvSpPr/>
          <p:nvPr/>
        </p:nvSpPr>
        <p:spPr>
          <a:xfrm>
            <a:off x="320040" y="0"/>
            <a:ext cx="11521440" cy="384048"/>
          </a:xfrm>
          <a:prstGeom prst="rect">
            <a:avLst/>
          </a:prstGeom>
          <a:solidFill>
            <a:srgbClr val="1E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457200" y="0"/>
            <a:ext cx="6400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59E0B"/>
                </a:solidFill>
              </a:rPr>
              <a:t>5176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188720" y="0"/>
            <a:ext cx="50292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</a:rPr>
              <a:t>RAG Scaffold Frontend (downloaded ZIP)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400800" y="0"/>
            <a:ext cx="53035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CBD5E1"/>
                </a:solidFill>
              </a:rPr>
              <a:t>npm run dev in extracted folder</a:t>
            </a:r>
          </a:p>
        </p:txBody>
      </p:sp>
      <p:sp>
        <p:nvSpPr>
          <p:cNvPr id="43" name="Rectangle 42"/>
          <p:cNvSpPr/>
          <p:nvPr/>
        </p:nvSpPr>
        <p:spPr>
          <a:xfrm>
            <a:off x="320040" y="0"/>
            <a:ext cx="11521440" cy="384048"/>
          </a:xfrm>
          <a:prstGeom prst="rect">
            <a:avLst/>
          </a:prstGeom>
          <a:solidFill>
            <a:srgbClr val="1620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457200" y="0"/>
            <a:ext cx="6400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59E0B"/>
                </a:solidFill>
              </a:rPr>
              <a:t>5177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188720" y="0"/>
            <a:ext cx="50292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</a:rPr>
              <a:t>Custom Code Frontend (downloaded ZIP)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400800" y="0"/>
            <a:ext cx="53035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CBD5E1"/>
                </a:solidFill>
              </a:rPr>
              <a:t>npm run dev in extracted folder</a:t>
            </a:r>
          </a:p>
        </p:txBody>
      </p:sp>
      <p:sp>
        <p:nvSpPr>
          <p:cNvPr id="47" name="Rectangle 46"/>
          <p:cNvSpPr/>
          <p:nvPr/>
        </p:nvSpPr>
        <p:spPr>
          <a:xfrm>
            <a:off x="320040" y="0"/>
            <a:ext cx="11521440" cy="384048"/>
          </a:xfrm>
          <a:prstGeom prst="rect">
            <a:avLst/>
          </a:prstGeom>
          <a:solidFill>
            <a:srgbClr val="1E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457200" y="0"/>
            <a:ext cx="6400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59E0B"/>
                </a:solidFill>
              </a:rPr>
              <a:t>4318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188720" y="0"/>
            <a:ext cx="50292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</a:rPr>
              <a:t>OpenTelemetry OTLP/HTTP (optional)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400800" y="0"/>
            <a:ext cx="53035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CBD5E1"/>
                </a:solidFill>
              </a:rPr>
              <a:t>Jaeger / Grafana OTEL collector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1640312" y="6492240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CBD5E1"/>
                </a:solidFill>
              </a:rP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73152"/>
            <a:ext cx="12188952" cy="45720"/>
          </a:xfrm>
          <a:prstGeom prst="rect">
            <a:avLst/>
          </a:prstGeom>
          <a:solidFill>
            <a:srgbClr val="606E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</a:rPr>
              <a:t>Planning Architect — Prompt-to-Agent Deep Dive</a:t>
            </a:r>
          </a:p>
        </p:txBody>
      </p:sp>
      <p:sp>
        <p:nvSpPr>
          <p:cNvPr id="5" name="Rectangle 4"/>
          <p:cNvSpPr/>
          <p:nvPr/>
        </p:nvSpPr>
        <p:spPr>
          <a:xfrm>
            <a:off x="320040" y="960120"/>
            <a:ext cx="5760720" cy="1280160"/>
          </a:xfrm>
          <a:prstGeom prst="rect">
            <a:avLst/>
          </a:prstGeom>
          <a:solidFill>
            <a:srgbClr val="1E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457200" y="1097280"/>
            <a:ext cx="347472" cy="347472"/>
          </a:xfrm>
          <a:prstGeom prst="rect">
            <a:avLst/>
          </a:prstGeom>
          <a:solidFill>
            <a:srgbClr val="606E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57200" y="1097280"/>
            <a:ext cx="3474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1069848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</a:rPr>
              <a:t>User describes use case in plain English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554480"/>
            <a:ext cx="5486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BD5E1"/>
                </a:solidFill>
              </a:rPr>
              <a:t>e.g. 'Build a policy analysis agent that ingests company documents and answers compliance questions'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0040" y="2377440"/>
            <a:ext cx="5760720" cy="1280160"/>
          </a:xfrm>
          <a:prstGeom prst="rect">
            <a:avLst/>
          </a:prstGeom>
          <a:solidFill>
            <a:srgbClr val="1E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457200" y="2514600"/>
            <a:ext cx="347472" cy="347472"/>
          </a:xfrm>
          <a:prstGeom prst="rect">
            <a:avLst/>
          </a:prstGeom>
          <a:solidFill>
            <a:srgbClr val="606E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57200" y="2514600"/>
            <a:ext cx="3474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2487168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</a:rPr>
              <a:t>GPT-5.4-mini generates full project plan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2971800"/>
            <a:ext cx="5486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BD5E1"/>
                </a:solidFill>
              </a:rPr>
              <a:t>Architecture · Tech stack · Agent configs · Tool list · DB schema · Security considerations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20040" y="3794760"/>
            <a:ext cx="5760720" cy="1280160"/>
          </a:xfrm>
          <a:prstGeom prst="rect">
            <a:avLst/>
          </a:prstGeom>
          <a:solidFill>
            <a:srgbClr val="1E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457200" y="3931920"/>
            <a:ext cx="347472" cy="347472"/>
          </a:xfrm>
          <a:prstGeom prst="rect">
            <a:avLst/>
          </a:prstGeom>
          <a:solidFill>
            <a:srgbClr val="606E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457200" y="3931920"/>
            <a:ext cx="3474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3904488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</a:rPr>
              <a:t>Agents tab — agent cards generated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4389120"/>
            <a:ext cx="5486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BD5E1"/>
                </a:solidFill>
              </a:rPr>
              <a:t>Each agent gets: name, type, model, system prompt, tools list, guardrails config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20040" y="5212080"/>
            <a:ext cx="5760720" cy="1280160"/>
          </a:xfrm>
          <a:prstGeom prst="rect">
            <a:avLst/>
          </a:prstGeom>
          <a:solidFill>
            <a:srgbClr val="1E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457200" y="5349240"/>
            <a:ext cx="347472" cy="347472"/>
          </a:xfrm>
          <a:prstGeom prst="rect">
            <a:avLst/>
          </a:prstGeom>
          <a:solidFill>
            <a:srgbClr val="606E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457200" y="5349240"/>
            <a:ext cx="3474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4400" y="5321808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</a:rPr>
              <a:t>App tab — live sandbox preview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" y="5806440"/>
            <a:ext cx="5486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BD5E1"/>
                </a:solidFill>
              </a:rPr>
              <a:t>Interactive 3-panel chat UI rendered immediately: left sidebar (docs), main chat, right panel (KB stats)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309359" y="960120"/>
            <a:ext cx="5760720" cy="1280160"/>
          </a:xfrm>
          <a:prstGeom prst="rect">
            <a:avLst/>
          </a:prstGeom>
          <a:solidFill>
            <a:srgbClr val="1E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6446519" y="1097280"/>
            <a:ext cx="347472" cy="347472"/>
          </a:xfrm>
          <a:prstGeom prst="rect">
            <a:avLst/>
          </a:prstGeom>
          <a:solidFill>
            <a:srgbClr val="606E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6446519" y="1097280"/>
            <a:ext cx="3474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903719" y="1069848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</a:rPr>
              <a:t>Download RAG Scaffold ZIP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46519" y="1554480"/>
            <a:ext cx="5486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BD5E1"/>
                </a:solidFill>
              </a:rPr>
              <a:t>Complete React + FastAPI project using /api/chat + /api/documents routes → proxy target port 8001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309359" y="2377440"/>
            <a:ext cx="5760720" cy="1280160"/>
          </a:xfrm>
          <a:prstGeom prst="rect">
            <a:avLst/>
          </a:prstGeom>
          <a:solidFill>
            <a:srgbClr val="1E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6446519" y="2514600"/>
            <a:ext cx="347472" cy="347472"/>
          </a:xfrm>
          <a:prstGeom prst="rect">
            <a:avLst/>
          </a:prstGeom>
          <a:solidFill>
            <a:srgbClr val="606E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6446519" y="2514600"/>
            <a:ext cx="3474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</a:rPr>
              <a:t>6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903719" y="2487168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</a:rPr>
              <a:t>Download Custom Code ZIP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46519" y="2971800"/>
            <a:ext cx="5486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BD5E1"/>
                </a:solidFill>
              </a:rPr>
              <a:t>GPT-5.4-mini generates bespoke App.tsx → renderMarkdown + /api/ask-question + /api/upload-document → port 8002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309359" y="3794760"/>
            <a:ext cx="5760720" cy="1280160"/>
          </a:xfrm>
          <a:prstGeom prst="rect">
            <a:avLst/>
          </a:prstGeom>
          <a:solidFill>
            <a:srgbClr val="1E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Rectangle 35"/>
          <p:cNvSpPr/>
          <p:nvPr/>
        </p:nvSpPr>
        <p:spPr>
          <a:xfrm>
            <a:off x="6446519" y="3931920"/>
            <a:ext cx="347472" cy="347472"/>
          </a:xfrm>
          <a:prstGeom prst="rect">
            <a:avLst/>
          </a:prstGeom>
          <a:solidFill>
            <a:srgbClr val="606E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6446519" y="3931920"/>
            <a:ext cx="3474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</a:rPr>
              <a:t>7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903719" y="3904488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</a:rPr>
              <a:t>Database tab — entity diagram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446519" y="4389120"/>
            <a:ext cx="5486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BD5E1"/>
                </a:solidFill>
              </a:rPr>
              <a:t>Auto-generated PostgreSQL schema matching the planned agent's data requirements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1640312" y="6492240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CBD5E1"/>
                </a:solidFill>
              </a:rP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73152"/>
            <a:ext cx="12188952" cy="45720"/>
          </a:xfrm>
          <a:prstGeom prst="rect">
            <a:avLst/>
          </a:prstGeom>
          <a:solidFill>
            <a:srgbClr val="606E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Enterprise Guardrails &amp; Safety Engine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097280"/>
            <a:ext cx="2011680" cy="777240"/>
          </a:xfrm>
          <a:prstGeom prst="rect">
            <a:avLst/>
          </a:prstGeom>
          <a:solidFill>
            <a:srgbClr val="606E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11480" y="1143000"/>
            <a:ext cx="19202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</a:rPr>
              <a:t>User Input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377440" y="132588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606EF5"/>
                </a:solidFill>
              </a:rPr>
              <a:t>→</a:t>
            </a:r>
          </a:p>
        </p:txBody>
      </p:sp>
      <p:sp>
        <p:nvSpPr>
          <p:cNvPr id="8" name="Rectangle 7"/>
          <p:cNvSpPr/>
          <p:nvPr/>
        </p:nvSpPr>
        <p:spPr>
          <a:xfrm>
            <a:off x="2651760" y="1097280"/>
            <a:ext cx="2011680" cy="77724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2697480" y="1143000"/>
            <a:ext cx="19202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</a:rPr>
              <a:t>Guardrails Check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63440" y="132588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606EF5"/>
                </a:solidFill>
              </a:rPr>
              <a:t>→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937760" y="1097280"/>
            <a:ext cx="2011680" cy="77724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983480" y="1143000"/>
            <a:ext cx="19202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</a:rPr>
              <a:t>PII Redaction
(Presidio)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49440" y="132588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606EF5"/>
                </a:solidFill>
              </a:rPr>
              <a:t>→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223760" y="1097280"/>
            <a:ext cx="2011680" cy="77724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269480" y="1143000"/>
            <a:ext cx="19202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</a:rPr>
              <a:t>Hallucination
Detection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235440" y="132588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606EF5"/>
                </a:solidFill>
              </a:rPr>
              <a:t>→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509760" y="1097280"/>
            <a:ext cx="2011680" cy="77724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9555480" y="1143000"/>
            <a:ext cx="19202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</a:rPr>
              <a:t>Agent Response
(Sanitized)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20040" y="2194560"/>
            <a:ext cx="3749039" cy="4114800"/>
          </a:xfrm>
          <a:prstGeom prst="rect">
            <a:avLst/>
          </a:prstGeom>
          <a:solidFill>
            <a:srgbClr val="1E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320040" y="2194560"/>
            <a:ext cx="3749039" cy="41148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429768" y="2249424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</a:rPr>
              <a:t>🔍 PII Entities Detected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29768" y="2706624"/>
            <a:ext cx="35661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BD5E1"/>
                </a:solidFill>
              </a:rPr>
              <a:t>• EMAIL_ADDRESS — e.g. john@example.com → &lt;EMAIL&gt;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29768" y="3282696"/>
            <a:ext cx="35661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BD5E1"/>
                </a:solidFill>
              </a:rPr>
              <a:t>• PHONE_NUMBER — e.g. 555-123-4567 → &lt;PHONE_NUMBER&gt;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29768" y="3858768"/>
            <a:ext cx="35661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BD5E1"/>
                </a:solidFill>
              </a:rPr>
              <a:t>• PERSON — named entity recognition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29768" y="4434840"/>
            <a:ext cx="35661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BD5E1"/>
                </a:solidFill>
              </a:rPr>
              <a:t>• CREDIT_CARD — 16-digit card patterns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29768" y="5010912"/>
            <a:ext cx="35661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BD5E1"/>
                </a:solidFill>
              </a:rPr>
              <a:t>• US_SSN — Social Security Numbers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29768" y="5586984"/>
            <a:ext cx="35661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BD5E1"/>
                </a:solidFill>
              </a:rPr>
              <a:t>• Powered by Microsoft Presidio Analyzer + Anonymizer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297679" y="2194560"/>
            <a:ext cx="3749039" cy="4114800"/>
          </a:xfrm>
          <a:prstGeom prst="rect">
            <a:avLst/>
          </a:prstGeom>
          <a:solidFill>
            <a:srgbClr val="1E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4297679" y="2194560"/>
            <a:ext cx="3749039" cy="411480"/>
          </a:xfrm>
          <a:prstGeom prst="rect">
            <a:avLst/>
          </a:prstGeom>
          <a:solidFill>
            <a:srgbClr val="606E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4407407" y="2249424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</a:rPr>
              <a:t>⚠️ Hallucination Phrases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407407" y="2706624"/>
            <a:ext cx="35661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BD5E1"/>
                </a:solidFill>
              </a:rPr>
              <a:t>• Uncertainty phrase matching on agent output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407407" y="3282696"/>
            <a:ext cx="35661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BD5E1"/>
                </a:solidFill>
              </a:rPr>
              <a:t>• Triggers: 'I'm not sure but', 'I think maybe'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407407" y="3858768"/>
            <a:ext cx="35661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BD5E1"/>
                </a:solidFill>
              </a:rPr>
              <a:t>• Triggers: 'I cannot verify', 'it might be'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407407" y="4434840"/>
            <a:ext cx="35661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BD5E1"/>
                </a:solidFill>
              </a:rPr>
              <a:t>• Triggers: 'I believe but I'm not certain'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407407" y="5010912"/>
            <a:ext cx="35661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BD5E1"/>
                </a:solidFill>
              </a:rPr>
              <a:t>• Result: flagged in audit log + response annotated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407407" y="5586984"/>
            <a:ext cx="35661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BD5E1"/>
                </a:solidFill>
              </a:rPr>
              <a:t>• Per-agent enable/disable via guardrails config</a:t>
            </a:r>
          </a:p>
        </p:txBody>
      </p:sp>
      <p:sp>
        <p:nvSpPr>
          <p:cNvPr id="37" name="Rectangle 36"/>
          <p:cNvSpPr/>
          <p:nvPr/>
        </p:nvSpPr>
        <p:spPr>
          <a:xfrm>
            <a:off x="8275319" y="2194560"/>
            <a:ext cx="3749039" cy="4114800"/>
          </a:xfrm>
          <a:prstGeom prst="rect">
            <a:avLst/>
          </a:prstGeom>
          <a:solidFill>
            <a:srgbClr val="1E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Rectangle 37"/>
          <p:cNvSpPr/>
          <p:nvPr/>
        </p:nvSpPr>
        <p:spPr>
          <a:xfrm>
            <a:off x="8275319" y="2194560"/>
            <a:ext cx="3749039" cy="41148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8385047" y="2249424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</a:rPr>
              <a:t>📋 Audit Trail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385047" y="2706624"/>
            <a:ext cx="35661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BD5E1"/>
                </a:solidFill>
              </a:rPr>
              <a:t>• Every guardrail trigger logged to audit_logs table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385047" y="3282696"/>
            <a:ext cx="35661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BD5E1"/>
                </a:solidFill>
              </a:rPr>
              <a:t>• Fields: guardrail_triggered (bool), trace_id, latency_ms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385047" y="3858768"/>
            <a:ext cx="35661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BD5E1"/>
                </a:solidFill>
              </a:rPr>
              <a:t>• Searchable via /api/audit with filter params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385047" y="4434840"/>
            <a:ext cx="35661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BD5E1"/>
                </a:solidFill>
              </a:rPr>
              <a:t>• Exportable for compliance reporting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385047" y="5010912"/>
            <a:ext cx="35661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BD5E1"/>
                </a:solidFill>
              </a:rPr>
              <a:t>• OpenTelemetry span attributes: pii_triggered, hallucination_triggered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385047" y="5586984"/>
            <a:ext cx="35661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BD5E1"/>
                </a:solidFill>
              </a:rPr>
              <a:t>• Zero-trust: logs never omitted even on error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1640312" y="6492240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CBD5E1"/>
                </a:solidFill>
              </a:rPr>
              <a:t>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73152"/>
            <a:ext cx="12188952" cy="45720"/>
          </a:xfrm>
          <a:prstGeom prst="rect">
            <a:avLst/>
          </a:prstGeom>
          <a:solidFill>
            <a:srgbClr val="606E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Product Roadmap</a:t>
            </a:r>
          </a:p>
        </p:txBody>
      </p:sp>
      <p:sp>
        <p:nvSpPr>
          <p:cNvPr id="5" name="Rectangle 4"/>
          <p:cNvSpPr/>
          <p:nvPr/>
        </p:nvSpPr>
        <p:spPr>
          <a:xfrm>
            <a:off x="320040" y="960120"/>
            <a:ext cx="2834640" cy="5303520"/>
          </a:xfrm>
          <a:prstGeom prst="rect">
            <a:avLst/>
          </a:prstGeom>
          <a:solidFill>
            <a:srgbClr val="1E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320040" y="960120"/>
            <a:ext cx="2834640" cy="47548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11480" y="1005840"/>
            <a:ext cx="2743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</a:rPr>
              <a:t>✅ Phase 1 — Complete  (Q1 2026)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1536192"/>
            <a:ext cx="2743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BD5E1"/>
                </a:solidFill>
              </a:rPr>
              <a:t>▸ Core platform: Auth + RBAC + Agent CRUD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2157984"/>
            <a:ext cx="2743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BD5E1"/>
                </a:solidFill>
              </a:rPr>
              <a:t>▸ Azure OpenAI integration (GPT-5.4-mini + GPT-5.4-mini)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" y="2779776"/>
            <a:ext cx="2743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BD5E1"/>
                </a:solidFill>
              </a:rPr>
              <a:t>▸ RAG pipeline (FAISS + pgvector)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1480" y="3401568"/>
            <a:ext cx="2743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BD5E1"/>
                </a:solidFill>
              </a:rPr>
              <a:t>▸ Guardrails engine (PII + hallucination)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1480" y="4023360"/>
            <a:ext cx="2743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BD5E1"/>
                </a:solidFill>
              </a:rPr>
              <a:t>▸ Multi-agent orchestrator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11480" y="4645152"/>
            <a:ext cx="2743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BD5E1"/>
                </a:solidFill>
              </a:rPr>
              <a:t>▸ Planning Architect (Prompt-to-Agent + ZIP export)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1480" y="5266944"/>
            <a:ext cx="2743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BD5E1"/>
                </a:solidFill>
              </a:rPr>
              <a:t>▸ OpenTelemetry observability + Audit logs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282696" y="960120"/>
            <a:ext cx="2834640" cy="5303520"/>
          </a:xfrm>
          <a:prstGeom prst="rect">
            <a:avLst/>
          </a:prstGeom>
          <a:solidFill>
            <a:srgbClr val="1E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3282696" y="960120"/>
            <a:ext cx="2834640" cy="475488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3374136" y="1005840"/>
            <a:ext cx="2743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</a:rPr>
              <a:t>🚀 Phase 2 — In Progress  (Q2–Q3 2026)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374136" y="1536192"/>
            <a:ext cx="2743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BD5E1"/>
                </a:solidFill>
              </a:rPr>
              <a:t>▸ Visual Workflow Builder (React Flow canvas)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374136" y="2157984"/>
            <a:ext cx="2743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BD5E1"/>
                </a:solidFill>
              </a:rPr>
              <a:t>▸ Agent Simulation &amp; Evaluation engine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374136" y="2779776"/>
            <a:ext cx="2743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BD5E1"/>
                </a:solidFill>
              </a:rPr>
              <a:t>▸ Voice Agent pipeline (Azure Speech STT/TTS)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374136" y="3401568"/>
            <a:ext cx="2743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BD5E1"/>
                </a:solidFill>
              </a:rPr>
              <a:t>▸ Safety policy configuration UI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374136" y="4023360"/>
            <a:ext cx="2743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BD5E1"/>
                </a:solidFill>
              </a:rPr>
              <a:t>▸ Blueprints Marketplace (shared templates)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374136" y="4645152"/>
            <a:ext cx="2743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BD5E1"/>
                </a:solidFill>
              </a:rPr>
              <a:t>▸ Team/API keys · Custom Code production-readiness hardening (tests, CI/CD, migrations, auth, SSRF)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374136" y="5266944"/>
            <a:ext cx="2743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BD5E1"/>
                </a:solidFill>
              </a:rPr>
              <a:t>▸ Control Plane (live agent modification) + Local LLM support (LM Studio, per-agent)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245352" y="960120"/>
            <a:ext cx="2834640" cy="5303520"/>
          </a:xfrm>
          <a:prstGeom prst="rect">
            <a:avLst/>
          </a:prstGeom>
          <a:solidFill>
            <a:srgbClr val="1E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6245352" y="960120"/>
            <a:ext cx="2834640" cy="475488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6336792" y="1005840"/>
            <a:ext cx="2743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</a:rPr>
              <a:t>🔮 Phase 3 — Planned  (Q4 2026)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36792" y="1536192"/>
            <a:ext cx="2743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BD5E1"/>
                </a:solidFill>
              </a:rPr>
              <a:t>▸ Multi-modal agents (image + document input)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336792" y="2157984"/>
            <a:ext cx="2743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BD5E1"/>
                </a:solidFill>
              </a:rPr>
              <a:t>▸ Agent-to-Agent collaboration (A2A protocol)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336792" y="2779776"/>
            <a:ext cx="2743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BD5E1"/>
                </a:solidFill>
              </a:rPr>
              <a:t>▸ Kubernetes Helm chart deployment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336792" y="3401568"/>
            <a:ext cx="2743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BD5E1"/>
                </a:solidFill>
              </a:rPr>
              <a:t>▸ SSO / Azure AD integration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336792" y="4023360"/>
            <a:ext cx="2743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BD5E1"/>
                </a:solidFill>
              </a:rPr>
              <a:t>▸ Fine-tuning pipeline for domain adaptation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336792" y="4645152"/>
            <a:ext cx="2743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BD5E1"/>
                </a:solidFill>
              </a:rPr>
              <a:t>▸ Cost analytics per agent (token usage billing)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336792" y="5266944"/>
            <a:ext cx="2743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BD5E1"/>
                </a:solidFill>
              </a:rPr>
              <a:t>▸ Agent performance benchmarking dashboard</a:t>
            </a:r>
          </a:p>
        </p:txBody>
      </p:sp>
      <p:sp>
        <p:nvSpPr>
          <p:cNvPr id="35" name="Rectangle 34"/>
          <p:cNvSpPr/>
          <p:nvPr/>
        </p:nvSpPr>
        <p:spPr>
          <a:xfrm>
            <a:off x="9208008" y="960120"/>
            <a:ext cx="2834640" cy="5303520"/>
          </a:xfrm>
          <a:prstGeom prst="rect">
            <a:avLst/>
          </a:prstGeom>
          <a:solidFill>
            <a:srgbClr val="1E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Rectangle 35"/>
          <p:cNvSpPr/>
          <p:nvPr/>
        </p:nvSpPr>
        <p:spPr>
          <a:xfrm>
            <a:off x="9208008" y="960120"/>
            <a:ext cx="2834640" cy="475488"/>
          </a:xfrm>
          <a:prstGeom prst="rect">
            <a:avLst/>
          </a:prstGeom>
          <a:solidFill>
            <a:srgbClr val="FDBA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9299448" y="1005840"/>
            <a:ext cx="2743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</a:rPr>
              <a:t>💡 Phase 4 — Vision  (2027+)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299448" y="1536192"/>
            <a:ext cx="2743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BD5E1"/>
                </a:solidFill>
              </a:rPr>
              <a:t>▸ Autonomous agent self-improvement loop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299448" y="2157984"/>
            <a:ext cx="2743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BD5E1"/>
                </a:solidFill>
              </a:rPr>
              <a:t>▸ Cross-org agent marketplace with licensing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299448" y="2779776"/>
            <a:ext cx="2743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BD5E1"/>
                </a:solidFill>
              </a:rPr>
              <a:t>▸ Real-time multi-agent collaboration canvas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299448" y="3401568"/>
            <a:ext cx="2743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BD5E1"/>
                </a:solidFill>
              </a:rPr>
              <a:t>▸ Regulatory compliance packs (HIPAA, GDPR, SOC2)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299448" y="4023360"/>
            <a:ext cx="2743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BD5E1"/>
                </a:solidFill>
              </a:rPr>
              <a:t>▸ Edge deployment (on-device agents)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299448" y="4645152"/>
            <a:ext cx="2743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BD5E1"/>
                </a:solidFill>
              </a:rPr>
              <a:t>▸ Federated learning for privacy-preserving training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299448" y="5266944"/>
            <a:ext cx="2743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BD5E1"/>
                </a:solidFill>
              </a:rPr>
              <a:t>▸ GenAI Operations (GenAIOps) full lifecycle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1640312" y="6492240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CBD5E1"/>
                </a:solidFill>
              </a:rPr>
              <a:t>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73152"/>
            <a:ext cx="12188952" cy="45720"/>
          </a:xfrm>
          <a:prstGeom prst="rect">
            <a:avLst/>
          </a:prstGeom>
          <a:solidFill>
            <a:srgbClr val="606E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Enterprise Hardening Pass — What Changed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86868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CBD5E1"/>
                </a:solidFill>
              </a:rPr>
              <a:t>The Architect (Prompt-to-Agent) flow was taken from a working prototype to a production-grade generator through five focused workstreams — each independently designed, implemented, live-tested against real Azure OpenAI calls, and code-reviewed.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536192"/>
            <a:ext cx="73152" cy="777240"/>
          </a:xfrm>
          <a:prstGeom prst="rect">
            <a:avLst/>
          </a:prstGeom>
          <a:solidFill>
            <a:srgbClr val="606E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94360" y="155448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606EF5"/>
                </a:solidFill>
              </a:rPr>
              <a:t>🎯  Domain-Aware Generation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920240"/>
            <a:ext cx="11064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BD5E1"/>
                </a:solidFill>
              </a:rPr>
              <a:t>Expanded from 2 hardcoded app types to 10 real domains (HR, Sales, Legal, Support, Marketing, Dev Tool, Analyst, Data, Chatbot, Custom) — each with its own enterprise-grade layout, labels, and 46 upgraded multi-agent prompts.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2432304"/>
            <a:ext cx="73152" cy="777240"/>
          </a:xfrm>
          <a:prstGeom prst="rect">
            <a:avLst/>
          </a:prstGeom>
          <a:solidFill>
            <a:srgbClr val="606E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94360" y="2450592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606EF5"/>
                </a:solidFill>
              </a:rPr>
              <a:t>📊  Real Data, Not Fabricated Demos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2816352"/>
            <a:ext cx="11064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BD5E1"/>
                </a:solidFill>
              </a:rPr>
              <a:t>Sandbox previews and downloadable Custom Code now seed dashboards/tables from real uploaded sample data (CSV/Excel) instead of GPT-4o inventing plausible-looking numbers — verified exact-match against source files.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65760" y="3328415"/>
            <a:ext cx="73152" cy="777240"/>
          </a:xfrm>
          <a:prstGeom prst="rect">
            <a:avLst/>
          </a:prstGeom>
          <a:solidFill>
            <a:srgbClr val="606E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94360" y="3346703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606EF5"/>
                </a:solidFill>
              </a:rPr>
              <a:t>🗄️  Enterprise Layers 3–5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" y="3712463"/>
            <a:ext cx="11064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BD5E1"/>
                </a:solidFill>
              </a:rPr>
              <a:t>Auto-generated PostgreSQL schema + migrations on first run · OpenTelemetry tracing on every LLM call · an AI-scored feedback loop that few-shots top-rated plans back into future generations.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65760" y="4224528"/>
            <a:ext cx="73152" cy="777240"/>
          </a:xfrm>
          <a:prstGeom prst="rect">
            <a:avLst/>
          </a:prstGeom>
          <a:solidFill>
            <a:srgbClr val="606E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594360" y="4242816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606EF5"/>
                </a:solidFill>
              </a:rPr>
              <a:t>🔐  Real SSO Integration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4360" y="4608576"/>
            <a:ext cx="11064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BD5E1"/>
                </a:solidFill>
              </a:rPr>
              <a:t>Azure AD / Entra ID keyword-detected from the plan → genuine JWT-validation middleware (JWKS, aud/iss/exp checks) + real MSAL frontend login in the Custom Code ZIP, gated by an SSO_ENABLED toggle for local dev.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5760" y="5120640"/>
            <a:ext cx="73152" cy="777240"/>
          </a:xfrm>
          <a:prstGeom prst="rect">
            <a:avLst/>
          </a:prstGeom>
          <a:solidFill>
            <a:srgbClr val="606E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594360" y="5138928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606EF5"/>
                </a:solidFill>
              </a:rPr>
              <a:t>📁  Real File Upload Parsing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94360" y="5504688"/>
            <a:ext cx="11064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BD5E1"/>
                </a:solidFill>
              </a:rPr>
              <a:t>Sandbox: real client-side CSV/XLSX parsing (no fake success toasts). Custom Code backend: real PDF (PyPDF2) and DOCX (python-docx) extraction, closing a gap where both libraries were required but never used.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640312" y="6492240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CBD5E1"/>
                </a:solidFill>
              </a:rPr>
              <a:t>19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73152"/>
            <a:ext cx="12188952" cy="45720"/>
          </a:xfrm>
          <a:prstGeom prst="rect">
            <a:avLst/>
          </a:prstGeom>
          <a:solidFill>
            <a:srgbClr val="606E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</a:rPr>
              <a:t>Domain-Aware Generation Across 10 Categories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914400"/>
            <a:ext cx="2194560" cy="502920"/>
          </a:xfrm>
          <a:prstGeom prst="rect">
            <a:avLst/>
          </a:prstGeom>
          <a:solidFill>
            <a:srgbClr val="606E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365760" y="914400"/>
            <a:ext cx="21945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</a:rPr>
              <a:t>General</a:t>
            </a:r>
          </a:p>
        </p:txBody>
      </p:sp>
      <p:sp>
        <p:nvSpPr>
          <p:cNvPr id="7" name="Rectangle 6"/>
          <p:cNvSpPr/>
          <p:nvPr/>
        </p:nvSpPr>
        <p:spPr>
          <a:xfrm>
            <a:off x="2651760" y="914400"/>
            <a:ext cx="2194560" cy="502920"/>
          </a:xfrm>
          <a:prstGeom prst="rect">
            <a:avLst/>
          </a:prstGeom>
          <a:solidFill>
            <a:srgbClr val="606E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2651760" y="914400"/>
            <a:ext cx="21945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</a:rPr>
              <a:t>Marketing</a:t>
            </a:r>
          </a:p>
        </p:txBody>
      </p:sp>
      <p:sp>
        <p:nvSpPr>
          <p:cNvPr id="9" name="Rectangle 8"/>
          <p:cNvSpPr/>
          <p:nvPr/>
        </p:nvSpPr>
        <p:spPr>
          <a:xfrm>
            <a:off x="4937760" y="914400"/>
            <a:ext cx="2194560" cy="502920"/>
          </a:xfrm>
          <a:prstGeom prst="rect">
            <a:avLst/>
          </a:prstGeom>
          <a:solidFill>
            <a:srgbClr val="606E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937760" y="914400"/>
            <a:ext cx="21945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</a:rPr>
              <a:t>Sales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223760" y="914400"/>
            <a:ext cx="2194560" cy="502920"/>
          </a:xfrm>
          <a:prstGeom prst="rect">
            <a:avLst/>
          </a:prstGeom>
          <a:solidFill>
            <a:srgbClr val="606E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223760" y="914400"/>
            <a:ext cx="21945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</a:rPr>
              <a:t>Legal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509760" y="914400"/>
            <a:ext cx="2194560" cy="502920"/>
          </a:xfrm>
          <a:prstGeom prst="rect">
            <a:avLst/>
          </a:prstGeom>
          <a:solidFill>
            <a:srgbClr val="606E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9509760" y="914400"/>
            <a:ext cx="21945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</a:rPr>
              <a:t>HR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65760" y="1508760"/>
            <a:ext cx="2194560" cy="50292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365760" y="1508760"/>
            <a:ext cx="21945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</a:rPr>
              <a:t>Support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651760" y="1508760"/>
            <a:ext cx="2194560" cy="50292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2651760" y="1508760"/>
            <a:ext cx="21945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</a:rPr>
              <a:t>Productivity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937760" y="1508760"/>
            <a:ext cx="2194560" cy="50292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4937760" y="1508760"/>
            <a:ext cx="21945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</a:rPr>
              <a:t>Development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223760" y="1508760"/>
            <a:ext cx="2194560" cy="50292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7223760" y="1508760"/>
            <a:ext cx="21945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</a:rPr>
              <a:t>Analysts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9509760" y="1508760"/>
            <a:ext cx="2194560" cy="50292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9509760" y="1508760"/>
            <a:ext cx="21945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</a:rPr>
              <a:t>Data &amp; Analysis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65760" y="2240280"/>
            <a:ext cx="113385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CBD5E1"/>
                </a:solidFill>
              </a:rPr>
              <a:t>Each domain gets its own enterprise-standard layout (correct sidebar labels, KPI tiles, charts) instead of a generic one-size-fits-all template — 46 Prompt Library prompts upgraded to multi-agent specs with a matching realistic sample data file per prompt.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65760" y="301752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59E0B"/>
                </a:solidFill>
              </a:rPr>
              <a:t>Before → After: Real Data Seeding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65760" y="3429000"/>
            <a:ext cx="5577840" cy="2651760"/>
          </a:xfrm>
          <a:prstGeom prst="rect">
            <a:avLst/>
          </a:prstGeom>
          <a:solidFill>
            <a:srgbClr val="1E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365760" y="3429000"/>
            <a:ext cx="5577840" cy="41148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502920" y="3474720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</a:rPr>
              <a:t>❌ Before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02920" y="3977639"/>
            <a:ext cx="5303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BD5E1"/>
                </a:solidFill>
              </a:rPr>
              <a:t>"Contracts in Review: 128" — a fabricated round number,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02920" y="4480559"/>
            <a:ext cx="5303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BD5E1"/>
                </a:solidFill>
              </a:rPr>
              <a:t>unrelated to the real uploaded contract data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02920" y="4983479"/>
            <a:ext cx="5303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BD5E1"/>
                </a:solidFill>
              </a:rPr>
              <a:t>"Outlook Reminders Sent: 12" — invented for every render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02920" y="5486400"/>
            <a:ext cx="5303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BD5E1"/>
                </a:solidFill>
              </a:rPr>
              <a:t>Same issue in the Custom Code ZIP's seed data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172200" y="3429000"/>
            <a:ext cx="5577840" cy="2651760"/>
          </a:xfrm>
          <a:prstGeom prst="rect">
            <a:avLst/>
          </a:prstGeom>
          <a:solidFill>
            <a:srgbClr val="1E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ectangle 34"/>
          <p:cNvSpPr/>
          <p:nvPr/>
        </p:nvSpPr>
        <p:spPr>
          <a:xfrm>
            <a:off x="6172200" y="3429000"/>
            <a:ext cx="5577840" cy="41148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6309360" y="3474720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</a:rPr>
              <a:t>✅ After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309360" y="3977639"/>
            <a:ext cx="5303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BD5E1"/>
                </a:solidFill>
              </a:rPr>
              <a:t>"Contracts in Review: 4" · "High Risk: 3" — verified exact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309360" y="4480559"/>
            <a:ext cx="5303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BD5E1"/>
                </a:solidFill>
              </a:rPr>
              <a:t>match against the real 10-row sample CSV's actual counts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309360" y="4983479"/>
            <a:ext cx="5303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BD5E1"/>
                </a:solidFill>
              </a:rPr>
              <a:t>"Total contract value: $9,579,000" — sum of real value_usd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309360" y="5486400"/>
            <a:ext cx="5303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BD5E1"/>
                </a:solidFill>
              </a:rPr>
              <a:t>column, byte-for-byte traceable to the uploaded file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1640312" y="6492240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CBD5E1"/>
                </a:solidFill>
              </a:rPr>
              <a:t>20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73152"/>
            <a:ext cx="12188952" cy="45720"/>
          </a:xfrm>
          <a:prstGeom prst="rect">
            <a:avLst/>
          </a:prstGeom>
          <a:solidFill>
            <a:srgbClr val="606E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300" b="1">
                <a:solidFill>
                  <a:srgbClr val="FFFFFF"/>
                </a:solidFill>
              </a:rPr>
              <a:t>Enterprise Layers 3–5: DB · Observability · AI Reinforcement</a:t>
            </a:r>
          </a:p>
        </p:txBody>
      </p:sp>
      <p:sp>
        <p:nvSpPr>
          <p:cNvPr id="5" name="Rectangle 4"/>
          <p:cNvSpPr/>
          <p:nvPr/>
        </p:nvSpPr>
        <p:spPr>
          <a:xfrm>
            <a:off x="320040" y="1005840"/>
            <a:ext cx="3703320" cy="4206240"/>
          </a:xfrm>
          <a:prstGeom prst="rect">
            <a:avLst/>
          </a:prstGeom>
          <a:solidFill>
            <a:srgbClr val="1E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320040" y="1005840"/>
            <a:ext cx="3703320" cy="502920"/>
          </a:xfrm>
          <a:prstGeom prst="rect">
            <a:avLst/>
          </a:prstGeom>
          <a:solidFill>
            <a:srgbClr val="606E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57200" y="109728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</a:rPr>
              <a:t>🗄️  Layer 3 — DB Auto-Setup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691640"/>
            <a:ext cx="3474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BD5E1"/>
                </a:solidFill>
              </a:rPr>
              <a:t>Domain-specific PostgreSQL schema (db/init.sql)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258568"/>
            <a:ext cx="3474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BD5E1"/>
                </a:solidFill>
              </a:rPr>
              <a:t>auto-generated for each of the 10 app domains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2825496"/>
            <a:ext cx="3474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BD5E1"/>
                </a:solidFill>
              </a:rPr>
              <a:t>Idempotent run_migrations.py runs on first backend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3392424"/>
            <a:ext cx="3474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BD5E1"/>
                </a:solidFill>
              </a:rPr>
              <a:t>startup — no manual DB scripting required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197096" y="1005840"/>
            <a:ext cx="3703320" cy="4206240"/>
          </a:xfrm>
          <a:prstGeom prst="rect">
            <a:avLst/>
          </a:prstGeom>
          <a:solidFill>
            <a:srgbClr val="1E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4197096" y="1005840"/>
            <a:ext cx="3703320" cy="50292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334256" y="109728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</a:rPr>
              <a:t>📡  Layer 4 — OpenTelemetry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34256" y="1691640"/>
            <a:ext cx="3474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BD5E1"/>
                </a:solidFill>
              </a:rPr>
              <a:t>Every LLM call (KB extraction, UI generation,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334256" y="2258568"/>
            <a:ext cx="3474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BD5E1"/>
                </a:solidFill>
              </a:rPr>
              <a:t>frontend/backend generation) wrapped in a real span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334256" y="2825496"/>
            <a:ext cx="3474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BD5E1"/>
                </a:solidFill>
              </a:rPr>
              <a:t>telemetry.py + docker-compose.jaeger.yml auto-injected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334256" y="3392424"/>
            <a:ext cx="3474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BD5E1"/>
                </a:solidFill>
              </a:rPr>
              <a:t>into every downloaded Custom Code ZIP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074152" y="1005840"/>
            <a:ext cx="3703320" cy="4206240"/>
          </a:xfrm>
          <a:prstGeom prst="rect">
            <a:avLst/>
          </a:prstGeom>
          <a:solidFill>
            <a:srgbClr val="1E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8074152" y="1005840"/>
            <a:ext cx="3703320" cy="50292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8211312" y="109728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</a:rPr>
              <a:t>🔁  Layer 5 — AI Reinforcement Loop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11312" y="1691640"/>
            <a:ext cx="3474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BD5E1"/>
                </a:solidFill>
              </a:rPr>
              <a:t>👍 / 👎 feedback widget on every generated plan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11312" y="2258568"/>
            <a:ext cx="3474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BD5E1"/>
                </a:solidFill>
              </a:rPr>
              <a:t>GPT-4o self-scores plans across 5 quality dimensions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11312" y="2825496"/>
            <a:ext cx="3474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BD5E1"/>
                </a:solidFill>
              </a:rPr>
              <a:t>Top-rated plans few-shot-injected into future generation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11312" y="3392424"/>
            <a:ext cx="3474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BD5E1"/>
                </a:solidFill>
              </a:rPr>
              <a:t>prompts — the system improves from its own best output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65760" y="5440680"/>
            <a:ext cx="11338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BD5E1"/>
                </a:solidFill>
              </a:rPr>
              <a:t>All three layers were verified live: real docker-compose migrations, real span data visible in a tracing backend, and a real thumbs-up → /feedback → /feedback/top → few-shot round-trip.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640312" y="6492240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CBD5E1"/>
                </a:solidFill>
              </a:rPr>
              <a:t>21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73152"/>
            <a:ext cx="12188952" cy="45720"/>
          </a:xfrm>
          <a:prstGeom prst="rect">
            <a:avLst/>
          </a:prstGeom>
          <a:solidFill>
            <a:srgbClr val="606E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300" b="1">
                <a:solidFill>
                  <a:srgbClr val="FFFFFF"/>
                </a:solidFill>
              </a:rPr>
              <a:t>Real SSO Integration &amp; Real File Upload Parsing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320040" y="960120"/>
            <a:ext cx="5577840" cy="5120640"/>
          </a:xfrm>
          <a:prstGeom prst="rect">
            <a:avLst/>
          </a:prstGeom>
          <a:solidFill>
            <a:srgbClr val="1E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320040" y="960120"/>
            <a:ext cx="5577840" cy="457200"/>
          </a:xfrm>
          <a:prstGeom prst="rect">
            <a:avLst/>
          </a:prstGeom>
          <a:solidFill>
            <a:srgbClr val="606E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57200" y="1024128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</a:rPr>
              <a:t>🔐 Real SSO Integration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508760"/>
            <a:ext cx="53492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CBD5E1"/>
                </a:solidFill>
              </a:rPr>
              <a:t>Plan answers like "Internal enterprise app with SSO" used to
only affect descriptive text — zero real auth code was generated
Now: keyword-detected from the plan summary (same pattern as
domain detection) → triggers a real backend + frontend scaffold:
• backend/app/auth/sso.py — real JWT validation via Azure AD's
  JWKS endpoint, checks aud/iss/exp, python-jose
• src/auth/msalConfig.ts + useAuth.ts — real @azure/msal-browser
  login flow, attaches real Bearer tokens to API calls
• SSO_ENABLED=false by default — app still runs locally without
  a real Azure AD tenant; flip to true once configured</a:t>
            </a:r>
          </a:p>
        </p:txBody>
      </p:sp>
      <p:sp>
        <p:nvSpPr>
          <p:cNvPr id="9" name="Rectangle 8"/>
          <p:cNvSpPr/>
          <p:nvPr/>
        </p:nvSpPr>
        <p:spPr>
          <a:xfrm>
            <a:off x="6126479" y="960120"/>
            <a:ext cx="5577840" cy="5120640"/>
          </a:xfrm>
          <a:prstGeom prst="rect">
            <a:avLst/>
          </a:prstGeom>
          <a:solidFill>
            <a:srgbClr val="1E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6126479" y="960120"/>
            <a:ext cx="5577840" cy="4572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263639" y="1024128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</a:rPr>
              <a:t>📁 Real File Upload Parsing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63639" y="1508760"/>
            <a:ext cx="53492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CBD5E1"/>
                </a:solidFill>
              </a:rPr>
              <a:t>Upload buttons in both the sandbox and downloaded backend were
decorative — a canned success toast regardless of what was picked
Now — Sandbox (client-side, no backend):
• Real &lt;input type="file"&gt; + FileReader + the already-loaded
  SheetJS library — genuine CSV/XLSX parsing, real row preview
Now — Custom Code backend (real Python):
• PyPDF2 for real PDF text extraction, python-docx for real DOCX
• Forbids the "decode raw bytes as UTF-8" anti-pattern found
  live in a custom-named ingest endpoint — would have corrupted
  any real PDF/DOCX upload into garbage text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640312" y="6492240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CBD5E1"/>
                </a:solidFill>
              </a:rPr>
              <a:t>22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73152"/>
            <a:ext cx="12188952" cy="45720"/>
          </a:xfrm>
          <a:prstGeom prst="rect">
            <a:avLst/>
          </a:prstGeom>
          <a:solidFill>
            <a:srgbClr val="606E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>
                <a:solidFill>
                  <a:srgbClr val="FFFFFF"/>
                </a:solidFill>
              </a:rPr>
              <a:t>Hardening ROI — Risk &amp; Rework Avoided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960120"/>
            <a:ext cx="3703320" cy="2514600"/>
          </a:xfrm>
          <a:prstGeom prst="rect">
            <a:avLst/>
          </a:prstGeom>
          <a:solidFill>
            <a:srgbClr val="1E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02920" y="1069848"/>
            <a:ext cx="3429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606EF5"/>
                </a:solidFill>
              </a:rPr>
              <a:t>🎭 Demo Credibility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463040"/>
            <a:ext cx="14630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</a:rPr>
              <a:t>100%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2039112"/>
            <a:ext cx="3429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10B981"/>
                </a:solidFill>
              </a:rPr>
              <a:t>Fabricated → real dashboard data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2350008"/>
            <a:ext cx="347472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CBD5E1"/>
                </a:solidFill>
              </a:rPr>
              <a:t>Client-facing demos now show numbers traceable to real uploaded data, eliminating a
credibility risk when a stakeholder cross-checks a KPI against source data</a:t>
            </a:r>
          </a:p>
        </p:txBody>
      </p:sp>
      <p:sp>
        <p:nvSpPr>
          <p:cNvPr id="10" name="Rectangle 9"/>
          <p:cNvSpPr/>
          <p:nvPr/>
        </p:nvSpPr>
        <p:spPr>
          <a:xfrm>
            <a:off x="4297680" y="960120"/>
            <a:ext cx="3703320" cy="2514600"/>
          </a:xfrm>
          <a:prstGeom prst="rect">
            <a:avLst/>
          </a:prstGeom>
          <a:solidFill>
            <a:srgbClr val="1E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434840" y="1069848"/>
            <a:ext cx="3429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59E0B"/>
                </a:solidFill>
              </a:rPr>
              <a:t>🔓 Security Exposure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34840" y="1463040"/>
            <a:ext cx="14630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</a:rPr>
              <a:t>0→1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34840" y="2039112"/>
            <a:ext cx="3429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10B981"/>
                </a:solidFill>
              </a:rPr>
              <a:t>SSO answer → real auth code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34840" y="2350008"/>
            <a:ext cx="347472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CBD5E1"/>
                </a:solidFill>
              </a:rPr>
              <a:t>Closes a real gap where an "Enterprise app with SSO" answer previously shipped zero
authentication code — a downloaded project would have been deployed wide open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29600" y="960120"/>
            <a:ext cx="3703320" cy="2514600"/>
          </a:xfrm>
          <a:prstGeom prst="rect">
            <a:avLst/>
          </a:prstGeom>
          <a:solidFill>
            <a:srgbClr val="1E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366760" y="1069848"/>
            <a:ext cx="3429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DC2626"/>
                </a:solidFill>
              </a:rPr>
              <a:t>📉 Data-Corruption Risk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66760" y="1463040"/>
            <a:ext cx="14630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</a:rPr>
              <a:t>100%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66760" y="2039112"/>
            <a:ext cx="3429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10B981"/>
                </a:solidFill>
              </a:rPr>
              <a:t>PDF/DOCX handling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66760" y="2350008"/>
            <a:ext cx="347472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CBD5E1"/>
                </a:solidFill>
              </a:rPr>
              <a:t>Forbids a found anti-pattern (raw UTF-8 decode on binary files) that would silently
corrupt any real PDF/DOCX contract, resume, or document a user actually uploads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65760" y="3657600"/>
            <a:ext cx="3703320" cy="2514600"/>
          </a:xfrm>
          <a:prstGeom prst="rect">
            <a:avLst/>
          </a:prstGeom>
          <a:solidFill>
            <a:srgbClr val="1E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502920" y="3767328"/>
            <a:ext cx="3429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A855F7"/>
                </a:solidFill>
              </a:rPr>
              <a:t>🧪 Escaped Defects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" y="4160520"/>
            <a:ext cx="14630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</a:rPr>
              <a:t>9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2920" y="4736592"/>
            <a:ext cx="3429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10B981"/>
                </a:solidFill>
              </a:rPr>
              <a:t>Found via live testing, not assumed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2920" y="5047488"/>
            <a:ext cx="347472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CBD5E1"/>
                </a:solidFill>
              </a:rPr>
              <a:t>Nine real bugs (session pollution, stale feedback state, false-positive SSO detection,
env-file clobbering, and more) caught by regenerating real apps end-to-end, not just code review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297680" y="3657600"/>
            <a:ext cx="3703320" cy="2514600"/>
          </a:xfrm>
          <a:prstGeom prst="rect">
            <a:avLst/>
          </a:prstGeom>
          <a:solidFill>
            <a:srgbClr val="1E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4434840" y="3767328"/>
            <a:ext cx="3429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0B981"/>
                </a:solidFill>
              </a:rPr>
              <a:t>🌐 Domain Coverage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434840" y="4160520"/>
            <a:ext cx="14630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</a:rPr>
              <a:t>5×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434840" y="4736592"/>
            <a:ext cx="3429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10B981"/>
                </a:solidFill>
              </a:rPr>
              <a:t>2 hardcoded types → 10 real domains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434840" y="5047488"/>
            <a:ext cx="347472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CBD5E1"/>
                </a:solidFill>
              </a:rPr>
              <a:t>Every Prompt Library category now gets a correct, enterprise-appropriate layout instead
of a generic template mismatched to the actual business domain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229600" y="3657600"/>
            <a:ext cx="3703320" cy="2514600"/>
          </a:xfrm>
          <a:prstGeom prst="rect">
            <a:avLst/>
          </a:prstGeom>
          <a:solidFill>
            <a:srgbClr val="1E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8366760" y="3767328"/>
            <a:ext cx="3429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E79B2"/>
                </a:solidFill>
              </a:rPr>
              <a:t>🔁 Continuous Improvement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366760" y="4160520"/>
            <a:ext cx="14630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</a:rPr>
              <a:t>∞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366760" y="4736592"/>
            <a:ext cx="3429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10B981"/>
                </a:solidFill>
              </a:rPr>
              <a:t>Manual tuning → self-scoring loop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366760" y="5047488"/>
            <a:ext cx="347472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CBD5E1"/>
                </a:solidFill>
              </a:rPr>
              <a:t>The AI reinforcement loop means generation quality compounds over time from real
usage feedback, instead of staying frozen at whatever quality shipped on day one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1640312" y="6492240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CBD5E1"/>
                </a:solidFill>
              </a:rPr>
              <a:t>23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73152"/>
            <a:ext cx="12188952" cy="45720"/>
          </a:xfrm>
          <a:prstGeom prst="rect">
            <a:avLst/>
          </a:prstGeom>
          <a:solidFill>
            <a:srgbClr val="606E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11338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</a:rPr>
              <a:t>Visual Workflow Builder — Conditional Logic, Routing &amp; Integrations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841248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>
                <a:solidFill>
                  <a:srgbClr val="CBD5E1"/>
                </a:solidFill>
              </a:rPr>
              <a:t>A real decision-making execution engine — not just a flowchart. Every branch below genuinely changes which nodes run, verified against live Azure OpenAI runs.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1371600"/>
            <a:ext cx="5623560" cy="1207008"/>
          </a:xfrm>
          <a:prstGeom prst="rect">
            <a:avLst/>
          </a:prstGeom>
          <a:solidFill>
            <a:srgbClr val="1E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84632" y="1508760"/>
            <a:ext cx="5349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606EF5"/>
                </a:solidFill>
              </a:rPr>
              <a:t>❓  Condition Nodes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84632" y="1901952"/>
            <a:ext cx="534924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CBD5E1"/>
                </a:solidFill>
              </a:rPr>
              <a:t>Rule (e.g. "days &lt;= 2") evaluated safely via simpleeval — never Python's eval() — against variables an LLM extracts from the running text. Only the matching true/false branch executes; the other is fully skipped, including convergent downstream nodes.</a:t>
            </a:r>
          </a:p>
        </p:txBody>
      </p:sp>
      <p:sp>
        <p:nvSpPr>
          <p:cNvPr id="9" name="Rectangle 8"/>
          <p:cNvSpPr/>
          <p:nvPr/>
        </p:nvSpPr>
        <p:spPr>
          <a:xfrm>
            <a:off x="6126479" y="1371600"/>
            <a:ext cx="5623560" cy="1207008"/>
          </a:xfrm>
          <a:prstGeom prst="rect">
            <a:avLst/>
          </a:prstGeom>
          <a:solidFill>
            <a:srgbClr val="1E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291071" y="1508760"/>
            <a:ext cx="5349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606EF5"/>
                </a:solidFill>
              </a:rPr>
              <a:t>🔀  Router Nodes — Real Branching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91071" y="1901952"/>
            <a:ext cx="534924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CBD5E1"/>
                </a:solidFill>
              </a:rPr>
              <a:t>A router's LLM decision is classified against its labeled outgoing edges (e.g. "Fast"/"Deep") and only ONE branch runs — replacing the previous behavior where every downstream node executed regardless of the routing decision.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20040" y="2670048"/>
            <a:ext cx="5623560" cy="1207008"/>
          </a:xfrm>
          <a:prstGeom prst="rect">
            <a:avLst/>
          </a:prstGeom>
          <a:solidFill>
            <a:srgbClr val="1E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84632" y="2807208"/>
            <a:ext cx="5349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606EF5"/>
                </a:solidFill>
              </a:rPr>
              <a:t>✉️  Human-in-the-Loop Approval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4632" y="3200400"/>
            <a:ext cx="534924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CBD5E1"/>
                </a:solidFill>
              </a:rPr>
              <a:t>An approval node genuinely pauses the pipeline, sends a real email via SMTP, and exposes a dedicated /approvals/{run_id} page where a reviewer can Approve or Reject — resuming execution from exactly where it paused.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126479" y="2670048"/>
            <a:ext cx="5623560" cy="1207008"/>
          </a:xfrm>
          <a:prstGeom prst="rect">
            <a:avLst/>
          </a:prstGeom>
          <a:solidFill>
            <a:srgbClr val="1E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291071" y="2807208"/>
            <a:ext cx="5349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606EF5"/>
                </a:solidFill>
              </a:rPr>
              <a:t>🌐  HTTP Request Node — Outbound API Calls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91071" y="3200400"/>
            <a:ext cx="534924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CBD5E1"/>
                </a:solidFill>
              </a:rPr>
              <a:t>New node type: configurable method (GET/POST/PUT/PATCH/DELETE), URL, JSON headers and body, with a {{input}} placeholder to inject the previous node's output — giving workflows real external-API integration for the first time.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20040" y="3968496"/>
            <a:ext cx="5623560" cy="1207008"/>
          </a:xfrm>
          <a:prstGeom prst="rect">
            <a:avLst/>
          </a:prstGeom>
          <a:solidFill>
            <a:srgbClr val="1E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484632" y="4105656"/>
            <a:ext cx="5349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606EF5"/>
                </a:solidFill>
              </a:rPr>
              <a:t>🐍  Faithful Python Export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84632" y="4498848"/>
            <a:ext cx="534924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CBD5E1"/>
                </a:solidFill>
              </a:rPr>
              <a:t>"Export Code" now generates a script that ports the exact same topological sort, condition/approval/router/http_request logic as the live engine — not a flat linear stub — plus an optional --openai flag to run it against a real LLM.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126479" y="3968496"/>
            <a:ext cx="5623560" cy="1207008"/>
          </a:xfrm>
          <a:prstGeom prst="rect">
            <a:avLst/>
          </a:prstGeom>
          <a:solidFill>
            <a:srgbClr val="1E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291071" y="4105656"/>
            <a:ext cx="5349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606EF5"/>
                </a:solidFill>
              </a:rPr>
              <a:t>📄  Export / Import JSON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91071" y="4498848"/>
            <a:ext cx="534924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CBD5E1"/>
                </a:solidFill>
              </a:rPr>
              <a:t>A lossless, round-trippable workflow backup format — separate from the one-way Python export — with a genuine "browse and load" file picker to restore a canvas exactly as it was, verified after a full wipe-and-reload cycle.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20040" y="5266944"/>
            <a:ext cx="5623560" cy="1207008"/>
          </a:xfrm>
          <a:prstGeom prst="rect">
            <a:avLst/>
          </a:prstGeom>
          <a:solidFill>
            <a:srgbClr val="1E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484632" y="5404104"/>
            <a:ext cx="5349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606EF5"/>
                </a:solidFill>
              </a:rPr>
              <a:t>📊  Workflow Runs — Approval Tracking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84632" y="5797296"/>
            <a:ext cx="534924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CBD5E1"/>
                </a:solidFill>
              </a:rPr>
              <a:t>The observability dashboard now surfaces an "Awaiting Approval" count and a direct "Review →" link on paused runs — closing a gap where there was previously no in-app path to the approval screen at all.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126479" y="5266944"/>
            <a:ext cx="5623560" cy="1207008"/>
          </a:xfrm>
          <a:prstGeom prst="rect">
            <a:avLst/>
          </a:prstGeom>
          <a:solidFill>
            <a:srgbClr val="1E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6291071" y="5404104"/>
            <a:ext cx="5349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606EF5"/>
                </a:solidFill>
              </a:rPr>
              <a:t>🎨  Execution-State Visualization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291071" y="5797296"/>
            <a:ext cx="534924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CBD5E1"/>
                </a:solidFill>
              </a:rPr>
              <a:t>Nodes now genuinely pulse amber while running and turn green on completion — the color-coding logic existed in code but was never actually wired to canvas-created nodes until this pass; idle edges are blue, executed edges turn green.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640312" y="6492240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CBD5E1"/>
                </a:solidFill>
              </a:rPr>
              <a:t>24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73152"/>
            <a:ext cx="12188952" cy="45720"/>
          </a:xfrm>
          <a:prstGeom prst="rect">
            <a:avLst/>
          </a:prstGeom>
          <a:solidFill>
            <a:srgbClr val="606E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FFFFFF"/>
                </a:solidFill>
              </a:rPr>
              <a:t>Known Limitations &amp; Next Hardening Targets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86868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>
                <a:solidFill>
                  <a:srgbClr val="CBD5E1"/>
                </a:solidFill>
              </a:rPr>
              <a:t>Shipping fast means shipping honestly. These are confirmed, currently-open gaps — not hypothetical risks — found and verified during this build cycle.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536192"/>
            <a:ext cx="73152" cy="804672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94360" y="155448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1">
                <a:solidFill>
                  <a:srgbClr val="F59E0B"/>
                </a:solidFill>
              </a:rPr>
              <a:t>🔧  Agent Studio Tools Are Not Wired to Execution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920240"/>
            <a:ext cx="110642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CBD5E1"/>
                </a:solidFill>
              </a:rPr>
              <a:t>The tool checkboxes on an Agent (Slack, GitHub, Jira, Google Drive, web search, calculator) are saved to the database but never read at runtime — checking a box today has zero effect. No LLM function/tool-calling is implemented anywhere in the platform yet.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2432304"/>
            <a:ext cx="73152" cy="804672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94360" y="2450592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1">
                <a:solidFill>
                  <a:srgbClr val="10B981"/>
                </a:solidFill>
              </a:rPr>
              <a:t>✅  RESOLVED — HTTP Request Node Now Has SSRF Guardrails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2816352"/>
            <a:ext cx="110642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CBD5E1"/>
                </a:solidFill>
              </a:rPr>
              <a:t>_assert_ssrf_safe_url() now resolves the target hostname and blocks private/loopback/link-local/reserved/multicast IPs and the 169.254.169.254 cloud metadata endpoint before any outbound call fires — closing the gap flagged in the previous review cycle.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65760" y="3328415"/>
            <a:ext cx="73152" cy="804672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94360" y="3346703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1">
                <a:solidFill>
                  <a:srgbClr val="F59E0B"/>
                </a:solidFill>
              </a:rPr>
              <a:t>⏰  JWT Sessions Expire Without Silent Refresh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" y="3712463"/>
            <a:ext cx="110642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CBD5E1"/>
                </a:solidFill>
              </a:rPr>
              <a:t>The 8-hour token lifetime has no refresh flow — long sessions eventually fail with a raw "Invalid token" error on any authenticated action until the user logs in again. A refresh-token flow would remove this rough edge.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65760" y="4224528"/>
            <a:ext cx="73152" cy="804672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594360" y="4242816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1">
                <a:solidFill>
                  <a:srgbClr val="10B981"/>
                </a:solidFill>
              </a:rPr>
              <a:t>✅  RESOLVED — Alembic Is Now Wired Into Every Generated Project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4360" y="4608576"/>
            <a:ext cx="110642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CBD5E1"/>
                </a:solidFill>
              </a:rPr>
              <a:t>Every downloaded project now scaffolds a real async-aware Alembic setup (alembic.ini, env.py, script.py.mako) instead of the ad-hoc ALTER TABLE fixes hit live last cycle — schema changes are tracked, not improvised.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5760" y="5120640"/>
            <a:ext cx="73152" cy="804672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594360" y="5138928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1">
                <a:solidFill>
                  <a:srgbClr val="F59E0B"/>
                </a:solidFill>
              </a:rPr>
              <a:t>🧭  Exported Python Uses Canvas Order as a Tiebreaker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94360" y="5504688"/>
            <a:ext cx="110642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CBD5E1"/>
                </a:solidFill>
              </a:rPr>
              <a:t>The topological sort ported into Export Code is correct for the graphs tested, but canvas creation order (not a formal secondary sort key) breaks ties — fine in practice, but worth a closer look for pathological or cyclic graphs.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640312" y="6492240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CBD5E1"/>
                </a:solidFill>
              </a:rPr>
              <a:t>25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73152"/>
            <a:ext cx="12188952" cy="45720"/>
          </a:xfrm>
          <a:prstGeom prst="rect">
            <a:avLst/>
          </a:prstGeom>
          <a:solidFill>
            <a:srgbClr val="606E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Latest Platform Updates — Local LLM &amp; Model Flexibility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86868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CBD5E1"/>
                </a:solidFill>
              </a:rPr>
              <a:t>This pass added genuine local-model support end-to-end — architecture, agent config, and Playground UX — verified live against a running LM Studio server, not just unit tests.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536192"/>
            <a:ext cx="73152" cy="777240"/>
          </a:xfrm>
          <a:prstGeom prst="rect">
            <a:avLst/>
          </a:prstGeom>
          <a:solidFill>
            <a:srgbClr val="606E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94360" y="155448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606EF5"/>
                </a:solidFill>
              </a:rPr>
              <a:t>🖥️  Per-Feature LLM Override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920240"/>
            <a:ext cx="11064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BD5E1"/>
                </a:solidFill>
              </a:rPr>
              <a:t>Architect and Visual Builder can each run on Azure OpenAI or a local LM Studio model (ARCHITECT_LLM_PROVIDER / BUILDER_LLM_PROVIDER) — zero code changes, just env config.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2432304"/>
            <a:ext cx="73152" cy="777240"/>
          </a:xfrm>
          <a:prstGeom prst="rect">
            <a:avLst/>
          </a:prstGeom>
          <a:solidFill>
            <a:srgbClr val="606E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94360" y="2450592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606EF5"/>
                </a:solidFill>
              </a:rPr>
              <a:t>🔀  Real Per-Agent Model Choice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2816352"/>
            <a:ext cx="11064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BD5E1"/>
                </a:solidFill>
              </a:rPr>
              <a:t>Agent Studio's model dropdown now offers a genuine “Local Model” vs “Azure GPT-5.4-mini” choice per agent — replacing two fake labels the orchestrator silently ignored.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65760" y="3328415"/>
            <a:ext cx="73152" cy="777240"/>
          </a:xfrm>
          <a:prstGeom prst="rect">
            <a:avLst/>
          </a:prstGeom>
          <a:solidFill>
            <a:srgbClr val="606E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94360" y="3346703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606EF5"/>
                </a:solidFill>
              </a:rPr>
              <a:t>✨  AI-Suggested Example Input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" y="3712463"/>
            <a:ext cx="11064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BD5E1"/>
                </a:solidFill>
              </a:rPr>
              <a:t>Playground's new “Suggest” button generates a realistic example message tailored to an agent's own system prompt and tools — no more guessing what to type first.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65760" y="4224528"/>
            <a:ext cx="73152" cy="777240"/>
          </a:xfrm>
          <a:prstGeom prst="rect">
            <a:avLst/>
          </a:prstGeom>
          <a:solidFill>
            <a:srgbClr val="606E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594360" y="4242816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606EF5"/>
                </a:solidFill>
              </a:rPr>
              <a:t>🩺  Accurate Model Display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4360" y="4608576"/>
            <a:ext cx="11064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BD5E1"/>
                </a:solidFill>
              </a:rPr>
              <a:t>A new /active-model endpoint reflects the model an agent actually runs on, fixing a bug where Playground always showed a hardcoded “GPT-4o” label regardless of provider.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5760" y="5120640"/>
            <a:ext cx="73152" cy="777240"/>
          </a:xfrm>
          <a:prstGeom prst="rect">
            <a:avLst/>
          </a:prstGeom>
          <a:solidFill>
            <a:srgbClr val="606E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594360" y="5138928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606EF5"/>
                </a:solidFill>
              </a:rPr>
              <a:t>🔧  Five LM Studio Bugs Fixed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94360" y="5504688"/>
            <a:ext cx="11064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BD5E1"/>
                </a:solidFill>
              </a:rPr>
              <a:t>Blocking event loop, a race condition between auto-suggest and Run, system-role rejection by Mistral's chat template, unstructured JSON output, and an infinite question loop.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640312" y="6492240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CBD5E1"/>
                </a:solidFill>
              </a:rPr>
              <a:t>26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73152"/>
            <a:ext cx="12188952" cy="45720"/>
          </a:xfrm>
          <a:prstGeom prst="rect">
            <a:avLst/>
          </a:prstGeom>
          <a:solidFill>
            <a:srgbClr val="606E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>
                <a:solidFill>
                  <a:srgbClr val="FFFFFF"/>
                </a:solidFill>
              </a:rPr>
              <a:t>Production-Readiness Hardening — Custom Code Export ROI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960120"/>
            <a:ext cx="3703320" cy="2514600"/>
          </a:xfrm>
          <a:prstGeom prst="rect">
            <a:avLst/>
          </a:prstGeom>
          <a:solidFill>
            <a:srgbClr val="1E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02920" y="1069848"/>
            <a:ext cx="3429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606EF5"/>
                </a:solidFill>
              </a:rPr>
              <a:t>🧪 Test Coverage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463040"/>
            <a:ext cx="14630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</a:rPr>
              <a:t>100%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2039112"/>
            <a:ext cx="3429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10B981"/>
                </a:solidFill>
              </a:rPr>
              <a:t>Zero tests → auto-scaffolded suite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2350008"/>
            <a:ext cx="347472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CBD5E1"/>
                </a:solidFill>
              </a:rPr>
              <a:t>Every generated project now ships pytest + conftest + smoke tests automatically — previously zero test files were generated at all.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297680" y="960120"/>
            <a:ext cx="3703320" cy="2514600"/>
          </a:xfrm>
          <a:prstGeom prst="rect">
            <a:avLst/>
          </a:prstGeom>
          <a:solidFill>
            <a:srgbClr val="1E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434840" y="1069848"/>
            <a:ext cx="3429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59E0B"/>
                </a:solidFill>
              </a:rPr>
              <a:t>🚀 CI/CD Pipeline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34840" y="1463040"/>
            <a:ext cx="14630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</a:rPr>
              <a:t>0→1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34840" y="2039112"/>
            <a:ext cx="3429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10B981"/>
                </a:solidFill>
              </a:rPr>
              <a:t>GitHub Actions guaranteed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34840" y="2350008"/>
            <a:ext cx="347472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CBD5E1"/>
                </a:solidFill>
              </a:rPr>
              <a:t>A working ci.yml is now guaranteed in every downloaded ZIP, replacing a total absence of any CI/CD configuration in the prior generator.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29600" y="960120"/>
            <a:ext cx="3703320" cy="2514600"/>
          </a:xfrm>
          <a:prstGeom prst="rect">
            <a:avLst/>
          </a:prstGeom>
          <a:solidFill>
            <a:srgbClr val="1E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366760" y="1069848"/>
            <a:ext cx="3429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DC2626"/>
                </a:solidFill>
              </a:rPr>
              <a:t>🗄️ Real Migrations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66760" y="1463040"/>
            <a:ext cx="14630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</a:rPr>
              <a:t>NEW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66760" y="2039112"/>
            <a:ext cx="3429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10B981"/>
                </a:solidFill>
              </a:rPr>
              <a:t>Ad-hoc → tracked Alembic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66760" y="2350008"/>
            <a:ext cx="347472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CBD5E1"/>
                </a:solidFill>
              </a:rPr>
              <a:t>Replaces the manual ALTER TABLE fixes hit live last cycle with a real, tracked Alembic setup wired into every generated backend.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65760" y="3657600"/>
            <a:ext cx="3703320" cy="2514600"/>
          </a:xfrm>
          <a:prstGeom prst="rect">
            <a:avLst/>
          </a:prstGeom>
          <a:solidFill>
            <a:srgbClr val="1E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502920" y="3767328"/>
            <a:ext cx="3429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A855F7"/>
                </a:solidFill>
              </a:rPr>
              <a:t>🔐 Auth &amp; Security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" y="4160520"/>
            <a:ext cx="14630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</a:rPr>
              <a:t>+4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2920" y="4736592"/>
            <a:ext cx="3429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10B981"/>
                </a:solidFill>
              </a:rPr>
              <a:t>4/10→8/10 · rate limit + SSRF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2920" y="5047488"/>
            <a:ext cx="347472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CBD5E1"/>
                </a:solidFill>
              </a:rPr>
              <a:t>Default JWT auth (bcrypt + python-jose) when SSO isn't requested, slowapi rate limiting, and an SSRF guard on every outbound HTTP call.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297680" y="3657600"/>
            <a:ext cx="3703320" cy="2514600"/>
          </a:xfrm>
          <a:prstGeom prst="rect">
            <a:avLst/>
          </a:prstGeom>
          <a:solidFill>
            <a:srgbClr val="1E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4434840" y="3767328"/>
            <a:ext cx="3429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0B981"/>
                </a:solidFill>
              </a:rPr>
              <a:t>📡 Observability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434840" y="4160520"/>
            <a:ext cx="14630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</a:rPr>
              <a:t>+2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434840" y="4736592"/>
            <a:ext cx="3429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10B981"/>
                </a:solidFill>
              </a:rPr>
              <a:t>6/10→8/10 · OTel now actually runs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434840" y="5047488"/>
            <a:ext cx="347472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CBD5E1"/>
                </a:solidFill>
              </a:rPr>
              <a:t>Telemetry setup was generated but never called in the prior version; default exporter switched from silently-no-op Jaeger to zero-config console.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229600" y="3657600"/>
            <a:ext cx="3703320" cy="2514600"/>
          </a:xfrm>
          <a:prstGeom prst="rect">
            <a:avLst/>
          </a:prstGeom>
          <a:solidFill>
            <a:srgbClr val="1E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8366760" y="3767328"/>
            <a:ext cx="3429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E79B2"/>
                </a:solidFill>
              </a:rPr>
              <a:t>🛡️ Resilience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366760" y="4160520"/>
            <a:ext cx="14630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</a:rPr>
              <a:t>+2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366760" y="4736592"/>
            <a:ext cx="3429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10B981"/>
                </a:solidFill>
              </a:rPr>
              <a:t>6/10→8/10 · retry + global handler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366760" y="5047488"/>
            <a:ext cx="347472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CBD5E1"/>
                </a:solidFill>
              </a:rPr>
              <a:t>A startup DB connection retry loop and a global exception handler replace unhandled crashes on transient Postgres downtime.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1640312" y="6492240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CBD5E1"/>
                </a:solidFill>
              </a:rPr>
              <a:t>27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73152"/>
            <a:ext cx="12188952" cy="45720"/>
          </a:xfrm>
          <a:prstGeom prst="rect">
            <a:avLst/>
          </a:prstGeom>
          <a:solidFill>
            <a:srgbClr val="606E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Custom Code Export — Feature &amp; Production-Readiness Score Journey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86868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CBD5E1"/>
                </a:solidFill>
              </a:rPr>
              <a:t>The Custom Code download is Architect's bespoke React + FastAPI export — this section covers what it is and how its production-readiness score moved from 55 to 89 out of 100 across four focused hardening passes this cycle.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536192"/>
            <a:ext cx="73152" cy="777240"/>
          </a:xfrm>
          <a:prstGeom prst="rect">
            <a:avLst/>
          </a:prstGeom>
          <a:solidFill>
            <a:srgbClr val="606E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94360" y="155448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606EF5"/>
                </a:solidFill>
              </a:rPr>
              <a:t>📦  Custom Code Export, Explained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920240"/>
            <a:ext cx="11064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BD5E1"/>
                </a:solidFill>
              </a:rPr>
              <a:t>One-click download of a bespoke React + FastAPI app generated from your agent plan — distinct from the RAG Scaffold, tailored to your exact use case.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2432304"/>
            <a:ext cx="73152" cy="777240"/>
          </a:xfrm>
          <a:prstGeom prst="rect">
            <a:avLst/>
          </a:prstGeom>
          <a:solidFill>
            <a:srgbClr val="606E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94360" y="2450592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606EF5"/>
                </a:solidFill>
              </a:rPr>
              <a:t>1️⃣  Baseline Audit — 55/100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2816352"/>
            <a:ext cx="11064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BD5E1"/>
                </a:solidFill>
              </a:rPr>
              <a:t>Initial production-readiness score: no default authentication, zero tests, no CI/CD pipeline, no real database migrations, and weak observability/resilience wiring.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65760" y="3328415"/>
            <a:ext cx="73152" cy="777240"/>
          </a:xfrm>
          <a:prstGeom prst="rect">
            <a:avLst/>
          </a:prstGeom>
          <a:solidFill>
            <a:srgbClr val="606E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94360" y="3346703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606EF5"/>
                </a:solidFill>
              </a:rPr>
              <a:t>2⃣  Tests, CI/CD &amp; Migrations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" y="3712463"/>
            <a:ext cx="11064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BD5E1"/>
                </a:solidFill>
              </a:rPr>
              <a:t>Auto-scaffolded pytest suite, a guaranteed GitHub Actions ci.yml, and a real async-aware Alembic setup closed the three biggest structural gaps.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65760" y="4224528"/>
            <a:ext cx="73152" cy="777240"/>
          </a:xfrm>
          <a:prstGeom prst="rect">
            <a:avLst/>
          </a:prstGeom>
          <a:solidFill>
            <a:srgbClr val="606E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594360" y="4242816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606EF5"/>
                </a:solidFill>
              </a:rPr>
              <a:t>3⃣  Auth &amp; Security Hardening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4360" y="4608576"/>
            <a:ext cx="11064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BD5E1"/>
                </a:solidFill>
              </a:rPr>
              <a:t>Default JWT auth (bcrypt + python-jose) when SSO isn't requested, slowapi rate limiting, and an SSRF guard on outbound HTTP calls closed the remaining security gap.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5760" y="5120640"/>
            <a:ext cx="73152" cy="777240"/>
          </a:xfrm>
          <a:prstGeom prst="rect">
            <a:avLst/>
          </a:prstGeom>
          <a:solidFill>
            <a:srgbClr val="606E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594360" y="5138928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606EF5"/>
                </a:solidFill>
              </a:rPr>
              <a:t>4⃣  Observability &amp; Resilience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94360" y="5504688"/>
            <a:ext cx="11064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BD5E1"/>
                </a:solidFill>
              </a:rPr>
              <a:t>Guaranteed OpenTelemetry wiring plus a startup DB retry loop and global exception handler pushed both dimensions from 6/10 to 8/10, reaching today's 89/100 score.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640312" y="6492240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CBD5E1"/>
                </a:solidFill>
              </a:rPr>
              <a:t>28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45720"/>
          </a:xfrm>
          <a:prstGeom prst="rect">
            <a:avLst/>
          </a:prstGeom>
          <a:solidFill>
            <a:srgbClr val="606E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1371600"/>
            <a:ext cx="12188952" cy="4114800"/>
          </a:xfrm>
          <a:prstGeom prst="rect">
            <a:avLst/>
          </a:prstGeom>
          <a:solidFill>
            <a:srgbClr val="1A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0" y="164592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400" b="1">
                <a:solidFill>
                  <a:srgbClr val="FFFFFF"/>
                </a:solidFill>
              </a:rPr>
              <a:t>AgentForge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60604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>
                <a:solidFill>
                  <a:srgbClr val="CBD5E1"/>
                </a:solidFill>
              </a:rPr>
              <a:t>Build the next generation of enterprise AI agents — today.</a:t>
            </a:r>
          </a:p>
        </p:txBody>
      </p:sp>
      <p:sp>
        <p:nvSpPr>
          <p:cNvPr id="7" name="Rectangle 6"/>
          <p:cNvSpPr/>
          <p:nvPr/>
        </p:nvSpPr>
        <p:spPr>
          <a:xfrm>
            <a:off x="1371600" y="3657600"/>
            <a:ext cx="2834640" cy="777240"/>
          </a:xfrm>
          <a:prstGeom prst="rect">
            <a:avLst/>
          </a:prstGeom>
          <a:solidFill>
            <a:srgbClr val="606E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371600" y="3703320"/>
            <a:ext cx="28346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</a:rPr>
              <a:t>🚀  Start Building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4087368"/>
            <a:ext cx="2834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FFFFFF"/>
                </a:solidFill>
              </a:rPr>
              <a:t>localhost:5173/architect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0" y="3657600"/>
            <a:ext cx="2834640" cy="77724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572000" y="3703320"/>
            <a:ext cx="28346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</a:rPr>
              <a:t>📖  API Docs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4087368"/>
            <a:ext cx="2834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FFFFFF"/>
                </a:solidFill>
              </a:rPr>
              <a:t>localhost:8000/docs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772400" y="3657600"/>
            <a:ext cx="2834640" cy="77724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772400" y="3703320"/>
            <a:ext cx="28346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</a:rPr>
              <a:t>📦  Download ZIP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0" y="4087368"/>
            <a:ext cx="2834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FFFFFF"/>
                </a:solidFill>
              </a:rPr>
              <a:t>Architect → App → Download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57607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CBD5E1"/>
                </a:solidFill>
              </a:rPr>
              <a:t>Accenture Technology  |  n.sureshmanikandan@accenture.com  |  Confidential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640312" y="6492240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CBD5E1"/>
                </a:solidFill>
              </a:rPr>
              <a:t>29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5608</Words>
  <Application>Microsoft Office PowerPoint</Application>
  <PresentationFormat>Custom</PresentationFormat>
  <Paragraphs>669</Paragraphs>
  <Slides>26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29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Natarajan, Suresh Manikandan</dc:creator>
  <cp:keywords/>
  <dc:description>generated using python-pptx</dc:description>
  <cp:lastModifiedBy>Natarajan, Suresh Manikandan</cp:lastModifiedBy>
  <cp:revision>2</cp:revision>
  <dcterms:created xsi:type="dcterms:W3CDTF">2013-01-27T09:14:16Z</dcterms:created>
  <dcterms:modified xsi:type="dcterms:W3CDTF">2026-07-18T10:41:07Z</dcterms:modified>
  <cp:category/>
</cp:coreProperties>
</file>