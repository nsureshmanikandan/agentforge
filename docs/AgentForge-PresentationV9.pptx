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2" r:id="rId27"/>
    <p:sldId id="283" r:id="rId28"/>
    <p:sldId id="284" r:id="rId29"/>
    <p:sldId id="293" r:id="rId30"/>
    <p:sldId id="294" r:id="rId31"/>
    <p:sldId id="295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81" r:id="rId41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536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371600"/>
            <a:ext cx="12188952" cy="4114800"/>
          </a:xfrm>
          <a:prstGeom prst="rect">
            <a:avLst/>
          </a:prstGeom>
          <a:solidFill>
            <a:srgbClr val="1A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2926080" cy="5029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⚡  AgentForge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377440"/>
            <a:ext cx="8229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</a:rPr>
              <a:t>Enterprise AI Agent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749039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CBD5E1"/>
                </a:solidFill>
              </a:rPr>
              <a:t>Build · Orchestrate · Deploy · Govern — AI Agents at Scale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572000"/>
            <a:ext cx="2103120" cy="347472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457200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Azure OpenAI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51760" y="4572000"/>
            <a:ext cx="2103120" cy="347472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651760" y="457200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dirty="0">
                <a:solidFill>
                  <a:srgbClr val="FFFFFF"/>
                </a:solidFill>
              </a:rPr>
              <a:t>FastAPI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37760" y="4572000"/>
            <a:ext cx="2103120" cy="347472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937760" y="457200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React 18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23760" y="4572000"/>
            <a:ext cx="2103120" cy="347472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223760" y="457200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PostgreSQL + pgvector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509760" y="4572000"/>
            <a:ext cx="2103120" cy="347472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509760" y="457200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OpenTelemetry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56692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Version 8.0  |  July 2026  |  Confidential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113385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</a:rPr>
              <a:t>AgentForge is an enterprise-grade AI Agent Platform that empowers Accenture developers and clients to design, build, simulate, deploy, and govern intelligent AI agents at scale — without deep ML expertise.
Powered by Azure OpenAI GPT-5.4-mini, it delivers a full-stack solution: a conversational Planning Architect (Prompt-to-Agent), a visual Workflow Builder, a built-in RAG pipeline, enterprise guardrails (PII + hallucination detection), multi-agent orchestration, voice agent support, and a real-time Control Plane — all with RBAC, audit logs, and OpenTelemetry observability baked in.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3246120"/>
            <a:ext cx="2194560" cy="14630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75488" y="3383280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06EF5"/>
                </a:solidFill>
              </a:rPr>
              <a:t>16 API Modules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3977639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BD5E1"/>
                </a:solidFill>
              </a:rPr>
              <a:t>End-to-end coverage</a:t>
            </a:r>
          </a:p>
        </p:txBody>
      </p:sp>
      <p:sp>
        <p:nvSpPr>
          <p:cNvPr id="9" name="Rectangle 8"/>
          <p:cNvSpPr/>
          <p:nvPr/>
        </p:nvSpPr>
        <p:spPr>
          <a:xfrm>
            <a:off x="2724912" y="3246120"/>
            <a:ext cx="2194560" cy="14630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834640" y="3383280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06EF5"/>
                </a:solidFill>
              </a:rPr>
              <a:t>25 Frontend Pages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3977639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BD5E1"/>
                </a:solidFill>
              </a:rPr>
              <a:t>Full SPA experience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84064" y="3246120"/>
            <a:ext cx="2194560" cy="14630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193792" y="3383280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06EF5"/>
                </a:solidFill>
              </a:rPr>
              <a:t>10 DB Tables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93792" y="3977639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BD5E1"/>
                </a:solidFill>
              </a:rPr>
              <a:t>Relational + vector store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43216" y="3246120"/>
            <a:ext cx="2194560" cy="14630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552944" y="3383280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06EF5"/>
                </a:solidFill>
              </a:rPr>
              <a:t>Zero ML Setup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52944" y="3977639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BD5E1"/>
                </a:solidFill>
              </a:rPr>
              <a:t>Prompt-to-agent in &lt;2 min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802368" y="3246120"/>
            <a:ext cx="2194560" cy="14630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912096" y="3383280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06EF5"/>
                </a:solidFill>
              </a:rPr>
              <a:t>Enterprise Ready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12096" y="3977639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BD5E1"/>
                </a:solidFill>
              </a:rPr>
              <a:t>RBAC · Audit · OTEL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9377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0B981"/>
                </a:solidFill>
              </a:rPr>
              <a:t>Designed for Accenture | Delivered with Azure | Governed by Design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The Problem We Solve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3657600" cy="16002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30352" y="11430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59E0B"/>
                </a:solidFill>
              </a:rPr>
              <a:t>🧩  Fragmented Tooling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1536192"/>
            <a:ext cx="33832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Teams use disparate tools — LangChain, custom scripts, ad-hoc prompts — with no unified governance or reuse.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005840"/>
            <a:ext cx="3657600" cy="16002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462272" y="11430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59E0B"/>
                </a:solidFill>
              </a:rPr>
              <a:t>⏱️  Slow Time-to-Agent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62272" y="1536192"/>
            <a:ext cx="33832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Building, testing, and deploying even a simple RAG agent takes days of boilerplate coding and infra setup.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1005840"/>
            <a:ext cx="3657600" cy="16002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94192" y="11430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59E0B"/>
                </a:solidFill>
              </a:rPr>
              <a:t>🔓  No Enterprise Controls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94192" y="1536192"/>
            <a:ext cx="33832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No PII redaction, no hallucination checks, no audit trails — violating compliance and data privacy requirements.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834640"/>
            <a:ext cx="3657600" cy="16002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30352" y="29718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59E0B"/>
                </a:solidFill>
              </a:rPr>
              <a:t>📉  Zero Observability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3364992"/>
            <a:ext cx="33832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Once deployed, agents are black boxes. No tracing, no latency metrics, no ability to tune post-deployment.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2834640"/>
            <a:ext cx="3657600" cy="16002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462272" y="29718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59E0B"/>
                </a:solidFill>
              </a:rPr>
              <a:t>🔁  No Reusability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2272" y="3364992"/>
            <a:ext cx="33832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Prompts, tools, and agent configs are siloed per project — no marketplace or shared blueprint library.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0" y="2834640"/>
            <a:ext cx="3657600" cy="16002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394192" y="29718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59E0B"/>
                </a:solidFill>
              </a:rPr>
              <a:t>🗣️  No Voice/Multi-modal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94192" y="3364992"/>
            <a:ext cx="33832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Enterprises need voice-capable agents and multi-agent pipelines; existing DIY approaches lack this natively.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Platform Architecture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338560" cy="9144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005840"/>
            <a:ext cx="109728" cy="91440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05156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06EF5"/>
                </a:solidFill>
              </a:rPr>
              <a:t>FRONTEND  (React 18 + Vite + TypeScript + TailwindCSS)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41732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Planning Architect · Agent Studio · Workflow Builder · RAG/KB · Playground · Voice · Safety · Evaluations · Control Plane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057400"/>
            <a:ext cx="11338560" cy="9144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2057400"/>
            <a:ext cx="109728" cy="914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210312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7C3AED"/>
                </a:solidFill>
              </a:rPr>
              <a:t>API GATEWAY  (FastAPI 0.115 · JWT/RBAC · </a:t>
            </a:r>
            <a:r>
              <a:rPr sz="1300" b="1" dirty="0" err="1">
                <a:solidFill>
                  <a:srgbClr val="7C3AED"/>
                </a:solidFill>
              </a:rPr>
              <a:t>OpenTelemetry</a:t>
            </a:r>
            <a:r>
              <a:rPr sz="1300" b="1" dirty="0">
                <a:solidFill>
                  <a:srgbClr val="7C3AED"/>
                </a:solidFill>
              </a:rPr>
              <a:t>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46888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Auth · Agents · RAG · Tools · Builder · Simulation · Control Plane · Safety · Evaluations · Voice · Architect · Team · API Keys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108960"/>
            <a:ext cx="11338560" cy="9144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65760" y="3108960"/>
            <a:ext cx="109728" cy="914400"/>
          </a:xfrm>
          <a:prstGeom prst="rect">
            <a:avLst/>
          </a:prstGeom>
          <a:solidFill>
            <a:srgbClr val="0E79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94360" y="315468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9B2"/>
                </a:solidFill>
              </a:rPr>
              <a:t>CORE ENGINE  (Python 3.12)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352044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Prompt-to-Agent · Multi-Agent Orchestrator · RAG Engine (FAISS + pgvector) · Guardrails (Presidio) · Simulation · Tool Registry · Telemetry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160520"/>
            <a:ext cx="11338560" cy="9144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65760" y="4160520"/>
            <a:ext cx="109728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94360" y="420624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</a:rPr>
              <a:t>AI SERVICES  (Azure OpenAI)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457200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GPT-5.4-mini (gpt-5.4-mini) · GPT-5.4-mini (gpt-5.4-mini) · Embeddings · Azure AI Search · Azure Speech (STT/TTS)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5212079"/>
            <a:ext cx="11338560" cy="9144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65760" y="5212079"/>
            <a:ext cx="109728" cy="9144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94360" y="5257799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C2626"/>
                </a:solidFill>
              </a:rPr>
              <a:t>DATA LAYER  (PostgreSQL 16 + pgvector + SQLAlchemy 2.0 async)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5623559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users · agents · agent_versions · workflows · workflow_runs · knowledge_bases · documents · audit_logs · api_keys · voice_sessions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Core Feature 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292608" y="960120"/>
            <a:ext cx="2834640" cy="16642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dirty="0">
                <a:solidFill>
                  <a:srgbClr val="606EF5"/>
                </a:solidFill>
              </a:rPr>
              <a:t>🧠  Planning Architect (Prompt-to-Agent)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90472"/>
            <a:ext cx="2560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Conversational AI that converts a plain-English description into a complete agent stack — plan, agents, tools, DB schema.</a:t>
            </a:r>
          </a:p>
        </p:txBody>
      </p:sp>
      <p:sp>
        <p:nvSpPr>
          <p:cNvPr id="8" name="Rectangle 7"/>
          <p:cNvSpPr/>
          <p:nvPr/>
        </p:nvSpPr>
        <p:spPr>
          <a:xfrm>
            <a:off x="3273551" y="960120"/>
            <a:ext cx="2834640" cy="16642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438143" y="10972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🔧  Visual Workflow Builder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38143" y="1490472"/>
            <a:ext cx="2560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Drag-and-drop canvas (React Flow) to wire manager + worker agents, tools, and conditions into pipelines. Full execution trace.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54496" y="960120"/>
            <a:ext cx="2834640" cy="16642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19088" y="978408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dirty="0">
                <a:solidFill>
                  <a:srgbClr val="606EF5"/>
                </a:solidFill>
              </a:rPr>
              <a:t>📚  RAG Pipeline &amp; Knowledge Base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9088" y="1490472"/>
            <a:ext cx="2560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Upload PDF/DOCX/TXT → chunked → FAISS + pgvector → semantic retrieval. Per-agent KB scoping with Azure AI Search fallback.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235440" y="960120"/>
            <a:ext cx="2834640" cy="16642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400032" y="10972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🛡️  Enterprise Guardrails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00032" y="1490472"/>
            <a:ext cx="2560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PII redaction (Presidio — SSN, email, CC, phone) + hallucination detection on every agent response. Per-agent toggle.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2608" y="2743200"/>
            <a:ext cx="2834640" cy="16642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7200" y="2761488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dirty="0">
                <a:solidFill>
                  <a:srgbClr val="606EF5"/>
                </a:solidFill>
              </a:rPr>
              <a:t>🤝  Multi-Agent Orchestration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273552"/>
            <a:ext cx="2560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Manager agent fans out to N worker agents concurrently. Aggregates results. Supports sequential &amp; parallel patterns.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73551" y="2743200"/>
            <a:ext cx="2834640" cy="16642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438143" y="28803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🗣️  Voice Agents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38143" y="3273552"/>
            <a:ext cx="2560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Azure Speech STT → GPT-5.4-mini → Azure TTS pipeline. REST API for voice session management. Real-time audio I/O.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54496" y="2743200"/>
            <a:ext cx="2834640" cy="16642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19088" y="27660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dirty="0">
                <a:solidFill>
                  <a:srgbClr val="606EF5"/>
                </a:solidFill>
              </a:rPr>
              <a:t>🧪  Simulation &amp; Evaluation Engine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3273552"/>
            <a:ext cx="2560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Run test scenarios against agents before deployment. Score output quality. Compare versions. Regression test suite.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35440" y="2743200"/>
            <a:ext cx="2834640" cy="16642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400032" y="2756916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dirty="0">
                <a:solidFill>
                  <a:srgbClr val="606EF5"/>
                </a:solidFill>
              </a:rPr>
              <a:t>🔒  RBAC &amp; API Key Management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00032" y="3273552"/>
            <a:ext cx="2560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Three roles: Admin · Developer · Viewer. Per-user JWT auth. Scoped API keys for programmatic agent invocation.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92608" y="4526280"/>
            <a:ext cx="2834640" cy="16642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57200" y="4517136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dirty="0">
                <a:solidFill>
                  <a:srgbClr val="606EF5"/>
                </a:solidFill>
              </a:rPr>
              <a:t>📊  Control Plane &amp; Observability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056632"/>
            <a:ext cx="2560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Live workflow status, modify running agents, pause/resume. OpenTelemetry traces + Azure Monitor + custom dashboards.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73551" y="4526280"/>
            <a:ext cx="2834640" cy="16642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438143" y="46634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📝  Audit Logs &amp; Traceability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38143" y="5056632"/>
            <a:ext cx="2560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Every agent action logged: user, action, resource, input/output snapshot, guardrail trigger, latency, trace ID.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54496" y="4526280"/>
            <a:ext cx="2834640" cy="16642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19088" y="45491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dirty="0">
                <a:solidFill>
                  <a:srgbClr val="606EF5"/>
                </a:solidFill>
              </a:rPr>
              <a:t>🗂️  Prompt Library &amp; Blueprints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19088" y="5056632"/>
            <a:ext cx="2560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Curated prompt templates and reusable agent blueprints for common use cases (support, analytics, RAG Q&amp;A).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235440" y="4526280"/>
            <a:ext cx="2834640" cy="16642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400032" y="4539996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dirty="0">
                <a:solidFill>
                  <a:srgbClr val="606EF5"/>
                </a:solidFill>
              </a:rPr>
              <a:t>⚡  Architect Download Engine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00032" y="5056632"/>
            <a:ext cx="2560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dirty="0">
                <a:solidFill>
                  <a:srgbClr val="CBD5E1"/>
                </a:solidFill>
              </a:rPr>
              <a:t>One-click export of deployable RAG Scaffold or Custom Code ZIP (React + FastAPI) — production-ready in minutes.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ROI &amp; Business Value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3657600" cy="18288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6EF5"/>
                </a:solidFill>
              </a:rPr>
              <a:t>⚡ Time-to-Agent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79676" y="128016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dirty="0">
                <a:solidFill>
                  <a:srgbClr val="FFFFFF"/>
                </a:solidFill>
              </a:rPr>
              <a:t>85%↓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1031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From weeks → &lt;2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39572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Prompt-to-Agent converts NL description into full agent stack instantly — no boilerplate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005840"/>
            <a:ext cx="3657600" cy="18288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34840" y="111556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</a:rPr>
              <a:t>💰 Dev Cost Savings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150876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$18K+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1031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~40 hrs/agent saved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239572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Reusable blueprints, templates, and one-click ZIP export eliminate redundant engineering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1005840"/>
            <a:ext cx="3657600" cy="18288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66760" y="111556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59E0B"/>
                </a:solidFill>
              </a:rPr>
              <a:t>🔒 Compliance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150876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100%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21031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Automated PII redaction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9572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Presidio-powered guardrails eliminate manual data masking effort and audit findings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063240"/>
            <a:ext cx="3657600" cy="18288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02920" y="317296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55F7"/>
                </a:solidFill>
              </a:rPr>
              <a:t>📈 Quality Uplift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356616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3×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1605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Pre-deploy simulation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45312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Test harness catches hallucinations and regressions before production — 3× fewer incidents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97680" y="3063240"/>
            <a:ext cx="3657600" cy="18288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434840" y="317296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E79B2"/>
                </a:solidFill>
              </a:rPr>
              <a:t>🔁 Reuse Rate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66460" y="329184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dirty="0">
                <a:solidFill>
                  <a:srgbClr val="FFFFFF"/>
                </a:solidFill>
              </a:rPr>
              <a:t>60%↑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41605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Shared blueprint library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445312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Marketplace of proven agent patterns reduces rebuild effort across teams and clients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0" y="3063240"/>
            <a:ext cx="3657600" cy="18288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366760" y="317296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C2626"/>
                </a:solidFill>
              </a:rPr>
              <a:t>📊 Observability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66760" y="356616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100%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41605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Full trace coverage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66760" y="445312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OTEL + Audit logs give L1 support full incident context — MTTR reduced by 70%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Competitive Landscape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60120"/>
            <a:ext cx="25237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74904" y="996696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Feature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2880360" y="960120"/>
            <a:ext cx="1792224" cy="329184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935224" y="99669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AgentForge</a:t>
            </a:r>
          </a:p>
        </p:txBody>
      </p:sp>
      <p:sp>
        <p:nvSpPr>
          <p:cNvPr id="9" name="Rectangle 8"/>
          <p:cNvSpPr/>
          <p:nvPr/>
        </p:nvSpPr>
        <p:spPr>
          <a:xfrm>
            <a:off x="4709160" y="960120"/>
            <a:ext cx="16093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64024" y="996696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Lyzr AI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960120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9944" y="99669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LangChain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18120" y="960120"/>
            <a:ext cx="179222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872984" y="99669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Microsoft AutoGen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46920" y="960120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701784" y="99669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CrewAI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1289304"/>
            <a:ext cx="25237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74904" y="132588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Prompt-to-Agent (NL → Stack)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80360" y="1289304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935224" y="132588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Full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09160" y="1289304"/>
            <a:ext cx="16093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764024" y="132588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55080" y="1289304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9944" y="1325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18120" y="1289304"/>
            <a:ext cx="179222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872984" y="132588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46920" y="1289304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701784" y="1325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1618488"/>
            <a:ext cx="25237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74904" y="1655064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Visual Workflow Builder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880360" y="1618488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2935224" y="165506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709160" y="1618488"/>
            <a:ext cx="16093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764024" y="165506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5080" y="1618488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09944" y="165506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818120" y="1618488"/>
            <a:ext cx="179222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872984" y="165506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59E0B"/>
                </a:solidFill>
              </a:rPr>
              <a:t>⚡ Basic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646920" y="1618488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701784" y="165506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1947672"/>
            <a:ext cx="25237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74904" y="1984248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Built-in RAG Pipeline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880360" y="1947672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2935224" y="198424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709160" y="1947672"/>
            <a:ext cx="16093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764024" y="19842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55080" y="1947672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409944" y="19842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59E0B"/>
                </a:solidFill>
              </a:rPr>
              <a:t>⚡ DIY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818120" y="1947672"/>
            <a:ext cx="179222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872984" y="198424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646920" y="1947672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9701784" y="19842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20040" y="2276856"/>
            <a:ext cx="25237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374904" y="231343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PII / Guardrails (Presidio)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880360" y="2276856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2935224" y="2313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709160" y="2276856"/>
            <a:ext cx="16093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4764024" y="2313432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59E0B"/>
                </a:solidFill>
              </a:rPr>
              <a:t>⚡ Partial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355080" y="2276856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409944" y="23134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818120" y="2276856"/>
            <a:ext cx="179222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7872984" y="2313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646920" y="2276856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9701784" y="23134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20040" y="2606040"/>
            <a:ext cx="25237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374904" y="2642616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Hallucination Detection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880360" y="2606040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2935224" y="26426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709160" y="2606040"/>
            <a:ext cx="16093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4764024" y="2642616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59E0B"/>
                </a:solidFill>
              </a:rPr>
              <a:t>⚡ Partial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355080" y="2606040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6409944" y="26426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818120" y="2606040"/>
            <a:ext cx="179222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7872984" y="26426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646920" y="2606040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9701784" y="26426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20040" y="2935224"/>
            <a:ext cx="25237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374904" y="297180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Multi-Agent Orchestration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880360" y="2935224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2935224" y="29718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709160" y="2935224"/>
            <a:ext cx="16093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4764024" y="297180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55080" y="2935224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6409944" y="2971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85" name="Rectangle 84"/>
          <p:cNvSpPr/>
          <p:nvPr/>
        </p:nvSpPr>
        <p:spPr>
          <a:xfrm>
            <a:off x="7818120" y="2935224"/>
            <a:ext cx="179222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7872984" y="29718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646920" y="2935224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9701784" y="2971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320040" y="3264408"/>
            <a:ext cx="25237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374904" y="3300984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Voice Agent (STT/TTS)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880360" y="3264408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2935224" y="330098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709160" y="3264408"/>
            <a:ext cx="16093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4764024" y="330098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95" name="Rectangle 94"/>
          <p:cNvSpPr/>
          <p:nvPr/>
        </p:nvSpPr>
        <p:spPr>
          <a:xfrm>
            <a:off x="6355080" y="3264408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6409944" y="330098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97" name="Rectangle 96"/>
          <p:cNvSpPr/>
          <p:nvPr/>
        </p:nvSpPr>
        <p:spPr>
          <a:xfrm>
            <a:off x="7818120" y="3264408"/>
            <a:ext cx="179222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TextBox 97"/>
          <p:cNvSpPr txBox="1"/>
          <p:nvPr/>
        </p:nvSpPr>
        <p:spPr>
          <a:xfrm>
            <a:off x="7872984" y="330098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99" name="Rectangle 98"/>
          <p:cNvSpPr/>
          <p:nvPr/>
        </p:nvSpPr>
        <p:spPr>
          <a:xfrm>
            <a:off x="9646920" y="3264408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TextBox 99"/>
          <p:cNvSpPr txBox="1"/>
          <p:nvPr/>
        </p:nvSpPr>
        <p:spPr>
          <a:xfrm>
            <a:off x="9701784" y="330098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320040" y="3593592"/>
            <a:ext cx="25237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374904" y="3630168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Control Plane (live modify)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2880360" y="3593592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2935224" y="363016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4709160" y="3593592"/>
            <a:ext cx="16093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4764024" y="36301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59E0B"/>
                </a:solidFill>
              </a:rPr>
              <a:t>⚡ Basic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355080" y="3593592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TextBox 107"/>
          <p:cNvSpPr txBox="1"/>
          <p:nvPr/>
        </p:nvSpPr>
        <p:spPr>
          <a:xfrm>
            <a:off x="6409944" y="36301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7818120" y="3593592"/>
            <a:ext cx="179222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/>
          <p:cNvSpPr txBox="1"/>
          <p:nvPr/>
        </p:nvSpPr>
        <p:spPr>
          <a:xfrm>
            <a:off x="7872984" y="363016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9646920" y="3593592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TextBox 111"/>
          <p:cNvSpPr txBox="1"/>
          <p:nvPr/>
        </p:nvSpPr>
        <p:spPr>
          <a:xfrm>
            <a:off x="9701784" y="36301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20040" y="3922776"/>
            <a:ext cx="25237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extBox 113"/>
          <p:cNvSpPr txBox="1"/>
          <p:nvPr/>
        </p:nvSpPr>
        <p:spPr>
          <a:xfrm>
            <a:off x="374904" y="395935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Audit Logs + RBAC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2880360" y="3922776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TextBox 115"/>
          <p:cNvSpPr txBox="1"/>
          <p:nvPr/>
        </p:nvSpPr>
        <p:spPr>
          <a:xfrm>
            <a:off x="2935224" y="395935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4709160" y="3922776"/>
            <a:ext cx="16093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TextBox 117"/>
          <p:cNvSpPr txBox="1"/>
          <p:nvPr/>
        </p:nvSpPr>
        <p:spPr>
          <a:xfrm>
            <a:off x="4764024" y="3959352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59E0B"/>
                </a:solidFill>
              </a:rPr>
              <a:t>⚡ Partial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355080" y="3922776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TextBox 119"/>
          <p:cNvSpPr txBox="1"/>
          <p:nvPr/>
        </p:nvSpPr>
        <p:spPr>
          <a:xfrm>
            <a:off x="6409944" y="395935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7818120" y="3922776"/>
            <a:ext cx="179222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TextBox 121"/>
          <p:cNvSpPr txBox="1"/>
          <p:nvPr/>
        </p:nvSpPr>
        <p:spPr>
          <a:xfrm>
            <a:off x="7872984" y="395935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9646920" y="3922776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TextBox 123"/>
          <p:cNvSpPr txBox="1"/>
          <p:nvPr/>
        </p:nvSpPr>
        <p:spPr>
          <a:xfrm>
            <a:off x="9701784" y="395935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320040" y="4251960"/>
            <a:ext cx="25237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TextBox 125"/>
          <p:cNvSpPr txBox="1"/>
          <p:nvPr/>
        </p:nvSpPr>
        <p:spPr>
          <a:xfrm>
            <a:off x="374904" y="4288536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OpenTelemetry Observability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2880360" y="4251960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TextBox 127"/>
          <p:cNvSpPr txBox="1"/>
          <p:nvPr/>
        </p:nvSpPr>
        <p:spPr>
          <a:xfrm>
            <a:off x="2935224" y="428853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4709160" y="4251960"/>
            <a:ext cx="16093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TextBox 129"/>
          <p:cNvSpPr txBox="1"/>
          <p:nvPr/>
        </p:nvSpPr>
        <p:spPr>
          <a:xfrm>
            <a:off x="4764024" y="4288536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6355080" y="4251960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TextBox 131"/>
          <p:cNvSpPr txBox="1"/>
          <p:nvPr/>
        </p:nvSpPr>
        <p:spPr>
          <a:xfrm>
            <a:off x="6409944" y="42885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7818120" y="4251960"/>
            <a:ext cx="179222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TextBox 133"/>
          <p:cNvSpPr txBox="1"/>
          <p:nvPr/>
        </p:nvSpPr>
        <p:spPr>
          <a:xfrm>
            <a:off x="7872984" y="428853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9646920" y="4251960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TextBox 135"/>
          <p:cNvSpPr txBox="1"/>
          <p:nvPr/>
        </p:nvSpPr>
        <p:spPr>
          <a:xfrm>
            <a:off x="9701784" y="42885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320040" y="4581144"/>
            <a:ext cx="25237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TextBox 137"/>
          <p:cNvSpPr txBox="1"/>
          <p:nvPr/>
        </p:nvSpPr>
        <p:spPr>
          <a:xfrm>
            <a:off x="374904" y="461772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One-click Deployable ZIP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2880360" y="4581144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TextBox 139"/>
          <p:cNvSpPr txBox="1"/>
          <p:nvPr/>
        </p:nvSpPr>
        <p:spPr>
          <a:xfrm>
            <a:off x="2935224" y="461772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4709160" y="4581144"/>
            <a:ext cx="16093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TextBox 141"/>
          <p:cNvSpPr txBox="1"/>
          <p:nvPr/>
        </p:nvSpPr>
        <p:spPr>
          <a:xfrm>
            <a:off x="4764024" y="461772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6355080" y="4581144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TextBox 143"/>
          <p:cNvSpPr txBox="1"/>
          <p:nvPr/>
        </p:nvSpPr>
        <p:spPr>
          <a:xfrm>
            <a:off x="6409944" y="4617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7818120" y="4581144"/>
            <a:ext cx="179222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TextBox 145"/>
          <p:cNvSpPr txBox="1"/>
          <p:nvPr/>
        </p:nvSpPr>
        <p:spPr>
          <a:xfrm>
            <a:off x="7872984" y="461772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9646920" y="4581144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8" name="TextBox 147"/>
          <p:cNvSpPr txBox="1"/>
          <p:nvPr/>
        </p:nvSpPr>
        <p:spPr>
          <a:xfrm>
            <a:off x="9701784" y="4617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320040" y="4910328"/>
            <a:ext cx="25237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TextBox 149"/>
          <p:cNvSpPr txBox="1"/>
          <p:nvPr/>
        </p:nvSpPr>
        <p:spPr>
          <a:xfrm>
            <a:off x="374904" y="4946904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Simulation / Eval Engine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2880360" y="4910328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TextBox 151"/>
          <p:cNvSpPr txBox="1"/>
          <p:nvPr/>
        </p:nvSpPr>
        <p:spPr>
          <a:xfrm>
            <a:off x="2935224" y="4946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4709160" y="4910328"/>
            <a:ext cx="16093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TextBox 153"/>
          <p:cNvSpPr txBox="1"/>
          <p:nvPr/>
        </p:nvSpPr>
        <p:spPr>
          <a:xfrm>
            <a:off x="4764024" y="494690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59E0B"/>
                </a:solidFill>
              </a:rPr>
              <a:t>⚡ Basic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6355080" y="4910328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6" name="TextBox 155"/>
          <p:cNvSpPr txBox="1"/>
          <p:nvPr/>
        </p:nvSpPr>
        <p:spPr>
          <a:xfrm>
            <a:off x="6409944" y="49469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7818120" y="4910328"/>
            <a:ext cx="179222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TextBox 157"/>
          <p:cNvSpPr txBox="1"/>
          <p:nvPr/>
        </p:nvSpPr>
        <p:spPr>
          <a:xfrm>
            <a:off x="7872984" y="4946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59E0B"/>
                </a:solidFill>
              </a:rPr>
              <a:t>⚡ Basic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9646920" y="4910328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0" name="TextBox 159"/>
          <p:cNvSpPr txBox="1"/>
          <p:nvPr/>
        </p:nvSpPr>
        <p:spPr>
          <a:xfrm>
            <a:off x="9701784" y="49469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320040" y="5239512"/>
            <a:ext cx="25237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TextBox 161"/>
          <p:cNvSpPr txBox="1"/>
          <p:nvPr/>
        </p:nvSpPr>
        <p:spPr>
          <a:xfrm>
            <a:off x="374904" y="5276088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Azure-native (no vendor lock)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2880360" y="5239512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4" name="TextBox 163"/>
          <p:cNvSpPr txBox="1"/>
          <p:nvPr/>
        </p:nvSpPr>
        <p:spPr>
          <a:xfrm>
            <a:off x="2935224" y="52760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4709160" y="5239512"/>
            <a:ext cx="16093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TextBox 165"/>
          <p:cNvSpPr txBox="1"/>
          <p:nvPr/>
        </p:nvSpPr>
        <p:spPr>
          <a:xfrm>
            <a:off x="4764024" y="527608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OpenAI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6355080" y="5239512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8" name="TextBox 167"/>
          <p:cNvSpPr txBox="1"/>
          <p:nvPr/>
        </p:nvSpPr>
        <p:spPr>
          <a:xfrm>
            <a:off x="6409944" y="527608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Mix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7818120" y="5239512"/>
            <a:ext cx="179222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0" name="TextBox 169"/>
          <p:cNvSpPr txBox="1"/>
          <p:nvPr/>
        </p:nvSpPr>
        <p:spPr>
          <a:xfrm>
            <a:off x="7872984" y="52760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Azure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9646920" y="5239512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2" name="TextBox 171"/>
          <p:cNvSpPr txBox="1"/>
          <p:nvPr/>
        </p:nvSpPr>
        <p:spPr>
          <a:xfrm>
            <a:off x="9701784" y="527608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Mix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320040" y="5568696"/>
            <a:ext cx="25237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TextBox 173"/>
          <p:cNvSpPr txBox="1"/>
          <p:nvPr/>
        </p:nvSpPr>
        <p:spPr>
          <a:xfrm>
            <a:off x="374904" y="560527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On-prem / Private Deployment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2880360" y="5568696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6" name="TextBox 175"/>
          <p:cNvSpPr txBox="1"/>
          <p:nvPr/>
        </p:nvSpPr>
        <p:spPr>
          <a:xfrm>
            <a:off x="2935224" y="56052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4709160" y="5568696"/>
            <a:ext cx="16093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8" name="TextBox 177"/>
          <p:cNvSpPr txBox="1"/>
          <p:nvPr/>
        </p:nvSpPr>
        <p:spPr>
          <a:xfrm>
            <a:off x="4764024" y="5605272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SaaS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6355080" y="5568696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0" name="TextBox 179"/>
          <p:cNvSpPr txBox="1"/>
          <p:nvPr/>
        </p:nvSpPr>
        <p:spPr>
          <a:xfrm>
            <a:off x="6409944" y="560527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7818120" y="5568696"/>
            <a:ext cx="179222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2" name="TextBox 181"/>
          <p:cNvSpPr txBox="1"/>
          <p:nvPr/>
        </p:nvSpPr>
        <p:spPr>
          <a:xfrm>
            <a:off x="7872984" y="56052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9646920" y="5568696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4" name="TextBox 183"/>
          <p:cNvSpPr txBox="1"/>
          <p:nvPr/>
        </p:nvSpPr>
        <p:spPr>
          <a:xfrm>
            <a:off x="9701784" y="560527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Leadership Narrative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73152" cy="114300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0515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🎯 Strategic Alignment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444752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</a:rPr>
              <a:t>AgentForge directly advances Accenture's AI-first mandate by creating a reusable internal platform that accelerates client delivery of AI agents. Every engagement that uses AgentForge compresses delivery timelines by 60–85%, improving margin and client NPS simultaneously.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331720"/>
            <a:ext cx="73152" cy="114300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23774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🏆 Competitive Differentiation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770632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</a:rPr>
              <a:t>No competitor today combines Prompt-to-Agent generation, built-in enterprise guardrails (PII+hallucination), voice agents, and a full observability stack in a single deployable platform. AgentForge positions Accenture as the go-to partner for enterprise-grade AI agent deployments.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3657600"/>
            <a:ext cx="73152" cy="114300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4360" y="3703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💼 Client Value Proposition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096512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</a:rPr>
              <a:t>Clients receive a production-ready, governable AI agent platform aligned with their Azure investment. They get faster innovation cycles, lower risk (compliance-ready guardrails), and full transparency (audit logs, OTEL) — without needing to build internal AI infrastructure from scratch.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983479"/>
            <a:ext cx="73152" cy="114300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94360" y="5029199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🌱 Platform Network Effect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422391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</a:rPr>
              <a:t>The Blueprints Marketplace creates a virtuous cycle: every agent built on AgentForge adds to the shared library, reducing future build cost. Over 24 months this compounds into a proprietary IP moat for Accenture's AI practice.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KPIs &amp; Success Metrics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60120"/>
            <a:ext cx="5669280" cy="246888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960120"/>
            <a:ext cx="5669280" cy="384048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014984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📐 Platform Adoption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43560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BD5E1"/>
                </a:solidFill>
              </a:rPr>
              <a:t>• Active Users / Month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143560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06EF5"/>
                </a:solidFill>
              </a:rPr>
              <a:t>Target: 50+ developers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143560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Track: Auth login events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0756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BD5E1"/>
                </a:solidFill>
              </a:rPr>
              <a:t>• Agents Created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207568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06EF5"/>
                </a:solidFill>
              </a:rPr>
              <a:t>Target: 200+ agents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207568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Track: agents table count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71576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BD5E1"/>
                </a:solidFill>
              </a:rPr>
              <a:t>• Projects / Blueprints Saved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271576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06EF5"/>
                </a:solidFill>
              </a:rPr>
              <a:t>Target: 100+ projects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271576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Track: workflows count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960120"/>
            <a:ext cx="5669280" cy="246888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309360" y="960120"/>
            <a:ext cx="5669280" cy="38404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46520" y="1014984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⚡ Developer Velocity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143560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BD5E1"/>
                </a:solidFill>
              </a:rPr>
              <a:t>• Time-to-First-Agent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0" y="143560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B981"/>
                </a:solidFill>
              </a:rPr>
              <a:t>Target: &lt;5 minutes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60" y="143560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Track: Architect session duration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20756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BD5E1"/>
                </a:solidFill>
              </a:rPr>
              <a:t>• ZIP Downloads / Week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207568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B981"/>
                </a:solidFill>
              </a:rPr>
              <a:t>Target: 20+/week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24160" y="207568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Track: buildSourceZip calls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271576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BD5E1"/>
                </a:solidFill>
              </a:rPr>
              <a:t>• Simulation Pass Rate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0" y="271576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B981"/>
                </a:solidFill>
              </a:rPr>
              <a:t>Target: &gt;90%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24160" y="271576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Track: simulation.status=passed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657600"/>
            <a:ext cx="5669280" cy="246888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365760" y="3657600"/>
            <a:ext cx="5669280" cy="38404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02920" y="3712464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🛡️ Governance &amp; Safety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41330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BD5E1"/>
                </a:solidFill>
              </a:rPr>
              <a:t>• PII Triggers / 1000 calls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34640" y="413308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59E0B"/>
                </a:solidFill>
              </a:rPr>
              <a:t>Target: &lt;5 incidents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0" y="413308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Track: guardrail_triggered=true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477316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BD5E1"/>
                </a:solidFill>
              </a:rPr>
              <a:t>• Hallucination Rate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34640" y="477316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59E0B"/>
                </a:solidFill>
              </a:rPr>
              <a:t>Target: &lt;2%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80560" y="477316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Track: hallucination_triggered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541324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BD5E1"/>
                </a:solidFill>
              </a:rPr>
              <a:t>• Audit Log Coverage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834640" y="54132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59E0B"/>
                </a:solidFill>
              </a:rPr>
              <a:t>Target: 100%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80560" y="541324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Track: audit_logs completeness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9360" y="3657600"/>
            <a:ext cx="5669280" cy="246888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309360" y="3657600"/>
            <a:ext cx="5669280" cy="384048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446520" y="3712464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📊 Reliability &amp; Perf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46520" y="41330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BD5E1"/>
                </a:solidFill>
              </a:rPr>
              <a:t>• API P95 Latency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78240" y="413308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855F7"/>
                </a:solidFill>
              </a:rPr>
              <a:t>Target: &lt;800ms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424160" y="413308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Track: OTEL latency histograms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46520" y="477316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BD5E1"/>
                </a:solidFill>
              </a:rPr>
              <a:t>• Workflow Success Rate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78240" y="477316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855F7"/>
                </a:solidFill>
              </a:rPr>
              <a:t>Target: &gt;98%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24160" y="477316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Track: workflow_runs status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46520" y="541324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BD5E1"/>
                </a:solidFill>
              </a:rPr>
              <a:t>• System Uptime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778240" y="54132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855F7"/>
                </a:solidFill>
              </a:rPr>
              <a:t>Target: 99.9%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24160" y="541324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Track: health endpoint + OTEL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Database Schema (PostgreSQL 16 + pgvector)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868680"/>
            <a:ext cx="3749039" cy="1371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20040" y="868680"/>
            <a:ext cx="3749039" cy="347472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11480" y="905256"/>
            <a:ext cx="36118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⬛ users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252728"/>
            <a:ext cx="36118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id (PK)  ·  email (unique)  ·  hashed_password  ·  full_name
  ·  role (admin|developer|viewer)  ·  is_active  ·  created_at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59" y="868680"/>
            <a:ext cx="3749039" cy="1371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251959" y="868680"/>
            <a:ext cx="3749039" cy="34747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43399" y="905256"/>
            <a:ext cx="36118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⬛ agents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399" y="1252728"/>
            <a:ext cx="36118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id (PK)  ·  name  ·  description  ·  system_prompt
  ·  model (gpt-5.4-mini)  ·  tools (JSON)  ·  guardrails (JSON)  ·  created_by (FK→users)  ·  agent_type  ·  current_version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83879" y="868680"/>
            <a:ext cx="3749039" cy="1371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183879" y="868680"/>
            <a:ext cx="3749039" cy="34747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75319" y="905256"/>
            <a:ext cx="36118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⬛ agent_versions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19" y="1252728"/>
            <a:ext cx="36118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id (PK)  ·  agent_id (FK→agents)  ·  version (int)  ·  snapshot (JSON)
  ·  created_at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2377440"/>
            <a:ext cx="3749039" cy="1371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20040" y="2377440"/>
            <a:ext cx="3749039" cy="3474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11480" y="2414016"/>
            <a:ext cx="36118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⬛ workflows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2761488"/>
            <a:ext cx="36118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id (PK)  ·  name  ·  description  ·  nodes (JSON)
  ·  edges (JSON)  ·  created_by (FK→users)  ·  created_at  ·  updated_at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51959" y="2377440"/>
            <a:ext cx="3749039" cy="1371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251959" y="2377440"/>
            <a:ext cx="3749039" cy="34747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343399" y="2414016"/>
            <a:ext cx="36118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⬛ workflow_runs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43399" y="2761488"/>
            <a:ext cx="36118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id (PK)  ·  workflow_id (FK→workflows)  ·  trigger_input  ·  final_output
  ·  status  ·  node_logs (JSON)  ·  total_duration_ms  ·  triggered_at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83879" y="2377440"/>
            <a:ext cx="3749039" cy="1371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183879" y="2377440"/>
            <a:ext cx="3749039" cy="347472"/>
          </a:xfrm>
          <a:prstGeom prst="rect">
            <a:avLst/>
          </a:prstGeom>
          <a:solidFill>
            <a:srgbClr val="0E79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75319" y="2414016"/>
            <a:ext cx="36118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⬛ knowledge_bases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19" y="2761488"/>
            <a:ext cx="36118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id (PK)  ·  name  ·  description  ·  agent_id (FK→agents)
  ·  created_by  ·  created_at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3886199"/>
            <a:ext cx="3749039" cy="1371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320040" y="3886199"/>
            <a:ext cx="3749039" cy="34747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11480" y="3922775"/>
            <a:ext cx="36118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⬛ documents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4270247"/>
            <a:ext cx="36118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id (PK)  ·  kb_id (FK→knowledge_bases)  ·  filename  ·  content (TEXT)
  ·  chunk_count  ·  status (processing|ready)  ·  created_at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51959" y="3886199"/>
            <a:ext cx="3749039" cy="1371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4251959" y="3886199"/>
            <a:ext cx="3749039" cy="347472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343399" y="3922775"/>
            <a:ext cx="36118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⬛ audit_logs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43399" y="4270247"/>
            <a:ext cx="36118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id (PK)  ·  user_id  ·  action  ·  resource_type
  ·  resource_id  ·  input_snapshot (JSON)  ·  output_snapshot (JSON)  ·  guardrail_triggered  ·  latency_ms  ·  trace_id  ·  created_at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183879" y="3886199"/>
            <a:ext cx="3749039" cy="1371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8183879" y="3886199"/>
            <a:ext cx="3749039" cy="347472"/>
          </a:xfrm>
          <a:prstGeom prst="rect">
            <a:avLst/>
          </a:prstGeom>
          <a:solidFill>
            <a:srgbClr val="84CC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275319" y="3922775"/>
            <a:ext cx="36118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⬛ api_keys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19" y="4270247"/>
            <a:ext cx="36118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id (PK)  ·  name  ·  key_prefix  ·  hashed_key
  ·  user_id (FK→users)  ·  is_active  ·  created_at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5394959"/>
            <a:ext cx="3749039" cy="1371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320040" y="5394959"/>
            <a:ext cx="3749039" cy="347472"/>
          </a:xfrm>
          <a:prstGeom prst="rect">
            <a:avLst/>
          </a:prstGeom>
          <a:solidFill>
            <a:srgbClr val="FDBA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11480" y="5431535"/>
            <a:ext cx="36118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⬛ voice_sessions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5779007"/>
            <a:ext cx="36118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id (PK)  ·  agent_id (FK→agents)  ·  user_id  ·  transcript (JSON)
  ·  status  ·  created_at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Technology Stack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60120"/>
            <a:ext cx="2834640" cy="530352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20040" y="960120"/>
            <a:ext cx="2834640" cy="45720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29768" y="1005840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🖥️ Frontend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1508760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React 18.3 + Vite 5 + TypeScript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" y="2130552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TailwindCSS 3 (utility-first styling)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2752344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React Flow (visual workflow canvas)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3374136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TanStack Query v4 (server state)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" y="3995928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Lucide React (icon system)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4617720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react-hot-toast (notifications)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" y="5239512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Axios (API client)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82696" y="960120"/>
            <a:ext cx="2834640" cy="530352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282696" y="960120"/>
            <a:ext cx="2834640" cy="4572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392424" y="1005840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⚙️ Backend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92424" y="1508760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dirty="0">
                <a:solidFill>
                  <a:srgbClr val="CBD5E1"/>
                </a:solidFill>
              </a:rPr>
              <a:t>▸ FastAPI 0.115 + </a:t>
            </a:r>
            <a:r>
              <a:rPr sz="1200" b="0" dirty="0" err="1">
                <a:solidFill>
                  <a:srgbClr val="CBD5E1"/>
                </a:solidFill>
              </a:rPr>
              <a:t>Uvicorn</a:t>
            </a:r>
            <a:r>
              <a:rPr sz="1200" b="0" dirty="0">
                <a:solidFill>
                  <a:srgbClr val="CBD5E1"/>
                </a:solidFill>
              </a:rPr>
              <a:t> (ASGI)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92424" y="2130552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Python 3.12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92424" y="2752344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SQLAlchemy 2.0 (async ORM)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92424" y="3374136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Alembic (migrations)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92424" y="3995928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Pydantic v2 (validation)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92424" y="4617720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python-jose (JWT auth)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92424" y="5239512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passlib + bcrypt (password hashing)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45352" y="960120"/>
            <a:ext cx="2834640" cy="530352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245352" y="960120"/>
            <a:ext cx="2834640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55080" y="1005840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🤖 AI / ML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1508760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Azure OpenAI GPT-5.4-mini + GPT-5.4-mini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2130552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LangChain 0.3 + LangChain-OpenAI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2752344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OpenAI SDK 1.84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5080" y="3374136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FAISS (vector similarity)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3995928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pgvector 0.3 (PostgreSQL vectors)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5080" y="4617720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Presidio (PII detection/anonymization)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5239512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Azure AI Search (enterprise RAG)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208008" y="960120"/>
            <a:ext cx="2834640" cy="530352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9208008" y="960120"/>
            <a:ext cx="2834640" cy="4572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317736" y="1005840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🗄️ Data &amp; Infra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17736" y="1508760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PostgreSQL 16 + pgvector extension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17736" y="2130552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asyncpg (async DB driver)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17736" y="2752344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Docker + Docker Compose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17736" y="3374136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Azure Speech (STT + TTS)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17736" y="3995928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OpenTelemetry (traces + metrics)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17736" y="4617720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Azure Monitor (OTEL exporter)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17736" y="5239512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pypdf + python-docx (doc parsing)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dirty="0">
                <a:solidFill>
                  <a:srgbClr val="FFFFFF"/>
                </a:solidFill>
              </a:rPr>
              <a:t>API Module Map  (16 Routers · FastAPI)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60120"/>
            <a:ext cx="576072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06EF5"/>
                </a:solidFill>
              </a:rPr>
              <a:t>/api/auth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1024128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JWT login, register, me endpoint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636776"/>
            <a:ext cx="576072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700784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06EF5"/>
                </a:solidFill>
              </a:rPr>
              <a:t>/api/agents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700784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CRUD agents, versions, tools, guardrails config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2313432"/>
            <a:ext cx="576072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23774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06EF5"/>
                </a:solidFill>
              </a:rPr>
              <a:t>/api/rag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7744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Knowledge bases, document upload &amp; chunking, semantic search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2990087"/>
            <a:ext cx="576072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" y="3054095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06EF5"/>
                </a:solidFill>
              </a:rPr>
              <a:t>/api/tools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054095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Tool registry — list, register, invoke native tools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3666744"/>
            <a:ext cx="576072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7200" y="373075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06EF5"/>
                </a:solidFill>
              </a:rPr>
              <a:t>/api/builder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3730752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Visual workflow save/load/run (nodes + edges)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4343400"/>
            <a:ext cx="576072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7200" y="4407408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06EF5"/>
                </a:solidFill>
              </a:rPr>
              <a:t>/api/simulation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4407408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Run agent test scenarios, score outputs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5020055"/>
            <a:ext cx="576072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57200" y="5084063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06EF5"/>
                </a:solidFill>
              </a:rPr>
              <a:t>/api/architect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5084063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Prompt-to-Agent generation, ZIP export (RAG Scaffold &amp; Custom Code)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5696712"/>
            <a:ext cx="576072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57200" y="57607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06EF5"/>
                </a:solidFill>
              </a:rPr>
              <a:t>/api/control-plane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0" y="576072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Live agent status, patch, pause, resume running workflows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55080" y="960120"/>
            <a:ext cx="548640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92240" y="1024128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/api/safety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78240" y="1024128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Guardrail policy configuration per agent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55080" y="1636776"/>
            <a:ext cx="548640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92240" y="1700784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/api/evaluations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78240" y="1700784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Batch evaluation runs, scoring metrics, version comparison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5080" y="2313432"/>
            <a:ext cx="548640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92240" y="23774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/api/voice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78240" y="237744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Voice session management, STT→LLM→TTS pipeline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55080" y="2990087"/>
            <a:ext cx="548640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492240" y="3054095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/api/api-keys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78240" y="3054095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Issue, list, revoke programmatic API keys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55080" y="3666744"/>
            <a:ext cx="548640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492240" y="373075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/api/team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78240" y="3730752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User invite, role assignment, team management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55080" y="4343400"/>
            <a:ext cx="548640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492240" y="4407408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/api/audit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78240" y="4407408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Query audit logs, filter by user/action/resource/date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55080" y="5020055"/>
            <a:ext cx="548640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492240" y="5084063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/api/telemetry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78240" y="5084063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OpenTelemetry trace ingestion (OTLP/HTTP)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355080" y="5696712"/>
            <a:ext cx="548640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492240" y="57607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/api/health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778240" y="576072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Health check endpoint for load balancers and Kubernetes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Frontend Page Map  (25 Pages · React SPA)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60120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987552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🏠 Home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014984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Landing, quick actions, recent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3282696" y="960120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374136" y="987552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🧠 Planning Architect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62856" y="1014984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Conversational prompt-to-agent, session history, plan/agents/app/db tabs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45352" y="960120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36792" y="987552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🔧 Agent Studio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25512" y="1014984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Create, edit, test, deploy, publish agents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208008" y="960120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299448" y="987552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📐 Workflow Builder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88168" y="1014984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React Flow drag-drop canvas, node config, trigger &amp; run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1563624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11480" y="1591056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📚 Knowledge Bases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1618488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Create KB, upload docs, view chunk status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82696" y="1563624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374136" y="1591056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🎮 Playground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62856" y="1618488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Interactive agent testing with streaming responses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45352" y="1563624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336792" y="1591056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🧪 Evaluations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25512" y="1618488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Batch test runs, scoring, version comparison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08008" y="1563624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299448" y="1591056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🔒 Safety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88168" y="1618488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Guardrail policies per agent, PII/hallucination config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2167128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11480" y="2194560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📊 Usage &amp; Traceability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00200" y="2221992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Audit log viewer, latency stats, filter by action/agent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82696" y="2167128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374136" y="2194560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🌐 Control Plane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62856" y="2221992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Live platform stats — agents, runs, guardrail triggers, avg latency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45352" y="2167128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336792" y="2194560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🔭 Workflow Observability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25512" y="2221992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Per-run execution trace, "Awaiting Approval" tracking, Review link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208008" y="2167128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299448" y="2194560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✅ Approval Page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88168" y="2221992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Review a paused run's context, Approve/Reject to resume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2770632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11480" y="2798064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🗣️ Voice Agents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00200" y="2825496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Voice session management, STT/TTS config, audio test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282696" y="2770632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3374136" y="2798064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🗂️ Blueprints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62856" y="2825496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Reusable agent blueprints library, clone to project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45352" y="2770632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336792" y="2798064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📝 Prompt Library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25512" y="2825496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Curated prompts across 10 domains, search, copy-to-agent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208008" y="2770632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9299448" y="2798064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💡 What Should I Build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88168" y="2825496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AI-guided project ideation based on use-case description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20040" y="3374136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411480" y="3401568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🗺️ My Projects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600200" y="3429000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Project cards, download ZIP, open in Architect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282696" y="3374136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3374136" y="3401568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🌍 Published Projects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62856" y="3429000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Published agents visible to org members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245352" y="3374136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336792" y="3401568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🤝 Shared Projects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525512" y="3429000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Projects shared with you across the org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208008" y="3374136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9299448" y="3401568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🛒 Marketplace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488168" y="3429000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Community agent templates — import &amp; customise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20040" y="3977640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411480" y="4005072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🔑 API Keys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600200" y="4032504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Generate, list, revoke programmatic keys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282696" y="3977640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3374136" y="4005072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👥 Team Members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62856" y="4032504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Invite, assign roles, deactivate users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245352" y="3977640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6336792" y="4005072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📅 Agent Versions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525512" y="4032504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Version history, diff, rollback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208008" y="3977640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9299448" y="4005072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👤 Profile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488168" y="4032504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User profile, password change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20040" y="4581144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411480" y="4608576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⚙️ Settings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600200" y="4636008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Org settings, Azure config, notification prefs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Developer Setup Guide  — Part 1: Prerequisites &amp; Backend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📋  Prerequisites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6187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  Python 3.12+  ·  Node.js 20+ &amp; npm  ·  PostgreSQL 16  ·  Git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5448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  pgvector extension: CREATE EXTENSION IF NOT EXISTS vector;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47088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  Azure OpenAI resource with gpt-5.4-mini + gpt-5.4-mini deployments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39696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  Optional: Azure Speech, Azure AI Search, Azure Monitor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8716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B981"/>
                </a:solidFill>
              </a:rPr>
              <a:t>⚙️  Backend Setup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916936"/>
            <a:ext cx="292608" cy="2926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2916936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2916936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Clone &amp; enter backend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880360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6EFAC"/>
                </a:solidFill>
              </a:rPr>
              <a:t>git clone &lt;repo&gt;  &amp;&amp;  cd AgentForge/backend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529584"/>
            <a:ext cx="292608" cy="2926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3529584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3529584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Create virtual environment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493008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6EFAC"/>
                </a:solidFill>
              </a:rPr>
              <a:t>python -m venv venv  &amp;&amp;  .\venv\Scripts\activate  (Windows)
source venv/bin/activate  (Mac/Linux)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142232"/>
            <a:ext cx="292608" cy="2926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7200" y="4142232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4142232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Install dependencies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4105656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6EFAC"/>
                </a:solidFill>
              </a:rPr>
              <a:t>pip install -r requirements.txt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754880"/>
            <a:ext cx="292608" cy="2926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57200" y="4754880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475488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Configure environment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718304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6EFAC"/>
                </a:solidFill>
              </a:rPr>
              <a:t>Copy .env.example → .env
Set: AZURE_OPENAI_ENDPOINT, AZURE_OPENAI_API_KEY,
     AZURE_OPENAI_DEPLOYMENT_GPT4O=gpt-5.4-mini,
     DATABASE_URL=postgresql+asyncpg://postgres:postgres@localhost:5432/agentforge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367528"/>
            <a:ext cx="292608" cy="2926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57200" y="5367528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" y="5367528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Create database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5330952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6EFAC"/>
                </a:solidFill>
              </a:rPr>
              <a:t>createdb agentforge  (PostgreSQL CLI)
psql -d agentforge -c 'CREATE EXTENSION IF NOT EXISTS vector;'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980176"/>
            <a:ext cx="292608" cy="2926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57200" y="5980176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" y="5980176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Run the API server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5943600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6EFAC"/>
                </a:solidFill>
              </a:rPr>
              <a:t>uvicorn app.main:app --reload --port 8000
✅  API: http://localhost:8000
✅  Swagger: http://localhost:8000/docs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55448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dirty="0">
                <a:solidFill>
                  <a:srgbClr val="FFFFFF"/>
                </a:solidFill>
              </a:rPr>
              <a:t>Developer Setup Guide  — Part 2: Frontend, Ports &amp; Verification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4416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🖥️  Frontend Setup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792224"/>
            <a:ext cx="292608" cy="292608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792224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792224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Enter frontend dir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1755648"/>
            <a:ext cx="8412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6EFAC"/>
                </a:solidFill>
              </a:rPr>
              <a:t>cd AgentForge/frontend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450592"/>
            <a:ext cx="292608" cy="292608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2450592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2450592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Install packages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2414016"/>
            <a:ext cx="8412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6EFAC"/>
                </a:solidFill>
              </a:rPr>
              <a:t>npm install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108959"/>
            <a:ext cx="292608" cy="292608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" y="3108959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3108959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Start dev server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3072383"/>
            <a:ext cx="8412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6EFAC"/>
                </a:solidFill>
              </a:rPr>
              <a:t>npm run dev
✅  Frontend: http://localhost:5173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67328"/>
            <a:ext cx="292608" cy="292608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7200" y="3767328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67328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Login credentials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3730752"/>
            <a:ext cx="8412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6EFAC"/>
                </a:solidFill>
              </a:rPr>
              <a:t>Admin: admin@agentforge.io / admin123
(seeded automatically on first startup)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08736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59E0B"/>
                </a:solidFill>
              </a:rPr>
              <a:t>🔌  Port Assignment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4544568"/>
            <a:ext cx="11521440" cy="38404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57200" y="4590288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</a:rPr>
              <a:t>8000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4590288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dirty="0" err="1">
                <a:solidFill>
                  <a:srgbClr val="FFFFFF"/>
                </a:solidFill>
              </a:rPr>
              <a:t>AgentForge</a:t>
            </a:r>
            <a:r>
              <a:rPr sz="1100" b="0" dirty="0">
                <a:solidFill>
                  <a:srgbClr val="FFFFFF"/>
                </a:solidFill>
              </a:rPr>
              <a:t> Backend (FastAPI)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590288"/>
            <a:ext cx="5303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Main API, Swagger at /docs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429768"/>
            <a:ext cx="11521440" cy="384048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57200" y="429768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</a:rPr>
              <a:t>5173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8720" y="429768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AgentForge Frontend (Vite)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29768"/>
            <a:ext cx="5303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React SPA dev server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429768"/>
            <a:ext cx="11521440" cy="38404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57200" y="429768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</a:rPr>
              <a:t>8001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88720" y="429768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RAG Scaffold Backend (downloaded ZIP)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29768"/>
            <a:ext cx="5303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Routes: /api/chat, /api/documents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429768"/>
            <a:ext cx="11521440" cy="384048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57200" y="429768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</a:rPr>
              <a:t>8002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88720" y="429768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Custom Code Backend (downloaded ZIP)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429768"/>
            <a:ext cx="5303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Routes: /api/ask-question, /api/upload-document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0040" y="429768"/>
            <a:ext cx="11521440" cy="38404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57200" y="429768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</a:rPr>
              <a:t>5176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88720" y="429768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RAG Scaffold Frontend (downloaded ZIP)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429768"/>
            <a:ext cx="5303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npm run dev in extracted folder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20040" y="429768"/>
            <a:ext cx="11521440" cy="384048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57200" y="429768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</a:rPr>
              <a:t>5177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88720" y="429768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Custom Code Frontend (downloaded ZIP)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429768"/>
            <a:ext cx="5303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npm run dev in extracted folder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0040" y="429768"/>
            <a:ext cx="11521440" cy="38404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57200" y="429768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</a:rPr>
              <a:t>4318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88720" y="429768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OpenTelemetry OTLP/HTTP (optional)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0" y="429768"/>
            <a:ext cx="5303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Jaeger / Grafana OTEL collector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Planning Architect — Prompt-to-Agent Deep Dive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60120"/>
            <a:ext cx="5760720" cy="12801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347472" cy="347472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6984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User describes use case in plain English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554480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e.g. 'Build a policy analysis agent that ingests company documents and answers compliance questions'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2377440"/>
            <a:ext cx="5760720" cy="12801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57200" y="2514600"/>
            <a:ext cx="347472" cy="347472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251460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48716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GPT-5.4-mini generates full project plan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971800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Architecture · Tech stack · Agent configs · Tool list · DB schema · Security considerations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3794760"/>
            <a:ext cx="5760720" cy="12801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57200" y="3931920"/>
            <a:ext cx="347472" cy="347472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" y="393192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90448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Agents tab — agent cards generated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389120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Each agent gets: name, type, model, system prompt, tools list, guardrails config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5212080"/>
            <a:ext cx="5760720" cy="12801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57200" y="5349240"/>
            <a:ext cx="347472" cy="347472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7200" y="534924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32180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App tab — live sandbox preview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806440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Interactive 3-panel chat UI rendered immediately: left sidebar (docs), main chat, right panel (KB stats)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9359" y="960120"/>
            <a:ext cx="5760720" cy="12801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446519" y="1097280"/>
            <a:ext cx="347472" cy="347472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46519" y="109728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19" y="106984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Download RAG Scaffold ZIP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19" y="1554480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dirty="0">
                <a:solidFill>
                  <a:srgbClr val="CBD5E1"/>
                </a:solidFill>
              </a:rPr>
              <a:t>Complete React + FastAPI project using /</a:t>
            </a:r>
            <a:r>
              <a:rPr sz="1100" b="0" dirty="0" err="1">
                <a:solidFill>
                  <a:srgbClr val="CBD5E1"/>
                </a:solidFill>
              </a:rPr>
              <a:t>api</a:t>
            </a:r>
            <a:r>
              <a:rPr sz="1100" b="0" dirty="0">
                <a:solidFill>
                  <a:srgbClr val="CBD5E1"/>
                </a:solidFill>
              </a:rPr>
              <a:t>/chat + /</a:t>
            </a:r>
            <a:r>
              <a:rPr sz="1100" b="0" dirty="0" err="1">
                <a:solidFill>
                  <a:srgbClr val="CBD5E1"/>
                </a:solidFill>
              </a:rPr>
              <a:t>api</a:t>
            </a:r>
            <a:r>
              <a:rPr sz="1100" b="0" dirty="0">
                <a:solidFill>
                  <a:srgbClr val="CBD5E1"/>
                </a:solidFill>
              </a:rPr>
              <a:t>/documents routes → proxy target port 8001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09359" y="2377440"/>
            <a:ext cx="5760720" cy="12801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446519" y="2514600"/>
            <a:ext cx="347472" cy="347472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46519" y="251460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03719" y="248716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Download Custom Code ZIP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46519" y="2971800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GPT-5.4-mini generates bespoke App.tsx → renderMarkdown + /api/ask-question + /api/upload-document → port 8002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59" y="3794760"/>
            <a:ext cx="5760720" cy="12801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446519" y="3931920"/>
            <a:ext cx="347472" cy="347472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46519" y="393192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03719" y="390448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Database tab — entity diagram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46519" y="4389120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Auto-generated PostgreSQL schema matching the planned agent's data requirements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Enterprise Guardrails &amp; Safety Engine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2011680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114300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User Input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31720" y="126644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dirty="0">
                <a:solidFill>
                  <a:srgbClr val="606EF5"/>
                </a:solidFill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651760" y="1097280"/>
            <a:ext cx="2011680" cy="777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697480" y="114300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Guardrails Check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126644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dirty="0">
                <a:solidFill>
                  <a:srgbClr val="606EF5"/>
                </a:solidFill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37760" y="1097280"/>
            <a:ext cx="2011680" cy="777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983480" y="114300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PII Redaction
(Presidio)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85306" y="126644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dirty="0">
                <a:solidFill>
                  <a:srgbClr val="606EF5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23760" y="1097280"/>
            <a:ext cx="2011680" cy="777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269480" y="114300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Hallucination
Detection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80576" y="12801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dirty="0">
                <a:solidFill>
                  <a:srgbClr val="606EF5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509760" y="1097280"/>
            <a:ext cx="2011680" cy="7772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555480" y="114300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Agent Response
(Sanitized)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2194560"/>
            <a:ext cx="3749039" cy="41148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20040" y="2194560"/>
            <a:ext cx="3749039" cy="411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29768" y="2249424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🔍 PII Entities Detected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" y="2706624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EMAIL_ADDRESS — e.g. john@example.com → &lt;EMAIL&gt;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" y="3282696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PHONE_NUMBER — e.g. 555-123-4567 → &lt;PHONE_NUMBER&gt;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" y="3858768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PERSON — named entity recognition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" y="4434840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CREDIT_CARD — 16-digit card patterns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" y="5010912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US_SSN — Social Security Numbers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" y="5586984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Powered by Microsoft Presidio Analyzer + Anonymizer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97679" y="2194560"/>
            <a:ext cx="3749039" cy="41148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4297679" y="2194560"/>
            <a:ext cx="3749039" cy="41148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407407" y="2249424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⚠️ Hallucination Phrases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07407" y="2706624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Uncertainty phrase matching on agent output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07407" y="3282696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Triggers: 'I'm not sure but', 'I think maybe'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07407" y="3858768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Triggers: 'I cannot verify', 'it might be'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07407" y="4434840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Triggers: 'I believe but I'm not certain'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07407" y="5010912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Result: flagged in audit log + response annotated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07407" y="5586984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Per-agent enable/disable via guardrails config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75319" y="2194560"/>
            <a:ext cx="3749039" cy="41148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8275319" y="2194560"/>
            <a:ext cx="3749039" cy="4114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385047" y="2249424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📋 Audit Trail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5047" y="2706624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Every guardrail trigger logged to audit_logs table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85047" y="3282696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Fields: guardrail_triggered (bool), trace_id, latency_ms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5047" y="3858768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Searchable via /api/audit with filter params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85047" y="4434840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Exportable for compliance reporting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85047" y="5010912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OpenTelemetry span attributes: pii_triggered, hallucination_triggered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85047" y="5586984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Zero-trust: logs never omitted even on error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Product 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60120"/>
            <a:ext cx="2834640" cy="530352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20040" y="960120"/>
            <a:ext cx="2834640" cy="47548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11480" y="100584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✅ Phase 1 — Complete  (Q1 2026)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536192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Core platform: Auth + RBAC + Agent CRUD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157984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Azure OpenAI integration (GPT-5.4-mini + GPT-5.4-mini)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779776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RAG pipeline (FAISS + pgvector)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401568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Guardrails engine (PII + hallucination)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40233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Multi-agent orchestrator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4645152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Planning Architect (Prompt-to-Agent + ZIP export)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5266944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OpenTelemetry observability + Audit logs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82696" y="960120"/>
            <a:ext cx="2834640" cy="530352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282696" y="960120"/>
            <a:ext cx="2834640" cy="4754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374136" y="100584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🚀 Phase 2 — In Progress  (Q2–Q3 2026)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74136" y="1536192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Visual Workflow Builder (React Flow canvas)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74136" y="2157984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Agent Simulation &amp; Evaluation engine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74136" y="2779776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Voice Agent pipeline (Azure Speech STT/TTS)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74136" y="3401568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Safety policy configuration UI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74136" y="40233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Blueprints Marketplace (shared templates)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74136" y="4645152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Team/API keys · Custom Code production-readiness hardening (tests, CI/CD, migrations, auth, SSRF)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74136" y="5266944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Control Plane (live agent modification) + Local LLM support (LM Studio, per-agent)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45352" y="960120"/>
            <a:ext cx="2834640" cy="530352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245352" y="960120"/>
            <a:ext cx="2834640" cy="475488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36792" y="100584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🔮 Phase 3 — Planned  (Q4 2026)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6792" y="1536192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Multi-modal agents (image + document input)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36792" y="2157984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Agent-to-Agent collaboration (A2A protocol)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36792" y="2779776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Kubernetes Helm chart deployment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36792" y="3401568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SSO / Azure AD integration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36792" y="40233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Fine-tuning pipeline for domain adaptation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36792" y="4645152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Cost analytics per agent (token usage billing)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36792" y="5266944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Agent performance benchmarking dashboard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208008" y="960120"/>
            <a:ext cx="2834640" cy="530352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9208008" y="960120"/>
            <a:ext cx="2834640" cy="475488"/>
          </a:xfrm>
          <a:prstGeom prst="rect">
            <a:avLst/>
          </a:prstGeom>
          <a:solidFill>
            <a:srgbClr val="FDBA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299448" y="100584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💡 Phase 4 — Vision  (2027+)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99448" y="1536192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Autonomous agent self-improvement loop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99448" y="2157984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Cross-org agent marketplace with licensing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99448" y="2779776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Real-time multi-agent collaboration canvas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99448" y="3401568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Regulatory compliance packs (HIPAA, GDPR, SOC2)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99448" y="40233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Edge deployment (on-device agents)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99448" y="4645152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Federated learning for privacy-preserving training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99448" y="5266944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GenAI Operations (GenAIOps) full lifecycle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Enterprise Hardening Pass — What Changed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</a:rPr>
              <a:t>The Architect (Prompt-to-Agent) flow was taken from a working prototype to a production-grade generator through five focused workstreams — each independently designed, implemented, live-tested against real Azure OpenAI calls, and code-reviewed.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36192"/>
            <a:ext cx="73152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6EF5"/>
                </a:solidFill>
              </a:rPr>
              <a:t>🎯  Domain-Aware Generation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9202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Expanded from 2 hardcoded app types to 10 real domains (HR, Sales, Legal, Support, Marketing, Dev Tool, Analyst, Data, Chatbot, Custom) — each with its own enterprise-grade layout, labels, and 46 upgraded multi-agent prompts.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432304"/>
            <a:ext cx="73152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245059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6EF5"/>
                </a:solidFill>
              </a:rPr>
              <a:t>📊  Real Data, Not Fabricated Demos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16352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Sandbox previews and downloadable Custom Code now seed dashboards/tables from real uploaded sample data (CSV/Excel) instead of GPT-4o inventing plausible-looking numbers — verified exact-match against source files.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328415"/>
            <a:ext cx="73152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4360" y="3346703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6EF5"/>
                </a:solidFill>
              </a:rPr>
              <a:t>🗄️  Enterprise Layers 3–5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712463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Auto-generated PostgreSQL schema + migrations on first run · OpenTelemetry tracing on every LLM call · an AI-scored feedback loop that few-shots top-rated plans back into future generations.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224528"/>
            <a:ext cx="73152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360" y="4242816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6EF5"/>
                </a:solidFill>
              </a:rPr>
              <a:t>🔐  Real SSO Integration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608576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Azure AD / Entra ID keyword-detected from the plan → genuine JWT-validation middleware (JWKS, aud/iss/exp checks) + real MSAL frontend login in the Custom Code ZIP, gated by an SSO_ENABLED toggle for local dev.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5120640"/>
            <a:ext cx="73152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94360" y="51389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6EF5"/>
                </a:solidFill>
              </a:rPr>
              <a:t>📁  Real File Upload Parsing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50468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Sandbox: real client-side CSV/XLSX parsing (no fake success toasts). Custom Code backend: real PDF (PyPDF2) and DOCX (python-docx) extraction, closing a gap where both libraries were required but never used.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Domain-Aware Generation Across 10 Categories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2194560" cy="5029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91440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General</a:t>
            </a:r>
          </a:p>
        </p:txBody>
      </p:sp>
      <p:sp>
        <p:nvSpPr>
          <p:cNvPr id="7" name="Rectangle 6"/>
          <p:cNvSpPr/>
          <p:nvPr/>
        </p:nvSpPr>
        <p:spPr>
          <a:xfrm>
            <a:off x="2651760" y="914400"/>
            <a:ext cx="2194560" cy="5029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651760" y="91440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Marketing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4937760" y="914400"/>
            <a:ext cx="2194560" cy="5029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937760" y="91440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Sales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23760" y="914400"/>
            <a:ext cx="2194560" cy="5029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223760" y="91440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Legal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509760" y="914400"/>
            <a:ext cx="2194560" cy="5029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509760" y="91440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HR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1508760"/>
            <a:ext cx="2194560" cy="502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5760" y="150876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Support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51760" y="1508760"/>
            <a:ext cx="2194560" cy="502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651760" y="150876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Productivity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37760" y="1508760"/>
            <a:ext cx="2194560" cy="502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937760" y="150876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Development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23760" y="1508760"/>
            <a:ext cx="2194560" cy="502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223760" y="150876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Analysts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509760" y="1508760"/>
            <a:ext cx="2194560" cy="502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509760" y="150876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Data &amp; Analysis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224028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Each domain gets its own enterprise-standard layout (correct sidebar labels, KPI tiles, charts) instead of a generic one-size-fits-all template — 46 Prompt Library prompts upgraded to multi-agent specs with a matching realistic sample data file per prompt.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30175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59E0B"/>
                </a:solidFill>
              </a:rPr>
              <a:t>Before → After: Real Data Seeding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429000"/>
            <a:ext cx="5577840" cy="26517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365760" y="3429000"/>
            <a:ext cx="5577840" cy="41148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02920" y="34747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❌ Before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3977639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"Contracts in Review: 128" — a fabricated round number,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4480559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unrelated to the real uploaded contract data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4983479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"Outlook Reminders Sent: 12" — invented for every render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54864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Same issue in the Custom Code ZIP's seed data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72200" y="3429000"/>
            <a:ext cx="5577840" cy="26517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172200" y="3429000"/>
            <a:ext cx="5577840" cy="4114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309360" y="34747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✅ After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9360" y="3977639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"Contracts in Review: 4" · "High Risk: 3" — verified exact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9360" y="4480559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match against the real 10-row sample CSV's actual counts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983479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"Total contract value: $9,579,000" — sum of real value_usd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54864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column, byte-for-byte traceable to the uploaded file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</a:rPr>
              <a:t>Enterprise Layers 3–5: DB · Observability · AI Reinforcement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005840"/>
            <a:ext cx="3703320" cy="42062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20040" y="1005840"/>
            <a:ext cx="3703320" cy="5029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🗄️  Layer 3 — DB Auto-Setup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9164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Domain-specific PostgreSQL schema (db/init.sql)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58568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auto-generated for each of the 10 app domains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25496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Idempotent run_migrations.py runs on first backend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392424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startup — no manual DB scripting required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97096" y="1005840"/>
            <a:ext cx="3703320" cy="42062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197096" y="1005840"/>
            <a:ext cx="3703320" cy="502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34256" y="10972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📡  Layer 4 — OpenTelemetry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4256" y="169164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Every LLM call (KB extraction, UI generation,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34256" y="2258568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frontend/backend generation) wrapped in a real span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34256" y="2825496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telemetry.py + docker-compose.jaeger.yml auto-injected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34256" y="3392424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into every downloaded Custom Code ZIP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74152" y="1005840"/>
            <a:ext cx="3703320" cy="42062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074152" y="1005840"/>
            <a:ext cx="3703320" cy="5029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11312" y="10972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🔁  Layer 5 — AI Reinforcement Loop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11312" y="169164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👍 / 👎 feedback widget on every generated plan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11312" y="2258568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GPT-4o self-scores plans across 5 quality dimensions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1312" y="2825496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Top-rated plans few-shot-injected into future generation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11312" y="3392424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prompts — the system improves from its own best output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544068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All three layers were verified live: real docker-compose migrations, real span data visible in a tracing backend, and a real thumbs-up → /feedback → /feedback/top → few-shot round-trip.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</a:rPr>
              <a:t>Real SSO Integration &amp; Real File Upload Parsing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60120"/>
            <a:ext cx="5577840" cy="5120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20040" y="960120"/>
            <a:ext cx="5577840" cy="45720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02412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🔐 Real SSO Integration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08760"/>
            <a:ext cx="5349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BD5E1"/>
                </a:solidFill>
              </a:rPr>
              <a:t>Plan answers like "Internal enterprise app with SSO" used to
only affect descriptive text — zero real auth code was generated
Now: keyword-detected from the plan summary (same pattern as
domain detection) → triggers a real backend + frontend scaffold:
• backend/app/auth/sso.py — real JWT validation via Azure AD's
  JWKS endpoint, checks aud/iss/exp, python-jose
• src/auth/msalConfig.ts + useAuth.ts — real @azure/msal-browser
  login flow, attaches real Bearer tokens to API calls
• SSO_ENABLED=false by default — app still runs locally without
  a real Azure AD tenant; flip to true once configured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79" y="960120"/>
            <a:ext cx="5577840" cy="5120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126479" y="960120"/>
            <a:ext cx="5577840" cy="4572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63639" y="102412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📁 Real File Upload Parsing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39" y="1508760"/>
            <a:ext cx="5349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BD5E1"/>
                </a:solidFill>
              </a:rPr>
              <a:t>Upload buttons in both the sandbox and downloaded backend were
decorative — a canned success toast regardless of what was picked
Now — Sandbox (client-side, no backend):
• Real &lt;input type="file"&gt; + FileReader + the already-loaded
  SheetJS library — genuine CSV/XLSX parsing, real row preview
Now — Custom Code backend (real Python):
• PyPDF2 for real PDF text extraction, python-docx for real DOCX
• Forbids the "decode raw bytes as UTF-8" anti-pattern found
  live in a custom-named ingest endpoint — would have corrupted
  any real PDF/DOCX upload into garbage text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</a:rPr>
              <a:t>Hardening ROI — Risk &amp; Rework Avoided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60120"/>
            <a:ext cx="3703320" cy="2514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069848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06EF5"/>
                </a:solidFill>
              </a:rPr>
              <a:t>🎭 Demo Credibility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46304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03911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Fabricated → real dashboard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350008"/>
            <a:ext cx="3474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Client-facing demos now show numbers traceable to real uploaded data, eliminating a
credibility risk when a stakeholder cross-checks a KPI against source data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960120"/>
            <a:ext cx="3703320" cy="2514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34840" y="1069848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</a:rPr>
              <a:t>🔓 Security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146304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0→1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03911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SSO answer → real auth 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2350008"/>
            <a:ext cx="3474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Closes a real gap where an "Enterprise app with SSO" answer previously shipped zero
authentication code — a downloaded project would have been deployed wide open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960120"/>
            <a:ext cx="3703320" cy="2514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66760" y="1069848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C2626"/>
                </a:solidFill>
              </a:rPr>
              <a:t>📉 Data-Corruption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146304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100%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203911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PDF/DOCX handling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0008"/>
            <a:ext cx="3474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Forbids a found anti-pattern (raw UTF-8 decode on binary files) that would silently
corrupt any real PDF/DOCX contract, resume, or document a user actually uploads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657600"/>
            <a:ext cx="3703320" cy="2514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02920" y="3767328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55F7"/>
                </a:solidFill>
              </a:rPr>
              <a:t>🧪 Escaped Defects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16052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73659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Found via live testing, not assumed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047488"/>
            <a:ext cx="3474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Nine real bugs (session pollution, stale feedback state, false-positive SSO detection,
env-file clobbering, and more) caught by regenerating real apps end-to-end, not just code review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97680" y="3657600"/>
            <a:ext cx="3703320" cy="2514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434840" y="3767328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</a:rPr>
              <a:t>🌐 Domain Coverage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16052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5×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473659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2 hardcoded types → 10 real domains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5047488"/>
            <a:ext cx="3474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Every Prompt Library category now gets a correct, enterprise-appropriate layout instead
of a generic template mismatched to the actual business domain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0" y="3657600"/>
            <a:ext cx="3703320" cy="2514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366760" y="3767328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9B2"/>
                </a:solidFill>
              </a:rPr>
              <a:t>🔁 Continuous Improvement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66760" y="416052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∞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473659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Manual tuning → self-scoring loop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66760" y="5047488"/>
            <a:ext cx="3474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The AI reinforcement loop means generation quality compounds over time from real
usage feedback, instead of staying frozen at whatever quality shipped on day one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Visual Workflow Builder — Conditional Logic, Routing &amp; Integrations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4124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</a:rPr>
              <a:t>A real decision-making execution engine — not just a flowchart. Every branch below genuinely changes which nodes run, verified against live Azure OpenAI runs.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371600"/>
            <a:ext cx="5623560" cy="12070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84632" y="1508760"/>
            <a:ext cx="5349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❓  Condition Nodes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" y="1901952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Rule (e.g. "days &lt;= 2") evaluated safely via simpleeval — never Python's eval() — against variables an LLM extracts from the running text. Only the matching true/false branch executes; the other is fully skipped, including convergent downstream nodes.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79" y="1371600"/>
            <a:ext cx="5623560" cy="12070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91071" y="1508760"/>
            <a:ext cx="5349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🔀  Router Nodes — Real Branching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91071" y="1901952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A router's LLM decision is classified against its labeled outgoing edges (e.g. "Fast"/"Deep") and only ONE branch runs — replacing the previous behavior where every downstream node executed regardless of the routing decision.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670048"/>
            <a:ext cx="5623560" cy="12070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84632" y="2807208"/>
            <a:ext cx="5349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✉️  Human-in-the-Loop Approval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" y="3200400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An approval node genuinely pauses the pipeline, sends a real email via SMTP, and exposes a dedicated /approvals/{run_id} page where a reviewer can Approve or Reject — resuming execution from exactly where it paused.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79" y="2670048"/>
            <a:ext cx="5623560" cy="12070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91071" y="2807208"/>
            <a:ext cx="5349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🌐  HTTP Request Node — Outbound API Calls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91071" y="3200400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New node type: configurable method (GET/POST/PUT/PATCH/DELETE), URL, JSON headers and body, with a {{input}} placeholder to inject the previous node's output — giving workflows real external-API integration for the first time.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3968496"/>
            <a:ext cx="5623560" cy="12070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84632" y="4105656"/>
            <a:ext cx="5349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🐍  Faithful Python Export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" y="4498848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"Export Code" now generates a script that ports the exact same topological sort, condition/approval/router/http_request logic as the live engine — not a flat linear stub — plus an optional --openai flag to run it against a real LLM.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79" y="3968496"/>
            <a:ext cx="5623560" cy="12070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291071" y="4105656"/>
            <a:ext cx="5349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📄  Export / Import JSON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91071" y="4498848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A lossless, round-trippable workflow backup format — separate from the one-way Python export — with a genuine "browse and load" file picker to restore a canvas exactly as it was, verified after a full wipe-and-reload cycle.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5266944"/>
            <a:ext cx="5623560" cy="12070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84632" y="5404104"/>
            <a:ext cx="5349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📊  Workflow Runs — Approval Tracking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" y="5797296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The observability dashboard now surfaces an "Awaiting Approval" count and a direct "Review →" link on paused runs — closing a gap where there was previously no in-app path to the approval screen at all.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26479" y="5266944"/>
            <a:ext cx="5623560" cy="12070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291071" y="5404104"/>
            <a:ext cx="5349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🎨  Execution-State Visualization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91071" y="5797296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Nodes now genuinely pulse amber while running and turn green on completion — the color-coding logic existed in code but was never actually wired to canvas-created nodes until this pass; idle edges are blue, executed edges turn green.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</a:rPr>
              <a:t>Known Limitations &amp; Next Hardening Targets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</a:rPr>
              <a:t>Shipping fast means shipping honestly. These are confirmed, currently-open gaps — not hypothetical risks — found and verified during this build cycle.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36192"/>
            <a:ext cx="73152" cy="8046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F59E0B"/>
                </a:solidFill>
              </a:rPr>
              <a:t>🔧  Agent Studio Tools Are Not Wired to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920240"/>
            <a:ext cx="11064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BD5E1"/>
                </a:solidFill>
              </a:rPr>
              <a:t>The tool checkboxes on an Agent (Slack, GitHub, Jira, Google Drive, web search, calculator) are saved to the database but never read at runtime — checking a box today has zero effect. No LLM function/tool-calling is implemented anywhere in the platform yet.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432304"/>
            <a:ext cx="73152" cy="8046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245059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10B981"/>
                </a:solidFill>
              </a:rPr>
              <a:t>✅  RESOLVED — HTTP Request Node Now Has SSRF Guardrails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16352"/>
            <a:ext cx="11064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BD5E1"/>
                </a:solidFill>
              </a:rPr>
              <a:t>_assert_ssrf_safe_url() now resolves the target hostname and blocks private/loopback/link-local/reserved/multicast IPs and the 169.254.169.254 cloud metadata endpoint before any outbound call fires — closing the gap flagged in the previous review cycle.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328415"/>
            <a:ext cx="73152" cy="8046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4360" y="3346703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F59E0B"/>
                </a:solidFill>
              </a:rPr>
              <a:t>⏰  JWT Sessions Expire Without Silent Refresh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712463"/>
            <a:ext cx="11064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BD5E1"/>
                </a:solidFill>
              </a:rPr>
              <a:t>The 8-hour token lifetime has no refresh flow — long sessions eventually fail with a raw "Invalid token" error on any authenticated action until the user logs in again. A refresh-token flow would remove this rough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224528"/>
            <a:ext cx="73152" cy="8046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360" y="4242816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10B981"/>
                </a:solidFill>
              </a:rPr>
              <a:t>✅  RESOLVED — Alembic Is Now Wired Into Every Generated Project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608576"/>
            <a:ext cx="11064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BD5E1"/>
                </a:solidFill>
              </a:rPr>
              <a:t>Every downloaded project now scaffolds a real async-aware Alembic setup (alembic.ini, env.py, script.py.mako) instead of the ad-hoc ALTER TABLE fixes hit live last cycle — schema changes are tracked, not improvised.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5120640"/>
            <a:ext cx="73152" cy="8046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94360" y="51389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F59E0B"/>
                </a:solidFill>
              </a:rPr>
              <a:t>🧭  Exported Python Uses Canvas Order as a Tiebreaker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504688"/>
            <a:ext cx="11064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BD5E1"/>
                </a:solidFill>
              </a:rPr>
              <a:t>The topological sort ported into Export Code is correct for the graphs tested, but canvas creation order (not a formal secondary sort key) breaks ties — fine in practice, but worth a closer look for pathological or cyclic graphs.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Latest Platform Updates — Local LLM &amp; Model Flexibility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</a:rPr>
              <a:t>This pass added genuine local-model support end-to-end — architecture, agent config, and Playground UX — verified live against a running LM Studio server, not just unit tests.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36192"/>
            <a:ext cx="73152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6EF5"/>
                </a:solidFill>
              </a:rPr>
              <a:t>🖥️  Per-Feature LLM Override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9202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Architect and Visual Builder can each run on Azure OpenAI or a local LM Studio model (ARCHITECT_LLM_PROVIDER / BUILDER_LLM_PROVIDER) — zero code changes, just env config.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432304"/>
            <a:ext cx="73152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245059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6EF5"/>
                </a:solidFill>
              </a:rPr>
              <a:t>🔀  Real Per-Agent Model Choice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16352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Agent Studio's model dropdown now offers a genuine “Local Model” vs “Azure GPT-5.4-mini” choice per agent — replacing two fake labels the orchestrator silently ignored.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328415"/>
            <a:ext cx="73152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4360" y="3346703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6EF5"/>
                </a:solidFill>
              </a:rPr>
              <a:t>✨  AI-Suggested Example Input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712463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Playground's new “Suggest” button generates a realistic example message tailored to an agent's own system prompt and tools — no more guessing what to type first.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224528"/>
            <a:ext cx="73152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360" y="4242816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6EF5"/>
                </a:solidFill>
              </a:rPr>
              <a:t>🩺  Accurate Model Display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608576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A new /active-model endpoint reflects the model an agent actually runs on, fixing a bug where Playground always showed a hardcoded “GPT-4o” label regardless of provider.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5120640"/>
            <a:ext cx="73152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94360" y="51389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6EF5"/>
                </a:solidFill>
              </a:rPr>
              <a:t>🔧  Five LM Studio Bugs Fixed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50468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Blocking event loop, a race condition between auto-suggest and Run, system-role rejection by Mistral's chat template, unstructured JSON output, and an infinite question loop.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</a:rPr>
              <a:t>Production-Readiness Hardening — Custom Code Export ROI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60120"/>
            <a:ext cx="3703320" cy="2514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069848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06EF5"/>
                </a:solidFill>
              </a:rPr>
              <a:t>🧪 Test Coverage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46304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03911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Zero tests → auto-scaffolded suite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350008"/>
            <a:ext cx="3474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Every generated project now ships pytest + conftest + smoke tests automatically — previously zero test files were generated at all.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960120"/>
            <a:ext cx="3703320" cy="2514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34840" y="1069848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</a:rPr>
              <a:t>🚀 CI/CD Pipeline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146304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0→1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03911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GitHub Actions guaranteed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2350008"/>
            <a:ext cx="3474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A working ci.yml is now guaranteed in every downloaded ZIP, replacing a total absence of any CI/CD configuration in the prior generator.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960120"/>
            <a:ext cx="3703320" cy="2514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66760" y="1069848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C2626"/>
                </a:solidFill>
              </a:rPr>
              <a:t>🗄️ Real Migrations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146304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NEW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203911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Ad-hoc → tracked Alembic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0008"/>
            <a:ext cx="3474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Replaces the manual ALTER TABLE fixes hit live last cycle with a real, tracked Alembic setup wired into every generated backend.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657600"/>
            <a:ext cx="3703320" cy="2514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02920" y="3767328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55F7"/>
                </a:solidFill>
              </a:rPr>
              <a:t>🔐 Auth &amp; Security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16052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+4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73659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4/10→8/10 · rate limit + SSRF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047488"/>
            <a:ext cx="3474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Default JWT auth (bcrypt + python-jose) when SSO isn't requested, slowapi rate limiting, and an SSRF guard on every outbound HTTP call.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97680" y="3657600"/>
            <a:ext cx="3703320" cy="2514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434840" y="3767328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</a:rPr>
              <a:t>📡 Observability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16052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+2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473659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6/10→8/10 · OTel now actually runs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5047488"/>
            <a:ext cx="3474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Telemetry setup was generated but never called in the prior version; default exporter switched from silently-no-op Jaeger to zero-config console.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0" y="3657600"/>
            <a:ext cx="3703320" cy="2514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366760" y="3767328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9B2"/>
                </a:solidFill>
              </a:rPr>
              <a:t>🛡️ Resilience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66760" y="416052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+2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473659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6/10→8/10 · retry + global handler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66760" y="5047488"/>
            <a:ext cx="3474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A startup DB connection retry loop and a global exception handler replace unhandled crashes on transient Postgres downtime.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Custom Code Export — Feature &amp; Production-Readiness Score Journey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dirty="0">
                <a:solidFill>
                  <a:srgbClr val="CBD5E1"/>
                </a:solidFill>
              </a:rPr>
              <a:t>The Custom Code download is Architect's bespoke React + FastAPI export — this section covers what it is and how its production-readiness score moved from 55 to 89 out of 100 across four focused hardening passes this cycle.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36192"/>
            <a:ext cx="73152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6EF5"/>
                </a:solidFill>
              </a:rPr>
              <a:t>📦  Custom Code Export, Explained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9202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dirty="0">
                <a:solidFill>
                  <a:srgbClr val="CBD5E1"/>
                </a:solidFill>
              </a:rPr>
              <a:t>One-click download of a bespoke React + FastAPI app generated from your agent plan — distinct from the RAG Scaffold, tailored to your exact use case.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432304"/>
            <a:ext cx="73152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2450592"/>
            <a:ext cx="10972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606EF5"/>
                </a:solidFill>
              </a:rPr>
              <a:t>1️⃣  Baseline Audit — 55/100</a:t>
            </a:r>
            <a:r>
              <a:rPr lang="en-US" sz="1400" b="1" dirty="0">
                <a:solidFill>
                  <a:srgbClr val="606EF5"/>
                </a:solidFill>
              </a:rPr>
              <a:t> to 89/100</a:t>
            </a:r>
            <a:endParaRPr sz="1400" b="1" dirty="0">
              <a:solidFill>
                <a:srgbClr val="606EF5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94360" y="2816352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Initial production-readiness score: no default authentication, zero tests, no CI/CD pipeline, no real database migrations, and weak observability/resilience wiring.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328415"/>
            <a:ext cx="73152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4360" y="3346703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6EF5"/>
                </a:solidFill>
              </a:rPr>
              <a:t>2️⃣  Tests, CI/CD &amp; Migrations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712463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Auto-scaffolded pytest suite, a guaranteed GitHub Actions ci.yml, and a real async-aware Alembic setup closed the three biggest structural gaps.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224528"/>
            <a:ext cx="73152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360" y="4242816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6EF5"/>
                </a:solidFill>
              </a:rPr>
              <a:t>3️⃣  Auth &amp; Security Hardening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608576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Default JWT auth (bcrypt + python-jose) when SSO isn't requested, slowapi rate limiting, and an SSRF guard on outbound HTTP calls closed the remaining security gap.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5120640"/>
            <a:ext cx="73152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94360" y="51389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6EF5"/>
                </a:solidFill>
              </a:rPr>
              <a:t>4️⃣  Observability &amp; Resilience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50468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Guaranteed OpenTelemetry wiring plus a startup DB retry loop and global exception handler pushed both dimensions from 6/10 to 8/10, reaching today's 89/100 score.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dirty="0">
                <a:solidFill>
                  <a:srgbClr val="FFFFFF"/>
                </a:solidFill>
              </a:rPr>
              <a:t>RAG Template Code — Topic-Wise Production-Readiness Score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852" y="475488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dirty="0">
                <a:solidFill>
                  <a:srgbClr val="CBD5E1"/>
                </a:solidFill>
              </a:rPr>
              <a:t>Overall score moved from 78/100 to 88/100 this pass — Docker Compose support closed the last zero-scoring gap, bringing RAG parity with Custom Code Export (88/100).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42416"/>
            <a:ext cx="3703320" cy="2514600"/>
          </a:xfrm>
          <a:prstGeom prst="rect">
            <a:avLst/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152144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A855F7"/>
                </a:solidFill>
              </a:rPr>
              <a:t>🔐 Auth / SSO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545336"/>
            <a:ext cx="14630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14/15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121408"/>
            <a:ext cx="3474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0B981"/>
                </a:solidFill>
              </a:rPr>
              <a:t>Entra ID JWKS + JWT fallback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432304"/>
            <a:ext cx="3474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CBD5E1"/>
                </a:solidFill>
              </a:rPr>
              <a:t>Real Azure AD SSO when requested, default JWT (bcrypt + python-jose) otherwise. No change this pass.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1042416"/>
            <a:ext cx="3703320" cy="2514600"/>
          </a:xfrm>
          <a:prstGeom prst="rect">
            <a:avLst/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34840" y="1152144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59E0B"/>
                </a:solidFill>
              </a:rPr>
              <a:t>🚦 Rate Limiting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1545336"/>
            <a:ext cx="14630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10/10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2121408"/>
            <a:ext cx="3474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0B981"/>
                </a:solidFill>
              </a:rPr>
              <a:t>slowapi · 100 req/min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432304"/>
            <a:ext cx="3474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CBD5E1"/>
                </a:solidFill>
              </a:rPr>
              <a:t>Per-client rate limiting wired into main.py with a proper 429 exception handler. No change this pass.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1042416"/>
            <a:ext cx="3703320" cy="2514600"/>
          </a:xfrm>
          <a:prstGeom prst="rect">
            <a:avLst/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66760" y="1152144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0B981"/>
                </a:solidFill>
              </a:rPr>
              <a:t>🐳 Docker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1545336"/>
            <a:ext cx="14630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10/10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121408"/>
            <a:ext cx="3474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0B981"/>
                </a:solidFill>
              </a:rPr>
              <a:t>0→10 · compose + 2 Dockerfiles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432304"/>
            <a:ext cx="3474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CBD5E1"/>
                </a:solidFill>
              </a:rPr>
              <a:t>docker-compose.yml (backend+frontend, no DB — RAG stays stateless FAISS) plus backend/frontend Dockerfiles now ship in every ZIP.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739896"/>
            <a:ext cx="3703320" cy="2514600"/>
          </a:xfrm>
          <a:prstGeom prst="rect">
            <a:avLst/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02920" y="3849624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DC2626"/>
                </a:solidFill>
              </a:rPr>
              <a:t>🛡️ Resilience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242816"/>
            <a:ext cx="14630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3/10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818888"/>
            <a:ext cx="3474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0B981"/>
                </a:solidFill>
              </a:rPr>
              <a:t>Still missing retry/backoff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129784"/>
            <a:ext cx="3474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CBD5E1"/>
                </a:solidFill>
              </a:rPr>
              <a:t>Azure OpenAI calls in rag.py have no retry wrapper yet — the one remaining gap versus Custom Code's _call_with_retry pattern.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97680" y="3739896"/>
            <a:ext cx="3703320" cy="2514600"/>
          </a:xfrm>
          <a:prstGeom prst="rect">
            <a:avLst/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434840" y="3849624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E79B2"/>
                </a:solidFill>
              </a:rPr>
              <a:t>🧪 Tests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4242816"/>
            <a:ext cx="14630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6/15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4818888"/>
            <a:ext cx="3474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0B981"/>
                </a:solidFill>
              </a:rPr>
              <a:t>4 files · smoke-level only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34840" y="5129784"/>
            <a:ext cx="3474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CBD5E1"/>
                </a:solidFill>
              </a:rPr>
              <a:t>conftest + test_chat/test_documents/test_smoke cover the happy path; no edge-case or failure-mode coverage yet.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0" y="3739896"/>
            <a:ext cx="3703320" cy="2514600"/>
          </a:xfrm>
          <a:prstGeom prst="rect">
            <a:avLst/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366760" y="3849624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606EF5"/>
                </a:solidFill>
              </a:rPr>
              <a:t>🚀 CI/CD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4242816"/>
            <a:ext cx="14630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9/10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66760" y="4818888"/>
            <a:ext cx="3474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0B981"/>
                </a:solidFill>
              </a:rPr>
              <a:t>2-job GitHub Actions pipeline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66760" y="5129784"/>
            <a:ext cx="3474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CBD5E1"/>
                </a:solidFill>
              </a:rPr>
              <a:t>Backend pytest job + frontend npm run build job, guaranteed in every downloaded ZIP.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BD5E1"/>
                </a:solidFill>
              </a:rPr>
              <a:t>28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</a:rPr>
              <a:t>RAG Template Code — Production-Readiness Score Journey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BD5E1"/>
                </a:solidFill>
              </a:rPr>
              <a:t>The RAG Scaffold download is Architect's zero-LLM-call, instantly-generated FAISS + Azure OpenAI app — this section covers how its production-readiness score moved from 78 to 88 out of 100 while keeping that instant-delivery value prop intact.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36192"/>
            <a:ext cx="73152" cy="777240"/>
          </a:xfrm>
          <a:prstGeom prst="rect">
            <a:avLst/>
          </a:prstGeom>
          <a:solidFill>
            <a:srgbClr val="606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5544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FFFFFF"/>
                </a:solidFill>
              </a:rPr>
              <a:t>📦  RAG Scaffold, Explained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9202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 dirty="0">
                <a:solidFill>
                  <a:srgbClr val="CBD5E1"/>
                </a:solidFill>
              </a:rPr>
              <a:t>A fully client-side generated React + FastAPI + FAISS app — hardcoded boilerplate, not an LLM call, so delivery stays instant.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432304"/>
            <a:ext cx="73152" cy="7772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2450592"/>
            <a:ext cx="2667718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 dirty="0">
                <a:solidFill>
                  <a:srgbClr val="FFFFFF"/>
                </a:solidFill>
              </a:rPr>
              <a:t>1️⃣  Baseline Audit </a:t>
            </a:r>
            <a:r>
              <a:rPr sz="1600" b="1">
                <a:solidFill>
                  <a:srgbClr val="FFFFFF"/>
                </a:solidFill>
              </a:rPr>
              <a:t>— 78/100</a:t>
            </a:r>
            <a:endParaRPr sz="1600" b="1" dirty="0">
              <a:solidFill>
                <a:srgbClr val="FFFFFF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94360" y="2816352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 dirty="0">
                <a:solidFill>
                  <a:srgbClr val="CBD5E1"/>
                </a:solidFill>
              </a:rPr>
              <a:t>Auth, rate limiting, telemetry, tests and CI were already in place from prior hardening passes; Docker support and LLM-call retry/backoff were the two gaps identified.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328415"/>
            <a:ext cx="73152" cy="7772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4360" y="3346703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FFFFFF"/>
                </a:solidFill>
              </a:rPr>
              <a:t>2️⃣  Docker Compose Added — 0/10 → 10/10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712463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CBD5E1"/>
                </a:solidFill>
              </a:rPr>
              <a:t>docker-compose.yml (backend + frontend, no DB service — RAG intentionally stays stateless) plus backend/frontend Dockerfiles now ship in buildRagScaffoldZip(), and the generated README documents both the Docker and manual quick-start paths.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224528"/>
            <a:ext cx="73152" cy="777240"/>
          </a:xfrm>
          <a:prstGeom prst="rect">
            <a:avLst/>
          </a:prstGeom>
          <a:solidFill>
            <a:srgbClr val="0E79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360" y="4242816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FFFFFF"/>
                </a:solidFill>
              </a:rPr>
              <a:t>3️⃣  Result — 88/100, Parity With Custom Code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608576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CBD5E1"/>
                </a:solidFill>
              </a:rPr>
              <a:t>Closing the Docker gap alone lifted the score 10 points, bringing the RAG Scaffold to the same overall score as the Custom Code Export (88/100).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5120640"/>
            <a:ext cx="73152" cy="77724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94360" y="51389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FFFFFF"/>
                </a:solidFill>
              </a:rPr>
              <a:t>4️⃣  Remaining Gap — Resilience (3/10)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50468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CBD5E1"/>
                </a:solidFill>
              </a:rPr>
              <a:t>No retry/backoff wrapper yet around the Azure OpenAI calls in rag.py — the next highest-value hardening target for this template.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BD5E1"/>
                </a:solidFill>
              </a:rPr>
              <a:t>29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</a:rPr>
              <a:t>Architect → Published Projects — Publish Workflow Fixed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BD5E1"/>
                </a:solidFill>
              </a:rPr>
              <a:t>Projects generated in Architect now reliably reach the org-wide Published Projects page — closing a silent-failure gap where publishing appeared to do nothing.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36192"/>
            <a:ext cx="73152" cy="77724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5544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FFFFFF"/>
                </a:solidFill>
              </a:rPr>
              <a:t>🐛  The 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9202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CBD5E1"/>
                </a:solidFill>
              </a:rPr>
              <a:t>Users reported "Not saving into Architect page to Published Projects" — publishing silently failed with no error shown, and the Delete button on Published Projects wasn't visible after a stale page load.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432304"/>
            <a:ext cx="73152" cy="777240"/>
          </a:xfrm>
          <a:prstGeom prst="rect">
            <a:avLst/>
          </a:prstGeom>
          <a:solidFill>
            <a:srgbClr val="606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2450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FFFFFF"/>
                </a:solidFill>
              </a:rPr>
              <a:t>1️⃣  Root Cause #1 — No Publish Action Existed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16352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CBD5E1"/>
                </a:solidFill>
              </a:rPr>
              <a:t>Architect had no UI path to publish a session at all. Added a "Publish" toolbar button that creates the project (if not already saved) and sets its visibility to published via /api/projects/{id}/visibility.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328415"/>
            <a:ext cx="73152" cy="7772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4360" y="3346703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FFFFFF"/>
                </a:solidFill>
              </a:rPr>
              <a:t>2️⃣  Root Cause #2 — Silent 401 on Expired JWT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712463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CBD5E1"/>
                </a:solidFill>
              </a:rPr>
              <a:t>An expired session token made every /api/projects call fail with a silent 401 that calling code caught and ignored. Added an axios response interceptor that redirects to /login on a genuinely expired session, while tagging requests by token so a stale in-flight 401 can't trigger a false logout loop.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224528"/>
            <a:ext cx="73152" cy="7772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360" y="4242816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FFFFFF"/>
                </a:solidFill>
              </a:rPr>
              <a:t>3️⃣  Published Projects — Delete Button Added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608576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CBD5E1"/>
                </a:solidFill>
              </a:rPr>
              <a:t>PublishedProjects.tsx now lists real published projects with an "Open in Architect" action and a Delete (✕) button — owner-only removal with a confirm prompt, refreshing the list on success.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5120640"/>
            <a:ext cx="73152" cy="777240"/>
          </a:xfrm>
          <a:prstGeom prst="rect">
            <a:avLst/>
          </a:prstGeom>
          <a:solidFill>
            <a:srgbClr val="0E79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94360" y="51389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FFFFFF"/>
                </a:solidFill>
              </a:rPr>
              <a:t>4️⃣  Verified End-to-End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50468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CBD5E1"/>
                </a:solidFill>
              </a:rPr>
              <a:t>Live-tested: publish a session from Architect → confirm it appears in Published Projects → confirm Delete removes it. Test-data pollution from pytest runs (projtest_*@example.com users and duplicate seed rows) was also cleaned from the dev database.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BD5E1"/>
                </a:solidFill>
              </a:rPr>
              <a:t>30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825" cy="45720"/>
          </a:xfrm>
          <a:prstGeom prst="rect">
            <a:avLst/>
          </a:prstGeom>
          <a:solidFill>
            <a:srgbClr val="606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How To Use: Visual Builder — Templates &amp; Auto-Build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31752" y="649224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BD5E1"/>
                </a:solidFill>
              </a:rPr>
              <a:t>32</a:t>
            </a:r>
          </a:p>
        </p:txBody>
      </p:sp>
      <p:pic>
        <p:nvPicPr>
          <p:cNvPr id="6" name="Picture 5" descr="02_builder_templ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5486400" cy="3086100"/>
          </a:xfrm>
          <a:prstGeom prst="rect">
            <a:avLst/>
          </a:prstGeom>
          <a:ln w="12700">
            <a:solidFill>
              <a:srgbClr val="334155"/>
            </a:solidFill>
          </a:ln>
        </p:spPr>
      </p:pic>
      <p:pic>
        <p:nvPicPr>
          <p:cNvPr id="7" name="Picture 6" descr="03_builder_autobui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051560"/>
            <a:ext cx="5486400" cy="3086100"/>
          </a:xfrm>
          <a:prstGeom prst="rect">
            <a:avLst/>
          </a:prstGeom>
          <a:ln w="12700">
            <a:solidFill>
              <a:srgbClr val="334155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57200" y="544068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CBD5E1"/>
                </a:solidFill>
              </a:rPr>
              <a:t>① Templates — pick from 40+ ready-made multi-agent pipelines across 10 categories (Architecture, Sales &amp; Marketing, Customer Support, and more) and load one straight onto the canvas.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CBD5E1"/>
                </a:solidFill>
              </a:rPr>
              <a:t>② Auto-Build — describe your pipeline in plain English (“A customer support pipeline that classifies queries, routes to the right responder...”) and GPT-5.4-mini generates a 3–6 role-typed node graph automatically.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825" cy="45720"/>
          </a:xfrm>
          <a:prstGeom prst="rect">
            <a:avLst/>
          </a:prstGeom>
          <a:solidFill>
            <a:srgbClr val="606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How To Use: Visual Builder — Configure, Export &amp; Import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31752" y="649224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BD5E1"/>
                </a:solidFill>
              </a:rPr>
              <a:t>33</a:t>
            </a:r>
          </a:p>
        </p:txBody>
      </p:sp>
      <p:pic>
        <p:nvPicPr>
          <p:cNvPr id="6" name="Picture 5" descr="04_builder_agent_con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5486400" cy="3086100"/>
          </a:xfrm>
          <a:prstGeom prst="rect">
            <a:avLst/>
          </a:prstGeom>
          <a:ln w="12700">
            <a:solidFill>
              <a:srgbClr val="334155"/>
            </a:solidFill>
          </a:ln>
        </p:spPr>
      </p:pic>
      <p:pic>
        <p:nvPicPr>
          <p:cNvPr id="7" name="Picture 6" descr="05_builder_export_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051560"/>
            <a:ext cx="5486400" cy="3086100"/>
          </a:xfrm>
          <a:prstGeom prst="rect">
            <a:avLst/>
          </a:prstGeom>
          <a:ln w="12700">
            <a:solidFill>
              <a:srgbClr val="334155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57200" y="544068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CBD5E1"/>
                </a:solidFill>
              </a:rPr>
              <a:t>① Configure — click any node to set its Role, System Prompt, Model (Local Model or Azure GPT-5.4-mini, per agent), Tools, and always-on Guardrails, then Save Agent.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CBD5E1"/>
                </a:solidFill>
              </a:rPr>
              <a:t>② Export / Import — Export Code generates a faithful Python script with the same execution logic as the live engine; Export JSON / Import JSON give a lossless, round-trippable workflow backup.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825" cy="45720"/>
          </a:xfrm>
          <a:prstGeom prst="rect">
            <a:avLst/>
          </a:prstGeom>
          <a:solidFill>
            <a:srgbClr val="606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How To Use: Visual Builder — Run &amp; Deploy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31752" y="649224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BD5E1"/>
                </a:solidFill>
              </a:rPr>
              <a:t>34</a:t>
            </a:r>
          </a:p>
        </p:txBody>
      </p:sp>
      <p:pic>
        <p:nvPicPr>
          <p:cNvPr id="6" name="Picture 5" descr="06_builder_run_di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1051560"/>
            <a:ext cx="6858000" cy="3857625"/>
          </a:xfrm>
          <a:prstGeom prst="rect">
            <a:avLst/>
          </a:prstGeom>
          <a:ln w="12700">
            <a:solidFill>
              <a:srgbClr val="334155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57200" y="544068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CBD5E1"/>
                </a:solidFill>
              </a:rPr>
              <a:t>① Run — click Run, and an AI-suggested realistic example input is generated automatically; edit it or keep it, then Execute &amp; Save Trace to watch each node pulse green while running and stay green when done.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CBD5E1"/>
                </a:solidFill>
              </a:rPr>
              <a:t>② Deploy — publish the workflow as a live, callable endpoint once you're happy with a run's trace in Workflow Runs / Observability.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825" cy="45720"/>
          </a:xfrm>
          <a:prstGeom prst="rect">
            <a:avLst/>
          </a:prstGeom>
          <a:solidFill>
            <a:srgbClr val="606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How To Use: Architect, Agent Studio &amp; Playground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31752" y="649224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BD5E1"/>
                </a:solidFill>
              </a:rPr>
              <a:t>35</a:t>
            </a:r>
          </a:p>
        </p:txBody>
      </p:sp>
      <p:pic>
        <p:nvPicPr>
          <p:cNvPr id="7" name="Picture 6" descr="08_agent_stud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051560"/>
            <a:ext cx="5486400" cy="3086100"/>
          </a:xfrm>
          <a:prstGeom prst="rect">
            <a:avLst/>
          </a:prstGeom>
          <a:ln w="12700">
            <a:solidFill>
              <a:srgbClr val="334155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57200" y="5440680"/>
            <a:ext cx="11247120" cy="6514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en-US" sz="1100" dirty="0">
                <a:solidFill>
                  <a:srgbClr val="CBD5E1"/>
                </a:solidFill>
              </a:rPr>
              <a:t>① Home — landing page with quick actions and recent activity; the fastest way back into any agent, project, or workflow you were last working on. </a:t>
            </a:r>
          </a:p>
          <a:p>
            <a:pPr>
              <a:spcAft>
                <a:spcPts val="400"/>
              </a:spcAft>
            </a:pPr>
            <a:r>
              <a:rPr sz="1100" dirty="0">
                <a:solidFill>
                  <a:srgbClr val="CBD5E1"/>
                </a:solidFill>
              </a:rPr>
              <a:t>② Agent Studio — every saved agent lives here: Edit, Test, Deploy, Publish, or ask it something directly. Playground gives each agent its own chat with a one-click “Suggest” example-input button.</a:t>
            </a:r>
          </a:p>
        </p:txBody>
      </p:sp>
      <p:pic>
        <p:nvPicPr>
          <p:cNvPr id="10" name="Picture 9" descr="11_home.png">
            <a:extLst>
              <a:ext uri="{FF2B5EF4-FFF2-40B4-BE49-F238E27FC236}">
                <a16:creationId xmlns:a16="http://schemas.microsoft.com/office/drawing/2014/main" id="{961B9171-039C-BA53-D873-0BDC693AF2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51560"/>
            <a:ext cx="5486400" cy="3086100"/>
          </a:xfrm>
          <a:prstGeom prst="rect">
            <a:avLst/>
          </a:prstGeom>
          <a:ln w="12700">
            <a:solidFill>
              <a:srgbClr val="334155"/>
            </a:solidFill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825" cy="45720"/>
          </a:xfrm>
          <a:prstGeom prst="rect">
            <a:avLst/>
          </a:prstGeom>
          <a:solidFill>
            <a:srgbClr val="606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How To Use: Playground — Test Any Agent 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31752" y="649224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BD5E1"/>
                </a:solidFill>
              </a:rPr>
              <a:t>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44068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CBD5E1"/>
                </a:solidFill>
              </a:rPr>
              <a:t>① Open any agent's Playground to see its System Prompt, Guardrails, Tools, and the exact Model it runs on (accurately resolved per agent — Local Model or Azure GPT-5.4-mini, not a stale label).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CBD5E1"/>
                </a:solidFill>
              </a:rPr>
              <a:t>② Click Suggest for an AI-generated realistic example message tailored to that agent, or type your own — then Send to test it live and watch Session Stats (Total Runs, Avg ms) update.</a:t>
            </a:r>
          </a:p>
        </p:txBody>
      </p:sp>
      <p:pic>
        <p:nvPicPr>
          <p:cNvPr id="8" name="Picture 7" descr="10_playground_sugg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1051560"/>
            <a:ext cx="6858000" cy="3857625"/>
          </a:xfrm>
          <a:prstGeom prst="rect">
            <a:avLst/>
          </a:prstGeom>
          <a:ln w="12700">
            <a:solidFill>
              <a:srgbClr val="334155"/>
            </a:solidFill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825" cy="45720"/>
          </a:xfrm>
          <a:prstGeom prst="rect">
            <a:avLst/>
          </a:prstGeom>
          <a:solidFill>
            <a:srgbClr val="606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dirty="0">
                <a:solidFill>
                  <a:srgbClr val="FFFFFF"/>
                </a:solidFill>
              </a:rPr>
              <a:t>How To Use: </a:t>
            </a:r>
            <a:r>
              <a:rPr lang="en-US" sz="2600" b="1" dirty="0">
                <a:solidFill>
                  <a:srgbClr val="FFFFFF"/>
                </a:solidFill>
              </a:rPr>
              <a:t>Architect</a:t>
            </a:r>
            <a:r>
              <a:rPr sz="2600" b="1" dirty="0">
                <a:solidFill>
                  <a:srgbClr val="FFFFFF"/>
                </a:solidFill>
              </a:rPr>
              <a:t> &amp; Prompt Library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31752" y="649224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BD5E1"/>
                </a:solidFill>
              </a:rPr>
              <a:t>37</a:t>
            </a:r>
          </a:p>
        </p:txBody>
      </p:sp>
      <p:pic>
        <p:nvPicPr>
          <p:cNvPr id="7" name="Picture 6" descr="12_prompt_libr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051560"/>
            <a:ext cx="5486400" cy="3086100"/>
          </a:xfrm>
          <a:prstGeom prst="rect">
            <a:avLst/>
          </a:prstGeom>
          <a:ln w="12700">
            <a:solidFill>
              <a:srgbClr val="334155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57200" y="5440680"/>
            <a:ext cx="11247120" cy="8720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en-US" sz="1100" dirty="0">
                <a:solidFill>
                  <a:srgbClr val="CBD5E1"/>
                </a:solidFill>
              </a:rPr>
              <a:t>① Architect — describe what you want to build in plain English; it asks clarifying questions, then generates a full Plan / Agents / App / Database, downloadable as a RAG Scaffold or Custom Code ZIP.</a:t>
            </a:r>
          </a:p>
          <a:p>
            <a:pPr>
              <a:spcAft>
                <a:spcPts val="400"/>
              </a:spcAft>
            </a:pPr>
            <a:endParaRPr sz="1100" dirty="0">
              <a:solidFill>
                <a:srgbClr val="CBD5E1"/>
              </a:solidFill>
            </a:endParaRPr>
          </a:p>
          <a:p>
            <a:pPr>
              <a:spcAft>
                <a:spcPts val="400"/>
              </a:spcAft>
            </a:pPr>
            <a:r>
              <a:rPr sz="1100" dirty="0">
                <a:solidFill>
                  <a:srgbClr val="CBD5E1"/>
                </a:solidFill>
              </a:rPr>
              <a:t>② Prompt Library — 46+ curated multi-agent prompts across 10 domains (Support, Sales, Legal, HR, Data, and more); search, preview, and copy straight into Architect or Agent Studio.</a:t>
            </a:r>
          </a:p>
        </p:txBody>
      </p:sp>
      <p:pic>
        <p:nvPicPr>
          <p:cNvPr id="10" name="Picture 9" descr="07_architect.png">
            <a:extLst>
              <a:ext uri="{FF2B5EF4-FFF2-40B4-BE49-F238E27FC236}">
                <a16:creationId xmlns:a16="http://schemas.microsoft.com/office/drawing/2014/main" id="{A6EA2B05-A44A-923C-6A12-9B1083B342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51560"/>
            <a:ext cx="5486400" cy="3086100"/>
          </a:xfrm>
          <a:prstGeom prst="rect">
            <a:avLst/>
          </a:prstGeom>
          <a:ln w="12700">
            <a:solidFill>
              <a:srgbClr val="334155"/>
            </a:solidFill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825" cy="45720"/>
          </a:xfrm>
          <a:prstGeom prst="rect">
            <a:avLst/>
          </a:prstGeom>
          <a:solidFill>
            <a:srgbClr val="606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How To Use: Control Plane &amp; Audit Traceability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31752" y="649224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BD5E1"/>
                </a:solidFill>
              </a:rPr>
              <a:t>38</a:t>
            </a:r>
          </a:p>
        </p:txBody>
      </p:sp>
      <p:pic>
        <p:nvPicPr>
          <p:cNvPr id="6" name="Picture 5" descr="13_control_pla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5486400" cy="3086100"/>
          </a:xfrm>
          <a:prstGeom prst="rect">
            <a:avLst/>
          </a:prstGeom>
          <a:ln w="12700">
            <a:solidFill>
              <a:srgbClr val="334155"/>
            </a:solidFill>
          </a:ln>
        </p:spPr>
      </p:pic>
      <p:pic>
        <p:nvPicPr>
          <p:cNvPr id="7" name="Picture 6" descr="14_usage_aud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051560"/>
            <a:ext cx="5486400" cy="3086100"/>
          </a:xfrm>
          <a:prstGeom prst="rect">
            <a:avLst/>
          </a:prstGeom>
          <a:ln w="12700">
            <a:solidFill>
              <a:srgbClr val="334155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57200" y="544068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CBD5E1"/>
                </a:solidFill>
              </a:rPr>
              <a:t>① Control Plane — live platform health: active agents, runs, guardrail triggers, and average latency in one dashboard, refreshed in real time.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CBD5E1"/>
                </a:solidFill>
              </a:rPr>
              <a:t>② Usage &amp; Traceability — full audit-log viewer: every agent action with user, resource, input/output snapshot, guardrail trigger, latency, and trace ID, filterable by action/agent/date.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825" cy="45720"/>
          </a:xfrm>
          <a:prstGeom prst="rect">
            <a:avLst/>
          </a:prstGeom>
          <a:solidFill>
            <a:srgbClr val="606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How To Use: Workflow Observability — Tracing &amp; Logs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31752" y="649224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BD5E1"/>
                </a:solidFill>
              </a:rPr>
              <a:t>39</a:t>
            </a:r>
          </a:p>
        </p:txBody>
      </p:sp>
      <p:pic>
        <p:nvPicPr>
          <p:cNvPr id="6" name="Picture 5" descr="15_workflow_observ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1051560"/>
            <a:ext cx="8686800" cy="4886325"/>
          </a:xfrm>
          <a:prstGeom prst="rect">
            <a:avLst/>
          </a:prstGeom>
          <a:ln w="12700">
            <a:solidFill>
              <a:srgbClr val="334155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57200" y="544068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CBD5E1"/>
                </a:solidFill>
              </a:rPr>
              <a:t>① Every workflow run is logged here with per-node execution trace, total duration, and final status — including an “Awaiting Approval” count with a direct “Review →” link for paused runs.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CBD5E1"/>
                </a:solidFill>
              </a:rPr>
              <a:t>② Backed by real OpenTelemetry spans on every LLM call, so a slow or failed run can be traced back to the exact node, prompt, and latency that caused it — not a black box.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371600"/>
            <a:ext cx="12188952" cy="4114800"/>
          </a:xfrm>
          <a:prstGeom prst="rect">
            <a:avLst/>
          </a:prstGeom>
          <a:solidFill>
            <a:srgbClr val="1A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</a:rPr>
              <a:t>AgentForge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06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CBD5E1"/>
                </a:solidFill>
              </a:rPr>
              <a:t>Build the next generation of enterprise AI agents — today.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3657600"/>
            <a:ext cx="2834640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371600" y="3703320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🚀  Start Building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087368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</a:rPr>
              <a:t>localhost:5173/architect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0" y="3657600"/>
            <a:ext cx="2834640" cy="7772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0" y="3703320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📖  API Docs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4087368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</a:rPr>
              <a:t>localhost:8000/docs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0" y="3657600"/>
            <a:ext cx="2834640" cy="777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0" y="3703320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📦  Download ZIP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4087368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</a:rPr>
              <a:t>Architect → App → Download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760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BD5E1"/>
                </a:solidFill>
              </a:rPr>
              <a:t>Accenture Technology  |  n.sureshmanikandan@accenture.com  |  Confidential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37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7713</Words>
  <Application>Microsoft Office PowerPoint</Application>
  <PresentationFormat>Custom</PresentationFormat>
  <Paragraphs>807</Paragraphs>
  <Slides>40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Natarajan, Suresh Manikandan</dc:creator>
  <cp:keywords/>
  <dc:description>generated using python-pptx</dc:description>
  <cp:lastModifiedBy>Natarajan, Suresh Manikandan</cp:lastModifiedBy>
  <cp:revision>16</cp:revision>
  <dcterms:created xsi:type="dcterms:W3CDTF">2013-01-27T09:14:16Z</dcterms:created>
  <dcterms:modified xsi:type="dcterms:W3CDTF">2026-07-22T05:45:59Z</dcterms:modified>
  <cp:category/>
</cp:coreProperties>
</file>