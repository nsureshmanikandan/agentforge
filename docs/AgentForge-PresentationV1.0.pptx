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ENTERPRISE AI 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0D8E8"/>
                </a:solidFill>
              </a:rPr>
              <a:t>Build, orchestrate, test, and govern production-grade AI agents — visually.
No boilerplate. No vendor lock-in. Azure-native.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74552" cy="18288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3108960"/>
            <a:ext cx="2743200" cy="384048"/>
          </a:xfrm>
          <a:prstGeom prst="rect">
            <a:avLst/>
          </a:prstGeom>
          <a:solidFill>
            <a:srgbClr val="18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60A5FA"/>
                </a:solidFill>
              </a:rPr>
              <a:t>13 Enterprise 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3108960"/>
            <a:ext cx="2743200" cy="384048"/>
          </a:xfrm>
          <a:prstGeom prst="rect">
            <a:avLst/>
          </a:prstGeom>
          <a:solidFill>
            <a:srgbClr val="0F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86EFAC"/>
                </a:solidFill>
              </a:rPr>
              <a:t>32 / 32 Tests Passing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2743200" cy="384048"/>
          </a:xfrm>
          <a:prstGeom prst="rect">
            <a:avLst/>
          </a:prstGeom>
          <a:solidFill>
            <a:srgbClr val="2D1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C4B5FD"/>
                </a:solidFill>
              </a:rPr>
              <a:t>RBAC + Audit Logs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3108960"/>
            <a:ext cx="2743200" cy="384048"/>
          </a:xfrm>
          <a:prstGeom prst="rect">
            <a:avLst/>
          </a:prstGeom>
          <a:solidFill>
            <a:srgbClr val="3D1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FBBF24"/>
                </a:solidFill>
              </a:rPr>
              <a:t>PII Guardrails Built-in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688"/>
                </a:solidFill>
              </a:rPr>
              <a:t>React 18 · Vite · TypeScript · ReactFlow · Zustand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776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688"/>
                </a:solidFill>
              </a:rPr>
              <a:t>Python 3.12 · FastAPI · SQLAlchemy · LangChain · Presidio · PostgreSQL + pgvector ·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-36575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0" b="1" i="0" dirty="0">
                <a:solidFill>
                  <a:srgbClr val="112545"/>
                </a:solidFill>
              </a:rPr>
              <a:t>AF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Enterprise AI agents are broken by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3566160" cy="320040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45720" cy="3200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🧱  Code-Heavy Barrier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67712"/>
            <a:ext cx="3383279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Most frameworks demand deep Python expertise
before a single agent can run in production.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920240"/>
            <a:ext cx="3566160" cy="320040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1920240"/>
            <a:ext cx="45720" cy="3200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80560" y="20116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🚨  Zero Guardrails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267712"/>
            <a:ext cx="3383279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Open-source tools ship with no PII protection
or hallucination checks — a compliance risk.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84464" y="1920240"/>
            <a:ext cx="3566160" cy="320040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84464" y="1920240"/>
            <a:ext cx="45720" cy="3200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94192" y="201168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🌑  Black-Box Operations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2267712"/>
            <a:ext cx="3383279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No way to observe, version, test or audit what
agents actually do after they are deployed.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110828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AgentForge solves all three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Visual builder  ·  Enterprise guardrails  ·  Full observability  —  one Azure-native, self-hosted stack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PLATFORM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</a:rPr>
              <a:t>What AgentForge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657600" cy="4572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14996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Visual Agent Builder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75564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Drag-drop ReactFlow canvas. Compose full
multi-agent pipelines with no code.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37160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70832" y="1371600"/>
            <a:ext cx="3657600" cy="45720"/>
          </a:xfrm>
          <a:prstGeom prst="rect">
            <a:avLst/>
          </a:prstGeom>
          <a:solidFill>
            <a:srgbClr val="53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98848" y="14996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Prompt-to-Agent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75564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One English sentence → GPT-4o generates
name, system prompt, tools &amp; guardrails.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4464" y="137160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4464" y="1371600"/>
            <a:ext cx="3657600" cy="4572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14996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Multi-Agent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75564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Manager agent delegates to workers.
Each worker runs its own guardrails pass.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49039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749039"/>
            <a:ext cx="3657600" cy="45720"/>
          </a:xfrm>
          <a:prstGeom prst="rect">
            <a:avLst/>
          </a:prstGeom>
          <a:solidFill>
            <a:srgbClr val="854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3877055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RAG Knowledge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133087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Ingest PDFs &amp; docs via LangChain.
Grounded answers with source citations.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3749039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70832" y="3749039"/>
            <a:ext cx="3657600" cy="45720"/>
          </a:xfrm>
          <a:prstGeom prst="rect">
            <a:avLst/>
          </a:prstGeom>
          <a:solidFill>
            <a:srgbClr val="A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98848" y="3877055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Enterprise 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133087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Presidio PII redaction + hallucination
detection baked into every agent run.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84464" y="3749039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84464" y="3749039"/>
            <a:ext cx="3657600" cy="4572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0" y="3877055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Control Plane &amp; 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33087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Live stats, full run history, versioning,
guardrail triggers, RBAC enforcement.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3A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FEATURE SPOTLIGHT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Visual Agent Builder &amp; Orchestration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5120640" cy="10972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45720" cy="109728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4937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Drag-Drop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84831"/>
            <a:ext cx="49377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ReactFlow v12 with dark mode, animated edges,
and dot-grid background. No code required.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5120640" cy="10972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45720" cy="109728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3017520"/>
            <a:ext cx="4937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Manager / Worker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273552"/>
            <a:ext cx="49377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Manager agent decides worker execution order
via a JSON list. Workers run sequentially.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14800"/>
            <a:ext cx="5120640" cy="10972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4114800"/>
            <a:ext cx="45720" cy="109728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206240"/>
            <a:ext cx="4937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Prompt-to-Agent 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462272"/>
            <a:ext cx="49377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Describe your agent in plain English —
GPT-4o generates full config in seconds.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03520"/>
            <a:ext cx="5120640" cy="10972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5303520"/>
            <a:ext cx="45720" cy="109728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928" y="5394960"/>
            <a:ext cx="4937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Agent Config Panel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650992"/>
            <a:ext cx="493775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Set name, system prompt, model (GPT-4o / 4.5),
tool toggles, and guardrails in a sidebar.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1737360"/>
            <a:ext cx="5760720" cy="4754880"/>
          </a:xfrm>
          <a:prstGeom prst="rect">
            <a:avLst/>
          </a:prstGeom>
          <a:solidFill>
            <a:srgbClr val="051838"/>
          </a:solidFill>
          <a:ln w="12700">
            <a:solidFill>
              <a:srgbClr val="33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1828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88CC"/>
                </a:solidFill>
              </a:rPr>
              <a:t>CANVAS TOPOLOGY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2331720"/>
            <a:ext cx="1554480" cy="457200"/>
          </a:xfrm>
          <a:prstGeom prst="rect">
            <a:avLst/>
          </a:prstGeom>
          <a:solidFill>
            <a:srgbClr val="102A55"/>
          </a:solidFill>
          <a:ln w="6350">
            <a:solidFill>
              <a:srgbClr val="44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Input Node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2331720"/>
            <a:ext cx="1554480" cy="457200"/>
          </a:xfrm>
          <a:prstGeom prst="rect">
            <a:avLst/>
          </a:prstGeom>
          <a:solidFill>
            <a:srgbClr val="185FA5"/>
          </a:solidFill>
          <a:ln w="6350">
            <a:solidFill>
              <a:srgbClr val="44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2331720"/>
            <a:ext cx="1554480" cy="457200"/>
          </a:xfrm>
          <a:prstGeom prst="rect">
            <a:avLst/>
          </a:prstGeom>
          <a:solidFill>
            <a:srgbClr val="102A55"/>
          </a:solidFill>
          <a:ln w="6350">
            <a:solidFill>
              <a:srgbClr val="44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3383280"/>
            <a:ext cx="1645920" cy="457200"/>
          </a:xfrm>
          <a:prstGeom prst="rect">
            <a:avLst/>
          </a:prstGeom>
          <a:solidFill>
            <a:srgbClr val="0F4D2A"/>
          </a:solidFill>
          <a:ln w="6350">
            <a:solidFill>
              <a:srgbClr val="44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Worker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3383280"/>
            <a:ext cx="1645920" cy="457200"/>
          </a:xfrm>
          <a:prstGeom prst="rect">
            <a:avLst/>
          </a:prstGeom>
          <a:solidFill>
            <a:srgbClr val="0F4D2A"/>
          </a:solidFill>
          <a:ln w="6350">
            <a:solidFill>
              <a:srgbClr val="44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Worker 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89120"/>
            <a:ext cx="1645920" cy="457200"/>
          </a:xfrm>
          <a:prstGeom prst="rect">
            <a:avLst/>
          </a:prstGeom>
          <a:solidFill>
            <a:srgbClr val="3D1C00"/>
          </a:solidFill>
          <a:ln w="6350">
            <a:solidFill>
              <a:srgbClr val="44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Worker 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0" y="4389120"/>
            <a:ext cx="1645920" cy="457200"/>
          </a:xfrm>
          <a:prstGeom prst="rect">
            <a:avLst/>
          </a:prstGeom>
          <a:solidFill>
            <a:srgbClr val="3D1C00"/>
          </a:solidFill>
          <a:ln w="6350">
            <a:solidFill>
              <a:srgbClr val="44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Tool: Slack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486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7AADD"/>
                </a:solidFill>
              </a:rPr>
              <a:t>Unlimited agent nodes per workflow  ·  Single or multi-agent modes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3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3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FEATURE SPOTLIGHT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RAG Pipeline &amp; Knowledge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4572000" cy="4572000"/>
          </a:xfrm>
          <a:prstGeom prst="rect">
            <a:avLst/>
          </a:prstGeom>
          <a:solidFill>
            <a:srgbClr val="022018"/>
          </a:solidFill>
          <a:ln w="12700">
            <a:solidFill>
              <a:srgbClr val="1A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DCCAA"/>
                </a:solidFill>
              </a:rPr>
              <a:t>PIPELINE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1. Upload PDF / TXT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2. Auto-detect format &amp; parse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3. Chunk into 500-token segments (50-token overlap)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4. Store in PostgreSQL + pgvector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5. Retrieve top-3 chunks at query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6. Inject into GPT-4o context 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064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EE7B7"/>
                </a:solidFill>
              </a:rPr>
              <a:t>7. Return grounded answer + source citations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737360"/>
            <a:ext cx="6217920" cy="10972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0" y="1737360"/>
            <a:ext cx="45720" cy="1097280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96128" y="182880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PDF + Text Ingestion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2084831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PyPDFLoader &amp; TextLoader auto-detect
file type on upload. Batch ingest ready.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2926080"/>
            <a:ext cx="6217920" cy="10972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0" y="2926080"/>
            <a:ext cx="45720" cy="1097280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96128" y="30175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Recursive 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327355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500-token chunks, 50-token overlap via
LangChain RecursiveCharacterTextSplitter.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4114800"/>
            <a:ext cx="6217920" cy="10972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0" y="4114800"/>
            <a:ext cx="45720" cy="1097280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596128" y="420624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Semantic Retrieval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96128" y="446227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Top-K keyword scoring retrieves the
3 most relevant chunks per query.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5303520"/>
            <a:ext cx="6217920" cy="10972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0" y="5303520"/>
            <a:ext cx="45720" cy="1097280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596128" y="539496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Grounded Answers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8" y="5650992"/>
            <a:ext cx="6035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Chunks injected into GPT-4o context;
response includes source attribution.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FEATURE SPOTLIGHT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Enterprise Guardrails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5303520" cy="2286000"/>
          </a:xfrm>
          <a:prstGeom prst="rect">
            <a:avLst/>
          </a:prstGeom>
          <a:solidFill>
            <a:srgbClr val="280A0A"/>
          </a:solidFill>
          <a:ln w="12700">
            <a:solidFill>
              <a:srgbClr val="99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7171"/>
                </a:solidFill>
              </a:rPr>
              <a:t>PII REDACTION — Microsoft Presidio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331720"/>
            <a:ext cx="987552" cy="301752"/>
          </a:xfrm>
          <a:prstGeom prst="rect">
            <a:avLst/>
          </a:prstGeom>
          <a:solidFill>
            <a:srgbClr val="5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F87171"/>
                </a:solidFill>
              </a:rPr>
              <a:t>EMAIL_ADDRESS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2331720"/>
            <a:ext cx="987552" cy="301752"/>
          </a:xfrm>
          <a:prstGeom prst="rect">
            <a:avLst/>
          </a:prstGeom>
          <a:solidFill>
            <a:srgbClr val="5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F87171"/>
                </a:solidFill>
              </a:rPr>
              <a:t>PHONE_NUMBER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642616" y="2331720"/>
            <a:ext cx="987552" cy="301752"/>
          </a:xfrm>
          <a:prstGeom prst="rect">
            <a:avLst/>
          </a:prstGeom>
          <a:solidFill>
            <a:srgbClr val="5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F87171"/>
                </a:solidFill>
              </a:rPr>
              <a:t>PERSON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66744" y="2331720"/>
            <a:ext cx="987552" cy="301752"/>
          </a:xfrm>
          <a:prstGeom prst="rect">
            <a:avLst/>
          </a:prstGeom>
          <a:solidFill>
            <a:srgbClr val="5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F87171"/>
                </a:solidFill>
              </a:rPr>
              <a:t>CREDIT_CARD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0872" y="2331720"/>
            <a:ext cx="987552" cy="301752"/>
          </a:xfrm>
          <a:prstGeom prst="rect">
            <a:avLst/>
          </a:prstGeom>
          <a:solidFill>
            <a:srgbClr val="50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800" b="1">
                <a:solidFill>
                  <a:srgbClr val="F87171"/>
                </a:solidFill>
              </a:rPr>
              <a:t>US_SSN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43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AnalyzerEngine + AnonymizerEngine  ·  Redacts and logs each trigger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5303520" cy="1828800"/>
          </a:xfrm>
          <a:prstGeom prst="rect">
            <a:avLst/>
          </a:prstGeom>
          <a:solidFill>
            <a:srgbClr val="281A00"/>
          </a:solidFill>
          <a:ln w="12700">
            <a:solidFill>
              <a:srgbClr val="99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</a:rPr>
              <a:t>HALLUCINATION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Phrase-pattern engine flags uncertain language.
Every output scored before leaving the system.
Configurable sensitivity per agent.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828800"/>
            <a:ext cx="5486400" cy="4389120"/>
          </a:xfrm>
          <a:prstGeom prst="rect">
            <a:avLst/>
          </a:prstGeom>
          <a:solidFill>
            <a:srgbClr val="051020"/>
          </a:solidFill>
          <a:ln w="12700">
            <a:solidFill>
              <a:srgbClr val="33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77AA"/>
                </a:solidFill>
              </a:rPr>
              <a:t>GUARDRAIL DECISION FLOW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31720"/>
            <a:ext cx="5029200" cy="640080"/>
          </a:xfrm>
          <a:prstGeom prst="rect">
            <a:avLst/>
          </a:prstGeom>
          <a:solidFill>
            <a:srgbClr val="0C2A4A"/>
          </a:solidFill>
          <a:ln w="9525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00" b="1">
                <a:solidFill>
                  <a:srgbClr val="60A5FA"/>
                </a:solidFill>
              </a:rPr>
              <a:t>Agent produces raw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9443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577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246120"/>
            <a:ext cx="5029200" cy="640080"/>
          </a:xfrm>
          <a:prstGeom prst="rect">
            <a:avLst/>
          </a:prstGeom>
          <a:solidFill>
            <a:srgbClr val="280A0A"/>
          </a:solidFill>
          <a:ln w="9525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00" b="1">
                <a:solidFill>
                  <a:srgbClr val="F87171"/>
                </a:solidFill>
              </a:rPr>
              <a:t>PII scan  →  redact matches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8587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577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160520"/>
            <a:ext cx="5029200" cy="640080"/>
          </a:xfrm>
          <a:prstGeom prst="rect">
            <a:avLst/>
          </a:prstGeom>
          <a:solidFill>
            <a:srgbClr val="281A00"/>
          </a:solidFill>
          <a:ln w="952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00" b="1">
                <a:solidFill>
                  <a:srgbClr val="FBBF24"/>
                </a:solidFill>
              </a:rPr>
              <a:t>Hallucination scan  →  flag if triggered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77316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5577"/>
                </a:solidFill>
              </a:rP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5074920"/>
            <a:ext cx="5029200" cy="640080"/>
          </a:xfrm>
          <a:prstGeom prst="rect">
            <a:avLst/>
          </a:prstGeom>
          <a:solidFill>
            <a:srgbClr val="0A220A"/>
          </a:solidFill>
          <a:ln w="9525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00" b="1">
                <a:solidFill>
                  <a:srgbClr val="86EFAC"/>
                </a:solidFill>
              </a:rPr>
              <a:t>Safe output returned + audit logged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FEATURE SPOTLIGHT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</a:rPr>
              <a:t>Control Plane, Versioning &amp; Observability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657600" cy="4572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5216" y="14996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Live Stats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75564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Total agents, runs, guardrail triggers,
avg latency — updated on every API call.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37160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70832" y="1371600"/>
            <a:ext cx="3657600" cy="45720"/>
          </a:xfrm>
          <a:prstGeom prst="rect">
            <a:avLst/>
          </a:prstGeom>
          <a:solidFill>
            <a:srgbClr val="53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98848" y="14996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Agent Versioning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75564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Every save creates an immutable
AgentVersion snapshot — roll back anytime.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4464" y="137160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4464" y="1371600"/>
            <a:ext cx="3657600" cy="4572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149961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Full Audit Trail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755648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Every run logs: action, input/output
snapshots, latency, guardrail triggers.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49039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749039"/>
            <a:ext cx="3657600" cy="45720"/>
          </a:xfrm>
          <a:prstGeom prst="rect">
            <a:avLst/>
          </a:prstGeom>
          <a:solidFill>
            <a:srgbClr val="854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3877055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Simulation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4133087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Define test cases with expected outputs.
Batch-run pre-production, score pass rate.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70832" y="3749039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70832" y="3749039"/>
            <a:ext cx="3657600" cy="45720"/>
          </a:xfrm>
          <a:prstGeom prst="rect">
            <a:avLst/>
          </a:prstGeom>
          <a:solidFill>
            <a:srgbClr val="A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98848" y="3877055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RBAC + JWT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4133087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Admin / Developer / Viewer roles.
JWT enforced on every FastAPI route.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84464" y="3749039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284464" y="3749039"/>
            <a:ext cx="3657600" cy="4572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0" y="3877055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</a:rPr>
              <a:t>Tool Registry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33087"/>
            <a:ext cx="3429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</a:rPr>
              <a:t>7 native integrations: web search,
calculator, email, Slack, GitHub, Jira.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0E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0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NATIVE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7 Tools Ready Out of the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743200" cy="20116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45720" cy="2011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Web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67712"/>
            <a:ext cx="2560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Live internet queries with
result parsing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920240"/>
            <a:ext cx="2743200" cy="20116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83280" y="1920240"/>
            <a:ext cx="45720" cy="201168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93008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Calculator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2267712"/>
            <a:ext cx="2560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Safe math eval using
Python's math module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920240"/>
            <a:ext cx="2743200" cy="20116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1920240"/>
            <a:ext cx="45720" cy="20116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267712"/>
            <a:ext cx="2560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Send emails via
credentialed SMTP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920240"/>
            <a:ext cx="2743200" cy="20116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235440" y="1920240"/>
            <a:ext cx="45720" cy="2011680"/>
          </a:xfrm>
          <a:prstGeom prst="rect">
            <a:avLst/>
          </a:prstGeom>
          <a:solidFill>
            <a:srgbClr val="854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45168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2267712"/>
            <a:ext cx="2560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Post messages to
channels or DMs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06240"/>
            <a:ext cx="2743200" cy="20116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4206240"/>
            <a:ext cx="45720" cy="2011680"/>
          </a:xfrm>
          <a:prstGeom prst="rect">
            <a:avLst/>
          </a:prstGeom>
          <a:solidFill>
            <a:srgbClr val="A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297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553712"/>
            <a:ext cx="2560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Read repos, open issues,
create pull requests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206240"/>
            <a:ext cx="2743200" cy="20116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383280" y="4206240"/>
            <a:ext cx="45720" cy="201168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4297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Jira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3008" y="4553712"/>
            <a:ext cx="2560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Create, update, and
query Jira tickets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206240"/>
            <a:ext cx="2743200" cy="201168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09360" y="4206240"/>
            <a:ext cx="45720" cy="20116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4297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Google Drive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4553712"/>
            <a:ext cx="25603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Read, write, and search
Drive files from any 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Full-Stack, Cloud-Native, Containerised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91640"/>
            <a:ext cx="3749039" cy="4892040"/>
          </a:xfrm>
          <a:prstGeom prst="rect">
            <a:avLst/>
          </a:prstGeom>
          <a:solidFill>
            <a:srgbClr val="08142A"/>
          </a:solidFill>
          <a:ln w="12700">
            <a:solidFill>
              <a:srgbClr val="223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0A5FA"/>
                </a:solidFill>
              </a:rPr>
              <a:t>FRONTEND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22128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React 18 + Vite + TypeScript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16352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834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ReactFlow v12 — canvas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438144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45643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Zustand — state management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59935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407822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Axios — API client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681728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70001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TailwindCSS — styling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03520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53218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React Router DOM v6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925312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943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JWT localStorage auth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1691640"/>
            <a:ext cx="3749039" cy="4892040"/>
          </a:xfrm>
          <a:prstGeom prst="rect">
            <a:avLst/>
          </a:prstGeom>
          <a:solidFill>
            <a:srgbClr val="08142A"/>
          </a:solidFill>
          <a:ln w="12700">
            <a:solidFill>
              <a:srgbClr val="223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1783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6EFAC"/>
                </a:solidFill>
              </a:rPr>
              <a:t>BACKEND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2194560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26280" y="22128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Python 3.12 + FastAPI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2816352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26280" y="2834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SQLAlchemy 2.0 async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438144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26280" y="345643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LangChain — RAG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4059935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07822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Presidio — PII guardrails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4681728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26280" y="470001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Pydantic v2 + python-jose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5303520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26280" y="53218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spaCy en_core_web_lg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5925312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26280" y="5943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bcrypt==4.0.1 pinned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1691640"/>
            <a:ext cx="3749039" cy="4892040"/>
          </a:xfrm>
          <a:prstGeom prst="rect">
            <a:avLst/>
          </a:prstGeom>
          <a:solidFill>
            <a:srgbClr val="08142A"/>
          </a:solidFill>
          <a:ln w="12700">
            <a:solidFill>
              <a:srgbClr val="223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66760" y="17830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BBF24"/>
                </a:solidFill>
              </a:rPr>
              <a:t>INFRA &amp; 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40" y="2194560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58200" y="221284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Azure OpenAI GPT-4o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1040" y="2816352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58200" y="28346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Azure OpenAI GPT-4.5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21040" y="3438144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458200" y="345643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PostgreSQL 16 + pgvector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4059935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458200" y="407822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Docker Compose stack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21040" y="4681728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58200" y="470001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pytest + pytest-asyncio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5303520"/>
            <a:ext cx="3657600" cy="548640"/>
          </a:xfrm>
          <a:prstGeom prst="rect">
            <a:avLst/>
          </a:prstGeom>
          <a:solidFill>
            <a:srgbClr val="0A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458200" y="53218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Alembic migrations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5925312"/>
            <a:ext cx="3657600" cy="548640"/>
          </a:xfrm>
          <a:prstGeom prst="rect">
            <a:avLst/>
          </a:prstGeom>
          <a:solidFill>
            <a:srgbClr val="0D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458200" y="5943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pg_isready healthcheck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5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1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REAL-WORLD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Where AgentForge Shines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210312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45720" cy="210312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920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Financial Document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76272"/>
            <a:ext cx="34747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Ingest annual reports → RAG agent answers investor questions.
PII guardrails block SSN / account number disclosure.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828800"/>
            <a:ext cx="3657600" cy="210312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70832" y="1828800"/>
            <a:ext cx="45720" cy="210312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Healthcare Triage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76272"/>
            <a:ext cx="34747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Intake agent → diagnosis agent → scheduling agent pipeline.
Presidio removes patient PII before any LLM call.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9892" y="1828800"/>
            <a:ext cx="3657600" cy="210312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79892" y="1828800"/>
            <a:ext cx="45720" cy="210312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9620" y="1920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DevOps Automation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9620" y="2176272"/>
            <a:ext cx="34747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Manager delegates: GitHub reads PRs, Jira updates tickets,
Slack sends summaries — one workflow.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0"/>
            <a:ext cx="3657600" cy="210312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114800"/>
            <a:ext cx="45720" cy="210312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928" y="4206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Business Intelligence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62272"/>
            <a:ext cx="34747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Upload quarterly reports → agents extract KPIs, generate
executive summaries, post to Slack automatically.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6260" y="4114800"/>
            <a:ext cx="3657600" cy="210312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66260" y="4114800"/>
            <a:ext cx="45720" cy="210312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75988" y="4206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Enterprise Knowledge 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5988" y="4462272"/>
            <a:ext cx="34747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HR, legal &amp; compliance docs ingested via RAG. Employees ask
questions in plain English; agents answer with citations.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9892" y="4114800"/>
            <a:ext cx="3657600" cy="210312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79892" y="4114800"/>
            <a:ext cx="45720" cy="2103120"/>
          </a:xfrm>
          <a:prstGeom prst="rect">
            <a:avLst/>
          </a:prstGeom>
          <a:solidFill>
            <a:srgbClr val="EF9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89620" y="4206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Pre-Production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9620" y="4462272"/>
            <a:ext cx="347472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Simulation engine batch-runs test cases overnight.
Only agents with 90%+ pass rate get promoted to prod.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MARKET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293B"/>
                </a:solidFill>
              </a:rPr>
              <a:t>AgentForge vs Lyzr Architect — Feature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419578"/>
              </p:ext>
            </p:extLst>
          </p:nvPr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AgentForge</a:t>
                      </a:r>
                    </a:p>
                  </a:txBody>
                  <a:tcPr>
                    <a:solidFill>
                      <a:srgbClr val="185F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Lyzr Architect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Visual drag-drop canvas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E293B"/>
                          </a:solidFill>
                        </a:rPr>
                        <a:t>✅ </a:t>
                      </a:r>
                      <a:r>
                        <a:rPr sz="1000" b="0" dirty="0" err="1">
                          <a:solidFill>
                            <a:srgbClr val="1E293B"/>
                          </a:solidFill>
                        </a:rPr>
                        <a:t>ReactFlow</a:t>
                      </a:r>
                      <a:r>
                        <a:rPr sz="1000" b="0" dirty="0">
                          <a:solidFill>
                            <a:srgbClr val="1E293B"/>
                          </a:solidFill>
                        </a:rPr>
                        <a:t> v12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Prompt-to-agent (NL)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✅ GPT-4o powered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Multi-agent orchestration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✅ Manager/worker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RAG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E293B"/>
                          </a:solidFill>
                        </a:rPr>
                        <a:t>✅ </a:t>
                      </a:r>
                      <a:r>
                        <a:rPr sz="1000" b="0" dirty="0" err="1">
                          <a:solidFill>
                            <a:srgbClr val="1E293B"/>
                          </a:solidFill>
                        </a:rPr>
                        <a:t>LangChain+pgvector</a:t>
                      </a:r>
                      <a:endParaRPr sz="1000" b="0" dirty="0">
                        <a:solidFill>
                          <a:srgbClr val="1E293B"/>
                        </a:solidFill>
                      </a:endParaRP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PII redaction (Presidio)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✅ Always-on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Simulation / test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✅ Batch test runner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Audit logs + control plane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E293B"/>
                          </a:solidFill>
                        </a:rPr>
                        <a:t>✅ Full </a:t>
                      </a:r>
                      <a:r>
                        <a:rPr sz="1000" b="0" dirty="0" err="1">
                          <a:solidFill>
                            <a:srgbClr val="1E293B"/>
                          </a:solidFill>
                        </a:rPr>
                        <a:t>FastAPI</a:t>
                      </a:r>
                      <a:endParaRPr sz="1000" b="0" dirty="0">
                        <a:solidFill>
                          <a:srgbClr val="1E293B"/>
                        </a:solidFill>
                      </a:endParaRP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Azure-native deployment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✅ GPT-4o + GPT-4.5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❌ OpenAI SaaS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Self-hosted / open source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E293B"/>
                          </a:solidFill>
                        </a:rPr>
                        <a:t>✅ Docker Compose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❌ SaaS only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Agent versioning snapshots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E293B"/>
                          </a:solidFill>
                        </a:rPr>
                        <a:t>✅ Immutable history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Pre-production simulation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E293B"/>
                          </a:solidFill>
                        </a:rPr>
                        <a:t>✅ Pass-rate scoring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E293B"/>
                </a:solidFill>
              </a:rPr>
              <a:t>AgentForge vs The Broader Market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74552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Visual Canvas</a:t>
                      </a:r>
                    </a:p>
                  </a:txBody>
                  <a:tcPr>
                    <a:solidFill>
                      <a:srgbClr val="185F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Guardrails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Azure-Native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Self-Host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Simulation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AgentForge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Lyzr Architect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Flowise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Langflow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Dify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CrewAI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MS Copilot Studio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0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E293B"/>
                          </a:solidFill>
                        </a:rPr>
                        <a:t>n8n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E6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6A34A"/>
                          </a:solidFill>
                        </a:rPr>
                        <a:t>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C2626"/>
                          </a:solidFill>
                        </a:rPr>
                        <a:t>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6172200"/>
            <a:ext cx="11274552" cy="457200"/>
          </a:xfrm>
          <a:prstGeom prst="rect">
            <a:avLst/>
          </a:prstGeom>
          <a:solidFill>
            <a:srgbClr val="E6F1FB"/>
          </a:solidFill>
          <a:ln w="9525">
            <a:solidFill>
              <a:srgbClr val="185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199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85FA5"/>
                </a:solidFill>
              </a:rPr>
              <a:t>AgentForge is the only platform with visual canvas + Python + guardrails + Azure-native + self-host + simulation — all six.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3A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DELIVERY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Built to Production Standard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2651760" cy="1280160"/>
          </a:xfrm>
          <a:prstGeom prst="rect">
            <a:avLst/>
          </a:prstGeom>
          <a:solidFill>
            <a:srgbClr val="051838"/>
          </a:solidFill>
          <a:ln w="12700">
            <a:solidFill>
              <a:srgbClr val="33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D8E8"/>
                </a:solidFill>
              </a:rPr>
              <a:t>Tests passing (32/32)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737360"/>
            <a:ext cx="2651760" cy="1280160"/>
          </a:xfrm>
          <a:prstGeom prst="rect">
            <a:avLst/>
          </a:prstGeom>
          <a:solidFill>
            <a:srgbClr val="051838"/>
          </a:solidFill>
          <a:ln w="12700">
            <a:solidFill>
              <a:srgbClr val="33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0" y="17830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4231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D8E8"/>
                </a:solidFill>
              </a:rPr>
              <a:t>Core features shipped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2651760" cy="1280160"/>
          </a:xfrm>
          <a:prstGeom prst="rect">
            <a:avLst/>
          </a:prstGeom>
          <a:solidFill>
            <a:srgbClr val="051838"/>
          </a:solidFill>
          <a:ln w="12700">
            <a:solidFill>
              <a:srgbClr val="33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4231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D8E8"/>
                </a:solidFill>
              </a:rPr>
              <a:t>API route modules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737360"/>
            <a:ext cx="2651760" cy="1280160"/>
          </a:xfrm>
          <a:prstGeom prst="rect">
            <a:avLst/>
          </a:prstGeom>
          <a:solidFill>
            <a:srgbClr val="051838"/>
          </a:solidFill>
          <a:ln w="12700">
            <a:solidFill>
              <a:srgbClr val="3366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0" y="178308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4231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0D8E8"/>
                </a:solidFill>
              </a:rPr>
              <a:t>RBAC roles enforced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46120"/>
            <a:ext cx="5577840" cy="3246120"/>
          </a:xfrm>
          <a:prstGeom prst="rect">
            <a:avLst/>
          </a:prstGeom>
          <a:solidFill>
            <a:srgbClr val="031025"/>
          </a:solidFill>
          <a:ln w="12700">
            <a:solidFill>
              <a:srgbClr val="224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337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99DD"/>
                </a:solidFill>
              </a:rPr>
              <a:t>API ENDPOINTS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POST /api/agents/generate  →  NL-to-agent config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1605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POST /api/agents/{id}/run  →  Execute agent with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6177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POST /api/rag/ingest       →  Upload &amp; chunk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749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POST /api/simulation/run   →  Batch test runner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5321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GET  /api/control-plane/stats  →  Live dashboard 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9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GET  /api/control-plane/audit-logs  →  Full run history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46120"/>
            <a:ext cx="5486400" cy="3246120"/>
          </a:xfrm>
          <a:prstGeom prst="rect">
            <a:avLst/>
          </a:prstGeom>
          <a:solidFill>
            <a:srgbClr val="031025"/>
          </a:solidFill>
          <a:ln w="12700">
            <a:solidFill>
              <a:srgbClr val="224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508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99DD"/>
                </a:solidFill>
              </a:rPr>
              <a:t>SECURITY &amp; QUALITY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7033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6EFAC"/>
                </a:solidFill>
              </a:rPr>
              <a:t>✓  No hardcoded secrets — config fails loud at startup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1605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6EFAC"/>
                </a:solidFill>
              </a:rPr>
              <a:t>✓  bcrypt==4.0.1 pinned for passlib compatibility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617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6EFAC"/>
                </a:solidFill>
              </a:rPr>
              <a:t>✓  Postgres healthcheck before backend starts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0749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6EFAC"/>
                </a:solidFill>
              </a:rPr>
              <a:t>✓  SQLAlchemy 2.0 async end-to-end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5321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6EFAC"/>
                </a:solidFill>
              </a:rPr>
              <a:t>✓  Pydantic v2 validation at all API boundaries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9893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6EFAC"/>
                </a:solidFill>
              </a:rPr>
              <a:t>✓  asyncio_mode = auto in pytest config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3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AA99FF"/>
                </a:solidFill>
              </a:rPr>
              <a:t>LOCAL DEVELOPMENT — NO DOCKER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Run AgentForge Without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4552" cy="502920"/>
          </a:xfrm>
          <a:prstGeom prst="rect">
            <a:avLst/>
          </a:prstGeom>
          <a:solidFill>
            <a:srgbClr val="120830"/>
          </a:solidFill>
          <a:ln w="12700">
            <a:solidFill>
              <a:srgbClr val="5533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BBFF"/>
                </a:solidFill>
              </a:rPr>
              <a:t>Prerequisites:   Python 3.12+   ·   Node.js 20+   ·   PostgreSQL 16 with pgvector extension   ·   Git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5486400" cy="1078992"/>
          </a:xfrm>
          <a:prstGeom prst="rect">
            <a:avLst/>
          </a:prstGeom>
          <a:solidFill>
            <a:srgbClr val="0A0522"/>
          </a:solidFill>
          <a:ln w="12700">
            <a:solidFill>
              <a:srgbClr val="442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88FF"/>
                </a:solidFill>
              </a:rPr>
              <a:t>STEP 1 — Configure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E7B7"/>
                </a:solidFill>
              </a:rPr>
              <a:t>cp .env.example .env
# Fill in Azure OpenAI keys + DATABASE_URL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35808"/>
            <a:ext cx="5486400" cy="1078992"/>
          </a:xfrm>
          <a:prstGeom prst="rect">
            <a:avLst/>
          </a:prstGeom>
          <a:solidFill>
            <a:srgbClr val="0A0522"/>
          </a:solidFill>
          <a:ln w="12700">
            <a:solidFill>
              <a:srgbClr val="442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0632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88FF"/>
                </a:solidFill>
              </a:rPr>
              <a:t>STEP 2 — PostgreSQL + pgvector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10128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E7B7"/>
                </a:solidFill>
              </a:rPr>
              <a:t>CREATE USER architect WITH PASSWORD 'architect';
CREATE DATABASE agentforge OWNER architect;
\c agentforge
CREATE EXTENSION IF NOT EXISTS vector;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97096"/>
            <a:ext cx="5486400" cy="1078992"/>
          </a:xfrm>
          <a:prstGeom prst="rect">
            <a:avLst/>
          </a:prstGeom>
          <a:solidFill>
            <a:srgbClr val="0A0522"/>
          </a:solidFill>
          <a:ln w="12700">
            <a:solidFill>
              <a:srgbClr val="442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42245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88FF"/>
                </a:solidFill>
              </a:rPr>
              <a:t>STEP 3 — Python virtual env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1416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E7B7"/>
                </a:solidFill>
              </a:rPr>
              <a:t>cd backend
python -m venv venv
venv\Scripts\activate          # Windows
pip install -r requirements.txt
python -m spacy download en_core_web_lg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58383"/>
            <a:ext cx="5486400" cy="1078992"/>
          </a:xfrm>
          <a:prstGeom prst="rect">
            <a:avLst/>
          </a:prstGeom>
          <a:solidFill>
            <a:srgbClr val="0A0522"/>
          </a:solidFill>
          <a:ln w="12700">
            <a:solidFill>
              <a:srgbClr val="442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53858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88FF"/>
                </a:solidFill>
              </a:rPr>
              <a:t>STEP 4 — DB migrations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632704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E7B7"/>
                </a:solidFill>
              </a:rPr>
              <a:t>alembic upgrade head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1874519"/>
            <a:ext cx="5486400" cy="1078992"/>
          </a:xfrm>
          <a:prstGeom prst="rect">
            <a:avLst/>
          </a:prstGeom>
          <a:solidFill>
            <a:srgbClr val="0A0522"/>
          </a:solidFill>
          <a:ln w="12700">
            <a:solidFill>
              <a:srgbClr val="442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82512" y="190195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88FF"/>
                </a:solidFill>
              </a:rPr>
              <a:t>STEP 5 — Start backend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148840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E7B7"/>
                </a:solidFill>
              </a:rPr>
              <a:t>uvicorn app.main:app --reload --host 0.0.0.0 --port 8000
# API: http://localhost:8000
# Docs: http://localhost:8000/docs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3035808"/>
            <a:ext cx="5486400" cy="1078992"/>
          </a:xfrm>
          <a:prstGeom prst="rect">
            <a:avLst/>
          </a:prstGeom>
          <a:solidFill>
            <a:srgbClr val="0A0522"/>
          </a:solidFill>
          <a:ln w="12700">
            <a:solidFill>
              <a:srgbClr val="442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30632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88FF"/>
                </a:solidFill>
              </a:rPr>
              <a:t>STEP 6 — Start frontend (new terminal)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3310128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E7B7"/>
                </a:solidFill>
              </a:rPr>
              <a:t>cd frontend
npm install
npm run dev
# App: http://localhost:5173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352" y="4197096"/>
            <a:ext cx="5486400" cy="1078992"/>
          </a:xfrm>
          <a:prstGeom prst="rect">
            <a:avLst/>
          </a:prstGeom>
          <a:solidFill>
            <a:srgbClr val="0A0522"/>
          </a:solidFill>
          <a:ln w="12700">
            <a:solidFill>
              <a:srgbClr val="442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82512" y="42245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88FF"/>
                </a:solidFill>
              </a:rPr>
              <a:t>STEP 7 — Create first admin user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471416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EE7B7"/>
                </a:solidFill>
              </a:rPr>
              <a:t>curl -X POST http://localhost:8000/api/auth/register \
  -H "Content-Type: application/json" \
  -d '{"email":"admin@example.com","password":"Admin1234!","role":"ADMIN"}'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5352" y="5358383"/>
            <a:ext cx="5486400" cy="1078992"/>
          </a:xfrm>
          <a:prstGeom prst="rect">
            <a:avLst/>
          </a:prstGeom>
          <a:solidFill>
            <a:srgbClr val="021510"/>
          </a:solidFill>
          <a:ln w="12700">
            <a:solidFill>
              <a:srgbClr val="1A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82512" y="53858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EE7B7"/>
                </a:solidFill>
              </a:rPr>
              <a:t>DONE — Open the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5632704"/>
            <a:ext cx="52120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6EFAC"/>
                </a:solidFill>
              </a:rPr>
              <a:t>http://localhost:5173
Log in with admin@example.com / Admin1234!
Backend Swagger: http://localhost:8000/docs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DCCAA"/>
                </a:solidFill>
              </a:rPr>
              <a:t>END-TO-END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OpenTelemetry Distributed Tracing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Instrument once · Route to any backend · One env var switches the entire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7132320" cy="4892040"/>
          </a:xfrm>
          <a:prstGeom prst="rect">
            <a:avLst/>
          </a:prstGeom>
          <a:solidFill>
            <a:srgbClr val="041220"/>
          </a:solidFill>
          <a:ln w="12700">
            <a:solidFill>
              <a:srgbClr val="1A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755648"/>
            <a:ext cx="6858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DCCAA"/>
                </a:solidFill>
              </a:rPr>
              <a:t>SPAN WATERFALL — EVERY AGENT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48840"/>
            <a:ext cx="6675120" cy="4572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2185416"/>
            <a:ext cx="6629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HTTP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395728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3C5FD"/>
                </a:solidFill>
              </a:rPr>
              <a:t>FastAPI middleware (auto)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98648"/>
            <a:ext cx="6217920" cy="457200"/>
          </a:xfrm>
          <a:prstGeom prst="rect">
            <a:avLst/>
          </a:prstGeom>
          <a:solidFill>
            <a:srgbClr val="53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" y="2935224"/>
            <a:ext cx="6172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agent.run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145536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4B5FD"/>
                </a:solidFill>
              </a:rPr>
              <a:t>agent.name · agent.model · latency_ms · guardrail_triggered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3648456"/>
            <a:ext cx="5303520" cy="45720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78992" y="3685032"/>
            <a:ext cx="5257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  llm.chat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8953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EE7B7"/>
                </a:solidFill>
              </a:rPr>
              <a:t>llm.provider=azure_openai · llm.model · tokens · response_length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4398264"/>
            <a:ext cx="4389120" cy="457200"/>
          </a:xfrm>
          <a:prstGeom prst="rect">
            <a:avLst/>
          </a:prstGeom>
          <a:solidFill>
            <a:srgbClr val="A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4434840"/>
            <a:ext cx="4343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  guardrails.check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645152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87171"/>
                </a:solidFill>
              </a:rPr>
              <a:t>pii_enabled · pii_triggered · hallucination_triggered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148072"/>
            <a:ext cx="3840480" cy="457200"/>
          </a:xfrm>
          <a:prstGeom prst="rect">
            <a:avLst/>
          </a:prstGeom>
          <a:solidFill>
            <a:srgbClr val="854F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8992" y="5184648"/>
            <a:ext cx="3794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  rag.query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5394960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BBF24"/>
                </a:solidFill>
              </a:rPr>
              <a:t>question_length · sources_found  (if RAG attached)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5897879"/>
            <a:ext cx="3200400" cy="457200"/>
          </a:xfrm>
          <a:prstGeom prst="rect">
            <a:avLst/>
          </a:prstGeom>
          <a:solidFill>
            <a:srgbClr val="0F3D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" y="5934455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    agent.worker ×N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6144767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EE7B7"/>
                </a:solidFill>
              </a:rPr>
              <a:t>worker_name  (multi-agent runs only)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7132320" cy="502920"/>
          </a:xfrm>
          <a:prstGeom prst="rect">
            <a:avLst/>
          </a:prstGeom>
          <a:solidFill>
            <a:srgbClr val="021810"/>
          </a:solidFill>
          <a:ln w="12700">
            <a:solidFill>
              <a:srgbClr val="1A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645566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EE7B7"/>
                </a:solidFill>
              </a:rPr>
              <a:t>trace_id written to AuditLog — every DB record links back to the full trace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1691640"/>
            <a:ext cx="3867912" cy="4892040"/>
          </a:xfrm>
          <a:prstGeom prst="rect">
            <a:avLst/>
          </a:prstGeom>
          <a:solidFill>
            <a:srgbClr val="041220"/>
          </a:solidFill>
          <a:ln w="12700">
            <a:solidFill>
              <a:srgbClr val="3355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01000" y="17556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99DD"/>
                </a:solidFill>
              </a:rPr>
              <a:t>KEY SPAN ATTRIBUTES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2148840"/>
            <a:ext cx="3867912" cy="658368"/>
          </a:xfrm>
          <a:prstGeom prst="rect">
            <a:avLst/>
          </a:prstGeom>
          <a:solidFill>
            <a:srgbClr val="08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863840" y="2148840"/>
            <a:ext cx="54864" cy="658368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973568" y="21762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llm.chat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3568" y="239572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model · tokens · latency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852928"/>
            <a:ext cx="3867912" cy="658368"/>
          </a:xfrm>
          <a:prstGeom prst="rect">
            <a:avLst/>
          </a:prstGeom>
          <a:solidFill>
            <a:srgbClr val="05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863840" y="2852928"/>
            <a:ext cx="54864" cy="65836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73568" y="288036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B5FD"/>
                </a:solidFill>
              </a:rPr>
              <a:t>agent.run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73568" y="309981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name · model · guardrail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3557016"/>
            <a:ext cx="3867912" cy="658368"/>
          </a:xfrm>
          <a:prstGeom prst="rect">
            <a:avLst/>
          </a:prstGeom>
          <a:solidFill>
            <a:srgbClr val="08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863840" y="3557016"/>
            <a:ext cx="54864" cy="65836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73568" y="358444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7171"/>
                </a:solidFill>
              </a:rPr>
              <a:t>guardrails.check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3568" y="38039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pii · hallucination flags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4261104"/>
            <a:ext cx="3867912" cy="658368"/>
          </a:xfrm>
          <a:prstGeom prst="rect">
            <a:avLst/>
          </a:prstGeom>
          <a:solidFill>
            <a:srgbClr val="05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863840" y="4261104"/>
            <a:ext cx="54864" cy="6583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973568" y="42885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BBF24"/>
                </a:solidFill>
              </a:rPr>
              <a:t>rag.query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73568" y="45079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sources_found · q_length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4965192"/>
            <a:ext cx="3867912" cy="658368"/>
          </a:xfrm>
          <a:prstGeom prst="rect">
            <a:avLst/>
          </a:prstGeom>
          <a:solidFill>
            <a:srgbClr val="08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863840" y="4965192"/>
            <a:ext cx="54864" cy="658368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73568" y="499262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EE7B7"/>
                </a:solidFill>
              </a:rPr>
              <a:t>rag.ingest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73568" y="52120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filename · chunk_count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5669280"/>
            <a:ext cx="3867912" cy="658368"/>
          </a:xfrm>
          <a:prstGeom prst="rect">
            <a:avLst/>
          </a:prstGeom>
          <a:solidFill>
            <a:srgbClr val="05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863840" y="5669280"/>
            <a:ext cx="54864" cy="65836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973568" y="56967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6EFAC"/>
                </a:solidFill>
              </a:rPr>
              <a:t>agent.worker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73568" y="5916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worker_name per step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</a:rPr>
              <a:t>MULTI-CLOUD 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E293B"/>
                </a:solidFill>
              </a:rPr>
              <a:t>One Codebase · Any Tracing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Set  OTEL_EXPORTER=&lt;value&gt;  in .env — no code changes, no redeployment needed.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91640"/>
            <a:ext cx="37673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3767328" cy="4572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74650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JAEGER  —  Self-Hosted Jaeger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19456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Default. Included in docker-compose.yml.
Jaeger UI: http://localhost:16686
OTLP ports: 4317 (gRPC) · 4318 (HTTP)
Zero extra cost. Data stays on-premise.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72968"/>
            <a:ext cx="3584448" cy="7132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32004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OTEL_EXPORTER=jaeger
OTEL_EXPORTER_OTLP_ENDPOINT=
  http://localhost:4318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1691640"/>
            <a:ext cx="37673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15968" y="1691640"/>
            <a:ext cx="3767328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25696" y="174650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AZURE  —  Azure Monitor /
App Insights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219456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Native Azure integration.
pip install azure-monitor-opentelemetry-exporter
Full APM: traces, logs, metrics in one place.
Works with Azure Dashboards &amp; Alerts.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3172968"/>
            <a:ext cx="3584448" cy="7132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32004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OTEL_EXPORTER=azure
AZURE_MONITOR_CONNECTION_STRING=
  InstrumentationKey=...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66176" y="1691640"/>
            <a:ext cx="37673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66176" y="1691640"/>
            <a:ext cx="3767328" cy="45720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174650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GCP  —  Google Cloud Trace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19456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Native GCP integration.
pip install opentelemetry-exporter-gcp-trace
Integrates with Cloud Logging &amp; Monitoring.
Auto-auth via Application Default Credentials.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6" y="3172968"/>
            <a:ext cx="3584448" cy="7132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30768" y="32004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OTEL_EXPORTER=gcp
GCP_PROJECT_ID=my-gcp-project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160520"/>
            <a:ext cx="37673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4160520"/>
            <a:ext cx="3767328" cy="4572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42153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</a:rPr>
              <a:t>AWS  —  AWS X-Ray
(via ADOT)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66344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Deploy AWS Distro for OpenTelemetry
(ADOT) as a sidecar or standalone collector.
Integrates with CloudWatch, X-Ray console.
No SDK changes — just point endpoint at ADOT.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641848"/>
            <a:ext cx="3584448" cy="7132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0352" y="566928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OTEL_EXPORTER=aws
OTEL_EXPORTER_OTLP_ENDPOINT=
  http://localhost:4318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15968" y="4160520"/>
            <a:ext cx="37673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15968" y="4160520"/>
            <a:ext cx="3767328" cy="457200"/>
          </a:xfrm>
          <a:prstGeom prst="rect">
            <a:avLst/>
          </a:prstGeom>
          <a:solidFill>
            <a:srgbClr val="632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25696" y="42153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DATADOG  —  Datadog APM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25696" y="466344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Run Datadog Agent with OTLP ingestion on.
Full Datadog APM: flamegraphs, service map,
error tracking, anomaly detection.
No Datadog SDK needed in your app.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07408" y="5641848"/>
            <a:ext cx="3584448" cy="7132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80560" y="566928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OTEL_EXPORTER=datadog
OTEL_EXPORTER_OTLP_ENDPOINT=
  http://localhost:4318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66176" y="4160520"/>
            <a:ext cx="376732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266176" y="4160520"/>
            <a:ext cx="3767328" cy="457200"/>
          </a:xfrm>
          <a:prstGeom prst="rect">
            <a:avLst/>
          </a:prstGeom>
          <a:solidFill>
            <a:srgbClr val="55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75904" y="42153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CONSOLE  —  Console / None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5904" y="4663440"/>
            <a:ext cx="3520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</a:rPr>
              <a:t>console: prints spans to terminal stdout.
Perfect for local dev &amp; debugging.
none: disables OTEL entirely.
Zero performance overhead when set to none.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57616" y="5641848"/>
            <a:ext cx="3584448" cy="7132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30768" y="566928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OTEL_EXPORTER=console
# or
OTEL_EXPORTER=none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0D8E8"/>
                </a:solidFill>
              </a:rPr>
              <a:t>STRATEGIC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Comes Next — AgentForge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214884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45720" cy="214884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920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1.  Azure AI Search (Vector RAG)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76272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Replace in-memory chunks with Azure AI Search for enterprise-scale document retrieval and true semantic vector similarity.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828800"/>
            <a:ext cx="3657600" cy="214884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70832" y="1828800"/>
            <a:ext cx="45720" cy="214884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2.  WebSocket Streaming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76272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Real-time token-by-token agent responses. Streaming already wired in the Azure client — frontend upgrade only.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4464" y="1828800"/>
            <a:ext cx="3657600" cy="214884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84464" y="1828800"/>
            <a:ext cx="45720" cy="214884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94192" y="1920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3.  Live Tool Credentials 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176272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Connect real Slack, GitHub, and email accounts via settings panel. Move from stubs to fully-live integrations.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0520"/>
            <a:ext cx="3657600" cy="214884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160520"/>
            <a:ext cx="45720" cy="21488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66928" y="4251959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4.  In-Browser Agent 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507992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Test any agent in a chat window directly in the builder — no API client needed. Instant iteration loop.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4160520"/>
            <a:ext cx="3657600" cy="214884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70832" y="4160520"/>
            <a:ext cx="45720" cy="21488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0" y="4251959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5.  Multi-Tenant Workspaces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507992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Isolated workspaces per team — separate agents, RAG indexes, audit logs, and quotas per tenant.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84464" y="4160520"/>
            <a:ext cx="3657600" cy="2148840"/>
          </a:xfrm>
          <a:prstGeom prst="rect">
            <a:avLst/>
          </a:prstGeom>
          <a:solidFill>
            <a:srgbClr val="102040"/>
          </a:solidFill>
          <a:ln w="6350">
            <a:solidFill>
              <a:srgbClr val="334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84464" y="4160520"/>
            <a:ext cx="45720" cy="2148840"/>
          </a:xfrm>
          <a:prstGeom prst="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94192" y="4251959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6.  OTEL Metrics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4507992"/>
            <a:ext cx="3474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D8E8"/>
                </a:solidFill>
              </a:rPr>
              <a:t>Add token usage counters, guardrail trigger rates, error rates as OTEL metrics — exported alongside traces.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34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34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DCCAA"/>
                </a:solidFill>
              </a:rPr>
              <a:t>DEPLOY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Up and Running in 3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10515600" cy="1005840"/>
          </a:xfrm>
          <a:prstGeom prst="rect">
            <a:avLst/>
          </a:prstGeom>
          <a:solidFill>
            <a:srgbClr val="011810"/>
          </a:solidFill>
          <a:ln w="12700">
            <a:solidFill>
              <a:srgbClr val="1A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9476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DCCAA"/>
                </a:solidFill>
              </a:rPr>
              <a:t>1 — CONFIGURE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cp .env.example .env        # add your Azure OpenAI keys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10515600" cy="1005840"/>
          </a:xfrm>
          <a:prstGeom prst="rect">
            <a:avLst/>
          </a:prstGeom>
          <a:solidFill>
            <a:srgbClr val="011810"/>
          </a:solidFill>
          <a:ln w="12700">
            <a:solidFill>
              <a:srgbClr val="1A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13639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DCCAA"/>
                </a:solidFill>
              </a:rPr>
              <a:t>2 — 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docker-compose up --build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97680"/>
            <a:ext cx="10515600" cy="1005840"/>
          </a:xfrm>
          <a:prstGeom prst="rect">
            <a:avLst/>
          </a:prstGeom>
          <a:solidFill>
            <a:srgbClr val="011810"/>
          </a:solidFill>
          <a:ln w="12700">
            <a:solidFill>
              <a:srgbClr val="1A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3251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DCCAA"/>
                </a:solidFill>
              </a:rPr>
              <a:t>3 —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http://localhost:5173         # frontend   |   :8000/docs  →  API explorer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577840"/>
            <a:ext cx="11274552" cy="18288"/>
          </a:xfrm>
          <a:prstGeom prst="rect">
            <a:avLst/>
          </a:prstGeom>
          <a:solidFill>
            <a:srgbClr val="1A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5715000"/>
            <a:ext cx="3657600" cy="384048"/>
          </a:xfrm>
          <a:prstGeom prst="rect">
            <a:avLst/>
          </a:prstGeom>
          <a:solidFill>
            <a:srgbClr val="02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>
                <a:solidFill>
                  <a:srgbClr val="6EE7B7"/>
                </a:solidFill>
              </a:rPr>
              <a:t>Project:  C:\Users\n.sureshmanikandan\Repo1\AgentForge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5715000"/>
            <a:ext cx="3657600" cy="384048"/>
          </a:xfrm>
          <a:prstGeom prst="rect">
            <a:avLst/>
          </a:prstGeom>
          <a:solidFill>
            <a:srgbClr val="02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>
                <a:solidFill>
                  <a:srgbClr val="6EE7B7"/>
                </a:solidFill>
              </a:rPr>
              <a:t>Commit:  8afe67d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5715000"/>
            <a:ext cx="3657600" cy="384048"/>
          </a:xfrm>
          <a:prstGeom prst="rect">
            <a:avLst/>
          </a:prstGeom>
          <a:solidFill>
            <a:srgbClr val="02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>
                <a:solidFill>
                  <a:srgbClr val="86EFAC"/>
                </a:solidFill>
              </a:rPr>
              <a:t>Tests:  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2431</Words>
  <Application>Microsoft Office PowerPoint</Application>
  <PresentationFormat>Custom</PresentationFormat>
  <Paragraphs>383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Natarajan, Suresh Manikandan</cp:lastModifiedBy>
  <cp:revision>3</cp:revision>
  <dcterms:created xsi:type="dcterms:W3CDTF">2013-01-27T09:14:16Z</dcterms:created>
  <dcterms:modified xsi:type="dcterms:W3CDTF">2026-07-10T13:17:53Z</dcterms:modified>
  <cp:category/>
</cp:coreProperties>
</file>