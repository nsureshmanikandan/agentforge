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⚡  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6366F1"/>
                </a:solidFill>
              </a:rPr>
              <a:t>Enterprise AI Agent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Version 12  · 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D9488"/>
                </a:solidFill>
              </a:rPr>
              <a:t>Build · Deploy · Govern AI Agents at Enterprise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</a:rPr>
              <a:t>CONFIDENTIAL —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1  ·  EXECUTIVE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949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AgentForge is a full-stack enterprise AI agent platform that lets teams build, deploy, and govern AI agents — without writing infrastructure from scratch.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3949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Agent Studio: create agents in minutes with multi-LLM support (GPT-4o, Gemini, Local).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53949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AI Architect: prompt → production-ready downloadable React + FastAPI codebase.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3949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1605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Voice Agents: conversational AI with Azure Speech TTS/STT, persona &amp; call recording.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53949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0749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Marketplace: 21+ enterprise templates — HR, Finance, IT, Legal, Healthcare and more.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371600"/>
            <a:ext cx="53949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4173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Knowledge Bases: RAG + Graph KB with LLM entity extraction &amp; interactive explorer.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286000"/>
            <a:ext cx="53949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317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Visual Workflow Builder: drag-and-drop multi-agent pipelines with human-in-the-loop.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00400"/>
            <a:ext cx="53949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Manager / Orchestrator Agents: route tasks across specialist sub-agents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114800"/>
            <a:ext cx="53949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605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Safety &amp; Guardrails: multi-layer content filtering, audit logs, traceability.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029200"/>
            <a:ext cx="539496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0749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Control Plane: real-time KPIs, version history, deployment gates.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1  ·  EXECUTIVE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5204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520440" cy="3291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538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Fragmented Tooling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19656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Teams use 5+ disconnected tools: prompt IDEs, vector DBs, CI/CD, monitoring, voice APIs — none talk to each other.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5204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417320"/>
            <a:ext cx="3520440" cy="3291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4538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Months to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819656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Building an AI agent from scratch takes 3–6 months of infra setup before any business logic is written.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35204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3520440" cy="3291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4538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819656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Enterprises cannot audit what agents said, which model version ran, or why a decision was made — a compliance risk.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35204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3520440" cy="3291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6941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Skill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059936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Most teams lack the ML + DevOps + cloud expertise needed to run agents reliably in production.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657600"/>
            <a:ext cx="35204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657600"/>
            <a:ext cx="3520440" cy="3291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36941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Cost Spiral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059936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Ad-hoc LLM usage has no cost visibility, no token budgeting, and no multi-model fallback strategy.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657600"/>
            <a:ext cx="352044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657600"/>
            <a:ext cx="3520440" cy="32918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36941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Voice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4059936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Building a production voice agent requires TTS, STT, endpointing, persona, and infra — weeks of effort.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1  ·  EXECUTIVE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Platform at a Glance — 12 Capability Pillars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6060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538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🤖 Agent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745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6060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4538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🎙️ Voice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8745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26060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4538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🏗️ AI 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8745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41732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417320"/>
            <a:ext cx="26060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145389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🛒 Marketplace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8745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10896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108960"/>
            <a:ext cx="26060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1455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📚 Knowledge Bases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3886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10896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3108960"/>
            <a:ext cx="26060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01568" y="31455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🔀 Workflow Builder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3886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10896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3108960"/>
            <a:ext cx="26060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31455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🧠 Manager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3886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10896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3108960"/>
            <a:ext cx="26060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53728" y="31455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🔬 Evaluations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3566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3728" y="3886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80060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800600"/>
            <a:ext cx="260604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48371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🛡️ Safety Engine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5257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480060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91840" y="4800600"/>
            <a:ext cx="26060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01568" y="48371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Control Plane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01568" y="5257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01568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480060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4800600"/>
            <a:ext cx="26060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27648" y="48371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📝 Prompt Library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7648" y="5257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27648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0" y="4800600"/>
            <a:ext cx="260604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44000" y="4800600"/>
            <a:ext cx="260604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53728" y="48371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👁️ Observability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53728" y="5257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✓ Fully implemented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53728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✓ Production-ready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1  ·  EXECUTIVE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C-Suite ROI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Reduction in agent
build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630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00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6×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Faster prototype
to 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00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$2M+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Estimated annual
infra savings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630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6002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Audit trail on every
agent interaction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63240"/>
            <a:ext cx="1143000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90672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Feature / Capability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090672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Time-to-Value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309067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Estimated Saving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9" y="309067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56432"/>
            <a:ext cx="11430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Agent Studio + Playground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4747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3–6 months → 1–2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59" y="3474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~$150K/agent saved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9" y="34747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587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AI Architect Code Generator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8587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8 weeks → 1 hour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38587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~$80K per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9" y="3858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24528"/>
            <a:ext cx="11430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2428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Voice 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24281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4 weeks → 30 min setup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59" y="42428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~$50K per voice 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9" y="424281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608576"/>
            <a:ext cx="11430000" cy="365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626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Marketplace Templates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462686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Instant reuse of 21 apps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59" y="46268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~$30K per template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9" y="46268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MED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992624"/>
            <a:ext cx="11430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0109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Graph Knowledge Bases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50109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Days of ETL → minutes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59" y="50109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~$20K per KB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19" y="50109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MED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376672"/>
            <a:ext cx="11430000" cy="365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394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Safety &amp; Audit Logs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5394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Manual review → automated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59" y="53949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Compliance risk ↓85%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19" y="5394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7790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Multi-LLM Flexibility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577900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Vendor lock-in eliminated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59" y="5779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Cost optimised 30–60%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19" y="57790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HIGH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6144768"/>
            <a:ext cx="11430000" cy="365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1630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Manager/Orchestrator Agents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31920" y="61630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Sequential → parallel 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59" y="61630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2–4× throughput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19" y="61630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HIGH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1  ·  EXECUTIVE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Business Value &amp; ROI Narrative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57784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💰 Cost Avoidance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Replaces 5+ point solutions (vector DB, TTS API, observability, CI/CD)
• Single platform licence vs. per-tool spend
• Self-hosted on Azure — no SaaS per-seat cost
• Estimated $500K–$2M avoided spend per year at enterprise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5778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57784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Speed to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38528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Agent Studio: working agent in &lt; 10 minutes
• AI Architect: full downloadable app in &lt; 2 hours
• Marketplace: reuse 21 pre-built enterprise apps instantly
• Voice Agent: from zero to live call in 30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5778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57784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🛡️ Risk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98848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Full audit trail: who ran what agent, which model, which output
• Safety guardrails block harmful / off-topic responses
• Version history + rollback on every agent
• RBAC: team roles control who can edit/deploy agents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023360"/>
            <a:ext cx="55778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5577840" cy="3840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📈 Revenue Enablement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98848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Voice Agents unlock 24/7 customer engagement at near-zero marginal cost
• Knowledge Graph KB surfaces cross-domain insights impossible manually
• Manager Agents parallelize analyst work → faster business decisions
• Published Projects share AI apps with clients/partners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1  ·  EXECUTIVE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Competitive Positioning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795760" cy="36576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44475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</a:rPr>
              <a:t>AgentForge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44475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Lyzr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44475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LangChain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44475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AutoGen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1444752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</a:rPr>
              <a:t>Flowise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10512"/>
            <a:ext cx="1179576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37943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Agent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83794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837943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837943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837943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1837943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⚠️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49424"/>
            <a:ext cx="11795760" cy="42062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768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Voice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2768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27685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27685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2768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227685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88336"/>
            <a:ext cx="1179576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71576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Code Generator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27157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7157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7157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7157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271576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127248"/>
            <a:ext cx="11795760" cy="42062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154679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Graph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154679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15467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15467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15467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5640" y="3154679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566160"/>
            <a:ext cx="1179576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593591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Marketplace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3593591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3593591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593591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359359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35640" y="3593591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005072"/>
            <a:ext cx="11795760" cy="42062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03250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Workflow Builder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86200" y="40325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97880" y="40325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⚠️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0325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⚠️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40325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35640" y="403250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443983"/>
            <a:ext cx="1179576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47141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Safety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86200" y="447141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7880" y="44714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⚠️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4714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600" y="447141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35640" y="447141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⚠️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882896"/>
            <a:ext cx="11795760" cy="42062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4910327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Local LLM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86200" y="4910327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97880" y="4910327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910327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⚠️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72600" y="4910327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35640" y="4910327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321808"/>
            <a:ext cx="11795760" cy="42062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53492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Audit Logs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86200" y="53492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80" y="5349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53492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72600" y="53492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35640" y="534924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760720"/>
            <a:ext cx="11795760" cy="42062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57881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Self-Hosted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86200" y="57881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97880" y="57881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35240" y="57881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72600" y="57881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F4444"/>
                </a:solidFill>
              </a:rPr>
              <a:t>❌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35640" y="5788152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0B981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1  ·  EXECUTIVE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KPIs &amp; Success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7432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366F1"/>
                </a:solidFill>
              </a:rPr>
              <a:t>6+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Agents 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</a:rPr>
              <a:t>Active in Studio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7432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56032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00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7C3AED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Voice Agents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</a:rPr>
              <a:t>Azure TTS/STT wired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7432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56032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600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21+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Marketplace Templates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80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</a:rPr>
              <a:t>Across 8 domains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463040"/>
            <a:ext cx="27432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2560320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600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9488"/>
                </a:solidFill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API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880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</a:rPr>
              <a:t>FastAPI routers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49039"/>
            <a:ext cx="27432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84632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86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9E0B"/>
                </a:solidFill>
              </a:rPr>
              <a:t>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54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Frontend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1663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</a:rPr>
              <a:t>React SPA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749039"/>
            <a:ext cx="27432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4846320"/>
            <a:ext cx="2743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3886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6366F1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754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KB Types Supported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51663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</a:rPr>
              <a:t>Basic + Graph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749039"/>
            <a:ext cx="27432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846320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886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D9488"/>
                </a:solidFill>
              </a:rPr>
              <a:t>3+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754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LLM Providers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1663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</a:rPr>
              <a:t>GPT, Gemini, Local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749039"/>
            <a:ext cx="274320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484632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3886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</a:rPr>
              <a:t>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7548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Workflow Steps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51663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</a:rPr>
              <a:t>Visual builder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1  ·  EXECUTIVE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78892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88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44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7190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Jul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01168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Agent Studio + Playground
• AI Architect Code Generator
• Voice Agents (TTS/STT)
• Marketplace 21+ templates
• Graph Knowledge Bases
• Manager/Orchestrator Agents
• Visual Workflow Builder
• Safety &amp; Guardrails
• Control Plane + Audit
• Multi-LLM (GPT/Gemini/Local)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78892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788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444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🔄 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7190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Aug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1168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Real-time voice WebSocket streaming
• Hotel + Expense agent flows (Lyzr demo)
• Architect V4 UI parity hardening
• Graph KB edge-weight UI
• Workflow conditional branching UI
• Evaluation benchmark suites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278892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2788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444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🗓 Planned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17190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Q3–Q4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01168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Multi-tenant SaaS packaging
• SSO (Azure AD / Okta)
• Agent marketplace publishing
• Fine-tuning pipeline integration
• On-prem deployment guide
• Mobile SDK for voice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417320"/>
            <a:ext cx="278892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417320"/>
            <a:ext cx="27889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7" y="1444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💡 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7" y="17190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2011680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Autonomous agent self-improvement
• Cross-org agent collaboration
• Regulated-industry compliance packs
• Edge deployment (IoT/mobile)
• Agent monetisation marketplace
• Federated KB across orgs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6366F1"/>
                </a:solidFill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9144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</a:rPr>
              <a:t>AgentForge is not another LLM wrapper.
It is the operating system for enterprise AI — the layer that turns raw model capability into governed, auditable, production-grade business logic.
Every agent built here is traceable, version-controlled, safe by default, and deployable in hours, not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46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9E0B"/>
                </a:solidFill>
              </a:rPr>
              <a:t>— Why AgentForge Matters to the Enterprise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77840"/>
            <a:ext cx="109728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9488"/>
                </a:solidFill>
              </a:rPr>
              <a:t>Build once · Govern always · Scale confidently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SECTION 2  ·  PLATFORM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2E8F0"/>
                </a:solidFill>
              </a:rPr>
              <a:t>Agent Studio · Voice Agents · AI Architect · Marketplace · Knowledge Bases · Workflows · Safety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Agent Studio — Create, Configure &amp; 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49039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Create AI agents in &lt; 10 minutes with a guided form
• Name, persona, system prompt, LLM model selection
• Attach tools, knowledge bases, and sub-agents
• Version history — roll back any agent to any prior state
• Test in Playground before deploying to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749039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813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Filter &amp; 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10512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All / Agent / Managerial / Superflow / Voice Agents tabs
• Voice badge on agent cards — instant visual identification
• Start Call button on Voice Agents
• Quick Generate: describe an agent → auto-fill form
• Visual Builder: drag-and-drop 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6576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813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Agent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810512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Agent — standard single-purpose (default)
• Managerial — orchestrates sub-agents
• Superflow — chained multi-step pipeline
• Voice Agent — real-time TTS/STT conversation
• Multi-LLM: GPT-4o · Gemini · Local (LM Studio)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164592"/>
            <a:ext cx="123444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48672" y="1828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NEW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Voice Agents — Conversational AI with Azure Speech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65760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365760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444752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🎤 Who Speaks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819656"/>
            <a:ext cx="34381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Choose whether the agent greets first or waits for the user to open the conversation.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65760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5760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444752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⚙️ Engine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819656"/>
            <a:ext cx="34381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Real-time (live voice streaming) or Turn-based (send/receive text-to-speech).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365760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17320"/>
            <a:ext cx="365760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1444752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🗣️ Voice Picker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1819656"/>
            <a:ext cx="34381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22 Azure neural voices — male/female, multiple accents, emotion styles.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46120"/>
            <a:ext cx="365760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246120"/>
            <a:ext cx="365760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273551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🌍 STT 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648456"/>
            <a:ext cx="34381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Speech-to-text language selection (English, Spanish, French, Hindi, and more).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246120"/>
            <a:ext cx="365760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246120"/>
            <a:ext cx="365760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3273551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👤 Persona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3648456"/>
            <a:ext cx="34381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System prompt for the voice agent's personality — formal, friendly, expert, etc.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246120"/>
            <a:ext cx="365760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246120"/>
            <a:ext cx="3657600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3273551"/>
            <a:ext cx="3438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📹 Call Recording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3648456"/>
            <a:ext cx="34381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Toggle to record conversation sessions with full transcript.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120640"/>
            <a:ext cx="1143000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19379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</a:rPr>
              <a:t>Architecture: Azure Speech REST TTS → httpx POST → MP3 blob → browser Audio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Custom-domain Azure endpoints use REST POST to /tts/cognitiveservices/v1 (SDK WebSocket path returns 404 on custom domains). Frontend play() error handling surfaces autoplay-blocked, session-expired, and Azure-key-missing errors with actionable messages. Play button disabled during audio playback to prevent overlapping TTS calls.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Architect — Prompt to Production Codebase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82296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  Describe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9164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Tell Architect what to build in plain English — app name, features, domain, tech stack.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6576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17320"/>
            <a:ext cx="82296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05740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  Sandbox 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69164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Architect generates a live interactive HTML sandbox you can interact with immediately.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6576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82296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5740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  Iterate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691640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Chat with Architect to refine, add features, change the data model, or swap tech choices.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20439"/>
            <a:ext cx="36576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20439"/>
            <a:ext cx="82296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  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94759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Download a fully-structured React + FastAPI project zip — deployable in &lt; 5 minutes.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520439"/>
            <a:ext cx="36576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520439"/>
            <a:ext cx="82296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16052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  Review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794759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V3 Reviewer checks: pipeline completeness, DB init, observability, Docker, model wiring.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520439"/>
            <a:ext cx="36576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520439"/>
            <a:ext cx="82296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160520"/>
            <a:ext cx="685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  Plan Completeness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794759"/>
            <a:ext cx="2606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Verifies every declared agent method is wired; every pipeline stage actually runs.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Marketplace — 21+ Enterprise App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88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HR &amp; People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HR Policy Assistant
→ Onboarding Bot
→ Leave Manager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788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Expense Analyzer
→ Budget Forecaster
→ Invoice Assistant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17320"/>
            <a:ext cx="2788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IT &amp; DevTools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IT Helpdesk
→ Code Reviewer
→ Incident Responder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417320"/>
            <a:ext cx="2788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7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Contract Analyzer
→ Compliance Checker
→ NDA 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77639"/>
            <a:ext cx="2788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Healthcare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Patient FAQ
→ Triage Assistant
→ Drug Lookup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3977639"/>
            <a:ext cx="2788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Data Insight Bot
→ KPI Narrator
→ Report Summarizer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977639"/>
            <a:ext cx="2788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Customer 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Support Chatbot
→ CSAT Analyzer
→ Escalation Router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3977639"/>
            <a:ext cx="2788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7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7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→ STORM Research Engine
→ Literature Summarizer
→ Hypothesis Generator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</a:rPr>
              <a:t>Filters: Use Cases · Integrations · LLM Model · Free test-data handoff included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235440" y="164592"/>
            <a:ext cx="14173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08592" y="18287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NEW: GRAPH KB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Knowledge Bases — Basic RAG + Graph KB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3949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Basic RAG Knowledge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56232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Upload PDF, DOCX, TXT, CSV — auto-chunked &amp; embedded
• pgvector similarity search with relevance scoring
• Suggested questions generated from KB content
• Attach to any agent for grounded responses
• Supports multiple files per KB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3949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Graph Knowledge Base  (NEW)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56232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LLM-powered entity &amp; relationship extraction at ingest
• Nodes = entities, Edges = semantic relationships
• Interactive force-directed graph explorer in UI
• Cross-document knowledge synthesis
• Ideal for: org charts, legal precedents, research papers, product catalogs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56248"/>
            <a:ext cx="11064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9488"/>
                </a:solidFill>
              </a:rPr>
              <a:t>Backend: pgvector (cosine) + NetworkX graph  ·  Frontend: D3 force layout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164592"/>
            <a:ext cx="86868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48672" y="18287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UPDATED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Prompt Library + Orchestration Pipelines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3949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Prompt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56232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Curated library of reusable system prompts
• Organised by domain: HR, Finance, Legal, IT, Research
• One-click apply to any agent in Agent Studio
• Import / export prompts across teams
• Tag, search, and version-control prompts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26280"/>
            <a:ext cx="539496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6360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Orchestration Pipelines  (ex-Blueprints)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65192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Define multi-step agent pipelines declaratively
• STORM Research Engine: deep-research multi-agent flow
• Batch CSV upload: run pipeline over hundreds of inputs at once
• Chain: Research → Draft → Review → Publish in one click
• Visualise pipeline execution in Workflow Observability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39496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STORM Research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856232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Multi-agent deep research pipeline
• Perspective generation → expert interviews → synthesis
• Outputs: structured report + citations + knowledge graph
• Batch mode: upload CSV of topics → run overnight
• Used for: competitive analysis, due diligence, literature review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Visual Workflow Builder — Multi-Agent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5661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Drag-and-Drop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3291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Add nodes: Agent · Input · Output · Condition · Integration
• Connect nodes with directed edges (data flows)
• Conditional routing: if/else branching by LLM output
• Human-in-the-Loop: approval gates pause pipeline for review
• Load existing workflows from saved library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35661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5270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Execution &amp;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856232"/>
            <a:ext cx="3291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Run workflows with real input from the UI
• Step-by-step trace: see each agent's input/output
• Workflow Observability: full execution history + logs
• Error surfacing: failed steps highlighted with reason
• Re-run from any failed step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17320"/>
            <a:ext cx="35661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5270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Enterprise Integration 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856232"/>
            <a:ext cx="3291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HTTP/REST: call any external API from a workflow
• Slack: post agent output to a channel
• Email: send structured reports automatically
• Database: read/write workflow state
• Custom: plug in any Python function as a node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Manager / Orchestrator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What Is a Manager Agent?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A top-level agent that receives a high-level goal
• Decomposes it into sub-tasks and routes each to a specialist sub-agent
• Collects sub-agent outputs and synthesises a final answer
• Supports parallel execution of independent sub-tasks
• Full audit trail: manager + all sub-agent calls logged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3949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56232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Customer query → route to HR / Finance / IT agent automatically
• Research brief → parallel research agents per topic area
• Code review → security agent + style agent + test agent in parallel
• Travel booking → flight agent + hotel agent + expense agent
• Legal contract → clause extractor + risk scorer + summary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00600"/>
            <a:ext cx="1124712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9103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ROI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39512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2–4× throughput vs sequential single-agent flows
• Specialisation: each sub-agent prompt-tuned for its domain
• Zero orchestration code: configured in UI, no glue code needed
• Managerial agent type visible in Agent Studio filter tab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Safety Engine &amp; Enterprise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7784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5389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1 — Input Filtering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74519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Blocks harmful, off-topic, or policy-violating inputs before LLM call
• Configurable keyword blocklists per agent
• PII detection and redaction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57784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57784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5389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2 — Output 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874519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Post-LLM content safety check on every response
• Hallucination risk scoring (grounding check vs KB)
• Confidence threshold gates — escalate when uncertain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557784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57784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96849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3 — Audit &amp; Traceability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38912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Every agent call logged: user, agent, model, input, output, latency
• Control Plane audit log with timestamp and token count
• Immutable log — no delete, only append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57784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57784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96849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4 —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389120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JWT authentication on all API endpoints
• Role-based: Admin · Member · Viewer
• Team management: invite, role-change, remove members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Control Plane, Audit Logs &amp; Workflow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Control Plane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Real-time KPIs: agents created, runs today, avg latency, token spend
• Per-agent version history with one-click rollback
• Deployment gates: approve before promoting to production
• Organisation-wide usage across all team members
• Export audit log as CSV for compliance teams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3949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Workflow Observability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56232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Full execution trace for every workflow run
• Step-level timing: see which node took longest
• Input/output captured at every node for debugging
• Filter by agent, date range, success/failure, user
• Link from Workflow Builder → live trace in one click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Multi-LLM Support — GPT · Gemini ·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5778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5778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5389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OpenAI 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74519"/>
            <a:ext cx="5349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GPT-4o, GPT-4o-mini, GPT-3.5-turbo
• Azure OpenAI endpoint support
• Function calling for tool-use agents
• Streaming responses in Playground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5778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5778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453896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Google 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874519"/>
            <a:ext cx="5349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gemini-2.5-flash-lite via AI Studio API
• Vertex AI blocked by Accenture IAM — AI Studio key used
• Flash-Lite: fast, cost-effective for high-volume agents
• Gemini 2.5 Pro available via model config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77639"/>
            <a:ext cx="55778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977639"/>
            <a:ext cx="55778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014215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Local LLM (LM Studio)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434840"/>
            <a:ext cx="5349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Any GGUF model via LM Studio local server
• Offline operation — no internet required
• OpenAI-compatible API on localhost:1234
• Privacy-first: no data leaves the machine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77639"/>
            <a:ext cx="557784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77639"/>
            <a:ext cx="557784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014215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Flexibility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434840"/>
            <a:ext cx="5349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• Per-agent model selection in Agent Studio
• Per-feature model override (architect vs. agents)
• Active model indicator in UI header
• Fallback chain: Primary → Secondary → Local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2  ·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Evaluations &amp; Agent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Agent Evaluations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Define test cases: input + expected output criteria
• Run batch evaluation across all test cases automatically
• Score: accuracy, relevance, safety, hallucination rate
• Compare scores across agent versions
• Export evaluation report for quality assurance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3949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Simulation Runner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56232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Simulate multi-turn conversations end-to-end
• Inject test personas: skeptical customer, irate user, expert
• Stress-test edge cases before production deployment
• Latency benchmarking per model/prompt combination
• Results feed into Control Plane quality 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SECTION 3  · 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2E8F0"/>
                </a:solidFill>
              </a:rPr>
              <a:t>Tech Stack · Database · API Map · Frontend · Voice · Security · Setup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Platform Architecture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64592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Frontend — React 18 SPA  (Vite + TypeScript + Tailwind)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9280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27 pages  ·  Axios API client  ·  React Router  ·  Recharts  ·  D3 Graph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963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1143000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16459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Backend — FastAPI  (Python 3.11)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272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16 API routers  ·  SQLAlchemy ORM  ·  Pydantic v2 schemas  ·  JWT auth  ·  httpx  ·  Azure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73075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86200"/>
            <a:ext cx="1143000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86200"/>
            <a:ext cx="16459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77639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Data Layer — PostgreSQL 16 + pgvector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6168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Agents · Voice configs · KB documents · Vectors · Projects · Audit logs · Workflow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96519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4155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0640"/>
            <a:ext cx="1143000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120640"/>
            <a:ext cx="16459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AI / External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5961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Azure OpenAI (GPT-4o)  ·  Google AI Studio (Gemini)  ·  Azure Speech (TTS/STT)  ·  LM Studio (Local)  ·  Azure FLUX (Images)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889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React 18
• TypeScript
• Vite
• Tailwind CSS
• React Router v6
• Axios
• Recharts
• D3.js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7889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Python 3.11
• FastAPI
• SQLAlchemy 2.x
• Pydantic v2
• Alembic
• Uvicorn
• httpx
• python-pptx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17320"/>
            <a:ext cx="27889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PostgreSQL 16
• pgvector
• pg8000
• psycopg2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417320"/>
            <a:ext cx="27889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7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/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Azure OpenAI GPT-4o
• Google Gemini Flash
• LM Studio GGUF
• Azure FLUX.2-pro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77639"/>
            <a:ext cx="27889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Azure Speech TTS
• Azure Speech STT
• REST API (httpx)
• MP3 streaming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3977639"/>
            <a:ext cx="27889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Auth /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JWT (python-jose)
• Passlib bcrypt
• RBAC roles
• CORS middleware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977639"/>
            <a:ext cx="27889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DevOps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Docker (planned)
• Vite proxy
• Uvicorn auto-reload
• Git worktrees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3977639"/>
            <a:ext cx="278892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7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7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pytest
• pytest-asyncio
• httpx test client
• Simulation runner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Schema — PostgreSQL 16 + pgvector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88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id (PK)
  email UNIQUE
  hashed_password
  full_name
  role
  org_id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788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id (PK)
  name
  description
  system_prompt
  model
  agent_type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17320"/>
            <a:ext cx="2788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voice_configs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id (PK)
  agent_id (FK)
  tts_voice
  stt_language
  engine_mode
  who_speaks_first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17320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417320"/>
            <a:ext cx="2788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7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knowledge_bases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5167" y="1874519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id (PK)
  name
  description
  kb_type (basic|graph)
  owner_id (FK)
  created_at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77639"/>
            <a:ext cx="2788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kb_documents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id (PK)
  kb_id (FK)
  filename
  content
  embedding VECTOR(1536)
  metadata JSONB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3977639"/>
            <a:ext cx="2788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projects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id (PK)
  title
  description
  visibility
  owner_id (FK)
  files JSONB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977639"/>
            <a:ext cx="2788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audit_logs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id (PK)
  user_id (FK)
  agent_id (FK)
  action
  input
  output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3977639"/>
            <a:ext cx="27889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3977639"/>
            <a:ext cx="2788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7" y="40142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workflow_runs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7" y="4434840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  id (PK)
  workflow_id
  user_id (FK)
  steps JSONB
  status
  started_at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API Module Map — 16 FastAPI Routers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3154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44475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Login, register, JWT refresh, change password, /me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51076"/>
            <a:ext cx="11430000" cy="3154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785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7850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CRUD, run, generate-from-prompt, suggest-input, active-model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84832"/>
            <a:ext cx="11430000" cy="3154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122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11226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Agents list, status, voices, STT langs, synthesize, chat-text, configs, logs, traces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18588"/>
            <a:ext cx="11430000" cy="3154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460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4460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KB CRUD, file upload, query, suggested-questions, graph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52344"/>
            <a:ext cx="11430000" cy="3154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77977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/api/architect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779775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Chat, generate-project, extract-doc-text, sandbox-to-apptsx, generate-UI, version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86100"/>
            <a:ext cx="11430000" cy="3154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135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/api/projects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11353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CRUD, visibility, trash, restore, permanent-delete, shared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19856"/>
            <a:ext cx="11430000" cy="3154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447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/api/control-plane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44728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Stats, audit-logs, agent versions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53611"/>
            <a:ext cx="11430000" cy="3154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7810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378104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Run batch test cases against an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87368"/>
            <a:ext cx="11430000" cy="3154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114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/api/evaluations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114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Create/run evals, score results, history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421124"/>
            <a:ext cx="11430000" cy="3154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4485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4448556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Guardrail config, content filter rules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754880"/>
            <a:ext cx="11430000" cy="3154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782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478231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Tool registry — list, register, test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088636"/>
            <a:ext cx="11430000" cy="3154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1160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/api/builder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511606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Visual workflow save/load/run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422392"/>
            <a:ext cx="11430000" cy="3154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4498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544982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List, invite, role-update, remove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756148"/>
            <a:ext cx="11430000" cy="3154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7835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/api/api-keys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57835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List, create, delete API keys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6089903"/>
            <a:ext cx="11430000" cy="3154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117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/api/prompt-library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6117336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List, create, update, delete prompts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423659"/>
            <a:ext cx="11430000" cy="31546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64510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/api/marketplace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64510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Template list, filter, handoff test data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Frontend Page Map — 27 Pages  ·  React 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78892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7889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74519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/studio (Agent Studio)
• /studio/create (Create Agent)
• /playground/:id
• /voice (Voice Agents)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278892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7889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74519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/architect (Architect)
• /architect/home
• /builder (Visual Builder)
• /marketplace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278892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27889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74519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/knowledge-bases
• /prompts (Prompt Library)
• /what-to-build
• /evaluations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1417320"/>
            <a:ext cx="278892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60" y="1417320"/>
            <a:ext cx="27889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1453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1874519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/projects (My Projects)
• /published
• /shared
• /projects/:id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278892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23360"/>
            <a:ext cx="27889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0599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48056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/dashboard (Control Plane)
• /usage (Traceability)
• /workflow-runs (Observability)
• /safety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4023360"/>
            <a:ext cx="278892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4023360"/>
            <a:ext cx="27889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288" y="40599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448056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/team (Team Members)
• /api-keys
• /settings
• /profile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023360"/>
            <a:ext cx="278892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023360"/>
            <a:ext cx="278892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0599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48056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• /login
• /approval (HITL Approval)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Voice Agent Architecture — Azure Speech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6916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6916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490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90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User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83664"/>
            <a:ext cx="1554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Text input in Voice Chat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31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59152" y="1463040"/>
            <a:ext cx="16916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463040"/>
            <a:ext cx="16916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32304" y="1490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1490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POST /voice/chat-text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1883664"/>
            <a:ext cx="1554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Agent runs LLM call → text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331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463040"/>
            <a:ext cx="16916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1104" y="1463040"/>
            <a:ext cx="16916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1490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1490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POST /voice/synthesize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1883664"/>
            <a:ext cx="1554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Backend calls Azure TTS REST API via httpx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2331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63056" y="1463040"/>
            <a:ext cx="16916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3056" y="1463040"/>
            <a:ext cx="16916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1490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1490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Azure Speech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1883664"/>
            <a:ext cx="1554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Returns MP3 audio bytes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6" y="2331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65008" y="1463040"/>
            <a:ext cx="16916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65008" y="1463040"/>
            <a:ext cx="16916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490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1490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Blob 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1883664"/>
            <a:ext cx="1554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Frontend creates object URL from MP3 blob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8" y="23317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1463040"/>
            <a:ext cx="16916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66960" y="1463040"/>
            <a:ext cx="16916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40112" y="1490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6688" y="1490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Audio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1883664"/>
            <a:ext cx="1554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Browser plays audio  ·  play button disabled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611880"/>
            <a:ext cx="539496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37216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Error Handling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050791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NotAllowedError: browser autoplay blocked → show message pointing to ▶ replay button
• 503: Azure Speech key not configured → actionable message to add to .env
• 401: session expired → redirect to login
• Play button disabled during playback → re-enabled on audio.onended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611880"/>
            <a:ext cx="539496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37216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Custom Domain Note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050791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Standard Azure regions: Speech SDK WebSocket works normally
• Custom-domain Cognitive Services (e.g. agentforgeai-resource.cognitiveservices.azure.com):
•   SDK converts https:// → wss:// → 404 on WebSocket path
•   Fix: httpx REST POST to /tts/cognitiveservices/v1 directly
• AZURE_SPEECH_ENDPOINT env var triggers REST path; absent = SDK path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Developer Setup Guide — Part 1: 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Prerequisites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Python 3.11+   ·   Node 18+   ·   PostgreSQL 16 + pgvector   ·   Git   ·   Azure account (for Speech + OpenAI)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114300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408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</a:rPr>
              <a:t>1. Clone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340864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git clone &lt;repo&gt;  &amp;&amp;  cd AgentForge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52928"/>
            <a:ext cx="11430000" cy="52120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077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</a:rPr>
              <a:t>2. Create venv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0779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cd backend  &amp;&amp;  python -m venv venv  &amp;&amp;  venv\Scripts\activate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19856"/>
            <a:ext cx="114300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</a:rPr>
              <a:t>3. Install deps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474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pip install -r requirements.txt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86783"/>
            <a:ext cx="11430000" cy="52120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7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</a:rPr>
              <a:t>4. Configure .env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041647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Copy .env.example → .env  ·  Set OPENAI_API_KEY / GEMINI_API_KEY / AZURE_SPEECH_KEY / AZURE_SPEECH_ENDPOINT / DATABASE_URL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53712"/>
            <a:ext cx="114300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085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</a:rPr>
              <a:t>5. Init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60857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alembic upgrade head   (runs all migrations including pgvector extension)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20640"/>
            <a:ext cx="11430000" cy="521207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175503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</a:rPr>
              <a:t>6. Start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175503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python start.ps1   OR   uvicorn app.main:app --reload --port 8000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687568"/>
            <a:ext cx="114300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742431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</a:rPr>
              <a:t>7.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5742431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curl http://localhost:8000/api/architect/version  →  {"version":"..."}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Developer Setup Guide — Part 2: Frontend &amp; Env Vars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721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</a:rPr>
              <a:t>1. Install deps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47218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cd frontend  &amp;&amp;  npm install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84248"/>
            <a:ext cx="11430000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391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</a:rPr>
              <a:t>2. Start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039112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npm run dev  →  http://localhost:5173  (proxied to :8000)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51176"/>
            <a:ext cx="11430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</a:rPr>
              <a:t>3. Build 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0604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npm run build  →  dist/  (serve with nginx or Vite preview)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18104"/>
            <a:ext cx="11430000" cy="502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729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</a:rPr>
              <a:t>4. 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17296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</a:rPr>
              <a:t>Open http://localhost:5173/login  →  Register first admin account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1143000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76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Environment Variables (.env)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69663"/>
            <a:ext cx="1143000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970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OPENAI_API_KEY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1970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Azure OpenAI key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98848"/>
            <a:ext cx="11430000" cy="31089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5262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OPENAI_API_BASE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52628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Azure OpenAI endpoint URL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28031"/>
            <a:ext cx="1143000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8554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GEMINI_API_KEY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85546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Google AI Studio key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57216"/>
            <a:ext cx="11430000" cy="31089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1846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AZURE_SPEECH_KEY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18464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Azure Speech cognitive key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486400"/>
            <a:ext cx="1143000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5138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AZURE_SPEECH_ENDPOINT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51383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</a:rPr>
              <a:t>Custom domain endpoint (optional)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15583"/>
            <a:ext cx="11430000" cy="31089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84301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AZURE_SPEECH_REGION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84301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Region (e.g. eastus) — used if no endpoint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144768"/>
            <a:ext cx="11430000" cy="31089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1722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DATABASE_URL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6172200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</a:rPr>
              <a:t>postgresql://user:pass@host:5432/agentforge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473952"/>
            <a:ext cx="11430000" cy="31089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50138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</a:rPr>
              <a:t>SECRET_KEY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6501384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F4444"/>
                </a:solidFill>
              </a:rPr>
              <a:t>JWT signing secret — change in production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SECTION 4  ·  HOW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2E8F0"/>
                </a:solidFill>
              </a:rPr>
              <a:t>Step-by-step guides for all major features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4  ·  HOW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To Use: Agent Studio &amp; Voice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Create a Regular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Go to Agent Studio → New Agent
• 2. Enter Agent Name (e.g. 'HR Policy Bot')
• 3. Write a system prompt describing the agent's role
• 4. Select LLM model (GPT-4o / Gemini / Local)
• 5. Click Save → agent appears in Studio grid
• 6. Click Test → opens Playground with your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3949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Create a Voice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56232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New Agent → enable 'Voice Agent' toggle
• 2. Configure: Who Speaks First, Engine Mode
• 3. Pick a voice from the 22 Azure neural voices
• 4. Set STT language and write a persona prompt
• 5. Toggle Call Recording if needed
• 6. Save → appears with 🎙 Voice badge in Studio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00600"/>
            <a:ext cx="1124712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9103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Test Your Voice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39512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Agent Studio → Voice Agents tab → Start Call
• 2. OR: navigate to Voice Agents page from sidebar
• 3. Select your agent from the dropdown
• 4. Type a message and press Send
• 5. Click ▶ on any agent message to hear it (first interaction unblocks autoplay)
• 6. Check Voice Chat logs for full call transcript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4  ·  HOW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To Use: AI Architect &amp; Marketplace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Build an App with Architect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512064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Click Architect in sidebar → New session
• 2. Describe your app: 'Build a legal contract analyzer with RAG and a dashboard'
• 3. Architect generates a live interactive sandbox — click elements to test
• 4. Chat to iterate: 'Add a PDF upload panel' / 'Change the sidebar to dark mode'
• 5. Click Download → get a full React + FastAPI zip
• 6. Reviewer V3 checks run automatically on download — fixes applied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3949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Use the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56232"/>
            <a:ext cx="5120640" cy="292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Navigate to Marketplace in sidebar
• 2. Filter by: Use Case (HR / Finance / IT) · Integration · LLM Model
• 3. Click a template → see description, agent config, test data
• 4. Click 'Use Template' → creates agent in Agent Studio
• 5. Edit the agent persona and system prompt for your org
• 6. Click Test → runs with included test data automatically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74920"/>
            <a:ext cx="1124712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1846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Publish &amp; Share a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513831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Architect → Save to Projects after building
• 2. My Projects → select project → Set Visibility → Published / Shared
• 3. Add team members' emails for shared access
• 4. Published Projects page: all org-wide published apps visible to team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4  ·  HOW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To Use: Knowledge Bases &amp; Workflow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Create a Basic RAG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Knowledge Bases → New Knowledge Base → type: Basic
• 2. Click Upload → add PDF / DOCX / TXT / CSV
• 3. Files are chunked, embedded, stored in pgvector
• 4. Test with Suggested Questions auto-generated from content
• 5. Attach KB to an agent in Agent Studio → agent now cites KB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39496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2704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Create a Graph KB (NEW)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56232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Knowledge Bases → New Knowledge Base → type: Graph
• 2. Upload documents — LLM extracts entities + relationships
• 3. Open Graph Explorer → interactive D3 force diagram
• 4. Click nodes to see entity details and related documents
• 5. Attach to agent for cross-document knowledge synthesis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00600"/>
            <a:ext cx="11247120" cy="1691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9103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Build a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39512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Visual Builder → New Workflow
• 2. Drag: Input node → Agent node(s) → Condition node → Output node
• 3. Connect nodes with edges (drag from output port to input port)
• 4. Add Human-in-the-Loop gate: Approval node pauses for review
• 5. Click Run with test input → trace execution in Workflow Observability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64592"/>
            <a:ext cx="237744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SECTION 4  ·  HOW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</a:rPr>
              <a:t>How To Use: Playground, Control Plane &amp; Prompt Library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5661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270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Test in Playground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3291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Agent Studio → select agent → Test button
• 2. Playground opens with agent system prompt visible
• 3. Type a message → see LLM response + latency
• 4. Suggest Input: click to auto-generate a realistic test query
• 5. Check Traceability → Usage page for full call log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35661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5270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Control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856232"/>
            <a:ext cx="3291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Control Plane in sidebar → Dashboard tab
• 2. View: total agents, runs today, avg latency, errors
• 3. Audit Logs: filter by user/agent/date/status
• 4. Versions: click any agent → see full version history
• 5. Export: download CSV audit log for 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17320"/>
            <a:ext cx="356616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52704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Prompt Library &amp; Pipelines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856232"/>
            <a:ext cx="3291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1. Prompt Library in sidebar
• 2. Browse by domain or search
• 3. Click 'Apply' to load into Agent Studio system prompt
• 4. Orchestration Pipelines tab → pre-built multi-agent flows
• 5. STORM Engine: enter topic → runs deep research pipeline
• 6. Batch CSV: upload topics → runs overnight, downloads report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⚡  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366F1"/>
                </a:solidFill>
              </a:rPr>
              <a:t>Build · Deploy · Govern AI Agents at Enterprise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Version 12  ·  July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10972800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0D9488"/>
                </a:solidFill>
              </a:rPr>
              <a:t>Questions?  Let's build.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</a:rPr>
              <a:t>CONFIDENTIAL — For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