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ENTERPRISE AI AGENT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AgentForge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8E8"/>
                </a:solidFill>
              </a:rPr>
              <a:t>Build, orchestrate, test, and govern production-grade AI agents — visually.
No boilerplate. No vendor lock-in. Azure-native.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11274552" cy="18288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743200" cy="384048"/>
          </a:xfrm>
          <a:prstGeom prst="rect">
            <a:avLst/>
          </a:prstGeom>
          <a:solidFill>
            <a:srgbClr val="1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60A5FA"/>
                </a:solidFill>
              </a:rPr>
              <a:t>13 Enterprise 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3108960"/>
            <a:ext cx="2743200" cy="384048"/>
          </a:xfrm>
          <a:prstGeom prst="rect">
            <a:avLst/>
          </a:prstGeom>
          <a:solidFill>
            <a:srgbClr val="0F3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86EFAC"/>
                </a:solidFill>
              </a:rPr>
              <a:t>32 / 32 Tests Passing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108960"/>
            <a:ext cx="2743200" cy="384048"/>
          </a:xfrm>
          <a:prstGeom prst="rect">
            <a:avLst/>
          </a:prstGeom>
          <a:solidFill>
            <a:srgbClr val="2D1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C4B5FD"/>
                </a:solidFill>
              </a:rPr>
              <a:t>RBAC + Audit Logs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3108960"/>
            <a:ext cx="2743200" cy="384048"/>
          </a:xfrm>
          <a:prstGeom prst="rect">
            <a:avLst/>
          </a:prstGeom>
          <a:solidFill>
            <a:srgbClr val="3D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BBF24"/>
                </a:solidFill>
              </a:rPr>
              <a:t>PII Guardrails Built-in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88"/>
                </a:solidFill>
              </a:rPr>
              <a:t>React 18 · Vite · TypeScript · ReactFlow · Zustand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776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88"/>
                </a:solidFill>
              </a:rPr>
              <a:t>Python 3.12 · FastAPI · SQLAlchemy · LangChain · Presidio · PostgreSQL + pgvector · 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5996" y="-1371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 dirty="0">
                <a:solidFill>
                  <a:srgbClr val="112545"/>
                </a:solidFill>
              </a:rPr>
              <a:t>AF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AgentForge — Leadership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AgentForge is an enterprise-grade, self-hosted AI agent platform that enables teams to design, deploy, test, and govern intelligent automation workflows — visually, without deep ML expertise, on Azure infrastructure.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4552" cy="1051560"/>
          </a:xfrm>
          <a:prstGeom prst="rect">
            <a:avLst/>
          </a:prstGeom>
          <a:solidFill>
            <a:srgbClr val="081830"/>
          </a:solidFill>
          <a:ln w="952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54864" cy="10515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837943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671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Building production AI agents today requires months of development, deep Python expertise, and custom-built safety guardrails — a high-cost, high-risk endeavour.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44368"/>
            <a:ext cx="11274552" cy="1051560"/>
          </a:xfrm>
          <a:prstGeom prst="rect">
            <a:avLst/>
          </a:prstGeom>
          <a:solidFill>
            <a:srgbClr val="081830"/>
          </a:solidFill>
          <a:ln w="9525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944368"/>
            <a:ext cx="54864" cy="105156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9992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28415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AgentForge provides a drag-drop visual builder, GPT-4o prompt-to-agent generation, built-in PII/hallucination guardrails, simulation testing, and a full control plane — out of the box.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05656"/>
            <a:ext cx="11274552" cy="1051560"/>
          </a:xfrm>
          <a:prstGeom prst="rect">
            <a:avLst/>
          </a:prstGeom>
          <a:solidFill>
            <a:srgbClr val="081830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4105656"/>
            <a:ext cx="54864" cy="10515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BUSINESS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8970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10× faster agent creation · Zero compliance exposure via always-on guardrails · Full audit trail for regulated industries · Self-hosted on Azure — no SaaS lock-in.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66944"/>
            <a:ext cx="11274552" cy="1051560"/>
          </a:xfrm>
          <a:prstGeom prst="rect">
            <a:avLst/>
          </a:prstGeom>
          <a:solidFill>
            <a:srgbClr val="081830"/>
          </a:solidFill>
          <a:ln w="9525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5266944"/>
            <a:ext cx="54864" cy="105156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32180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B5FD"/>
                </a:solidFill>
              </a:rPr>
              <a:t>COMPETITIVE 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509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Only platform combining visual canvas + Azure-native + self-hosted + guardrails + simulation. Beats Flowise, Langflow, Dify, CrewAI, and MS Copilot Studio on all six dimensions.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Enterprise AI agents are broken by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566160" cy="320040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45720" cy="3200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01168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🧱  Code-Heavy Barrier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67712"/>
            <a:ext cx="338327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Most frameworks demand deep Python expertise
before a single agent can run in production.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920240"/>
            <a:ext cx="3566160" cy="320040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920240"/>
            <a:ext cx="45720" cy="3200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201168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🚨  Zero 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67712"/>
            <a:ext cx="338327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Open-source tools ship with no PII protection
or hallucination checks — a compliance risk.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4" y="1920240"/>
            <a:ext cx="3566160" cy="320040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84464" y="1920240"/>
            <a:ext cx="45720" cy="3200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94192" y="201168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🌑  Black-Box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267712"/>
            <a:ext cx="338327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No way to observe, version, test or audit what
agents actually do after they are deployed.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94960"/>
            <a:ext cx="11274552" cy="914400"/>
          </a:xfrm>
          <a:prstGeom prst="rect">
            <a:avLst/>
          </a:prstGeom>
          <a:solidFill>
            <a:srgbClr val="11082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440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AgentForge solves all three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Visual builder  ·  Enterprise guardrails  ·  Full observability  —  one Azure-native, self-hosted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PLATFORM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</a:rPr>
              <a:t>What AgentForge delivers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4572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14996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Visual Agent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75564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Drag-drop ReactFlow canvas. Compose full
multi-agent pipelines with no code.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137160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70832" y="1371600"/>
            <a:ext cx="3657600" cy="45720"/>
          </a:xfrm>
          <a:prstGeom prst="rect">
            <a:avLst/>
          </a:prstGeom>
          <a:solidFill>
            <a:srgbClr val="53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98848" y="14996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Prompt-to-Agent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75564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One English sentence → GPT-4o generates
name, system prompt, tools &amp; guardrails.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4464" y="137160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84464" y="1371600"/>
            <a:ext cx="3657600" cy="4572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14996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Multi-Agent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75564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Manager agent delegates to workers.
Each worker runs its own guardrails pass.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3657600" cy="45720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3877055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RAG Knowledge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4133087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Ingest PDFs &amp; docs via LangChain.
Grounded answers with source citations.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0832" y="3749039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70832" y="3749039"/>
            <a:ext cx="3657600" cy="4572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98848" y="3877055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Enterprise Guardrails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133087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Presidio PII redaction + hallucination
detection baked into every agent run.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84464" y="3749039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84464" y="3749039"/>
            <a:ext cx="3657600" cy="4572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3877055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Control Plane &amp;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133087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Live stats, full run history, versioning,
guardrail triggers, RBAC enforcement.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BUSINESS VALUE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Return on Investment — Why AgentForge Pays for Itself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2743200" cy="1234440"/>
          </a:xfrm>
          <a:prstGeom prst="rect">
            <a:avLst/>
          </a:prstGeom>
          <a:solidFill>
            <a:srgbClr val="185FA5"/>
          </a:solidFill>
          <a:ln w="952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10×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A5FA"/>
                </a:solidFill>
              </a:rPr>
              <a:t>Faster Agent
Creation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325880"/>
            <a:ext cx="2743200" cy="1234440"/>
          </a:xfrm>
          <a:prstGeom prst="rect">
            <a:avLst/>
          </a:prstGeom>
          <a:solidFill>
            <a:srgbClr val="0F6E56"/>
          </a:solidFill>
          <a:ln w="9525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965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6EFAC"/>
                </a:solidFill>
              </a:rPr>
              <a:t>Guardrail
Compliance Add-On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2743200" cy="1234440"/>
          </a:xfrm>
          <a:prstGeom prst="rect">
            <a:avLst/>
          </a:prstGeom>
          <a:solidFill>
            <a:srgbClr val="533AB7"/>
          </a:solidFill>
          <a:ln w="9525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4B5FD"/>
                </a:solidFill>
              </a:rPr>
              <a:t>Audit Coverage
Every 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325880"/>
            <a:ext cx="2743200" cy="1234440"/>
          </a:xfrm>
          <a:prstGeom prst="rect">
            <a:avLst/>
          </a:prstGeom>
          <a:solidFill>
            <a:srgbClr val="854F0B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1965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BBF24"/>
                </a:solidFill>
              </a:rPr>
              <a:t>Commands
to Production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43200"/>
            <a:ext cx="36576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743200"/>
            <a:ext cx="3657600" cy="4572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28712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Development Speed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3127248"/>
            <a:ext cx="34290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Traditional agent builds: 6-12 weeks of engineering.
AgentForge: prompt-to-agent in &lt; 60 seconds.
Estimated saving: 3-6 developer-weeks per agent.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0832" y="2743200"/>
            <a:ext cx="36576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70832" y="2743200"/>
            <a:ext cx="3657600" cy="4572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98848" y="28712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Compliance Risk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3127248"/>
            <a:ext cx="34290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Built-in Presidio PII redaction eliminates GDPR / HIPAA
exposure on every run — no add-on licensing required.
Audit logs satisfy regulatory review in minutes.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84464" y="2743200"/>
            <a:ext cx="36576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84464" y="2743200"/>
            <a:ext cx="3657600" cy="45720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28712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SaaS Cost Avoidance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127248"/>
            <a:ext cx="34290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Lyzr Architect: ~$2,000+/mo SaaS. Dify Cloud: per-seat.
AgentForge: self-hosted on existing Azure subscription.
Break-even at first agent deployed.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09160"/>
            <a:ext cx="36576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4709160"/>
            <a:ext cx="3657600" cy="45720"/>
          </a:xfrm>
          <a:prstGeom prst="rect">
            <a:avLst/>
          </a:prstGeom>
          <a:solidFill>
            <a:srgbClr val="53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5216" y="483717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Quality Assurance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" y="5093208"/>
            <a:ext cx="34290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Simulation engine runs regression tests pre-deployment.
Only agents with configurable pass-rate (e.g. 90%) promote.
Reduces production incidents from agent drift.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70832" y="4709160"/>
            <a:ext cx="36576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70832" y="4709160"/>
            <a:ext cx="3657600" cy="4572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98848" y="483717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Talent Leverage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5093208"/>
            <a:ext cx="34290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Non-ML staff can build production agents via visual canvas.
Reduces dependency on scarce AI engineers.
Config-driven guardrails require zero ML knowledge.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84464" y="4709160"/>
            <a:ext cx="36576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84464" y="4709160"/>
            <a:ext cx="3657600" cy="4572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80" y="483717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Vendor Independence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093208"/>
            <a:ext cx="34290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No SaaS lock-in — run on any Azure subscription or on-prem.
Switch tracing backends (Jaeger → Azure Monitor) in 1 env var.
Open architecture: swap LLMs without code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AgentForge — Layered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806440"/>
            <a:ext cx="11274552" cy="566928"/>
          </a:xfrm>
          <a:prstGeom prst="rect">
            <a:avLst/>
          </a:prstGeom>
          <a:solidFill>
            <a:srgbClr val="051A38"/>
          </a:solidFill>
          <a:ln w="127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58430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85FA5"/>
                </a:solidFill>
              </a:rPr>
              <a:t>AZURE AI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80759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Azure OpenAI GPT-4o  ·  Azure OpenAI GPT-4.5  ·  Azure AI Search (RAG)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74920"/>
            <a:ext cx="11274552" cy="658368"/>
          </a:xfrm>
          <a:prstGeom prst="rect">
            <a:avLst/>
          </a:prstGeom>
          <a:solidFill>
            <a:srgbClr val="022018"/>
          </a:solidFill>
          <a:ln w="1270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511149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6E56"/>
                </a:solidFill>
              </a:rPr>
              <a:t>DATA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349240"/>
            <a:ext cx="10972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PostgreSQL 16 + pgvector  ·  Alembic Migrations  ·  SQLAlchemy 2.0 Async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77639"/>
            <a:ext cx="11274552" cy="1005840"/>
          </a:xfrm>
          <a:prstGeom prst="rect">
            <a:avLst/>
          </a:prstGeom>
          <a:solidFill>
            <a:srgbClr val="120830"/>
          </a:solidFill>
          <a:ln w="12700">
            <a:solidFill>
              <a:srgbClr val="53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01421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33AB7"/>
                </a:solidFill>
              </a:rPr>
              <a:t>CORE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51959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AgentOrchestrator (single + multi-agent)  ·  GuardrailsEngine (Presidio PII + Hallucination)  ·  RAGEngine (LangChain)  ·  SimulationRunner  ·  ToolRegistry (7 tools)  ·  PromptToAgent (GPT-4o)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11274552" cy="960120"/>
          </a:xfrm>
          <a:prstGeom prst="rect">
            <a:avLst/>
          </a:prstGeom>
          <a:solidFill>
            <a:srgbClr val="281000"/>
          </a:solidFill>
          <a:ln w="12700">
            <a:solidFill>
              <a:srgbClr val="854F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9626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54F0B"/>
                </a:solidFill>
              </a:rPr>
              <a:t>API LAYER — 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POST /agents/generate  ·  POST /agents/{id}/run  ·  POST /rag/ingest  ·  POST /simulation/run  ·  GET /control-plane/stats  ·  JWT RBAC middleware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920240"/>
            <a:ext cx="11274552" cy="914400"/>
          </a:xfrm>
          <a:prstGeom prst="rect">
            <a:avLst/>
          </a:prstGeom>
          <a:solidFill>
            <a:srgbClr val="08142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19568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</a:rPr>
              <a:t>FRONTEND — React 18 + Vite + TypeScript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194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ReactFlow Canvas (visual agent builder)  ·  AgentConfigPanel  ·  Dashboard (control plane)  ·  Zustand state  ·  Axios API client  ·  TailwindCSS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0" y="1920240"/>
            <a:ext cx="1490472" cy="4453128"/>
          </a:xfrm>
          <a:prstGeom prst="rect">
            <a:avLst/>
          </a:prstGeom>
          <a:solidFill>
            <a:srgbClr val="031810"/>
          </a:solidFill>
          <a:ln w="12700">
            <a:solidFill>
              <a:srgbClr val="1A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59568" y="197510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EE7B7"/>
                </a:solidFill>
              </a:rPr>
              <a:t>OBSERVABILITY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59568" y="226771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</a:rPr>
              <a:t>OpenTelemetry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59568" y="28163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</a:rPr>
              <a:t>Jaeger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59568" y="3364991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</a:rPr>
              <a:t>Azure Monitor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59568" y="3913631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</a:rPr>
              <a:t>GCP 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59568" y="44622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</a:rPr>
              <a:t>AWS X-Ray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59568" y="501091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</a:rPr>
              <a:t>Datadog APM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46520"/>
            <a:ext cx="9692640" cy="292608"/>
          </a:xfrm>
          <a:prstGeom prst="rect">
            <a:avLst/>
          </a:prstGeom>
          <a:solidFill>
            <a:srgbClr val="021208"/>
          </a:solidFill>
          <a:ln w="12700">
            <a:solidFill>
              <a:srgbClr val="1A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9418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Docker Compose — postgres + pgvector + backend + frontend + jaeger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FEATURE SPOTLIGHT 1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Visual Agent Builder &amp; Orchestration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5120640" cy="10972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45720" cy="10972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Drag-Drop Canvas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84831"/>
            <a:ext cx="49377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ReactFlow v12 with dark mode, animated edges,
and dot-grid background. No code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5120640" cy="10972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45720" cy="10972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301752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Manager / Worker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273552"/>
            <a:ext cx="49377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Manager agent decides worker execution order
via a JSON list. Workers run sequentially.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120640" cy="10972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45720" cy="10972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420624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Prompt-to-Agent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462272"/>
            <a:ext cx="49377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Describe your agent in plain English —
GPT-4o generates full config in seconds.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5120640" cy="10972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5303520"/>
            <a:ext cx="45720" cy="10972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539496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Agent Config Panel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650992"/>
            <a:ext cx="49377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Set name, system prompt, model (GPT-4o / 4.5),
tool toggles, and guardrails in a sidebar.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737360"/>
            <a:ext cx="5760720" cy="4754880"/>
          </a:xfrm>
          <a:prstGeom prst="rect">
            <a:avLst/>
          </a:prstGeom>
          <a:solidFill>
            <a:srgbClr val="051838"/>
          </a:solidFill>
          <a:ln w="12700">
            <a:solidFill>
              <a:srgbClr val="33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1828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88CC"/>
                </a:solidFill>
              </a:rPr>
              <a:t>CANVAS TOPOLOGY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331720"/>
            <a:ext cx="1554480" cy="457200"/>
          </a:xfrm>
          <a:prstGeom prst="rect">
            <a:avLst/>
          </a:prstGeom>
          <a:solidFill>
            <a:srgbClr val="102A55"/>
          </a:solidFill>
          <a:ln w="635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Input Node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2331720"/>
            <a:ext cx="1554480" cy="457200"/>
          </a:xfrm>
          <a:prstGeom prst="rect">
            <a:avLst/>
          </a:prstGeom>
          <a:solidFill>
            <a:srgbClr val="185FA5"/>
          </a:solidFill>
          <a:ln w="635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Manager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2331720"/>
            <a:ext cx="1554480" cy="457200"/>
          </a:xfrm>
          <a:prstGeom prst="rect">
            <a:avLst/>
          </a:prstGeom>
          <a:solidFill>
            <a:srgbClr val="102A55"/>
          </a:solidFill>
          <a:ln w="635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3383280"/>
            <a:ext cx="1645920" cy="457200"/>
          </a:xfrm>
          <a:prstGeom prst="rect">
            <a:avLst/>
          </a:prstGeom>
          <a:solidFill>
            <a:srgbClr val="0F4D2A"/>
          </a:solidFill>
          <a:ln w="635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Worker 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3383280"/>
            <a:ext cx="1645920" cy="457200"/>
          </a:xfrm>
          <a:prstGeom prst="rect">
            <a:avLst/>
          </a:prstGeom>
          <a:solidFill>
            <a:srgbClr val="0F4D2A"/>
          </a:solidFill>
          <a:ln w="635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Worker 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4389120"/>
            <a:ext cx="1645920" cy="457200"/>
          </a:xfrm>
          <a:prstGeom prst="rect">
            <a:avLst/>
          </a:prstGeom>
          <a:solidFill>
            <a:srgbClr val="3D1C00"/>
          </a:solidFill>
          <a:ln w="635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Worker 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4389120"/>
            <a:ext cx="1645920" cy="457200"/>
          </a:xfrm>
          <a:prstGeom prst="rect">
            <a:avLst/>
          </a:prstGeom>
          <a:solidFill>
            <a:srgbClr val="3D1C00"/>
          </a:solidFill>
          <a:ln w="635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Tool: Slack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486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AADD"/>
                </a:solidFill>
              </a:rPr>
              <a:t>Unlimited agent nodes per workflow  ·  Single or multi-agent modes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3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FEATURE SPOTLIGHT 2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RAG Pipeline &amp; Knowledge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4572000" cy="4572000"/>
          </a:xfrm>
          <a:prstGeom prst="rect">
            <a:avLst/>
          </a:prstGeom>
          <a:solidFill>
            <a:srgbClr val="022018"/>
          </a:solidFill>
          <a:ln w="12700">
            <a:solidFill>
              <a:srgbClr val="1A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CCAA"/>
                </a:solidFill>
              </a:rPr>
              <a:t>PIPELINE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1. Upload PDF / TXT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2. Auto-detect format &amp; parse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3. Chunk into 500-token segments (50-token overlap)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4. Store in PostgreSQL + pgvector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177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5. Retrieve top-3 chunks at query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6. Inject into GPT-4o context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064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E7B7"/>
                </a:solidFill>
              </a:rPr>
              <a:t>7. Return grounded answer + source citations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1737360"/>
            <a:ext cx="6217920" cy="10972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0" y="1737360"/>
            <a:ext cx="45720" cy="1097280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96128" y="182880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PDF + Text 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2084831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PyPDFLoader &amp; TextLoader auto-detect
file type on upload. Batch ingest ready.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2926080"/>
            <a:ext cx="6217920" cy="10972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0" y="2926080"/>
            <a:ext cx="45720" cy="1097280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96128" y="301752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Recursive Chunking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3273552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500-token chunks, 50-token overlap via
LangChain RecursiveCharacterTextSplitter.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4114800"/>
            <a:ext cx="6217920" cy="10972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0" y="4114800"/>
            <a:ext cx="45720" cy="1097280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96128" y="420624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Semantic Retrieval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128" y="4462272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Top-K keyword scoring retrieves the
3 most relevant chunks per query.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5303520"/>
            <a:ext cx="6217920" cy="10972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0" y="5303520"/>
            <a:ext cx="45720" cy="1097280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96128" y="539496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Grounded Answers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96128" y="5650992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Chunks injected into GPT-4o context;
response includes source attribution.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FEATURE SPOTLIGHT 3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Enterprise Guardrails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03520" cy="2286000"/>
          </a:xfrm>
          <a:prstGeom prst="rect">
            <a:avLst/>
          </a:prstGeom>
          <a:solidFill>
            <a:srgbClr val="280A0A"/>
          </a:solidFill>
          <a:ln w="12700">
            <a:solidFill>
              <a:srgbClr val="99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PII REDACTION — Microsoft Presidio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331720"/>
            <a:ext cx="987552" cy="301752"/>
          </a:xfrm>
          <a:prstGeom prst="rect">
            <a:avLst/>
          </a:prstGeom>
          <a:solidFill>
            <a:srgbClr val="5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87171"/>
                </a:solidFill>
              </a:rPr>
              <a:t>EMAIL_ADDRESS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18488" y="2331720"/>
            <a:ext cx="987552" cy="301752"/>
          </a:xfrm>
          <a:prstGeom prst="rect">
            <a:avLst/>
          </a:prstGeom>
          <a:solidFill>
            <a:srgbClr val="5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87171"/>
                </a:solidFill>
              </a:rPr>
              <a:t>PHONE_NUMBER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642616" y="2331720"/>
            <a:ext cx="987552" cy="301752"/>
          </a:xfrm>
          <a:prstGeom prst="rect">
            <a:avLst/>
          </a:prstGeom>
          <a:solidFill>
            <a:srgbClr val="5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87171"/>
                </a:solidFill>
              </a:rPr>
              <a:t>PERSON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66744" y="2331720"/>
            <a:ext cx="987552" cy="301752"/>
          </a:xfrm>
          <a:prstGeom prst="rect">
            <a:avLst/>
          </a:prstGeom>
          <a:solidFill>
            <a:srgbClr val="5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87171"/>
                </a:solidFill>
              </a:rPr>
              <a:t>CREDIT_CARD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90872" y="2331720"/>
            <a:ext cx="987552" cy="301752"/>
          </a:xfrm>
          <a:prstGeom prst="rect">
            <a:avLst/>
          </a:prstGeom>
          <a:solidFill>
            <a:srgbClr val="5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87171"/>
                </a:solidFill>
              </a:rPr>
              <a:t>US_SSN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AnalyzerEngine + AnonymizerEngine  ·  Redacts and logs each trigger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97680"/>
            <a:ext cx="5303520" cy="1828800"/>
          </a:xfrm>
          <a:prstGeom prst="rect">
            <a:avLst/>
          </a:prstGeom>
          <a:solidFill>
            <a:srgbClr val="281A00"/>
          </a:solidFill>
          <a:ln w="12700">
            <a:solidFill>
              <a:srgbClr val="99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HALLUCINATION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548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Phrase-pattern engine flags uncertain language.
Every output scored before leaving the system.
Configurable sensitivity per agent.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5486400" cy="4389120"/>
          </a:xfrm>
          <a:prstGeom prst="rect">
            <a:avLst/>
          </a:prstGeom>
          <a:solidFill>
            <a:srgbClr val="051020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77AA"/>
                </a:solidFill>
              </a:rPr>
              <a:t>GUARDRAIL DECISION 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331720"/>
            <a:ext cx="5029200" cy="640080"/>
          </a:xfrm>
          <a:prstGeom prst="rect">
            <a:avLst/>
          </a:prstGeom>
          <a:solidFill>
            <a:srgbClr val="0C2A4A"/>
          </a:solidFill>
          <a:ln w="952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60A5FA"/>
                </a:solidFill>
              </a:rPr>
              <a:t>Agent produces raw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9443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246120"/>
            <a:ext cx="5029200" cy="640080"/>
          </a:xfrm>
          <a:prstGeom prst="rect">
            <a:avLst/>
          </a:prstGeom>
          <a:solidFill>
            <a:srgbClr val="280A0A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87171"/>
                </a:solidFill>
              </a:rPr>
              <a:t>PII scan  →  redact matches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8587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160520"/>
            <a:ext cx="5029200" cy="640080"/>
          </a:xfrm>
          <a:prstGeom prst="rect">
            <a:avLst/>
          </a:prstGeom>
          <a:solidFill>
            <a:srgbClr val="281A00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BBF24"/>
                </a:solidFill>
              </a:rPr>
              <a:t>Hallucination scan  →  flag if triggered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7731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5074920"/>
            <a:ext cx="5029200" cy="640080"/>
          </a:xfrm>
          <a:prstGeom prst="rect">
            <a:avLst/>
          </a:prstGeom>
          <a:solidFill>
            <a:srgbClr val="0A220A"/>
          </a:solidFill>
          <a:ln w="9525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86EFAC"/>
                </a:solidFill>
              </a:rPr>
              <a:t>Safe output returned + audit logged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FEATURE SPOTLIGHT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</a:rPr>
              <a:t>Control Plane, Versioning &amp; Observability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4572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14996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Live Stats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75564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Total agents, runs, guardrail triggers,
avg latency — updated on every API call.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137160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70832" y="1371600"/>
            <a:ext cx="3657600" cy="45720"/>
          </a:xfrm>
          <a:prstGeom prst="rect">
            <a:avLst/>
          </a:prstGeom>
          <a:solidFill>
            <a:srgbClr val="53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98848" y="14996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Agent Versioning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75564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Every save creates an immutable
AgentVersion snapshot — roll back anytime.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4464" y="137160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84464" y="1371600"/>
            <a:ext cx="3657600" cy="4572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14996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Full 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75564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Every run logs: action, input/output
snapshots, latency, guardrail triggers.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3657600" cy="45720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3877055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Simulation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4133087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Define test cases with expected outputs.
Batch-run pre-production, score pass rate.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0832" y="3749039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70832" y="3749039"/>
            <a:ext cx="3657600" cy="4572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98848" y="3877055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RBAC + JWT 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133087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Admin / Developer / Viewer roles.
JWT enforced on every FastAPI route.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84464" y="3749039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84464" y="3749039"/>
            <a:ext cx="3657600" cy="4572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3877055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Tool Registry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133087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7 native integrations: web search,
calculator, email, Slack, GitHub, Jira.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NATIVE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7 Tools Ready Out of the 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2743200" cy="20116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45720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Web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67712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Live internet queries with
result parsing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920240"/>
            <a:ext cx="2743200" cy="20116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83280" y="1920240"/>
            <a:ext cx="45720" cy="20116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93008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Calculator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267712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Safe math eval using
Python's math module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920240"/>
            <a:ext cx="2743200" cy="20116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45720" cy="20116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267712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Send emails via
credentialed SMTP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920240"/>
            <a:ext cx="2743200" cy="20116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35440" y="1920240"/>
            <a:ext cx="45720" cy="2011680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45168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Slack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2267712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Post messages to
channels or DMs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2743200" cy="20116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45720" cy="201168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42976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553712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Read repos, open issues,
create pull requests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206240"/>
            <a:ext cx="2743200" cy="20116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83280" y="4206240"/>
            <a:ext cx="45720" cy="20116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93008" y="42976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Jira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4553712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Create, update, and
query Jira tickets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206240"/>
            <a:ext cx="2743200" cy="20116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4206240"/>
            <a:ext cx="45720" cy="20116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19088" y="42976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Google Drive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4553712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Read, write, and search
Drive files from any agent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Full-Stack, Cloud-Native, Containerised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3749039" cy="4892040"/>
          </a:xfrm>
          <a:prstGeom prst="rect">
            <a:avLst/>
          </a:prstGeom>
          <a:solidFill>
            <a:srgbClr val="08142A"/>
          </a:solidFill>
          <a:ln w="12700">
            <a:solidFill>
              <a:srgbClr val="22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2128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React 18 + Vite + TypeScript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16352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ReactFlow v12 — canvas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38144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4564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Zustand — state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59935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07822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Axios — API client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81728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70001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TailwindCSS — styling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53218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React Router DOM v6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925312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5943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JWT localStorage auth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691640"/>
            <a:ext cx="3749039" cy="4892040"/>
          </a:xfrm>
          <a:prstGeom prst="rect">
            <a:avLst/>
          </a:prstGeom>
          <a:solidFill>
            <a:srgbClr val="08142A"/>
          </a:solidFill>
          <a:ln w="12700">
            <a:solidFill>
              <a:srgbClr val="22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34840" y="1783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</a:rPr>
              <a:t>BACKEND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2194560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26280" y="22128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Python 3.12 + FastAPI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2816352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8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SQLAlchemy 2.0 async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3438144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26280" y="34564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LangChain — RAG pipeline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4059935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26280" y="407822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Presidio — PII guardrails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4681728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26280" y="470001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Pydantic v2 + python-jose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5303520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26280" y="53218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spaCy en_core_web_lg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5925312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26280" y="5943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bcrypt==4.0.1 pinned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691640"/>
            <a:ext cx="3749039" cy="4892040"/>
          </a:xfrm>
          <a:prstGeom prst="rect">
            <a:avLst/>
          </a:prstGeom>
          <a:solidFill>
            <a:srgbClr val="08142A"/>
          </a:solidFill>
          <a:ln w="12700">
            <a:solidFill>
              <a:srgbClr val="22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66760" y="1783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INFRA &amp; AI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2194560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58200" y="22128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Azure OpenAI GPT-4o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2816352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5820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Azure OpenAI GPT-4.5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3438144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58200" y="34564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PostgreSQL 16 + pgvector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4059935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58200" y="407822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Docker Compose stack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21040" y="4681728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58200" y="470001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pytest + pytest-asyncio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1040" y="5303520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58200" y="53218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Alembic migrations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5925312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58200" y="5943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pg_isready healthcheck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REAL-WORLD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Where AgentForge Shines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657600" cy="210312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45720" cy="210312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Financial Document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76272"/>
            <a:ext cx="34747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Ingest annual reports → RAG agent answers investor questions.
PII guardrails block SSN / account number disclosure.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828800"/>
            <a:ext cx="3657600" cy="210312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828800"/>
            <a:ext cx="45720" cy="210312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Healthcare Triage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76272"/>
            <a:ext cx="34747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Intake agent → diagnosis agent → scheduling agent pipeline.
Presidio removes patient PII before any LLM call.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4464" y="4114800"/>
            <a:ext cx="3657600" cy="210312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84464" y="4114800"/>
            <a:ext cx="45720" cy="210312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4206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DevOps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4462272"/>
            <a:ext cx="34747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Manager delegates: GitHub reads PRs, Jira updates tickets,
Slack sends summaries — one workflow.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3657600" cy="210312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45720" cy="210312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4206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Business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462272"/>
            <a:ext cx="34747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Upload quarterly reports → agents extract KPIs, generate
executive summaries, post to Slack automatically.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6400800"/>
            <a:ext cx="3657600" cy="210312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70832" y="6400800"/>
            <a:ext cx="45720" cy="210312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6492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Enterprise Knowledge 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6748272"/>
            <a:ext cx="34747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HR, legal &amp; compliance docs ingested via RAG. Employees ask
questions in plain English; agents answer with citations.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84464" y="6400800"/>
            <a:ext cx="3657600" cy="210312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84464" y="6400800"/>
            <a:ext cx="45720" cy="210312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94192" y="6492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Pre-Production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6748272"/>
            <a:ext cx="34747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Simulation engine batch-runs test cases overnight.
Only agents with 90%+ pass rate get promoted to prod.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MARKET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AgentForge vs Lyzr Architect — Feature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Capability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AgentForge</a:t>
                      </a:r>
                    </a:p>
                  </a:txBody>
                  <a:tcPr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Lyzr Architect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Visual drag-drop canvas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✅ ReactFlow v12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Prompt-to-agent (NL)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✅ GPT-4o powered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Multi-agent orchestration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✅ Manager/worker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RAG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✅ LangChain+pgvector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PII redaction (Presidio)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✅ Always-on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Simulation / test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✅ Batch test runner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Audit logs + control plane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✅ Full FastAPI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Azure-native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✅ GPT-4o + GPT-4.5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❌ OpenAI SaaS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Self-hosted / open source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✅ Docker Compose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❌ SaaS only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Agent versioning snapshots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✅ Immutable history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Pre-production simulation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✅ Pass-rate scoring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AgentForge vs The Broader Market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455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Visual Canvas</a:t>
                      </a:r>
                    </a:p>
                  </a:txBody>
                  <a:tcPr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Python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Guardrails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Azure-Native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Self-Host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Simulation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AgentForge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Lyzr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Flowise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Langflow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Dify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CrewAI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MS Copilot Studio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n8n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6172200"/>
            <a:ext cx="11274552" cy="45720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199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85FA5"/>
                </a:solidFill>
              </a:rPr>
              <a:t>AgentForge is the only platform with visual canvas + Python + guardrails + Azure-native + self-host + simulation — all six.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DELIVERY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Built to Production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651760" cy="1280160"/>
          </a:xfrm>
          <a:prstGeom prst="rect">
            <a:avLst/>
          </a:prstGeom>
          <a:solidFill>
            <a:srgbClr val="051838"/>
          </a:solidFill>
          <a:ln w="12700">
            <a:solidFill>
              <a:srgbClr val="33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Tests passing (32/32)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737360"/>
            <a:ext cx="2651760" cy="1280160"/>
          </a:xfrm>
          <a:prstGeom prst="rect">
            <a:avLst/>
          </a:prstGeom>
          <a:solidFill>
            <a:srgbClr val="051838"/>
          </a:solidFill>
          <a:ln w="12700">
            <a:solidFill>
              <a:srgbClr val="33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7830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Core features shipped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737360"/>
            <a:ext cx="2651760" cy="1280160"/>
          </a:xfrm>
          <a:prstGeom prst="rect">
            <a:avLst/>
          </a:prstGeom>
          <a:solidFill>
            <a:srgbClr val="051838"/>
          </a:solidFill>
          <a:ln w="12700">
            <a:solidFill>
              <a:srgbClr val="33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API route modules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737360"/>
            <a:ext cx="2651760" cy="1280160"/>
          </a:xfrm>
          <a:prstGeom prst="rect">
            <a:avLst/>
          </a:prstGeom>
          <a:solidFill>
            <a:srgbClr val="051838"/>
          </a:solidFill>
          <a:ln w="12700">
            <a:solidFill>
              <a:srgbClr val="33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17830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RBAC roles enforced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46120"/>
            <a:ext cx="5577840" cy="3246120"/>
          </a:xfrm>
          <a:prstGeom prst="rect">
            <a:avLst/>
          </a:prstGeom>
          <a:solidFill>
            <a:srgbClr val="031025"/>
          </a:solidFill>
          <a:ln w="12700">
            <a:solidFill>
              <a:srgbClr val="22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337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99DD"/>
                </a:solidFill>
              </a:rPr>
              <a:t>API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03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POST /api/agents/generate  →  NL-to-agent 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605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POST /api/agents/{id}/run  →  Execute agent with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617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POST /api/rag/ingest       →  Upload &amp; chunk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074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POST /api/simulation/run   →  Batch test runner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5321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GET  /api/control-plane/stats  →  Live dashboard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989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GET  /api/control-plane/audit-logs  →  Full run history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246120"/>
            <a:ext cx="5486400" cy="3246120"/>
          </a:xfrm>
          <a:prstGeom prst="rect">
            <a:avLst/>
          </a:prstGeom>
          <a:solidFill>
            <a:srgbClr val="031025"/>
          </a:solidFill>
          <a:ln w="12700">
            <a:solidFill>
              <a:srgbClr val="22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33375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99DD"/>
                </a:solidFill>
              </a:rPr>
              <a:t>SECURITY &amp;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703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</a:rPr>
              <a:t>✓  No hardcoded secrets — config fails loud at startup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1605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</a:rPr>
              <a:t>✓  bcrypt==4.0.1 pinned for passlib compatibility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6177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</a:rPr>
              <a:t>✓  Postgres healthcheck before backend starts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074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</a:rPr>
              <a:t>✓  SQLAlchemy 2.0 async end-to-end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532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</a:rPr>
              <a:t>✓  Pydantic v2 validation at all API boundaries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</a:rPr>
              <a:t>✓  asyncio_mode = auto in pytest config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3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99FF"/>
                </a:solidFill>
              </a:rPr>
              <a:t>LOCAL DEVELOPMENT — NO DOCKER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Run AgentForge Without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502920"/>
          </a:xfrm>
          <a:prstGeom prst="rect">
            <a:avLst/>
          </a:prstGeom>
          <a:solidFill>
            <a:srgbClr val="120830"/>
          </a:solidFill>
          <a:ln w="12700">
            <a:solidFill>
              <a:srgbClr val="553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BBFF"/>
                </a:solidFill>
              </a:rPr>
              <a:t>Prerequisites:   Python 3.12+   ·   Node.js 20+   ·   PostgreSQL 16 with pgvector extension   ·   Git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5486400" cy="1078992"/>
          </a:xfrm>
          <a:prstGeom prst="rect">
            <a:avLst/>
          </a:prstGeom>
          <a:solidFill>
            <a:srgbClr val="0A0522"/>
          </a:solidFill>
          <a:ln w="12700">
            <a:solidFill>
              <a:srgbClr val="442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019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88FF"/>
                </a:solidFill>
              </a:rPr>
              <a:t>STEP 1 — Configure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cp .env.example .env
# Fill in Azure OpenAI keys + DATABASE_URL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35808"/>
            <a:ext cx="5486400" cy="1078992"/>
          </a:xfrm>
          <a:prstGeom prst="rect">
            <a:avLst/>
          </a:prstGeom>
          <a:solidFill>
            <a:srgbClr val="0A0522"/>
          </a:solidFill>
          <a:ln w="12700">
            <a:solidFill>
              <a:srgbClr val="442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0632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88FF"/>
                </a:solidFill>
              </a:rPr>
              <a:t>STEP 2 — PostgreSQL + pgvector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10128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CREATE USER architect WITH PASSWORD 'architect';
CREATE DATABASE agentforge OWNER architect;
\c agentforge
CREATE EXTENSION IF NOT EXISTS vector;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97096"/>
            <a:ext cx="5486400" cy="1078992"/>
          </a:xfrm>
          <a:prstGeom prst="rect">
            <a:avLst/>
          </a:prstGeom>
          <a:solidFill>
            <a:srgbClr val="0A0522"/>
          </a:solidFill>
          <a:ln w="12700">
            <a:solidFill>
              <a:srgbClr val="442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2245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88FF"/>
                </a:solidFill>
              </a:rPr>
              <a:t>STEP 3 — Python virtual env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71416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cd backend
python -m venv venv
venv\Scripts\activate          # Windows
pip install -r requirements.txt
python -m spacy download en_core_web_lg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58383"/>
            <a:ext cx="5486400" cy="1078992"/>
          </a:xfrm>
          <a:prstGeom prst="rect">
            <a:avLst/>
          </a:prstGeom>
          <a:solidFill>
            <a:srgbClr val="0A0522"/>
          </a:solidFill>
          <a:ln w="12700">
            <a:solidFill>
              <a:srgbClr val="442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538581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88FF"/>
                </a:solidFill>
              </a:rPr>
              <a:t>STEP 4 — DB migrations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632704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alembic upgrade head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1874519"/>
            <a:ext cx="5486400" cy="1078992"/>
          </a:xfrm>
          <a:prstGeom prst="rect">
            <a:avLst/>
          </a:prstGeom>
          <a:solidFill>
            <a:srgbClr val="0A0522"/>
          </a:solidFill>
          <a:ln w="12700">
            <a:solidFill>
              <a:srgbClr val="442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19019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88FF"/>
                </a:solidFill>
              </a:rPr>
              <a:t>STEP 5 — Start backend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148840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uvicorn app.main:app --reload --host 0.0.0.0 --port 8000
# API: http://localhost:8000
# Docs: http://localhost:8000/docs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3035808"/>
            <a:ext cx="5486400" cy="1078992"/>
          </a:xfrm>
          <a:prstGeom prst="rect">
            <a:avLst/>
          </a:prstGeom>
          <a:solidFill>
            <a:srgbClr val="0A0522"/>
          </a:solidFill>
          <a:ln w="12700">
            <a:solidFill>
              <a:srgbClr val="442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30632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88FF"/>
                </a:solidFill>
              </a:rPr>
              <a:t>STEP 6 — Start frontend (new terminal)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310128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cd frontend
npm install
npm run dev
# App: http://localhost:5173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4197096"/>
            <a:ext cx="5486400" cy="1078992"/>
          </a:xfrm>
          <a:prstGeom prst="rect">
            <a:avLst/>
          </a:prstGeom>
          <a:solidFill>
            <a:srgbClr val="0A0522"/>
          </a:solidFill>
          <a:ln w="12700">
            <a:solidFill>
              <a:srgbClr val="442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2512" y="42245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88FF"/>
                </a:solidFill>
              </a:rPr>
              <a:t>STEP 7 — Create first admin 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4471416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curl -X POST http://localhost:8000/api/auth/register \
  -H "Content-Type: application/json" \
  -d '{"email":"admin@example.com","password":"Admin1234!","role":"ADMIN"}'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5352" y="5358383"/>
            <a:ext cx="5486400" cy="1078992"/>
          </a:xfrm>
          <a:prstGeom prst="rect">
            <a:avLst/>
          </a:prstGeom>
          <a:solidFill>
            <a:srgbClr val="021510"/>
          </a:solidFill>
          <a:ln w="12700">
            <a:solidFill>
              <a:srgbClr val="1A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82512" y="538581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DONE — Open the 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5632704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EFAC"/>
                </a:solidFill>
              </a:rPr>
              <a:t>http://localhost:5173
Log in with admin@example.com / Admin1234!
Backend Swagger: http://localhost:8000/docs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CCAA"/>
                </a:solidFill>
              </a:rPr>
              <a:t>END-TO-END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OpenTelemetry Distributed Tracing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Instrument once · Route to any backend · One env var switches the entire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7132320" cy="4892040"/>
          </a:xfrm>
          <a:prstGeom prst="rect">
            <a:avLst/>
          </a:prstGeom>
          <a:solidFill>
            <a:srgbClr val="041220"/>
          </a:solidFill>
          <a:ln w="12700">
            <a:solidFill>
              <a:srgbClr val="1A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755648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CCAA"/>
                </a:solidFill>
              </a:rPr>
              <a:t>SPAN WATERFALL — EVERY AGENT 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148840"/>
            <a:ext cx="6675120" cy="45720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2185416"/>
            <a:ext cx="6629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HTTP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95728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3C5FD"/>
                </a:solidFill>
              </a:rPr>
              <a:t>FastAPI middleware (auto)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898648"/>
            <a:ext cx="6217920" cy="457200"/>
          </a:xfrm>
          <a:prstGeom prst="rect">
            <a:avLst/>
          </a:prstGeom>
          <a:solidFill>
            <a:srgbClr val="53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2935224"/>
            <a:ext cx="6172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agent.run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145536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B5FD"/>
                </a:solidFill>
              </a:rPr>
              <a:t>agent.name · agent.model · latency_ms · guardrail_triggered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3648456"/>
            <a:ext cx="5303520" cy="4572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3685032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  llm.chat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895344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llm.provider=azure_openai · llm.model · tokens · response_length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4398264"/>
            <a:ext cx="4389120" cy="45720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4434840"/>
            <a:ext cx="4343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  guardrails.check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6451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87171"/>
                </a:solidFill>
              </a:rPr>
              <a:t>pii_enabled · pii_triggered · hallucination_triggered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5148072"/>
            <a:ext cx="3840480" cy="457200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" y="5184648"/>
            <a:ext cx="3794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  rag.query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5394960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BBF24"/>
                </a:solidFill>
              </a:rPr>
              <a:t>question_length · sources_found  (if RAG attached)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5897879"/>
            <a:ext cx="3200400" cy="457200"/>
          </a:xfrm>
          <a:prstGeom prst="rect">
            <a:avLst/>
          </a:prstGeom>
          <a:solidFill>
            <a:srgbClr val="0F3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8992" y="5934455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  agent.worker ×N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6144767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worker_name  (multi-agent runs only)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00800"/>
            <a:ext cx="7132320" cy="502920"/>
          </a:xfrm>
          <a:prstGeom prst="rect">
            <a:avLst/>
          </a:prstGeom>
          <a:solidFill>
            <a:srgbClr val="021810"/>
          </a:solidFill>
          <a:ln w="12700">
            <a:solidFill>
              <a:srgbClr val="1A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645566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E7B7"/>
                </a:solidFill>
              </a:rPr>
              <a:t>trace_id written to AuditLog — every DB record links back to the full trace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1691640"/>
            <a:ext cx="3867912" cy="4892040"/>
          </a:xfrm>
          <a:prstGeom prst="rect">
            <a:avLst/>
          </a:prstGeom>
          <a:solidFill>
            <a:srgbClr val="041220"/>
          </a:solidFill>
          <a:ln w="12700">
            <a:solidFill>
              <a:srgbClr val="33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01000" y="17556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99DD"/>
                </a:solidFill>
              </a:rPr>
              <a:t>KEY SPAN ATTRIBUTES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2148840"/>
            <a:ext cx="3867912" cy="658368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863840" y="2148840"/>
            <a:ext cx="54864" cy="65836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73568" y="21762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llm.chat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3568" y="23957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model · tokens · latency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2852928"/>
            <a:ext cx="3867912" cy="658368"/>
          </a:xfrm>
          <a:prstGeom prst="rect">
            <a:avLst/>
          </a:prstGeom>
          <a:solidFill>
            <a:srgbClr val="05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863840" y="2852928"/>
            <a:ext cx="54864" cy="65836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73568" y="28803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B5FD"/>
                </a:solidFill>
              </a:rPr>
              <a:t>agent.run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3568" y="30998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name · model · guardrail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0" y="3557016"/>
            <a:ext cx="3867912" cy="658368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863840" y="3557016"/>
            <a:ext cx="54864" cy="65836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73568" y="35844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guardrails.check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3568" y="38039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pii · hallucination flags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4261104"/>
            <a:ext cx="3867912" cy="658368"/>
          </a:xfrm>
          <a:prstGeom prst="rect">
            <a:avLst/>
          </a:prstGeom>
          <a:solidFill>
            <a:srgbClr val="05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863840" y="4261104"/>
            <a:ext cx="54864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973568" y="428853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rag.query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73568" y="45079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sources_found · q_length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63840" y="4965192"/>
            <a:ext cx="3867912" cy="658368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863840" y="4965192"/>
            <a:ext cx="54864" cy="658368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973568" y="49926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E7B7"/>
                </a:solidFill>
              </a:rPr>
              <a:t>rag.ingest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73568" y="52120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filename · chunk_count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63840" y="5669280"/>
            <a:ext cx="3867912" cy="658368"/>
          </a:xfrm>
          <a:prstGeom prst="rect">
            <a:avLst/>
          </a:prstGeom>
          <a:solidFill>
            <a:srgbClr val="05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863840" y="5669280"/>
            <a:ext cx="54864" cy="658368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973568" y="56967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6EFAC"/>
                </a:solidFill>
              </a:rPr>
              <a:t>agent.worker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73568" y="59161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worker_name per step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MULTI-CLOUD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</a:rPr>
              <a:t>One Codebase · Any Tracing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Set  OTEL_EXPORTER=&lt;value&gt;  in .env — no code changes, no redeployment needed.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376732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3767328" cy="45720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7465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JAEGER  —  Self-Hosted Jaeger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19456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Default. Included in docker-compose.yml.
Jaeger UI: http://localhost:16686
OTLP ports: 4317 (gRPC) · 4318 (HTTP)
Zero extra cost. Data stays on-premise.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72968"/>
            <a:ext cx="3584448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320040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OTEL_EXPORTER=jaeger
OTEL_EXPORTER_OTLP_ENDPOINT=
  http://localhost:4318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691640"/>
            <a:ext cx="376732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1691640"/>
            <a:ext cx="3767328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25696" y="17465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AZURE  —  Azure Monitor /
App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219456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Native Azure integration.
pip install azure-monitor-opentelemetry-exporter
Full APM: traces, logs, metrics in one place.
Works with Azure Dashboards &amp; Alerts.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3172968"/>
            <a:ext cx="3584448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320040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OTEL_EXPORTER=azure
AZURE_MONITOR_CONNECTION_STRING=
  InstrumentationKey=...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6176" y="1691640"/>
            <a:ext cx="376732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66176" y="1691640"/>
            <a:ext cx="3767328" cy="457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75904" y="17465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GCP  —  Google Cloud Trace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19456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Native GCP integration.
pip install opentelemetry-exporter-gcp-trace
Integrates with Cloud Logging &amp; Monitoring.
Auto-auth via Application Default Credentials.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57616" y="3172968"/>
            <a:ext cx="3584448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0768" y="320040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OTEL_EXPORTER=gcp
GCP_PROJECT_ID=my-gcp-project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60520"/>
            <a:ext cx="376732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4160520"/>
            <a:ext cx="3767328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" y="42153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AWS  —  AWS X-Ray
(via ADOT)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466344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Deploy AWS Distro for OpenTelemetry
(ADOT) as a sidecar or standalone collector.
Integrates with CloudWatch, X-Ray console.
No SDK changes — just point endpoint at ADOT.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641848"/>
            <a:ext cx="3584448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566928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OTEL_EXPORTER=aws
OTEL_EXPORTER_OTLP_ENDPOINT=
  http://localhost:4318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15968" y="4160520"/>
            <a:ext cx="376732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15968" y="4160520"/>
            <a:ext cx="3767328" cy="457200"/>
          </a:xfrm>
          <a:prstGeom prst="rect">
            <a:avLst/>
          </a:prstGeom>
          <a:solidFill>
            <a:srgbClr val="632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25696" y="42153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DATADOG  —  Datadog APM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5696" y="466344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Run Datadog Agent with OTLP ingestion on.
Full Datadog APM: flamegraphs, service map,
error tracking, anomaly detection.
No Datadog SDK needed in your app.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07408" y="5641848"/>
            <a:ext cx="3584448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80560" y="566928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OTEL_EXPORTER=datadog
OTEL_EXPORTER_OTLP_ENDPOINT=
  http://localhost:4318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66176" y="4160520"/>
            <a:ext cx="376732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266176" y="4160520"/>
            <a:ext cx="3767328" cy="4572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75904" y="42153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CONSOLE  —  Console / None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75904" y="466344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console: prints spans to terminal stdout.
Perfect for local dev &amp; debugging.
none: disables OTEL entirely.
Zero performance overhead when set to none.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57616" y="5641848"/>
            <a:ext cx="3584448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30768" y="566928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OTEL_EXPORTER=console
# or
OTEL_EXPORTER=none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Comes Next — AgentForge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657600" cy="214884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45720" cy="21488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1.  Azure AI Search (Vector RAG)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76272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Replace in-memory chunks with Azure AI Search for enterprise-scale document retrieval and true semantic vector similarity.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828800"/>
            <a:ext cx="3657600" cy="214884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828800"/>
            <a:ext cx="45720" cy="214884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2.  WebSocket Streaming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76272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Real-time token-by-token agent responses. Streaming already wired in the Azure client — frontend upgrade only.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4464" y="1828800"/>
            <a:ext cx="3657600" cy="214884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84464" y="1828800"/>
            <a:ext cx="45720" cy="214884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1920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3.  Live Tool Credentials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176272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Connect real Slack, GitHub, and email accounts via settings panel. Move from stubs to fully-live integrations.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3657600" cy="214884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160520"/>
            <a:ext cx="45720" cy="21488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425195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4.  In-Browser Agent 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507992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Test any agent in a chat window directly in the builder — no API client needed. Instant iteration loop.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4160520"/>
            <a:ext cx="3657600" cy="214884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70832" y="4160520"/>
            <a:ext cx="45720" cy="21488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425195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5.  Multi-Tenant Workspaces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507992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Isolated workspaces per team — separate agents, RAG indexes, audit logs, and quotas per tenant.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84464" y="4160520"/>
            <a:ext cx="3657600" cy="214884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84464" y="4160520"/>
            <a:ext cx="45720" cy="214884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94192" y="425195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6.  OTEL Metrics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4507992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Add token usage counters, guardrail trigger rates, error rates as OTEL metrics — exported alongside traces.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3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CCAA"/>
                </a:solidFill>
              </a:rPr>
              <a:t>DEPLOY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Up and Running in 3 Commands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0515600" cy="1005840"/>
          </a:xfrm>
          <a:prstGeom prst="rect">
            <a:avLst/>
          </a:prstGeom>
          <a:solidFill>
            <a:srgbClr val="011810"/>
          </a:solidFill>
          <a:ln w="12700">
            <a:solidFill>
              <a:srgbClr val="1A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CCAA"/>
                </a:solidFill>
              </a:rPr>
              <a:t>1 — CONFIGURE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cp .env.example .env        # add your Azure OpenAI keys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0515600" cy="1005840"/>
          </a:xfrm>
          <a:prstGeom prst="rect">
            <a:avLst/>
          </a:prstGeom>
          <a:solidFill>
            <a:srgbClr val="011810"/>
          </a:solidFill>
          <a:ln w="12700">
            <a:solidFill>
              <a:srgbClr val="1A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13639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CCAA"/>
                </a:solidFill>
              </a:rPr>
              <a:t>2 — 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docker-compose up --build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97680"/>
            <a:ext cx="10515600" cy="1005840"/>
          </a:xfrm>
          <a:prstGeom prst="rect">
            <a:avLst/>
          </a:prstGeom>
          <a:solidFill>
            <a:srgbClr val="011810"/>
          </a:solidFill>
          <a:ln w="12700">
            <a:solidFill>
              <a:srgbClr val="1A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325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CCAA"/>
                </a:solidFill>
              </a:rPr>
              <a:t>3 — 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http://localhost:5173         # frontend   |   :8000/docs  →  API explorer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577840"/>
            <a:ext cx="11274552" cy="18288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5715000"/>
            <a:ext cx="3657600" cy="384048"/>
          </a:xfrm>
          <a:prstGeom prst="rect">
            <a:avLst/>
          </a:prstGeom>
          <a:solidFill>
            <a:srgbClr val="022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6EE7B7"/>
                </a:solidFill>
              </a:rPr>
              <a:t>Project:  C:\Users\n.sureshmanikandan\Repo1\AgentForge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5715000"/>
            <a:ext cx="3657600" cy="384048"/>
          </a:xfrm>
          <a:prstGeom prst="rect">
            <a:avLst/>
          </a:prstGeom>
          <a:solidFill>
            <a:srgbClr val="022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6EE7B7"/>
                </a:solidFill>
              </a:rPr>
              <a:t>Commit:  8afe67d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5715000"/>
            <a:ext cx="3657600" cy="384048"/>
          </a:xfrm>
          <a:prstGeom prst="rect">
            <a:avLst/>
          </a:prstGeom>
          <a:solidFill>
            <a:srgbClr val="022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86EFAC"/>
                </a:solidFill>
              </a:rPr>
              <a:t>Tests:  32 /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2988</Words>
  <Application>Microsoft Office PowerPoint</Application>
  <PresentationFormat>Custom</PresentationFormat>
  <Paragraphs>436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Natarajan, Suresh Manikandan</cp:lastModifiedBy>
  <cp:revision>2</cp:revision>
  <dcterms:created xsi:type="dcterms:W3CDTF">2013-01-27T09:14:16Z</dcterms:created>
  <dcterms:modified xsi:type="dcterms:W3CDTF">2026-07-12T06:25:32Z</dcterms:modified>
  <cp:category/>
</cp:coreProperties>
</file>