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3F5"/>
                </a:solidFill>
                <a:latin typeface="Segoe UI"/>
              </a:rPr>
              <a:t>ENTERPRISE AI AGENT PLATFORM  ·  v4.0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"/>
              </a:rPr>
              <a:t>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DDEE"/>
                </a:solidFill>
                <a:latin typeface="Segoe UI"/>
              </a:rPr>
              <a:t>Build · Orchestrate · Govern · Voice-Enable · Plan · Evaluate Production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90B8"/>
                </a:solidFill>
                <a:latin typeface="Segoe UI"/>
              </a:rPr>
              <a:t>Azure-native · Self-hosted · No boilerplate · No vendor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37560"/>
            <a:ext cx="11183112" cy="22860"/>
          </a:xfrm>
          <a:prstGeom prst="rect">
            <a:avLst/>
          </a:prstGeom>
          <a:solidFill>
            <a:srgbClr val="2A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3493008"/>
            <a:ext cx="2176272" cy="475488"/>
          </a:xfrm>
          <a:prstGeom prst="rect">
            <a:avLst/>
          </a:prstGeom>
          <a:solidFill>
            <a:srgbClr val="12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5BA3F5"/>
                </a:solidFill>
                <a:latin typeface="Segoe UI"/>
              </a:rPr>
              <a:t>20+ Enterprise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8648" y="3493008"/>
            <a:ext cx="2176272" cy="475488"/>
          </a:xfrm>
          <a:prstGeom prst="rect">
            <a:avLst/>
          </a:prstGeom>
          <a:solidFill>
            <a:srgbClr val="140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BFB0FC"/>
                </a:solidFill>
                <a:latin typeface="Segoe UI"/>
              </a:rPr>
              <a:t>Planning Architect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2936" y="3493008"/>
            <a:ext cx="2176272" cy="475488"/>
          </a:xfrm>
          <a:prstGeom prst="rect">
            <a:avLst/>
          </a:prstGeom>
          <a:solidFill>
            <a:srgbClr val="140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BFB0FC"/>
                </a:solidFill>
                <a:latin typeface="Segoe UI"/>
              </a:rPr>
              <a:t>Voice Agents (Azure TTS)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07224" y="3493008"/>
            <a:ext cx="2176272" cy="475488"/>
          </a:xfrm>
          <a:prstGeom prst="rect">
            <a:avLst/>
          </a:prstGeom>
          <a:solidFill>
            <a:srgbClr val="28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56E6E"/>
                </a:solidFill>
                <a:latin typeface="Segoe UI"/>
              </a:rPr>
              <a:t>Safety &amp; Guardrails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11512" y="3493008"/>
            <a:ext cx="2176272" cy="475488"/>
          </a:xfrm>
          <a:prstGeom prst="rect">
            <a:avLst/>
          </a:prstGeom>
          <a:solidFill>
            <a:srgbClr val="0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4AE08C"/>
                </a:solidFill>
                <a:latin typeface="Segoe UI"/>
              </a:rPr>
              <a:t>Evaluations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6280"/>
                </a:solidFill>
                <a:latin typeface="Segoe UI"/>
              </a:rPr>
              <a:t>React 18  ·  Vite  ·  TypeScript  ·  ReactFlow  ·  Zustand  ·  TailwindCSS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6280"/>
                </a:solidFill>
                <a:latin typeface="Segoe UI"/>
              </a:rPr>
              <a:t>Python 3.12  ·  FastAPI  ·  SQLAlchemy  ·  LangChain  ·  FAISS  ·  PostgreSQL + pgvector  ·  Azure OpenAI  ·  Azure Speech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832" y="-548639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 dirty="0">
                <a:solidFill>
                  <a:srgbClr val="0E1F3E"/>
                </a:solidFill>
                <a:latin typeface="Segoe UI"/>
              </a:rPr>
              <a:t>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AgentForge — Leadership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DDEE"/>
                </a:solidFill>
                <a:latin typeface="Segoe UI"/>
              </a:rPr>
              <a:t>AgentForge is an enterprise-grade, self-hosted AI agent platform enabling teams to design, deploy, plan, test, voice-enable, and govern intelligent AI automation — visually, without deep ML expertise, on your Azure subscription.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64008" cy="1005840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E6E"/>
                </a:solidFill>
                <a:latin typeface="Segoe U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5915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Building production AI agents today requires months of engineering, deep Python expertise, and custom-built safety guardrails — an expensive, high-risk endeavour with no auditability.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54096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054096"/>
            <a:ext cx="64008" cy="1005840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1272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E08C"/>
                </a:solidFill>
                <a:latin typeface="Segoe UI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AgentForge delivers drag-drop visual agent building, Planning Architect (60-second full-stack app generation), GPT-4o prompt-to-agent generation, built-in Safety &amp; Guardrails, Evaluation engine, Voice Agents via Azure Speech, and a full observability control plane — out of the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69664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169664"/>
            <a:ext cx="64008" cy="1005840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BB20"/>
                </a:solidFill>
                <a:latin typeface="Segoe UI"/>
              </a:rPr>
              <a:t>BUSINESS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90288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10x faster agent creation  ·  Planning Architect generates full-stack deployable apps in 60 sec  ·  Zero compliance exposure via always-on PII/safety rules  ·  Voice-enabled agents via Azure Cognitive Services  ·  Full audit trail for regulated industries  ·  Self-hosted — no SaaS lock-in.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285232"/>
            <a:ext cx="11183112" cy="1005840"/>
          </a:xfrm>
          <a:prstGeom prst="rect">
            <a:avLst/>
          </a:prstGeom>
          <a:solidFill>
            <a:srgbClr val="08162E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285232"/>
            <a:ext cx="64008" cy="1005840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3583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COMPETITIVE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05856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The only platform combining: Planning Architect + Visual Canvas + Azure-native + Self-hosted + Safety Rules + Voice Agents + Simulation + Evaluations + Workflow Observability. Beats Flowise, Langflow, Dify, CrewAI, Lyzr, and MS Copilot Studio on all dimensions.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438"/>
                </a:solidFill>
                <a:latin typeface="Segoe UI"/>
              </a:rPr>
              <a:t>What is AgentForge?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627632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Visual Agent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993392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Drag-drop ReactFlow canvas to compose multi-agent pipelines without writing code. Configure agent name, model, system prompt, tools, and guardrails in a visual sidebar.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7" y="14813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07407" y="1481328"/>
            <a:ext cx="3657600" cy="54864"/>
          </a:xfrm>
          <a:prstGeom prst="rect">
            <a:avLst/>
          </a:prstGeom>
          <a:solidFill>
            <a:srgbClr val="5A1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27632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Planning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93392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Describe your app in natural language — GPT-4o generates a full project plan, working React UI preview, and a deployable full-stack ZIP (React+FastAPI+FAISS+PostgreSQL+Docker) in one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1896" y="14813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11896" y="1481328"/>
            <a:ext cx="3657600" cy="54864"/>
          </a:xfrm>
          <a:prstGeom prst="rect">
            <a:avLst/>
          </a:prstGeom>
          <a:solidFill>
            <a:srgbClr val="0C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627632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Multi-Agent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93392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Manager agents delegate to worker agents. Each worker runs its own guardrail pass. Supports sequential, parallel, and hierarchical pipeline topologies.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68496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968496"/>
            <a:ext cx="3657600" cy="54864"/>
          </a:xfrm>
          <a:prstGeom prst="rect">
            <a:avLst/>
          </a:prstGeom>
          <a:solidFill>
            <a:srgbClr val="8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" y="411480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Safety &amp; Evaluations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4480560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8 configurable safety rules (PII, hallucination, toxicity, prompt injection). Evaluation engine runs automated test suites and scores agents before promotion to production.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7" y="3968496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07407" y="3968496"/>
            <a:ext cx="3657600" cy="54864"/>
          </a:xfrm>
          <a:prstGeom prst="rect">
            <a:avLst/>
          </a:prstGeom>
          <a:solidFill>
            <a:srgbClr val="441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411480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Voice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480560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Azure Cognitive Services Speech SDK integration: text-to-speech synthesis with 8 Neural voices (Jenny, Sonia, Natasha, Neerja and more). Full telephony config per agent.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3968496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11896" y="3968496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4114800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2438"/>
                </a:solidFill>
                <a:latin typeface="Segoe UI"/>
              </a:rPr>
              <a:t>Enterprise Control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480560"/>
            <a:ext cx="34015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Live stats dashboard, workflow observability traces, agent versioning, full audit trail, RBAC (Admin/Developer/Viewer), OpenTelemetry tracing to Jaeger/Azure Monitor/GCP/Datadog.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Enterprise AI agents are broken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3639312" cy="3383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4864" cy="3383280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993391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Code-Heavy Barrier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50008"/>
            <a:ext cx="3438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Most frameworks demand deep Python &amp; ML expertise before a single agent reaches production. Average time-to-first-agent: 8 weeks.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874519"/>
            <a:ext cx="3639312" cy="3383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7" y="1874519"/>
            <a:ext cx="54864" cy="3383280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3" y="1993391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Zero Compliance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2350008"/>
            <a:ext cx="3438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Open-source tools ship with no PII protection, no hallucination checks, and no toxicity filters — a critical compliance risk in regulated industries.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874519"/>
            <a:ext cx="3639312" cy="3383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1874519"/>
            <a:ext cx="54864" cy="3383280"/>
          </a:xfrm>
          <a:prstGeom prst="rect">
            <a:avLst/>
          </a:prstGeom>
          <a:solidFill>
            <a:srgbClr val="6C2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993391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No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350008"/>
            <a:ext cx="3438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No way to observe, version, evaluate, test, or audit what agents actually do after they are deployed. Production incidents are invisible until users complain.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86400"/>
            <a:ext cx="11183112" cy="1005840"/>
          </a:xfrm>
          <a:prstGeom prst="rect">
            <a:avLst/>
          </a:prstGeom>
          <a:solidFill>
            <a:srgbClr val="100628"/>
          </a:solidFill>
          <a:ln w="19050">
            <a:solidFill>
              <a:srgbClr val="6C2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559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AgentForge solves all three — and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Planning Architect  ·  Visual builder  ·  8 Safety rules  ·  Evaluations engine  ·  Voice agents  ·  Workflow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BUSINESS VALUE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Return on Investment — Why AgentForge Pays for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2743200" cy="1298448"/>
          </a:xfrm>
          <a:prstGeom prst="rect">
            <a:avLst/>
          </a:prstGeom>
          <a:solidFill>
            <a:srgbClr val="16529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A3F5"/>
                </a:solidFill>
                <a:latin typeface="Segoe UI"/>
              </a:rPr>
              <a:t>Faster Agent
Creation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81328"/>
            <a:ext cx="2743200" cy="1298448"/>
          </a:xfrm>
          <a:prstGeom prst="rect">
            <a:avLst/>
          </a:prstGeom>
          <a:solidFill>
            <a:srgbClr val="3A086A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60s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0FC"/>
                </a:solidFill>
                <a:latin typeface="Segoe UI"/>
              </a:rPr>
              <a:t>Full-Stack App
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81328"/>
            <a:ext cx="2743200" cy="1298448"/>
          </a:xfrm>
          <a:prstGeom prst="rect">
            <a:avLst/>
          </a:prstGeom>
          <a:solidFill>
            <a:srgbClr val="4A30B0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0FC"/>
                </a:solidFill>
                <a:latin typeface="Segoe UI"/>
              </a:rPr>
              <a:t>Audit Coverage
Per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481328"/>
            <a:ext cx="2743200" cy="1298448"/>
          </a:xfrm>
          <a:prstGeom prst="rect">
            <a:avLst/>
          </a:prstGeom>
          <a:solidFill>
            <a:srgbClr val="7A2020"/>
          </a:solidFill>
          <a:ln w="1270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151790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2128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6E6E"/>
                </a:solidFill>
                <a:latin typeface="Segoe UI"/>
              </a:rPr>
              <a:t>Safety Rules
Out of the 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926080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" y="307238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Development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3814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Traditional builds: 6-12 weeks of engineering.
AgentForge: prompt-to-agent in under 60 seconds.
Estimated saving: 3-6 developer-weeks per agent.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7" y="292608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07407" y="2926080"/>
            <a:ext cx="3657600" cy="54864"/>
          </a:xfrm>
          <a:prstGeom prst="rect">
            <a:avLst/>
          </a:prstGeom>
          <a:solidFill>
            <a:srgbClr val="5A1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07238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Planning Architect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43814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60-sec full-stack app generation: React+FastAPI+FAISS+Docker.
KB-grounded RAG with two-pass extraction — no hallucination.
Deployable ZIP with one docker-compose command.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292608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11896" y="2926080"/>
            <a:ext cx="3657600" cy="54864"/>
          </a:xfrm>
          <a:prstGeom prst="rect">
            <a:avLst/>
          </a:prstGeom>
          <a:solidFill>
            <a:srgbClr val="784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307238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SaaS Cost Avoidance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3814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Lyzr: ~$2,000+/month SaaS. Dify Cloud: per-seat.
AgentForge: self-hosted on your Azure subscription.
Break-even at first agent deployed.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0060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800600"/>
            <a:ext cx="3657600" cy="54864"/>
          </a:xfrm>
          <a:prstGeom prst="rect">
            <a:avLst/>
          </a:prstGeom>
          <a:solidFill>
            <a:srgbClr val="0C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94690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Compliance Risk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31266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8 always-on safety rules (PII, hallucination, toxicity,
prompt injection) eliminate GDPR/HIPAA exposure.
Audit logs satisfy regulatory review in minutes.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7" y="480060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07407" y="4800600"/>
            <a:ext cx="3657600" cy="54864"/>
          </a:xfrm>
          <a:prstGeom prst="rect">
            <a:avLst/>
          </a:prstGeom>
          <a:solidFill>
            <a:srgbClr val="7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494690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Quality Assurance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531266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Evaluation engine scores agents pre-deployment.
Only agents meeting pass-rate threshold promote.
Workflow Observability surfaces failures instantly.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1896" y="4800600"/>
            <a:ext cx="3657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11896" y="4800600"/>
            <a:ext cx="3657600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4946904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Talent Leverage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312664"/>
            <a:ext cx="340156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Non-ML staff build production agents visually.
Reduces dependency on scarce AI engineers.
Config-driven safety — zero ML knowledge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AgentForge — Layered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32704"/>
            <a:ext cx="9601200" cy="594360"/>
          </a:xfrm>
          <a:prstGeom prst="rect">
            <a:avLst/>
          </a:prstGeom>
          <a:solidFill>
            <a:srgbClr val="041834"/>
          </a:solidFill>
          <a:ln w="15240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56784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529A"/>
                </a:solidFill>
                <a:latin typeface="Segoe UI"/>
              </a:rPr>
              <a:t>AZURE AI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61888"/>
            <a:ext cx="9326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Azure OpenAI GPT-4o  ·  Azure OpenAI GPT-4.5  ·  Azure AI Search  ·  Azure Cognitive Services Speech (TTS/STT)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974336"/>
            <a:ext cx="9601200" cy="594360"/>
          </a:xfrm>
          <a:prstGeom prst="rect">
            <a:avLst/>
          </a:prstGeom>
          <a:solidFill>
            <a:srgbClr val="021C14"/>
          </a:solidFill>
          <a:ln w="15240">
            <a:solidFill>
              <a:srgbClr val="0C5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50200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5E48"/>
                </a:solidFill>
                <a:latin typeface="Segoe UI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0"/>
            <a:ext cx="9326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PostgreSQL 16 + pgvector  ·  FAISS (Planning Architect RAG)  ·  Alembic Migrations  ·  SQLAlchemy 2.0 Async 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57599"/>
            <a:ext cx="9601200" cy="1261872"/>
          </a:xfrm>
          <a:prstGeom prst="rect">
            <a:avLst/>
          </a:prstGeom>
          <a:solidFill>
            <a:srgbClr val="10062C"/>
          </a:solidFill>
          <a:ln w="15240">
            <a:solidFill>
              <a:srgbClr val="4A3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70331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30B0"/>
                </a:solidFill>
                <a:latin typeface="Segoe UI"/>
              </a:rPr>
              <a:t>CORE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86784"/>
            <a:ext cx="9326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AgentOrchestrator  ·  PlanningArchitect (GPT-4o plan + UI gen + ZIP export)  ·  GuardrailsEngine (Presidio)  ·  RAGEngine  ·  SimulationRunner  ·  ToolRegistry  ·  PromptToAgent  ·  SafetyRules (8)  ·  EvaluationEngine  ·  VoiceService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96896"/>
            <a:ext cx="9601200" cy="1005840"/>
          </a:xfrm>
          <a:prstGeom prst="rect">
            <a:avLst/>
          </a:prstGeom>
          <a:solidFill>
            <a:srgbClr val="220E00"/>
          </a:solidFill>
          <a:ln w="15240">
            <a:solidFill>
              <a:srgbClr val="784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6426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4608"/>
                </a:solidFill>
                <a:latin typeface="Segoe UI"/>
              </a:rPr>
              <a:t>API LAYER — FastAPI + JWT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26080"/>
            <a:ext cx="9326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Agents  ·  Auth  ·  RAG  ·  Simulation  ·  Tools  ·  Control Plane  ·  Safety  ·  Evaluations  ·  Voice  ·  Architect  ·  WorkflowRuns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572768"/>
            <a:ext cx="9601200" cy="969264"/>
          </a:xfrm>
          <a:prstGeom prst="rect">
            <a:avLst/>
          </a:prstGeom>
          <a:solidFill>
            <a:srgbClr val="061226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16184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FRONTEND — React 18 + Vite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901952"/>
            <a:ext cx="9326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ReactFlow Canvas  ·  Agent Studio  ·  Planning Architect  ·  Workflow Observability  ·  Safety &amp; Guardrails  ·  Evaluations  ·  Voice Agents  · 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59568" y="1572768"/>
            <a:ext cx="1517904" cy="4700016"/>
          </a:xfrm>
          <a:prstGeom prst="rect">
            <a:avLst/>
          </a:prstGeom>
          <a:solidFill>
            <a:srgbClr val="02140C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14432" y="1627632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E2B4"/>
                </a:solidFill>
                <a:latin typeface="Segoe UI"/>
              </a:rPr>
              <a:t>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1993392"/>
            <a:ext cx="13533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OpenTelemetry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4432" y="2560320"/>
            <a:ext cx="13533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Jaeger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3127247"/>
            <a:ext cx="13533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Azure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3694175"/>
            <a:ext cx="13533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GCP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4261104"/>
            <a:ext cx="13533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Datadog APM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4432" y="4828032"/>
            <a:ext cx="13533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Workflow Runs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82512"/>
            <a:ext cx="9601200" cy="292608"/>
          </a:xfrm>
          <a:prstGeom prst="rect">
            <a:avLst/>
          </a:prstGeom>
          <a:solidFill>
            <a:srgbClr val="021008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40080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E2B4"/>
                </a:solidFill>
                <a:latin typeface="Consolas"/>
              </a:rPr>
              <a:t>Docker Compose  —  postgres + pgvector + backend + frontend + jaeger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NEW FEATURE SPOTLIGHT — v4.0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Planning Architect — 60-Second Full-Stack App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743200" cy="1097280"/>
          </a:xfrm>
          <a:prstGeom prst="rect">
            <a:avLst/>
          </a:prstGeom>
          <a:solidFill>
            <a:srgbClr val="220844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60s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FB0FC"/>
                </a:solidFill>
                <a:latin typeface="Segoe UI"/>
              </a:rPr>
              <a:t>Describe → Full
Project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17320"/>
            <a:ext cx="2743200" cy="1097280"/>
          </a:xfrm>
          <a:prstGeom prst="rect">
            <a:avLst/>
          </a:prstGeom>
          <a:solidFill>
            <a:srgbClr val="08224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4630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A3F5"/>
                </a:solidFill>
                <a:latin typeface="Segoe UI"/>
              </a:rPr>
              <a:t>Working React UI
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2743200" cy="1097280"/>
          </a:xfrm>
          <a:prstGeom prst="rect">
            <a:avLst/>
          </a:prstGeom>
          <a:solidFill>
            <a:srgbClr val="08281C"/>
          </a:solidFill>
          <a:ln w="1270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E08C"/>
                </a:solidFill>
                <a:latin typeface="Segoe UI"/>
              </a:rPr>
              <a:t>KB Extraction
Passes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417320"/>
            <a:ext cx="2743200" cy="1097280"/>
          </a:xfrm>
          <a:prstGeom prst="rect">
            <a:avLst/>
          </a:prstGeom>
          <a:solidFill>
            <a:srgbClr val="221800"/>
          </a:solidFill>
          <a:ln w="1270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4630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1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116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BB20"/>
                </a:solidFill>
                <a:latin typeface="Segoe UI"/>
              </a:rPr>
              <a:t>Full-Stack Deploy
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70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HOW IT WORKS — 5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63240"/>
            <a:ext cx="5486400" cy="667512"/>
          </a:xfrm>
          <a:prstGeom prst="rect">
            <a:avLst/>
          </a:prstGeom>
          <a:solidFill>
            <a:srgbClr val="180A38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172968"/>
            <a:ext cx="402336" cy="402336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099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Describe Your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401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Type what you want to build in plain English. Attach PDFs/DOCXs for KB-grounded generation.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13048"/>
            <a:ext cx="5486400" cy="667512"/>
          </a:xfrm>
          <a:prstGeom prst="rect">
            <a:avLst/>
          </a:prstGeom>
          <a:solidFill>
            <a:srgbClr val="180A38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922776"/>
            <a:ext cx="402336" cy="402336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496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AI Generates Full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1513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GPT-4o produces: project summary, phases, features, tech stack, architecture diagram in JSON.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62856"/>
            <a:ext cx="5486400" cy="667512"/>
          </a:xfrm>
          <a:prstGeom prst="rect">
            <a:avLst/>
          </a:prstGeom>
          <a:solidFill>
            <a:srgbClr val="180A38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672584"/>
            <a:ext cx="402336" cy="402336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5994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Visual UI Preview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9011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A working React chatbot/dashboard renders as a sandboxed HTML preview — live in browser.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12663"/>
            <a:ext cx="5486400" cy="667512"/>
          </a:xfrm>
          <a:prstGeom prst="rect">
            <a:avLst/>
          </a:prstGeom>
          <a:solidFill>
            <a:srgbClr val="180A38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5422392"/>
            <a:ext cx="402336" cy="402336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3492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Two-Pass KB Extraction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6509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Pass 1: extract FAQ_DATA/topics as structured JSON. Pass 2: inject into React template — no hallucination.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062472"/>
            <a:ext cx="5486400" cy="667512"/>
          </a:xfrm>
          <a:prstGeom prst="rect">
            <a:avLst/>
          </a:prstGeom>
          <a:solidFill>
            <a:srgbClr val="180A38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6172200"/>
            <a:ext cx="402336" cy="402336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60990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Download Full-Stack ZIP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64008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Get React+Vite+TS frontend, FastAPI backend, FAISS RAG, PostgreSQL schema, Docker Compose — deploy anywhere.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670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FULL-STACK ZIP CONTENTS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063240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3081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Consolas"/>
              </a:rPr>
              <a:t>src/App.tsx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3099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React + TypeScript chatbot UI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538728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5570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E08C"/>
                </a:solidFill>
                <a:latin typeface="Consolas"/>
              </a:rPr>
              <a:t>backend/main.py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2832" y="3575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FastAPI application entry 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014215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0325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E08C"/>
                </a:solidFill>
                <a:latin typeface="Consolas"/>
              </a:rPr>
              <a:t>backend/app/rag.py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405079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FAISS + Azure OpenAI RAG engine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489704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45079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E08C"/>
                </a:solidFill>
                <a:latin typeface="Consolas"/>
              </a:rPr>
              <a:t>backend/app/models.py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42832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PostgreSQL tables (auto-created on startup)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965192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4983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E2B4"/>
                </a:solidFill>
                <a:latin typeface="Consolas"/>
              </a:rPr>
              <a:t>backend/requirements.txt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42832" y="50017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Python dependencies pinned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440680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5458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BB20"/>
                </a:solidFill>
                <a:latin typeface="Consolas"/>
              </a:rPr>
              <a:t>backend/.env.example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42832" y="54772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Azure keys + DB URL template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5916168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2240" y="593445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BB20"/>
                </a:solidFill>
                <a:latin typeface="Consolas"/>
              </a:rPr>
              <a:t>docker-compose.yml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42832" y="59527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One-command deploy: postgres + backend + frontend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6391656"/>
            <a:ext cx="5577840" cy="402336"/>
          </a:xfrm>
          <a:prstGeom prst="rect">
            <a:avLst/>
          </a:prstGeom>
          <a:solidFill>
            <a:srgbClr val="140832"/>
          </a:solidFill>
          <a:ln w="508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92240" y="6409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B0FC"/>
                </a:solidFill>
                <a:latin typeface="Consolas"/>
              </a:rPr>
              <a:t>sandbox.html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42832" y="64282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Standalone demo — no install needed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6464808"/>
            <a:ext cx="11183112" cy="292608"/>
          </a:xfrm>
          <a:prstGeom prst="rect">
            <a:avLst/>
          </a:prstGeom>
          <a:solidFill>
            <a:srgbClr val="180A38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" y="648309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B0FC"/>
                </a:solidFill>
                <a:latin typeface="Segoe UI"/>
              </a:rPr>
              <a:t>Session Management: Multiple named sessions (#1 · New Session · Jul 12)  ·  Scrollable list  ·  Delete per session  ·  Document upload per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FEATURE SPOTLIGHT — FULL-STACK DOWNLOAD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Deploy-Ready ZIP: React + FastAPI + FAISS + PostgreSQL +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212080" cy="4892040"/>
          </a:xfrm>
          <a:prstGeom prst="rect">
            <a:avLst/>
          </a:prstGeom>
          <a:solidFill>
            <a:srgbClr val="04221A"/>
          </a:solidFill>
          <a:ln w="12700">
            <a:solidFill>
              <a:srgbClr val="189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FRONTEND  (React 18 + Vite + TypeScript)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Consolas"/>
              </a:rPr>
              <a:t>my-app/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042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Consolas"/>
              </a:rPr>
              <a:t>  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066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  App.tsx          # Main chatbot / dashboard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  components/      # Chat, MessageList, InputBar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1129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  api.ts           # Axios client →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136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Consolas"/>
              </a:rPr>
              <a:t>  public/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1830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vite.config.ts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tsconfig.json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229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package.json       # React 18 + TypeScript + 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253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sandbox.html         # Standalone no-install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5650992" cy="4892040"/>
          </a:xfrm>
          <a:prstGeom prst="rect">
            <a:avLst/>
          </a:prstGeom>
          <a:solidFill>
            <a:srgbClr val="041A22"/>
          </a:solidFill>
          <a:ln w="12700">
            <a:solidFill>
              <a:srgbClr val="187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1481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BACKEND  (FastAPI + FAISS + PostgreSQL)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901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Consolas"/>
              </a:rPr>
              <a:t>backend/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304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main.py            # FastAPI entry — routers, CORS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706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Consolas"/>
              </a:rPr>
              <a:t>  app/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  rag.py           # FAISS + Azure OpenAI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  models.py        # PostgreSQL tables (auto-init)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913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  routes/          # /ask, /upload, /health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43159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requirements.txt   # fastapi, langchain, faiss-cpu…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7183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.env.example       # Azure keys + DB URL template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Dockerfile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55229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docker-compose.yml   # postgres + backend +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5925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Consolas"/>
              </a:rPr>
              <a:t>  → docker-compose up --build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00800"/>
            <a:ext cx="11183112" cy="402336"/>
          </a:xfrm>
          <a:prstGeom prst="rect">
            <a:avLst/>
          </a:prstGeom>
          <a:solidFill>
            <a:srgbClr val="011210"/>
          </a:solidFill>
          <a:ln w="12700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643737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E2B4"/>
                </a:solidFill>
                <a:latin typeface="Consolas"/>
              </a:rPr>
              <a:t>ONE COMMAND DEPLOY:   docker-compose up --build   →   Frontend: :5173   Backend: :8000   PostgreSQL: :5432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E6E"/>
                </a:solidFill>
                <a:latin typeface="Segoe UI"/>
              </a:rP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Safety &amp; Guardrails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16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DDEE"/>
                </a:solidFill>
                <a:latin typeface="Segoe UI"/>
              </a:rPr>
              <a:t>8 configurable safety rules across 4 categories — every agent run is scanned before output is returned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743200" cy="1097280"/>
          </a:xfrm>
          <a:prstGeom prst="rect">
            <a:avLst/>
          </a:prstGeom>
          <a:solidFill>
            <a:srgbClr val="08204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1,247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A3F5"/>
                </a:solidFill>
                <a:latin typeface="Segoe UI"/>
              </a:rPr>
              <a:t>Total Requests
Monitored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920240"/>
            <a:ext cx="2743200" cy="1097280"/>
          </a:xfrm>
          <a:prstGeom prst="rect">
            <a:avLst/>
          </a:prstGeom>
          <a:solidFill>
            <a:srgbClr val="280808"/>
          </a:solidFill>
          <a:ln w="1270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6E6E"/>
                </a:solidFill>
                <a:latin typeface="Segoe UI"/>
              </a:rPr>
              <a:t>Blocked
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920240"/>
            <a:ext cx="2743200" cy="1097280"/>
          </a:xfrm>
          <a:prstGeom prst="rect">
            <a:avLst/>
          </a:prstGeom>
          <a:solidFill>
            <a:srgbClr val="22103C"/>
          </a:solidFill>
          <a:ln w="1270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B0FC"/>
                </a:solidFill>
                <a:latin typeface="Segoe UI"/>
              </a:rPr>
              <a:t>PII
Redactions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920240"/>
            <a:ext cx="2743200" cy="1097280"/>
          </a:xfrm>
          <a:prstGeom prst="rect">
            <a:avLst/>
          </a:prstGeom>
          <a:solidFill>
            <a:srgbClr val="221800"/>
          </a:solidFill>
          <a:ln w="1270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965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5420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BB20"/>
                </a:solidFill>
                <a:latin typeface="Segoe UI"/>
              </a:rPr>
              <a:t>Hallucination
Flags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00400"/>
            <a:ext cx="54864" cy="1481328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PII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Critical · Blocks &amp; redacts SSN, email,
phone, credit card via Microsoft Presidio.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29000" y="3200400"/>
            <a:ext cx="54864" cy="1481328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5701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Hallucination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High · Flags uncertain language patterns
before output reaches the end user.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3200400"/>
            <a:ext cx="54864" cy="1481328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8309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Toxicity 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High · Screens for harmful, offensive or
degrading content in every response.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3200400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81160" y="3200400"/>
            <a:ext cx="54864" cy="1481328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09176" y="3319272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Prompt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3675887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Critical · Blocks jailbreak &amp; instruction
override attempts in user inputs.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4773168"/>
            <a:ext cx="54864" cy="1481328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Data Leakage 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High · Prevents confidential data from
being exposed in agent responses.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29000" y="4773168"/>
            <a:ext cx="54864" cy="148132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5701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Off-Topic Filter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701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Medium · Keeps agents focused on their
configured domain and persona.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55080" y="4773168"/>
            <a:ext cx="54864" cy="148132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8309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Rate Limit Guard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309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Medium · Prevents abuse and runaway
cost from excessive agent calls.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4773168"/>
            <a:ext cx="2743200" cy="148132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281160" y="4773168"/>
            <a:ext cx="54864" cy="1481328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09176" y="489204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Output Length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9176" y="5248656"/>
            <a:ext cx="25420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Low · Caps responses to avoid token
waste and truncation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FEATURE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Evaluations Engine — Automated Agent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2148839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96596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Define 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3317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JSON array of {input, expected} pairs targeting your agent's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53511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227831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04495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Run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1071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POST /api/evaluations/runs  -&gt;  engine scores each test case pass/fail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32504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12394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Score &amp; Badge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48970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&gt;=80% = green (production-ready)  ·  60-79% = yellow  ·  &lt;60% = red (blocked)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11496"/>
            <a:ext cx="5303520" cy="987552"/>
          </a:xfrm>
          <a:prstGeom prst="rect">
            <a:avLst/>
          </a:prstGeom>
          <a:solidFill>
            <a:srgbClr val="F0F5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5385816"/>
            <a:ext cx="438912" cy="43891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20293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Review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56869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Full run history with agent ID, timestamp, passed/total, and per-case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BUSINESS BENEFITS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74519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1874519"/>
            <a:ext cx="2724912" cy="54864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4" y="2020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Pre-Production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386584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Agents must pass score threshold before
being promoted to production. Prevents
defective agents from reaching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874519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25128" y="1874519"/>
            <a:ext cx="2724912" cy="54864"/>
          </a:xfrm>
          <a:prstGeom prst="rect">
            <a:avLst/>
          </a:prstGeom>
          <a:solidFill>
            <a:srgbClr val="0C5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71432" y="2020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Regression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386584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Re-run eval suite after every agent update.
Catch regressions before users do.
Full pass/fail diff in the history table.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160520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4160520"/>
            <a:ext cx="2724912" cy="54864"/>
          </a:xfrm>
          <a:prstGeom prst="rect">
            <a:avLst/>
          </a:prstGeom>
          <a:solidFill>
            <a:srgbClr val="4A3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2784" y="4306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Compliance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4672583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Each eval run is timestamped and persisted.
Provides auditable evidence that agents
meet quality standards for regulated industries.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4160520"/>
            <a:ext cx="27249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25128" y="4160520"/>
            <a:ext cx="2724912" cy="54864"/>
          </a:xfrm>
          <a:prstGeom prst="rect">
            <a:avLst/>
          </a:prstGeom>
          <a:solidFill>
            <a:srgbClr val="784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71432" y="43068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438"/>
                </a:solidFill>
                <a:latin typeface="Segoe UI"/>
              </a:rPr>
              <a:t>No Custom Test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4672583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680"/>
                </a:solidFill>
                <a:latin typeface="Segoe UI"/>
              </a:rPr>
              <a:t>JSON test cases. No pytest. No ML pipeline.
Product teams write tests — not engineers.
Zero setup beyond defining inputs.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Voice Agents — Azure Cognitive Services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167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DDEE"/>
                </a:solidFill>
                <a:latin typeface="Segoe UI"/>
              </a:rPr>
              <a:t>Real-time TTS synthesis via Azure Neural voices  ·  Per-agent telephony configuration  ·  STT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8 AZURE NEURAL VOICES INCLUDED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Jenny (US)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4248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Guy (US)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A3F5"/>
                </a:solidFill>
                <a:latin typeface="Segoe UI"/>
              </a:rPr>
              <a:t>Male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Sonia (UK)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6904" y="2304288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Natasha (AU)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596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Neerja (India)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0FC"/>
                </a:solidFill>
                <a:latin typeface="Segoe UI"/>
              </a:rPr>
              <a:t>Female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4248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8256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Elvira (ES)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8256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EE2B4"/>
                </a:solidFill>
                <a:latin typeface="Segoe UI"/>
              </a:rPr>
              <a:t>Female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9584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Denise (FR)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EE2B4"/>
                </a:solidFill>
                <a:latin typeface="Segoe UI"/>
              </a:rPr>
              <a:t>Female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46904" y="3054096"/>
            <a:ext cx="1417320" cy="658368"/>
          </a:xfrm>
          <a:prstGeom prst="rect">
            <a:avLst/>
          </a:prstGeom>
          <a:solidFill>
            <a:srgbClr val="180C3A"/>
          </a:solidFill>
          <a:ln w="9525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0912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Katja (DE)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34670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EE2B4"/>
                </a:solidFill>
                <a:latin typeface="Segoe UI"/>
              </a:rPr>
              <a:t>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PER-AGENT VOICE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525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TTS Engine (Azure / OpenAI)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731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STT Engine (Azure / Whisper)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93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TTS Voice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144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Silence Timeout (ms)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035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DEE"/>
                </a:solidFill>
                <a:latin typeface="Segoe UI"/>
              </a:rPr>
              <a:t>•  Max Call Duration 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HOW IT 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286000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2340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Select Voice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2651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Choose from 8 Azure Neural voices on the Voice Agents 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163824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9984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Configure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9984" y="3529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Set TTS/STT engine, silence timeout, max duration, enable voice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041648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9984" y="409651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Test Preview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Type sample text -&gt; click Play Sample -&gt; Azure Speech SDK synthesises MP3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919472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9984" y="49743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Save Config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5285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PUT /api/voice/configs/{agent_id}  stores settings per 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5797296"/>
            <a:ext cx="5303520" cy="786384"/>
          </a:xfrm>
          <a:prstGeom prst="rect">
            <a:avLst/>
          </a:prstGeom>
          <a:solidFill>
            <a:srgbClr val="14082E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29984" y="58521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0FC"/>
                </a:solidFill>
                <a:latin typeface="Segoe UI"/>
              </a:rPr>
              <a:t>Deploy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9984" y="61630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Agent answers inbound calls or places outbound calls via Azure telephony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0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Agent Studio — Visual Builder &amp; Type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111556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947672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Agent Type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04288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Filter tabs: All · Agent · Managerial · Superflow
Each agent has agent_type stored in PostgreSQL.
Counts update live as agents are created.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35808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035808"/>
            <a:ext cx="54864" cy="111556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3154680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Drag-Drop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511296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ReactFlow v12 with animated edges, dark mode,
and dot-grid background. No code required to build
complex multi-agent pipeline topologies.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42816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242816"/>
            <a:ext cx="54864" cy="1115568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4361688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Prompt-to-Agent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4718304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Describe your agent in plain English — GPT-4o
generates name, system prompt, tools &amp; guardrails
in under 60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49824"/>
            <a:ext cx="5212080" cy="1115568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5449824"/>
            <a:ext cx="54864" cy="1115568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5568696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Manager / Worker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5925312"/>
            <a:ext cx="50109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Manager agent delegates tasks to worker agents.
Each worker runs its own guardrail pass before
results are aggregated by the manager.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28800"/>
            <a:ext cx="5715000" cy="4736592"/>
          </a:xfrm>
          <a:prstGeom prst="rect">
            <a:avLst/>
          </a:prstGeom>
          <a:solidFill>
            <a:srgbClr val="041430"/>
          </a:solidFill>
          <a:ln w="1270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2" y="19202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88CC"/>
                </a:solidFill>
                <a:latin typeface="Segoe UI"/>
              </a:rPr>
              <a:t>AGENT STUDIO CANVAS LAYOUT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331720"/>
            <a:ext cx="1298448" cy="34747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All 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71232" y="2331720"/>
            <a:ext cx="1298448" cy="347472"/>
          </a:xfrm>
          <a:prstGeom prst="rect">
            <a:avLst/>
          </a:prstGeom>
          <a:solidFill>
            <a:srgbClr val="0C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078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Agent 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2832" y="2331720"/>
            <a:ext cx="1298448" cy="347472"/>
          </a:xfrm>
          <a:prstGeom prst="rect">
            <a:avLst/>
          </a:prstGeom>
          <a:solidFill>
            <a:srgbClr val="0C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794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Managerial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14432" y="2331720"/>
            <a:ext cx="1298448" cy="347472"/>
          </a:xfrm>
          <a:prstGeom prst="rect">
            <a:avLst/>
          </a:prstGeom>
          <a:solidFill>
            <a:srgbClr val="0C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51008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Superflow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971800"/>
            <a:ext cx="1554480" cy="475488"/>
          </a:xfrm>
          <a:prstGeom prst="rect">
            <a:avLst/>
          </a:prstGeom>
          <a:solidFill>
            <a:srgbClr val="0E224A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Input 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9872" y="2971800"/>
            <a:ext cx="1554480" cy="475488"/>
          </a:xfrm>
          <a:prstGeom prst="rect">
            <a:avLst/>
          </a:prstGeom>
          <a:solidFill>
            <a:srgbClr val="16529A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971800"/>
            <a:ext cx="1554480" cy="475488"/>
          </a:xfrm>
          <a:prstGeom prst="rect">
            <a:avLst/>
          </a:prstGeom>
          <a:solidFill>
            <a:srgbClr val="0E224A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931920"/>
            <a:ext cx="1645920" cy="475488"/>
          </a:xfrm>
          <a:prstGeom prst="rect">
            <a:avLst/>
          </a:prstGeom>
          <a:solidFill>
            <a:srgbClr val="0C4428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Worker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931920"/>
            <a:ext cx="1645920" cy="475488"/>
          </a:xfrm>
          <a:prstGeom prst="rect">
            <a:avLst/>
          </a:prstGeom>
          <a:solidFill>
            <a:srgbClr val="0C4428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Worker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892040"/>
            <a:ext cx="1645920" cy="475488"/>
          </a:xfrm>
          <a:prstGeom prst="rect">
            <a:avLst/>
          </a:prstGeom>
          <a:solidFill>
            <a:srgbClr val="321800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Worker 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4892040"/>
            <a:ext cx="1645920" cy="475488"/>
          </a:xfrm>
          <a:prstGeom prst="rect">
            <a:avLst/>
          </a:prstGeom>
          <a:solidFill>
            <a:srgbClr val="321800"/>
          </a:solidFill>
          <a:ln w="9525">
            <a:solidFill>
              <a:srgbClr val="3A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Tool: Slack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943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A0DD"/>
                </a:solidFill>
                <a:latin typeface="Segoe UI"/>
              </a:rPr>
              <a:t>Unlimited nodes per workflow  ·  Single or multi-agent modes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NEW FEATURE SPOTLIGHT — v4.0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Workflow Observability — Full Execution Trace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743200" cy="105156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Segoe UI"/>
              </a:rPr>
              <a:t>1,482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A3F5"/>
                </a:solidFill>
                <a:latin typeface="Segoe UI"/>
              </a:rPr>
              <a:t>Total Runs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17320"/>
            <a:ext cx="2743200" cy="1051560"/>
          </a:xfrm>
          <a:prstGeom prst="rect">
            <a:avLst/>
          </a:prstGeom>
          <a:solidFill>
            <a:srgbClr val="042214"/>
          </a:solidFill>
          <a:ln w="1270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Segoe UI"/>
              </a:rPr>
              <a:t>1,401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E08C"/>
                </a:solidFill>
                <a:latin typeface="Segoe UI"/>
              </a:rPr>
              <a:t>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2743200" cy="1051560"/>
          </a:xfrm>
          <a:prstGeom prst="rect">
            <a:avLst/>
          </a:prstGeom>
          <a:solidFill>
            <a:srgbClr val="280606"/>
          </a:solidFill>
          <a:ln w="1270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Segoe UI"/>
              </a:rPr>
              <a:t>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6E6E"/>
                </a:solidFill>
                <a:latin typeface="Segoe UI"/>
              </a:rPr>
              <a:t>Failed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417320"/>
            <a:ext cx="2743200" cy="1051560"/>
          </a:xfrm>
          <a:prstGeom prst="rect">
            <a:avLst/>
          </a:prstGeom>
          <a:solidFill>
            <a:srgbClr val="221800"/>
          </a:solidFill>
          <a:ln w="1270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Segoe UI"/>
              </a:rPr>
              <a:t>2.3s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BB20"/>
                </a:solidFill>
                <a:latin typeface="Segoe UI"/>
              </a:rPr>
              <a:t>Avg Duration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06040"/>
            <a:ext cx="6400800" cy="3703320"/>
          </a:xfrm>
          <a:prstGeom prst="rect">
            <a:avLst/>
          </a:prstGeom>
          <a:solidFill>
            <a:srgbClr val="041228"/>
          </a:solidFill>
          <a:ln w="12700">
            <a:solidFill>
              <a:srgbClr val="2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670048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WORKFLOW RUNS  (/workflow-runs page)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63240"/>
            <a:ext cx="4114800" cy="347472"/>
          </a:xfrm>
          <a:prstGeom prst="rect">
            <a:avLst/>
          </a:prstGeom>
          <a:solidFill>
            <a:srgbClr val="081C40"/>
          </a:solidFill>
          <a:ln w="12700">
            <a:solidFill>
              <a:srgbClr val="2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0998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6699"/>
                </a:solidFill>
                <a:latin typeface="Segoe UI"/>
              </a:rPr>
              <a:t>Search by input / output / run ID...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063240"/>
            <a:ext cx="694944" cy="347472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01183" y="309981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3248" y="3063240"/>
            <a:ext cx="694944" cy="347472"/>
          </a:xfrm>
          <a:prstGeom prst="rect">
            <a:avLst/>
          </a:prstGeom>
          <a:solidFill>
            <a:srgbClr val="08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68112" y="309981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Completed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3063240"/>
            <a:ext cx="694944" cy="347472"/>
          </a:xfrm>
          <a:prstGeom prst="rect">
            <a:avLst/>
          </a:prstGeom>
          <a:solidFill>
            <a:srgbClr val="3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1072" y="309981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Failed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511296"/>
            <a:ext cx="6108192" cy="457200"/>
          </a:xfrm>
          <a:prstGeom prst="rect">
            <a:avLst/>
          </a:prstGeom>
          <a:solidFill>
            <a:srgbClr val="06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6027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A3F5"/>
                </a:solidFill>
                <a:latin typeface="Consolas"/>
              </a:rPr>
              <a:t>run_abc123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602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Customer FAQ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6027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2.1s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6027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E08C"/>
                </a:solidFill>
                <a:latin typeface="Segoe UI"/>
              </a:rPr>
              <a:t>Completed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23360"/>
            <a:ext cx="6108192" cy="457200"/>
          </a:xfrm>
          <a:prstGeom prst="rect">
            <a:avLst/>
          </a:prstGeom>
          <a:solidFill>
            <a:srgbClr val="08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A3F5"/>
                </a:solidFill>
                <a:latin typeface="Consolas"/>
              </a:rPr>
              <a:t>run_def456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114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Document summarizer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114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3.8s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E08C"/>
                </a:solidFill>
                <a:latin typeface="Segoe UI"/>
              </a:rPr>
              <a:t>Completed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535424"/>
            <a:ext cx="6108192" cy="457200"/>
          </a:xfrm>
          <a:prstGeom prst="rect">
            <a:avLst/>
          </a:prstGeom>
          <a:solidFill>
            <a:srgbClr val="06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46268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A3F5"/>
                </a:solidFill>
                <a:latin typeface="Consolas"/>
              </a:rPr>
              <a:t>run_ghi789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626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Lead qualifier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46268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1.2s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626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6E6E"/>
                </a:solidFill>
                <a:latin typeface="Segoe UI"/>
              </a:rPr>
              <a:t>Failed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47488"/>
            <a:ext cx="6108192" cy="457200"/>
          </a:xfrm>
          <a:prstGeom prst="rect">
            <a:avLst/>
          </a:prstGeom>
          <a:solidFill>
            <a:srgbClr val="08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513892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A3F5"/>
                </a:solidFill>
                <a:latin typeface="Consolas"/>
              </a:rPr>
              <a:t>run_jkl012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1389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HR onboarding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138927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4.5s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51389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E08C"/>
                </a:solidFill>
                <a:latin typeface="Segoe UI"/>
              </a:rPr>
              <a:t>Completed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559552"/>
            <a:ext cx="6108192" cy="457200"/>
          </a:xfrm>
          <a:prstGeom prst="rect">
            <a:avLst/>
          </a:prstGeom>
          <a:solidFill>
            <a:srgbClr val="06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5650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A3F5"/>
                </a:solidFill>
                <a:latin typeface="Consolas"/>
              </a:rPr>
              <a:t>run_mno345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5650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Code review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56509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2.9s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5650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E08C"/>
                </a:solidFill>
                <a:latin typeface="Segoe UI"/>
              </a:rPr>
              <a:t>Completed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2606040"/>
            <a:ext cx="4663440" cy="3703320"/>
          </a:xfrm>
          <a:prstGeom prst="rect">
            <a:avLst/>
          </a:prstGeom>
          <a:solidFill>
            <a:srgbClr val="081A3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05472" y="267004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EXECUTION TRACE DRAWER  (480px overlay)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5472" y="303580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Run: run_abc123  ·  Workflow: Customer FAQ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05472" y="3383280"/>
            <a:ext cx="4352544" cy="475488"/>
          </a:xfrm>
          <a:prstGeom prst="rect">
            <a:avLst/>
          </a:prstGeom>
          <a:solidFill>
            <a:srgbClr val="061430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0" y="34381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Input Received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34381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0ms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65760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E08C"/>
                </a:solidFill>
                <a:latin typeface="Segoe UI"/>
              </a:rPr>
              <a:t>Status: done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05472" y="3950208"/>
            <a:ext cx="4352544" cy="475488"/>
          </a:xfrm>
          <a:prstGeom prst="rect">
            <a:avLst/>
          </a:prstGeom>
          <a:solidFill>
            <a:srgbClr val="061430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40050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RAG Query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0050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210ms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4224528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E08C"/>
                </a:solidFill>
                <a:latin typeface="Segoe UI"/>
              </a:rPr>
              <a:t>Status: done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05472" y="4517136"/>
            <a:ext cx="4352544" cy="475488"/>
          </a:xfrm>
          <a:prstGeom prst="rect">
            <a:avLst/>
          </a:prstGeom>
          <a:solidFill>
            <a:srgbClr val="061430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0" y="45720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GPT-4o LLM Call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572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1.6s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4791456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E08C"/>
                </a:solidFill>
                <a:latin typeface="Segoe UI"/>
              </a:rPr>
              <a:t>Status: done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05472" y="5084064"/>
            <a:ext cx="4352544" cy="475488"/>
          </a:xfrm>
          <a:prstGeom prst="rect">
            <a:avLst/>
          </a:prstGeom>
          <a:solidFill>
            <a:srgbClr val="061430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0" y="51389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Guardrails Check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51389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88ms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5358384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E08C"/>
                </a:solidFill>
                <a:latin typeface="Segoe UI"/>
              </a:rPr>
              <a:t>Status: done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5472" y="5650992"/>
            <a:ext cx="4352544" cy="475488"/>
          </a:xfrm>
          <a:prstGeom prst="rect">
            <a:avLst/>
          </a:prstGeom>
          <a:solidFill>
            <a:srgbClr val="061430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315200" y="5705855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Output Delivered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570585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680"/>
                </a:solidFill>
                <a:latin typeface="Segoe UI"/>
              </a:rPr>
              <a:t>12ms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5925312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E08C"/>
                </a:solidFill>
                <a:latin typeface="Segoe UI"/>
              </a:rPr>
              <a:t>Status: done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4465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77CC"/>
                </a:solidFill>
                <a:latin typeface="Segoe UI"/>
              </a:rPr>
              <a:t>Backed by workflow_runs PostgreSQL table  ·  Full JSONB node logs  ·  Fixed overlay drawer slides in from right at 480px width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COMPETITIVE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AgentForge vs Lyzr Architect — Feature Parity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561833"/>
              </p:ext>
            </p:extLst>
          </p:nvPr>
        </p:nvGraphicFramePr>
        <p:xfrm>
          <a:off x="502920" y="1444752"/>
          <a:ext cx="1115568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AgentForge  v4.0  ✅</a:t>
                      </a:r>
                    </a:p>
                  </a:txBody>
                  <a:tcPr>
                    <a:solidFill>
                      <a:srgbClr val="1652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Lyzr Architect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Visual drag-drop canvas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</a:t>
                      </a:r>
                      <a:r>
                        <a:rPr sz="1200" b="0" dirty="0" err="1">
                          <a:solidFill>
                            <a:srgbClr val="182438"/>
                          </a:solidFill>
                          <a:latin typeface="Segoe UI"/>
                        </a:rPr>
                        <a:t>ReactFlow</a:t>
                      </a:r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 v12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Prompt-to-agent (NL)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GPT-4o powered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Multi-agent orchestration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Manager/worker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Agent type filters (Studio)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Agent/Mgr/Superflow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RAG pipeline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LangChain+pgvector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PII redaction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Microsoft Presidio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Safety rules dashboard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8 rules + toggle UI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Evaluations / test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Score + history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Voice agents (TTS/STT)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Azure Speech SDK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Planning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60s full-stack gen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Full-Stack ZIP Download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✅ React+FastAPI+Docker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Workflow 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Trace drawer + stats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Azure-native deployment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GPT-4o + Speech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❌ OpenAI SaaS only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Self-hosted / open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Docker Compose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❌ SaaS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Agent versioning snapshots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✅ Immutable history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8243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73952"/>
            <a:ext cx="11183112" cy="329184"/>
          </a:xfrm>
          <a:prstGeom prst="rect">
            <a:avLst/>
          </a:prstGeom>
          <a:solidFill>
            <a:srgbClr val="E0EC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29A"/>
                </a:solidFill>
                <a:latin typeface="Segoe UI"/>
              </a:rPr>
              <a:t>AgentForge v4.0 adds Planning Architect, Full-Stack ZIP, Workflow Observability — not available in Lyzr.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80"/>
                </a:solidFill>
                <a:latin typeface="Segoe U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438"/>
                </a:solidFill>
                <a:latin typeface="Segoe UI"/>
              </a:rPr>
              <a:t>AgentForge vs The Broader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44752"/>
          <a:ext cx="102687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Canvas</a:t>
                      </a:r>
                    </a:p>
                  </a:txBody>
                  <a:tcPr>
                    <a:solidFill>
                      <a:srgbClr val="1652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Guardrails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Evaluations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Voice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Architect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Azure-Native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Self-Host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Simulation</a:t>
                      </a:r>
                    </a:p>
                  </a:txBody>
                  <a:tcPr>
                    <a:solidFill>
                      <a:srgbClr val="1824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AgentForge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Lyzr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43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Flowise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Langflow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Dify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CrewAI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MS Copilot Studio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438"/>
                          </a:solidFill>
                          <a:latin typeface="Segoe UI"/>
                        </a:rPr>
                        <a:t>n8n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E2E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9844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2222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46520"/>
            <a:ext cx="11183112" cy="365760"/>
          </a:xfrm>
          <a:prstGeom prst="rect">
            <a:avLst/>
          </a:prstGeom>
          <a:solidFill>
            <a:srgbClr val="E0ECFF"/>
          </a:solidFill>
          <a:ln w="9525">
            <a:solidFill>
              <a:srgbClr val="165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29A"/>
                </a:solidFill>
                <a:latin typeface="Segoe UI"/>
              </a:rPr>
              <a:t>AgentForge is the only platform with all 8 dimensions — including Planning Architect not available anywhere else.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A3F5"/>
                </a:solidFill>
                <a:latin typeface="Segoe UI"/>
              </a:rPr>
              <a:t>COMPLETE 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20 Enterprise Features Shipped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627632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Visual Drag-Drop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75104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ReactFlow canvas, animated edges, dark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572768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572768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627632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Prompt-to-Agent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975104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GPT-4o generates full config from one sentence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72768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572768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1627632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Multi-Agent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975104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Manager delegates to workers, sequential/parallel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572768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1572768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1627632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Agent Type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975104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Agent / Managerial / Superflow tabs in Studio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60320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2560320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2615184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RAG Knowledge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2962656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LangChain + pgvector, PDF/TXT ingest, citations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560320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29000" y="2560320"/>
            <a:ext cx="45720" cy="89611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38728" y="2615184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PII Redaction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2962656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Microsoft Presidio, 5 entity types, always-on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560320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2560320"/>
            <a:ext cx="45720" cy="89611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8" y="2615184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Safety Rules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2962656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8 rules, live toggle, category/severity badges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560320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81160" y="2560320"/>
            <a:ext cx="45720" cy="89611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90888" y="2615184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Evaluations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2962656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JSON test cases, score, history, pass-rate 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547872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3547872"/>
            <a:ext cx="45720" cy="89611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" y="3602736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Voice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3950208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Azure Speech SDK, 8 Neural voices, TTS/STT config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3547872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29000" y="3547872"/>
            <a:ext cx="45720" cy="89611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38728" y="3602736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Planning Architect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8728" y="3950208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NL -&gt; full plan + React UI preview + deployable ZIP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3547872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BFB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55080" y="3547872"/>
            <a:ext cx="45720" cy="89611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64808" y="3602736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Full-Stack ZIP Download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3950208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React+FastAPI+FAISS+PostgreSQL+Docker in one export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547872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81160" y="3547872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90888" y="3602736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Workflow Observability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3950208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Trace drawer, stats bar, per-node logs, JSONB storage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535424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9B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4535424"/>
            <a:ext cx="45720" cy="89611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648" y="4590288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Simulation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4937760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Batch test runner, expected output scoring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29000" y="4535424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429000" y="4535424"/>
            <a:ext cx="45720" cy="896112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38728" y="4590288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Tool Registry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38728" y="4937760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7 tools: web, calc, email, Slack, GitHub, Jira, Drive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4535424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55080" y="4535424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64808" y="4590288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Control Plane Dashboard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4808" y="4937760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Live stats, guardrail triggers, avg latency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4535424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81160" y="4535424"/>
            <a:ext cx="45720" cy="89611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90888" y="4590288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Agent Versioning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90888" y="4937760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Immutable snapshots on every save, rollback ready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522976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02920" y="5522976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2648" y="5577840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Audit Logs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" y="5925312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Full run history: inputs, outputs, guardrail events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29000" y="5522976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429000" y="5522976"/>
            <a:ext cx="45720" cy="896112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538728" y="5577840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RBAC + JWT Auth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38728" y="5925312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Admin / Developer / Viewer, enforced on all routes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5522976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5EE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355080" y="5522976"/>
            <a:ext cx="45720" cy="896112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64808" y="5577840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OpenTelemetry Tracing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808" y="5925312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Jaeger, Azure Monitor, GCP, Datadog, console/none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81160" y="5522976"/>
            <a:ext cx="2834640" cy="896112"/>
          </a:xfrm>
          <a:prstGeom prst="rect">
            <a:avLst/>
          </a:prstGeom>
          <a:solidFill>
            <a:srgbClr val="0C1C3A"/>
          </a:solidFill>
          <a:ln w="635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281160" y="5522976"/>
            <a:ext cx="45720" cy="89611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390888" y="5577840"/>
            <a:ext cx="2615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Docker Compose Stack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90888" y="5925312"/>
            <a:ext cx="26151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Segoe UI"/>
              </a:rPr>
              <a:t>postgres+pgvector + backend + frontend + jaeger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0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DELIVERY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Built to Production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Tests Passing
(32/32)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Core Features
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API Route
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755648"/>
            <a:ext cx="2743200" cy="1325880"/>
          </a:xfrm>
          <a:prstGeom prst="rect">
            <a:avLst/>
          </a:prstGeom>
          <a:solidFill>
            <a:srgbClr val="041834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80136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4871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DDEE"/>
                </a:solidFill>
                <a:latin typeface="Segoe UI"/>
              </a:rPr>
              <a:t>RBAC Roles
Enforced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5577840" cy="3502152"/>
          </a:xfrm>
          <a:prstGeom prst="rect">
            <a:avLst/>
          </a:prstGeom>
          <a:solidFill>
            <a:srgbClr val="020E22"/>
          </a:solidFill>
          <a:ln w="12700">
            <a:solidFill>
              <a:srgbClr val="1E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3375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99DD"/>
                </a:solidFill>
                <a:latin typeface="Segoe UI"/>
              </a:rPr>
              <a:t>KEY 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9417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POST /api/agents/generate          -&gt;  NL-to-agent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0416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POST /api/agents/{id}/run          -&gt;  Execute with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891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POST /api/rag/ingest               -&gt;  Upload &amp; chunk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3659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POST /api/simulation/run           -&gt;  Batch test 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8406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GET  /api/safety/rules             -&gt;  List / toggle safety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43153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POST /api/evaluations/runs         -&gt;  Run evaluation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790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POST /api/voice/synthesize         -&gt;  Azure TTS audio 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264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POST /api/architect/generate       -&gt;  Planning Architect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DDEE"/>
                </a:solidFill>
                <a:latin typeface="Consolas"/>
              </a:rPr>
              <a:t>GET  /api/workflow-runs            -&gt;  All workflow run traces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246120"/>
            <a:ext cx="5486400" cy="3502152"/>
          </a:xfrm>
          <a:prstGeom prst="rect">
            <a:avLst/>
          </a:prstGeom>
          <a:solidFill>
            <a:srgbClr val="020E22"/>
          </a:solidFill>
          <a:ln w="12700">
            <a:solidFill>
              <a:srgbClr val="1E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3375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99DD"/>
                </a:solidFill>
                <a:latin typeface="Segoe UI"/>
              </a:rPr>
              <a:t>SECURITY &amp;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9417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No hardcoded secrets — config fails loud at startup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965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Azure API keys git-ignored via .env + start.ps1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98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bcrypt==4.0.1 pinned for passlib compatibility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011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PostgreSQL healthcheck before backend starts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SQLAlchemy 2.0 async end-to-end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05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E08C"/>
                </a:solidFill>
                <a:latin typeface="Segoe UI"/>
              </a:rPr>
              <a:t>✓  Pydantic v2 validation at every API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108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E08C"/>
                </a:solidFill>
                <a:latin typeface="Segoe UI"/>
              </a:rPr>
              <a:t>✓  JWT enforced on all 11 router modules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6473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AE08C"/>
                </a:solidFill>
                <a:latin typeface="Segoe UI"/>
              </a:rPr>
              <a:t>✓  FAISS index rebuilt on document upload (Planning Architect)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Where AgentForge Shines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217627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Financial Document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304288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Ingest annual reports via RAG. Agent answers investor questions grounded in source data. PII guardrails block SSN/account number disclosure. Audit log for every query.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828800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7" y="1828800"/>
            <a:ext cx="54864" cy="2176272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3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Healthcare Triage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2304288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Intake agent -&gt; diagnosis agent -&gt; scheduling agent pipeline. Presidio removes patient PII before any LLM call. HIPAA-compliant by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828800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1828800"/>
            <a:ext cx="54864" cy="2176272"/>
          </a:xfrm>
          <a:prstGeom prst="rect">
            <a:avLst/>
          </a:prstGeom>
          <a:solidFill>
            <a:srgbClr val="4A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94767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DevOps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304288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Manager delegates: GitHub reads PRs, Jira creates tickets, Slack posts summaries — one multi-agent workflow replaces three separate automation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33087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133087"/>
            <a:ext cx="54864" cy="2176272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4251959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Rapid App Prototyping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4608575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Use Planning Architect to describe your app — get a full project plan, working React UI preview, and a deployable ZIP in 60 seconds. From idea to running app without an engineering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4133089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7" y="4133089"/>
            <a:ext cx="54864" cy="2176272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3" y="4251961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Enterprise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3" y="4608577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HR, legal, and compliance docs ingested via RAG. Employees ask questions in plain English; agents answer with source citations. Safety rules prevent off-topic or harmful responses.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4133089"/>
            <a:ext cx="3657600" cy="2176272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11896" y="4133089"/>
            <a:ext cx="54864" cy="217627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4251961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Pre-Production QA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4608577"/>
            <a:ext cx="3456432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Evaluation engine scores agents on a regression test suite overnight. Only agents meeting 90%+ pass rate are promoted to production — zero manual QA effort.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3F5"/>
                </a:solidFill>
                <a:latin typeface="Segoe UI"/>
              </a:rP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What Comes Next — AgentForge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55064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55064"/>
            <a:ext cx="54864" cy="224028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773936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1.  Azure AI Search Vector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13055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Replace in-memory chunks with Azure AI Search for enterprise-scale semantic retrieval with full vector similarity, faceting, and hybrid search.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655064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7" y="1655064"/>
            <a:ext cx="54864" cy="2240280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3" y="1773936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2.  WebSocket Streaming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213055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Real-time token-by-token agent output. Azure client streaming is wired — frontend upgrade only. Sub-second first-token latency.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655064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1655064"/>
            <a:ext cx="54864" cy="2240280"/>
          </a:xfrm>
          <a:prstGeom prst="rect">
            <a:avLst/>
          </a:prstGeom>
          <a:solidFill>
            <a:srgbClr val="5EE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773936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3.  Live Tool Credentials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13055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Connect real Slack, GitHub, and email accounts via a settings panel. Move integrations from stubs to fully live without code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32504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032504"/>
            <a:ext cx="54864" cy="2240280"/>
          </a:xfrm>
          <a:prstGeom prst="rect">
            <a:avLst/>
          </a:prstGeom>
          <a:solidFill>
            <a:srgbClr val="BFB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4151376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4.  Telephony Inbound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4507991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Wire Azure Communication Services to Voice Agents for real inbound call handling. IVR flows, call recording, and transcript storage.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4032504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07407" y="4032504"/>
            <a:ext cx="54864" cy="2240280"/>
          </a:xfrm>
          <a:prstGeom prst="rect">
            <a:avLst/>
          </a:prstGeom>
          <a:solidFill>
            <a:srgbClr val="F5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3" y="4151376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5.  Multi-Tenant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3" y="4507991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Isolated workspaces per team — separate agents, RAG indexes, audit logs, safety configs, and quotas per tenant.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4032504"/>
            <a:ext cx="3657600" cy="2240280"/>
          </a:xfrm>
          <a:prstGeom prst="rect">
            <a:avLst/>
          </a:prstGeom>
          <a:solidFill>
            <a:srgbClr val="0E1E3C"/>
          </a:solidFill>
          <a:ln w="9525">
            <a:solidFill>
              <a:srgbClr val="2A4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11896" y="4032504"/>
            <a:ext cx="54864" cy="2240280"/>
          </a:xfrm>
          <a:prstGeom prst="rect">
            <a:avLst/>
          </a:prstGeom>
          <a:solidFill>
            <a:srgbClr val="F9B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4151376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6.  In-Browser Agent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4507991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DEE"/>
                </a:solidFill>
                <a:latin typeface="Segoe UI"/>
              </a:rPr>
              <a:t>Test any agent in a chat window directly in the builder — no API client needed. Instant feedback loop for prompt engineers.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382512"/>
            <a:ext cx="11183112" cy="402336"/>
          </a:xfrm>
          <a:prstGeom prst="rect">
            <a:avLst/>
          </a:prstGeom>
          <a:solidFill>
            <a:srgbClr val="042814"/>
          </a:solidFill>
          <a:ln w="12700">
            <a:solidFill>
              <a:srgbClr val="4AE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43737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E08C"/>
                </a:solidFill>
                <a:latin typeface="Segoe UI"/>
              </a:rPr>
              <a:t>SHIPPED IN v4.0:  Planning Architect  ·  Full-Stack ZIP Download  ·  Workflow Observability  ·  Voice Agent Azure TTS  ·  Evaluations Engine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E2B4"/>
                </a:solidFill>
                <a:latin typeface="Segoe UI"/>
              </a:rPr>
              <a:t>DEPLOY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Up and Running in 3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11680"/>
            <a:ext cx="10515600" cy="1078992"/>
          </a:xfrm>
          <a:prstGeom prst="rect">
            <a:avLst/>
          </a:prstGeom>
          <a:solidFill>
            <a:srgbClr val="01160E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482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1 —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cp .env.example .env        # add your Azure OpenAI + Speech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18688"/>
            <a:ext cx="10515600" cy="1078992"/>
          </a:xfrm>
          <a:prstGeom prst="rect">
            <a:avLst/>
          </a:prstGeom>
          <a:solidFill>
            <a:srgbClr val="01160E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2 —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8444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docker-compose up --build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425696"/>
            <a:ext cx="10515600" cy="1078992"/>
          </a:xfrm>
          <a:prstGeom prst="rect">
            <a:avLst/>
          </a:prstGeom>
          <a:solidFill>
            <a:srgbClr val="01160E"/>
          </a:solidFill>
          <a:ln w="12700">
            <a:solidFill>
              <a:srgbClr val="18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462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2B4"/>
                </a:solidFill>
                <a:latin typeface="Segoe UI"/>
              </a:rPr>
              <a:t>3 —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9145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http://localhost:5173              # frontend   |   :8000/docs  -&gt;  API explorer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0"/>
            <a:ext cx="11183112" cy="22860"/>
          </a:xfrm>
          <a:prstGeom prst="rect">
            <a:avLst/>
          </a:prstGeom>
          <a:solidFill>
            <a:srgbClr val="18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5833872"/>
            <a:ext cx="3657600" cy="457200"/>
          </a:xfrm>
          <a:prstGeom prst="rect">
            <a:avLst/>
          </a:prstGeom>
          <a:solidFill>
            <a:srgbClr val="01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5EE2B4"/>
                </a:solidFill>
                <a:latin typeface="Segoe UI"/>
              </a:rPr>
              <a:t>Project:  C:\Users\n.sureshmanikandan\Repo1\AgentForge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5833872"/>
            <a:ext cx="3657600" cy="457200"/>
          </a:xfrm>
          <a:prstGeom prst="rect">
            <a:avLst/>
          </a:prstGeom>
          <a:solidFill>
            <a:srgbClr val="01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5EE2B4"/>
                </a:solidFill>
                <a:latin typeface="Segoe UI"/>
              </a:rPr>
              <a:t>Version:  4.0  —  July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5833872"/>
            <a:ext cx="3657600" cy="457200"/>
          </a:xfrm>
          <a:prstGeom prst="rect">
            <a:avLst/>
          </a:prstGeom>
          <a:solidFill>
            <a:srgbClr val="01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4AE08C"/>
                </a:solidFill>
                <a:latin typeface="Segoe UI"/>
              </a:rPr>
              <a:t>Features:  20  ·  Tests:  32/32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3554</Words>
  <Application>Microsoft Office PowerPoint</Application>
  <PresentationFormat>Custom</PresentationFormat>
  <Paragraphs>570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Natarajan, Suresh Manikandan</cp:lastModifiedBy>
  <cp:revision>6</cp:revision>
  <dcterms:created xsi:type="dcterms:W3CDTF">2013-01-27T09:14:16Z</dcterms:created>
  <dcterms:modified xsi:type="dcterms:W3CDTF">2026-07-13T04:22:10Z</dcterms:modified>
  <cp:category/>
</cp:coreProperties>
</file>