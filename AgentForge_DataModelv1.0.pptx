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3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4B5FD"/>
                </a:solidFill>
              </a:rPr>
              <a:t>AgentForge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</a:rPr>
              <a:t>ERwin Data Model  |  Enterprise AI Agent Builder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880360"/>
            <a:ext cx="758952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PostgreSQL  +  SQLAlchemy ORM  +  pgvector  +  Azure OpenAI GPT-4o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66160"/>
            <a:ext cx="2011680" cy="411480"/>
          </a:xfrm>
          <a:prstGeom prst="rect">
            <a:avLst/>
          </a:prstGeom>
          <a:solidFill>
            <a:srgbClr val="4C1D9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630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7 Entities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3566160"/>
            <a:ext cx="2011680" cy="411480"/>
          </a:xfrm>
          <a:prstGeom prst="rect">
            <a:avLst/>
          </a:prstGeom>
          <a:solidFill>
            <a:srgbClr val="1E3A5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3630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6 FK Relations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3566160"/>
            <a:ext cx="2011680" cy="411480"/>
          </a:xfrm>
          <a:prstGeom prst="rect">
            <a:avLst/>
          </a:prstGeom>
          <a:solidFill>
            <a:srgbClr val="134E4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3630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3 User Roles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3566160"/>
            <a:ext cx="2011680" cy="411480"/>
          </a:xfrm>
          <a:prstGeom prst="rect">
            <a:avLst/>
          </a:prstGeom>
          <a:solidFill>
            <a:srgbClr val="14532D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3630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RAG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3566160"/>
            <a:ext cx="2011680" cy="411480"/>
          </a:xfrm>
          <a:prstGeom prst="rect">
            <a:avLst/>
          </a:prstGeom>
          <a:solidFill>
            <a:srgbClr val="43140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3630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n.sureshmanikandan@accenture.com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B5FD"/>
                </a:solidFill>
              </a:rPr>
              <a:t>ERwin Data Model — AgentForge Platform (All 7 Entities)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2 of 7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530352"/>
            <a:ext cx="2651760" cy="1645920"/>
          </a:xfrm>
          <a:prstGeom prst="rect">
            <a:avLst/>
          </a:prstGeom>
          <a:solidFill>
            <a:srgbClr val="1E213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" y="530352"/>
            <a:ext cx="2651760" cy="26974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566928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800100"/>
            <a:ext cx="265176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2" y="800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592" y="800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" y="818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818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9539" y="818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996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996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" y="1014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" y="1014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9539" y="1014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 UNIQUE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1193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4592" y="1193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0312" y="1211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" y="1211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hashed_password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9539" y="1211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1389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64592" y="1389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0312" y="1408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0624" y="1408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full_name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99539" y="1408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1586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4592" y="1586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0312" y="1604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0624" y="1604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99539" y="1604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ENUM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1783080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64592" y="178308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0312" y="18013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" y="180136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is_active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99539" y="180136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BOOLEAN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1979676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4592" y="197967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10312" y="19979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0624" y="199796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99539" y="199796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530352"/>
            <a:ext cx="2651760" cy="2432304"/>
          </a:xfrm>
          <a:prstGeom prst="rect">
            <a:avLst/>
          </a:prstGeom>
          <a:solidFill>
            <a:srgbClr val="1E213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63240" y="530352"/>
            <a:ext cx="2651760" cy="2697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54680" y="566928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63240" y="800100"/>
            <a:ext cx="265176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063240" y="800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063240" y="800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108960" y="818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9272" y="818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98187" y="818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996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063240" y="996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108960" y="1014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19272" y="1014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8187" y="1014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63240" y="1193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063240" y="1193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108960" y="1211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319272" y="1211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98187" y="1211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63240" y="1389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063240" y="1389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108960" y="1408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319272" y="1408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system_prompt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98187" y="1408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63240" y="1586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063240" y="1586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108960" y="1604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319272" y="1604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98187" y="1604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1783080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063240" y="178308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108960" y="18013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319272" y="180136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98187" y="180136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63240" y="1979676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063240" y="197967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108960" y="19979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319272" y="199796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8187" y="199796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63240" y="2176272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063240" y="217627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08960" y="21945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19272" y="219456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98187" y="219456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63240" y="2372868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063240" y="237286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108960" y="23911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319272" y="239115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current_version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98187" y="239115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063240" y="2569464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3063240" y="256946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108960" y="25877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319272" y="258775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98187" y="258775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063240" y="276606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063240" y="276606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108960" y="278434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319272" y="278434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updated_at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98187" y="278434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89320" y="530352"/>
            <a:ext cx="2651760" cy="1252728"/>
          </a:xfrm>
          <a:prstGeom prst="rect">
            <a:avLst/>
          </a:prstGeom>
          <a:solidFill>
            <a:srgbClr val="1E213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5989320" y="530352"/>
            <a:ext cx="2651760" cy="2697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080760" y="566928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AGENT_VERSIONS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989320" y="800100"/>
            <a:ext cx="265176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5989320" y="800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5989320" y="800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035040" y="818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45352" y="818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24267" y="818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89320" y="996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5989320" y="996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035040" y="1014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45352" y="1014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agent_id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24267" y="1014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agents.id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989320" y="1193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5989320" y="1193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035040" y="1211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245352" y="1211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24267" y="1211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989320" y="1389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989320" y="1389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035040" y="1408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245352" y="1408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snapshot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24267" y="1408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989320" y="1586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5989320" y="1586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035040" y="1604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245352" y="1604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624267" y="1604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64592" y="3566160"/>
            <a:ext cx="2651760" cy="1842516"/>
          </a:xfrm>
          <a:prstGeom prst="rect">
            <a:avLst/>
          </a:prstGeom>
          <a:solidFill>
            <a:srgbClr val="1E2130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164592" y="3566160"/>
            <a:ext cx="2651760" cy="2697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56032" y="3602736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EEAD4"/>
                </a:solidFill>
              </a:rPr>
              <a:t>WORKFLOWS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64592" y="3835908"/>
            <a:ext cx="265176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64592" y="3835908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64592" y="383590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210312" y="385419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20624" y="385419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799539" y="385419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" y="4032504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64592" y="403250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210312" y="405079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420624" y="405079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99539" y="405079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4592" y="4229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64592" y="4229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10312" y="4247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420624" y="4247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799539" y="4247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4425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64592" y="4425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210312" y="4443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20624" y="4443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nodes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99539" y="4443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64592" y="4622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164592" y="4622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210312" y="4640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20624" y="4640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edges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799539" y="4640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64592" y="4818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164592" y="4818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210312" y="4837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20624" y="4837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799539" y="4837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64592" y="5015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164592" y="5015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210312" y="5033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420624" y="5033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799539" y="5033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64592" y="5212080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164592" y="521208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210312" y="52303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420624" y="523036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updated_at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799539" y="523036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063240" y="3566160"/>
            <a:ext cx="2651760" cy="1449324"/>
          </a:xfrm>
          <a:prstGeom prst="rect">
            <a:avLst/>
          </a:prstGeom>
          <a:solidFill>
            <a:srgbClr val="1E213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3063240" y="3566160"/>
            <a:ext cx="2651760" cy="2697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3154680" y="3602736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KNOWLEDGE_BASES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063240" y="3835908"/>
            <a:ext cx="265176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3063240" y="3835908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3063240" y="383590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3108960" y="385419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319272" y="385419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698187" y="385419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063240" y="4032504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3063240" y="403250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3108960" y="405079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3319272" y="405079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698187" y="405079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063240" y="4229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3063240" y="4229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3108960" y="4247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3319272" y="4247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698187" y="4247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063240" y="4425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3063240" y="4425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3108960" y="4443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319272" y="4443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agent_id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698187" y="4443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agents.id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063240" y="4622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3063240" y="4622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3108960" y="4640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319272" y="4640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698187" y="4640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063240" y="4818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3063240" y="4818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3108960" y="4837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3319272" y="4837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698187" y="4837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989320" y="3566160"/>
            <a:ext cx="2651760" cy="1645920"/>
          </a:xfrm>
          <a:prstGeom prst="rect">
            <a:avLst/>
          </a:prstGeom>
          <a:solidFill>
            <a:srgbClr val="1E213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5989320" y="3566160"/>
            <a:ext cx="2651760" cy="2697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6080760" y="3602736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DOCUMENTS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989320" y="3835908"/>
            <a:ext cx="265176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5989320" y="3835908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5989320" y="383590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6035040" y="385419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245352" y="385419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624267" y="385419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989320" y="4032504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5989320" y="403250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6035040" y="405079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245352" y="405079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kb_id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624267" y="405079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knowledge_bases.id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989320" y="4229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5989320" y="4229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6035040" y="4247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6245352" y="4247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filename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624267" y="4247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5989320" y="4425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5989320" y="4425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6035040" y="4443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6245352" y="4443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624267" y="4443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989320" y="4622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5989320" y="4622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6035040" y="4640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6245352" y="4640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chunk_count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624267" y="4640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5989320" y="4818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5989320" y="4818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6035040" y="4837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6245352" y="4837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624267" y="4837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989320" y="5015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5989320" y="5015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6035040" y="5033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245352" y="5033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7624267" y="5033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9006840" y="530352"/>
            <a:ext cx="2651760" cy="2235708"/>
          </a:xfrm>
          <a:prstGeom prst="rect">
            <a:avLst/>
          </a:prstGeom>
          <a:solidFill>
            <a:srgbClr val="1E2130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9006840" y="530352"/>
            <a:ext cx="2651760" cy="269748"/>
          </a:xfrm>
          <a:prstGeom prst="rect">
            <a:avLst/>
          </a:prstGeom>
          <a:solidFill>
            <a:srgbClr val="43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9098280" y="566928"/>
            <a:ext cx="254203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006840" y="800100"/>
            <a:ext cx="265176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9006840" y="800100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9006840" y="80010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9052560" y="81838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9262872" y="81838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0641787" y="81838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9006840" y="996696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9006840" y="99669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9052560" y="101498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9262872" y="101498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user_id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641787" y="101498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9006840" y="1193292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9006840" y="119329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9052560" y="121158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9262872" y="121158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641787" y="121158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9006840" y="1389888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9006840" y="138988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9052560" y="14081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9262872" y="140817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resource_type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0641787" y="140817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9006840" y="1586484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9006840" y="158648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9052560" y="16047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9262872" y="160477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resource_id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0641787" y="160477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9006840" y="1783080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9006840" y="1783080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9052560" y="18013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9262872" y="1801368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input_snapshot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0641787" y="1801368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9006840" y="1979676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9006840" y="1979676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9052560" y="19979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262872" y="1997964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output_snapshot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641787" y="1997964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006840" y="2176272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9006840" y="2176272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9052560" y="21945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9262872" y="2194560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guardrail_triggered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0641787" y="2194560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BOOLEAN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9006840" y="2372868"/>
            <a:ext cx="265176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Rectangle 293"/>
          <p:cNvSpPr/>
          <p:nvPr/>
        </p:nvSpPr>
        <p:spPr>
          <a:xfrm>
            <a:off x="9006840" y="2372868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9052560" y="23911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96" name="TextBox 295"/>
          <p:cNvSpPr txBox="1"/>
          <p:nvPr/>
        </p:nvSpPr>
        <p:spPr>
          <a:xfrm>
            <a:off x="9262872" y="2391156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latency_ms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641787" y="2391156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9006840" y="2569464"/>
            <a:ext cx="265176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9006840" y="2569464"/>
            <a:ext cx="265176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9052560" y="25877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9262872" y="2587752"/>
            <a:ext cx="137891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641787" y="2587752"/>
            <a:ext cx="114025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cxnSp>
        <p:nvCxnSpPr>
          <p:cNvPr id="303" name="Connector 302"/>
          <p:cNvCxnSpPr/>
          <p:nvPr/>
        </p:nvCxnSpPr>
        <p:spPr>
          <a:xfrm>
            <a:off x="2816352" y="0"/>
            <a:ext cx="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Rectangle 305"/>
          <p:cNvSpPr/>
          <p:nvPr/>
        </p:nvSpPr>
        <p:spPr>
          <a:xfrm>
            <a:off x="3026664" y="1831543"/>
            <a:ext cx="73152" cy="7315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2985516" y="158698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4B5FD"/>
                </a:solidFill>
              </a:rPr>
              <a:t>1:N</a:t>
            </a:r>
          </a:p>
        </p:txBody>
      </p:sp>
      <p:cxnSp>
        <p:nvCxnSpPr>
          <p:cNvPr id="308" name="Connector 307"/>
          <p:cNvCxnSpPr/>
          <p:nvPr/>
        </p:nvCxnSpPr>
        <p:spPr>
          <a:xfrm>
            <a:off x="5715000" y="0"/>
            <a:ext cx="0" cy="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Rectangle 310"/>
          <p:cNvSpPr/>
          <p:nvPr/>
        </p:nvSpPr>
        <p:spPr>
          <a:xfrm>
            <a:off x="5952744" y="1182776"/>
            <a:ext cx="73152" cy="7315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TextBox 311"/>
          <p:cNvSpPr txBox="1"/>
          <p:nvPr/>
        </p:nvSpPr>
        <p:spPr>
          <a:xfrm>
            <a:off x="5897880" y="144642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1:N</a:t>
            </a:r>
          </a:p>
        </p:txBody>
      </p:sp>
      <p:cxnSp>
        <p:nvCxnSpPr>
          <p:cNvPr id="313" name="Connector 312"/>
          <p:cNvCxnSpPr/>
          <p:nvPr/>
        </p:nvCxnSpPr>
        <p:spPr>
          <a:xfrm>
            <a:off x="0" y="2176272"/>
            <a:ext cx="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0" y="2176272"/>
            <a:ext cx="0" cy="1389888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0" y="3566160"/>
            <a:ext cx="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Rectangle 315"/>
          <p:cNvSpPr/>
          <p:nvPr/>
        </p:nvSpPr>
        <p:spPr>
          <a:xfrm>
            <a:off x="1188720" y="3529584"/>
            <a:ext cx="73152" cy="7315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1271016" y="26627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4B5FD"/>
                </a:solidFill>
              </a:rPr>
              <a:t>1:N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0" y="2176272"/>
            <a:ext cx="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0" y="2176272"/>
            <a:ext cx="0" cy="1389888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0" y="3566160"/>
            <a:ext cx="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Rectangle 320"/>
          <p:cNvSpPr/>
          <p:nvPr/>
        </p:nvSpPr>
        <p:spPr>
          <a:xfrm>
            <a:off x="3822192" y="3529584"/>
            <a:ext cx="73152" cy="7315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TextBox 321"/>
          <p:cNvSpPr txBox="1"/>
          <p:nvPr/>
        </p:nvSpPr>
        <p:spPr>
          <a:xfrm>
            <a:off x="2985516" y="266273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4B5FD"/>
                </a:solidFill>
              </a:rPr>
              <a:t>1:N</a:t>
            </a:r>
          </a:p>
        </p:txBody>
      </p:sp>
      <p:cxnSp>
        <p:nvCxnSpPr>
          <p:cNvPr id="323" name="Connector 322"/>
          <p:cNvCxnSpPr/>
          <p:nvPr/>
        </p:nvCxnSpPr>
        <p:spPr>
          <a:xfrm>
            <a:off x="0" y="2962656"/>
            <a:ext cx="0" cy="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0" y="2962656"/>
            <a:ext cx="0" cy="603504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0" y="3566160"/>
            <a:ext cx="0" cy="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Rectangle 325"/>
          <p:cNvSpPr/>
          <p:nvPr/>
        </p:nvSpPr>
        <p:spPr>
          <a:xfrm>
            <a:off x="4617720" y="3529584"/>
            <a:ext cx="73152" cy="7315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4567428" y="317388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1:N</a:t>
            </a:r>
          </a:p>
        </p:txBody>
      </p:sp>
      <p:cxnSp>
        <p:nvCxnSpPr>
          <p:cNvPr id="328" name="Connector 327"/>
          <p:cNvCxnSpPr/>
          <p:nvPr/>
        </p:nvCxnSpPr>
        <p:spPr>
          <a:xfrm>
            <a:off x="5715000" y="0"/>
            <a:ext cx="0" cy="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Rectangle 330"/>
          <p:cNvSpPr/>
          <p:nvPr/>
        </p:nvSpPr>
        <p:spPr>
          <a:xfrm>
            <a:off x="5952744" y="4352544"/>
            <a:ext cx="73152" cy="7315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5897880" y="432522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6EFAC"/>
                </a:solidFill>
              </a:rPr>
              <a:t>1:N</a:t>
            </a:r>
          </a:p>
        </p:txBody>
      </p:sp>
      <p:cxnSp>
        <p:nvCxnSpPr>
          <p:cNvPr id="333" name="Connector 332"/>
          <p:cNvCxnSpPr/>
          <p:nvPr/>
        </p:nvCxnSpPr>
        <p:spPr>
          <a:xfrm>
            <a:off x="2816352" y="0"/>
            <a:ext cx="0" cy="0"/>
          </a:xfrm>
          <a:prstGeom prst="line">
            <a:avLst/>
          </a:prstGeom>
          <a:ln w="19050">
            <a:solidFill>
              <a:srgbClr val="FED7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FED7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FED7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Rectangle 335"/>
          <p:cNvSpPr/>
          <p:nvPr/>
        </p:nvSpPr>
        <p:spPr>
          <a:xfrm>
            <a:off x="8970264" y="1052703"/>
            <a:ext cx="73152" cy="73152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6"/>
          <p:cNvSpPr txBox="1"/>
          <p:nvPr/>
        </p:nvSpPr>
        <p:spPr>
          <a:xfrm>
            <a:off x="5957316" y="99343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ED7AA"/>
                </a:solidFill>
              </a:rPr>
              <a:t>1:N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9006840" y="4617720"/>
            <a:ext cx="3017520" cy="1920240"/>
          </a:xfrm>
          <a:prstGeom prst="rect">
            <a:avLst/>
          </a:prstGeom>
          <a:solidFill>
            <a:srgbClr val="1E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9144000" y="4709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LEGEND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9144000" y="5001768"/>
            <a:ext cx="3657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9262872" y="498348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Primary Key (UUID)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9144000" y="5202936"/>
            <a:ext cx="36576" cy="12801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9262872" y="518464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Foreign Key reference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9144000" y="5404104"/>
            <a:ext cx="3657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9262872" y="538581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One-to-Many cardinality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9144000" y="5605272"/>
            <a:ext cx="36576" cy="12801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9262872" y="558698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Auth / User domain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9144000" y="5806440"/>
            <a:ext cx="36576" cy="12801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9262872" y="578815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Agent / Version domain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9144000" y="6007608"/>
            <a:ext cx="36576" cy="12801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9262872" y="598932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Workflow / RAG domain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9144000" y="6208776"/>
            <a:ext cx="36576" cy="128016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9262872" y="61904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</a:rPr>
              <a:t>Audit /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B5FD"/>
                </a:solidFill>
              </a:rPr>
              <a:t>ERD Detail — Auth &amp; Agent Core (users, agents, agent_versions)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3 of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48640"/>
            <a:ext cx="3474720" cy="1645920"/>
          </a:xfrm>
          <a:prstGeom prst="rect">
            <a:avLst/>
          </a:prstGeom>
          <a:solidFill>
            <a:srgbClr val="1E213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548640"/>
            <a:ext cx="3474720" cy="26974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18388"/>
            <a:ext cx="347472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720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720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 UNIQUE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hashed_password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720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full_name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720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720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ENUM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801368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180136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181965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is_active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7206" y="181965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BOOLEAN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97964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74320" y="199796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20162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201625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7206" y="201625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548640"/>
            <a:ext cx="3474720" cy="2432304"/>
          </a:xfrm>
          <a:prstGeom prst="rect">
            <a:avLst/>
          </a:prstGeom>
          <a:solidFill>
            <a:srgbClr val="1E213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206240" y="548640"/>
            <a:ext cx="3474720" cy="2697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9768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818388"/>
            <a:ext cx="347472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0624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0624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5196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6227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912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20624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5196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6227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912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0624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5196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6227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912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20624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5196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46227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system_prompt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912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20624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5196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46227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912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0" y="1801368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206240" y="180136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25196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62272" y="181965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9126" y="181965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06240" y="1997964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206240" y="199796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251960" y="20162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62272" y="201625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9126" y="201625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06240" y="2194560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4206240" y="219456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251960" y="221284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62272" y="221284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9126" y="221284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06240" y="2391156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206240" y="239115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251960" y="240944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462272" y="240944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current_version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9126" y="240944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06240" y="2587752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06240" y="258775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251960" y="260604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462272" y="260604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69126" y="260604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278434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206240" y="278434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251960" y="280263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462272" y="280263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updated_at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9126" y="280263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38160" y="548640"/>
            <a:ext cx="3474720" cy="1252728"/>
          </a:xfrm>
          <a:prstGeom prst="rect">
            <a:avLst/>
          </a:prstGeom>
          <a:solidFill>
            <a:srgbClr val="1E213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138160" y="548640"/>
            <a:ext cx="3474720" cy="2697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22960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AGENT_VERSIONS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138160" y="818388"/>
            <a:ext cx="347472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13816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813816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18388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9419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0104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13816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813816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18388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39419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agent_id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0104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agents.id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13816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13816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18388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39419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0104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13816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813816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18388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39419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snapshot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0104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13816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813816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18388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39419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0104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3749040" y="0"/>
            <a:ext cx="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C4B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4169664" y="1849831"/>
            <a:ext cx="73152" cy="7315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023360" y="1605274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4B5FD"/>
                </a:solidFill>
              </a:rPr>
              <a:t>1:N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7680960" y="0"/>
            <a:ext cx="0" cy="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93C5F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8101584" y="1201064"/>
            <a:ext cx="73152" cy="7315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7955280" y="146470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1:N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74320" y="5029200"/>
            <a:ext cx="11612880" cy="1508760"/>
          </a:xfrm>
          <a:prstGeom prst="rect">
            <a:avLst/>
          </a:prstGeom>
          <a:solidFill>
            <a:srgbClr val="1E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45720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Entity Notes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200" y="539496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users.role is a PostgreSQL ENUM — values: admin | developer | viewer. Enforced at JWT decode and API middleware.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57200" y="561441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agents.tools is a JSON array of tool name strings (email, slack, github, web_search, calculator) — extensible without schema migrations.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583387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agents.guardrails is JSON: {"pii": true, "hallucination": true, "max_tokens": 2048} — drives GuardrailsEngine at runtime.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605332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agent_versions.snapshot stores a frozen JSON copy of the full agent config — enables exact point-in-time rollback.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7200" y="627278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All PKs are UUID (uuid4) generated in Python — portable across environments, no DB sequence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EAD4"/>
                </a:solidFill>
              </a:rPr>
              <a:t>ERD Detail — Workflows &amp; RAG Pipeline (workflows, knowledge_bases, documents)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4 of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48640"/>
            <a:ext cx="3474720" cy="1842516"/>
          </a:xfrm>
          <a:prstGeom prst="rect">
            <a:avLst/>
          </a:prstGeom>
          <a:solidFill>
            <a:srgbClr val="1E2130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548640"/>
            <a:ext cx="3474720" cy="26974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EEAD4"/>
                </a:solidFill>
              </a:rPr>
              <a:t>WORKFLOWS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18388"/>
            <a:ext cx="347472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720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720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720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720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edges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720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801368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180136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181965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7206" y="181965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97964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74320" y="199796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20162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201625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7206" y="201625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194560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74320" y="219456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221284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221284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updated_at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7206" y="221284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548640"/>
            <a:ext cx="3474720" cy="1449324"/>
          </a:xfrm>
          <a:prstGeom prst="rect">
            <a:avLst/>
          </a:prstGeom>
          <a:solidFill>
            <a:srgbClr val="1E213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206240" y="548640"/>
            <a:ext cx="3474720" cy="2697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9768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KNOWLEDGE_BASES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818388"/>
            <a:ext cx="347472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20624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20624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5196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6227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912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0624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5196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6227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912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20624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5196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46227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912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20624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5196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6227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agent_id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912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agents.id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20624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25196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6227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created_by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912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06240" y="1801368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206240" y="180136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25196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462272" y="181965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9126" y="181965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38160" y="548640"/>
            <a:ext cx="3474720" cy="1645920"/>
          </a:xfrm>
          <a:prstGeom prst="rect">
            <a:avLst/>
          </a:prstGeom>
          <a:solidFill>
            <a:srgbClr val="1E213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138160" y="548640"/>
            <a:ext cx="3474720" cy="26974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229600" y="585216"/>
            <a:ext cx="33649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DOCUMENTS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38160" y="818388"/>
            <a:ext cx="3474720" cy="190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138160" y="818388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138160" y="81838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18388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94192" y="83667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201046" y="83667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138160" y="1014984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138160" y="101498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18388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94192" y="103327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kb_id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01046" y="103327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knowledge_bases.id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38160" y="1211580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8138160" y="1211580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8388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94192" y="1229868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filename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01046" y="1229868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138160" y="1408176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138160" y="1408176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18388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394192" y="1426464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01046" y="1426464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38160" y="1604772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8138160" y="1604772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18388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394192" y="1623060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chunk_count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201046" y="1623060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138160" y="1801368"/>
            <a:ext cx="347472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8138160" y="1801368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18388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394192" y="1819656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01046" y="1819656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138160" y="1997964"/>
            <a:ext cx="347472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138160" y="1997964"/>
            <a:ext cx="347472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183880" y="20162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394192" y="2016252"/>
            <a:ext cx="1806854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01046" y="2016252"/>
            <a:ext cx="149412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680960" y="0"/>
            <a:ext cx="0" cy="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86EF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8101584" y="1335024"/>
            <a:ext cx="73152" cy="7315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955280" y="130770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86EFAC"/>
                </a:solidFill>
              </a:rPr>
              <a:t>1:N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4320" y="3840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</a:rPr>
              <a:t>RAG Ingestion &amp; Query Pipeline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329184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</a:rPr>
              <a:t>Upload
Document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29968" y="440740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&gt;&gt;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212848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267712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</a:rPr>
              <a:t>LangChain
Splitter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68496" y="440740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&gt;&gt;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151376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206240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</a:rPr>
              <a:t>Embeddings
(GPT)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907024" y="440740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&gt;&gt;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89904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144768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C3AED"/>
                </a:solidFill>
              </a:rPr>
              <a:t>Azure AI
Search / pgvector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845552" y="440740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&gt;&gt;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28432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083296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9669"/>
                </a:solidFill>
              </a:rPr>
              <a:t>Semantic
Retrieval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784080" y="440740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&gt;&gt;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966960" y="4206240"/>
            <a:ext cx="1755648" cy="658368"/>
          </a:xfrm>
          <a:prstGeom prst="rect">
            <a:avLst/>
          </a:prstGeom>
          <a:solidFill>
            <a:srgbClr val="1E213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0021824" y="426110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</a:rPr>
              <a:t>GPT-4o
Answer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4320" y="5074920"/>
            <a:ext cx="11612880" cy="1463040"/>
          </a:xfrm>
          <a:prstGeom prst="rect">
            <a:avLst/>
          </a:prstGeom>
          <a:solidFill>
            <a:srgbClr val="1E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57200" y="51663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RAG &amp; Workflow Notes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541324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workflows.nodes &amp; edges store ReactFlow JSON arrays — the full visual canvas is serialised into a single PostgreSQL column.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7200" y="563270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knowledge_bases.agent_id is NULLABLE — a KB can be standalone (shared) or bound to a single agent.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7200" y="585216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documents.status lifecycle: processing (ingestion started) -&gt; ready (chunks indexed) -&gt; failed (error).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7200" y="607161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Document chunks are embedded and written to Azure AI Search index; pgvector is the fallback for local dev.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57200" y="629107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RAGEngine._retrieve() performs keyword scoring locally; in production replace with AzureSearchClient vector query.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ED7AA"/>
                </a:solidFill>
              </a:rPr>
              <a:t>ERD Detail — Audit Logs &amp; Complete FK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5 of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48640"/>
            <a:ext cx="4572000" cy="2235708"/>
          </a:xfrm>
          <a:prstGeom prst="rect">
            <a:avLst/>
          </a:prstGeom>
          <a:solidFill>
            <a:srgbClr val="1E2130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548640"/>
            <a:ext cx="4572000" cy="269748"/>
          </a:xfrm>
          <a:prstGeom prst="rect">
            <a:avLst/>
          </a:prstGeom>
          <a:solidFill>
            <a:srgbClr val="43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585216"/>
            <a:ext cx="446227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18388"/>
            <a:ext cx="457200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818388"/>
            <a:ext cx="457200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818388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83667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</a:rP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836676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836676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VARCHAR(UUID)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014984"/>
            <a:ext cx="457200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1014984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103327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93C5FD"/>
                </a:solidFill>
              </a:rPr>
              <a:t>FK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1033272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user_id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1033272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-&gt; users.id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211580"/>
            <a:ext cx="457200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1211580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122986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1229868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1229868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08176"/>
            <a:ext cx="457200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1408176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142646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1426464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resource_type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2" y="1426464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604772"/>
            <a:ext cx="457200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1604772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162306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1623060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resource_id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2" y="1623060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801368"/>
            <a:ext cx="457200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1801368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1819656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1819656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input_snapshot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7792" y="1819656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997964"/>
            <a:ext cx="457200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74320" y="1997964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2016252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2016252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output_snapshot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7792" y="2016252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194560"/>
            <a:ext cx="457200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74320" y="2194560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2212848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2212848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guardrail_triggered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07792" y="2212848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BOOLEAN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391156"/>
            <a:ext cx="4572000" cy="196596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74320" y="2391156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0040" y="2409444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0352" y="2409444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latency_ms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7792" y="2409444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INTEGER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587752"/>
            <a:ext cx="4572000" cy="196596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74320" y="2587752"/>
            <a:ext cx="4572000" cy="63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2606040"/>
            <a:ext cx="201168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0352" y="2606040"/>
            <a:ext cx="237744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07792" y="2606040"/>
            <a:ext cx="19659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64748B"/>
                </a:solidFill>
              </a:rPr>
              <a:t>DATETIME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2080" y="548640"/>
            <a:ext cx="6675120" cy="3474720"/>
          </a:xfrm>
          <a:prstGeom prst="rect">
            <a:avLst/>
          </a:prstGeom>
          <a:solidFill>
            <a:srgbClr val="1E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212080" y="548640"/>
            <a:ext cx="6675120" cy="29260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49240" y="58521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Complete Foreign-Key Reference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9240" y="914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FK Column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18120" y="91440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References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91440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Card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12080" y="1170432"/>
            <a:ext cx="6675120" cy="329184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49240" y="12070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B5FD"/>
                </a:solidFill>
              </a:rPr>
              <a:t>agents.created_by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18120" y="120700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users.id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120700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1499616"/>
            <a:ext cx="6675120" cy="32918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34924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B5FD"/>
                </a:solidFill>
              </a:rPr>
              <a:t>workflows.created_by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18120" y="15361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users.id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153619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12080" y="1828800"/>
            <a:ext cx="6675120" cy="329184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349240" y="18653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B5FD"/>
                </a:solidFill>
              </a:rPr>
              <a:t>knowledge_bases.created_by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18120" y="186537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users.id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49840" y="186537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12080" y="2157984"/>
            <a:ext cx="6675120" cy="32918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4924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ED7AA"/>
                </a:solidFill>
              </a:rPr>
              <a:t>audit_logs.user_id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18120" y="2194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users.id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9840" y="21945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12080" y="2487168"/>
            <a:ext cx="6675120" cy="329184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349240" y="25237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3C5FD"/>
                </a:solidFill>
              </a:rPr>
              <a:t>agent_versions.agent_id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18120" y="252374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agents.id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49840" y="252374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12080" y="2816352"/>
            <a:ext cx="6675120" cy="329184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349240" y="28529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3C5FD"/>
                </a:solidFill>
              </a:rPr>
              <a:t>knowledge_bases.agent_id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18120" y="285292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agents.id (NULL OK)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49840" y="28529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12080" y="3145536"/>
            <a:ext cx="6675120" cy="329184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349240" y="31821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EFAC"/>
                </a:solidFill>
              </a:rPr>
              <a:t>documents.kb_id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18120" y="318211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knowledge_bases.id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318211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1:N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4754880"/>
            <a:ext cx="11612880" cy="1783080"/>
          </a:xfrm>
          <a:prstGeom prst="rect">
            <a:avLst/>
          </a:prstGeom>
          <a:solidFill>
            <a:srgbClr val="1E21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57200" y="48463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Audit Log Design Notes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512064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audit_logs.user_id is NULLABLE — system/background actions (e.g. scheduled tasks) log with NULL user_id.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534009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Every agents/{id}/run call appends one audit_logs row — full traceability: input, output, guardrail, latency.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5559552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guardrail_triggered = TRUE flags rows where Presidio detected PII or hallucination phrases were found.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577900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resource_type + resource_id together form a polymorphic reference ("agent","wf-123") — no ENUM constraint needed.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5998464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The /control-plane/stats endpoint aggregates this table live: total_runs, avg_latency_ms, guardrail_count.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6217920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  Recommended index: (resource_type, resource_id, created_at DESC) for per-agent log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Dictionary — Column Reference (Key Columns)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6 of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30352"/>
            <a:ext cx="11612880" cy="2743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54864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54864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548640"/>
            <a:ext cx="7772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8229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778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4B5FD"/>
                </a:solidFill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877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8778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ENUM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8778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admin | developer | viewer  — enforced at JWT decode &amp; FastAPI Depends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2801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3350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3C5FD"/>
                </a:solidFill>
              </a:rPr>
              <a:t>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3350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13350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3350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List of tool names: [email, slack, github, web_search, calculator]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7373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17922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3C5FD"/>
                </a:solidFill>
              </a:rPr>
              <a:t>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1792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1792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17922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{"pii": bool, "hallucination": bool, "max_tokens": int}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945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2494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3C5FD"/>
                </a:solidFill>
              </a:rPr>
              <a:t>agent_versions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22494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2249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22494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Full frozen agent config at save time — enables rollback to any version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517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27066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EEAD4"/>
                </a:solidFill>
              </a:rPr>
              <a:t>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27066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nodes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27066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27066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ReactFlow node objects: {id, type, position, data} per canvas node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1089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31638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EEAD4"/>
                </a:solidFill>
              </a:rPr>
              <a:t>workflows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3163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edges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31638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[]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31638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ReactFlow edge objects: {id, source, target} — directed graph edges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5661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36210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EFAC"/>
                </a:solidFill>
              </a:rPr>
              <a:t>knowledge_bases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4519" y="36210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agent_id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36210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36210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NULLABLE FK — NULL = standalone KB shared across agents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0233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40782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EFAC"/>
                </a:solidFill>
              </a:rPr>
              <a:t>documents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74519" y="4078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4680" y="4078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40782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processing | ready | failed — drives upload progress UI indicator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4805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45354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EFAC"/>
                </a:solidFill>
              </a:rPr>
              <a:t>documents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74519" y="45354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54680" y="4535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45354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Raw extracted text; chunks indexed in Azure AI Search / pgvector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377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49926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19" y="49926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54680" y="49926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VARCHAR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0520" y="49926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Dot-notation: 'agent.run', 'agent.update', 'kb.upload'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94960"/>
            <a:ext cx="11612880" cy="438912"/>
          </a:xfrm>
          <a:prstGeom prst="rect">
            <a:avLst/>
          </a:prstGeom>
          <a:solidFill>
            <a:srgbClr val="16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" y="54498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74519" y="5449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input_snapshot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54680" y="54498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JSON {}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60520" y="54498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Full request payload at call time — persisted for compliance &amp; replay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852160"/>
            <a:ext cx="11612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65760" y="59070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74519" y="59070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guardrail_triggered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4680" y="59070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BOOLEAN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60520" y="59070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TRUE if PII redacted OR hallucination phrase detected in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Summary — All Entities &amp;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73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Slide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All 7 Entities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91440" cy="6035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923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B5FD"/>
                </a:solidFill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9235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7 cols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95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Auth / RBAC — 3 roles (admin, developer, viewer)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45336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545336"/>
            <a:ext cx="91440" cy="6035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600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6002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11 cols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562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Core entity — GPT-4o config, tools, guardrails, versioning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21992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221992"/>
            <a:ext cx="91440" cy="6035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276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3C5FD"/>
                </a:solidFill>
              </a:rPr>
              <a:t>AGENT_VERSIONS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2768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5 cols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32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Immutable snapshots — full config rollback capability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98648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2898648"/>
            <a:ext cx="91440" cy="60350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29535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EEAD4"/>
                </a:solidFill>
              </a:rPr>
              <a:t>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9535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8 cols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095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ReactFlow canvas state — nodes + edges stored as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75304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3575304"/>
            <a:ext cx="91440" cy="60350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6301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KNOWLEDGE_BASES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6301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6 cols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886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RAG container — optional agent binding, standalone 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251960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4251960"/>
            <a:ext cx="91440" cy="60350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306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6EFAC"/>
                </a:solidFill>
              </a:rPr>
              <a:t>DOCUMENTS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3068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7 cols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628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Uploaded files — tracking status, content, chunk count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928616"/>
            <a:ext cx="5577840" cy="603504"/>
          </a:xfrm>
          <a:prstGeom prst="rect">
            <a:avLst/>
          </a:prstGeom>
          <a:solidFill>
            <a:srgbClr val="1E213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74320" y="4928616"/>
            <a:ext cx="91440" cy="6035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9834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ED7AA"/>
                </a:solidFill>
              </a:rPr>
              <a:t>AUDIT_LOGS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983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10 cols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395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Full observability — every run, latency, guardrail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66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Implementation Roadmap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868680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7648" y="91440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9669"/>
                </a:solidFill>
              </a:rPr>
              <a:t>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91440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Project Bootstrap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11430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FastAPI + Docker + React scaffold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1490472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27648" y="15361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B82F6"/>
                </a:solidFill>
              </a:rPr>
              <a:t>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153619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DB Models + Auth + RBAC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17647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SQLAlchemy ORM + JWT + Alembic migrations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112264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27648" y="21579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Phase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215798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Azure OpenAI + NL Generator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238658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GPT-4o wrapper + Prompt-to-Agent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734056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27648" y="2779776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97316"/>
                </a:solidFill>
              </a:rPr>
              <a:t>Phase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2779776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Guardrails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7648" y="300837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Presidio PII + hallucination detection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355848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27648" y="34015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6A34A"/>
                </a:solidFill>
              </a:rPr>
              <a:t>Phase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78040" y="340156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Multi-Agent Orchestrator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7648" y="363016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Manager/worker pattern + streaming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977640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27648" y="40233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9669"/>
                </a:solidFill>
              </a:rPr>
              <a:t>Phase 6-8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40233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Agents API + RAG + Simulation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27648" y="42519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CRUD, KB upload, batch test runner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4599432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27648" y="46451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B82F6"/>
                </a:solidFill>
              </a:rPr>
              <a:t>Phase 9-10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78040" y="464515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Tool Registry + Control Plane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27648" y="487375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Tool definitions + audit logs + stats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5221224"/>
            <a:ext cx="5669280" cy="548640"/>
          </a:xfrm>
          <a:prstGeom prst="rect">
            <a:avLst/>
          </a:prstGeom>
          <a:solidFill>
            <a:srgbClr val="1E213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27648" y="526694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Phase 11-12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526694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React UI + Docker + Wiring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27648" y="54955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Canvas, Dashboard, full stack deploy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AgentForge  |  ERwin Data Model  |  n.sureshmanikandan@accenture.com  |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1643</Words>
  <Application>Microsoft Office PowerPoint</Application>
  <PresentationFormat>Custom</PresentationFormat>
  <Paragraphs>453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Natarajan, Suresh Manikandan</dc:creator>
  <cp:keywords/>
  <dc:description>generated using python-pptx</dc:description>
  <cp:lastModifiedBy>Natarajan, Suresh Manikandan</cp:lastModifiedBy>
  <cp:revision>2</cp:revision>
  <dcterms:created xsi:type="dcterms:W3CDTF">2013-01-27T09:14:16Z</dcterms:created>
  <dcterms:modified xsi:type="dcterms:W3CDTF">2026-07-13T06:56:39Z</dcterms:modified>
  <cp:category/>
</cp:coreProperties>
</file>